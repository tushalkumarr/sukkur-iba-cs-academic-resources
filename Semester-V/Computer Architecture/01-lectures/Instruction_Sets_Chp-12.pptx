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2" d="100"/>
          <a:sy n="42" d="100"/>
        </p:scale>
        <p:origin x="92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0" y="1463040"/>
            <a:ext cx="2377440" cy="237744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0" y="1920240"/>
            <a:ext cx="1463040" cy="146304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01000" y="114300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01000" y="393192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57031" y="114300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57031" y="393192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13064" y="114300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13064" y="393192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69096" y="114300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69096" y="393192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25128" y="114300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25128" y="393192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81160" y="114300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81160" y="393192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537192" y="114300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37192" y="393192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793224" y="114300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793224" y="3931920"/>
            <a:ext cx="91440" cy="320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52360" y="1737360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378440" y="1737360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52360" y="2084831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378440" y="2084831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52360" y="2432304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378440" y="2432304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52360" y="2779776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378440" y="2779776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52360" y="3127248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378440" y="3127248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52360" y="3474720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378440" y="3474720"/>
            <a:ext cx="320040" cy="91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777240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24B1BE"/>
                </a:solidFill>
                <a:latin typeface="Aptos"/>
              </a:defRPr>
            </a:pPr>
            <a:r>
              <a:t>COMPUTER ARCHITECTURE &amp; ORGANIZATION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1508760"/>
            <a:ext cx="6675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3800" b="1" i="0">
                <a:solidFill>
                  <a:srgbClr val="FFFFFF"/>
                </a:solidFill>
                <a:latin typeface="Aptos"/>
              </a:defRPr>
            </a:pPr>
            <a:r>
              <a:t>INSTRUCTION</a:t>
            </a:r>
          </a:p>
          <a:p>
            <a:pPr algn="l">
              <a:spcAft>
                <a:spcPts val="700"/>
              </a:spcAft>
              <a:defRPr sz="3800" b="1" i="0">
                <a:solidFill>
                  <a:srgbClr val="FFFFFF"/>
                </a:solidFill>
                <a:latin typeface="Aptos"/>
              </a:defRPr>
            </a:pPr>
            <a:r>
              <a:t>SETS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246120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100" b="0" i="0">
                <a:solidFill>
                  <a:srgbClr val="DCE6F2"/>
                </a:solidFill>
                <a:latin typeface="Aptos"/>
              </a:defRPr>
            </a:pPr>
            <a:r>
              <a:t>How software tells the processor what to 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754880"/>
            <a:ext cx="6126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B53E"/>
                </a:solidFill>
                <a:latin typeface="Aptos"/>
              </a:defRPr>
            </a:pPr>
            <a:r>
              <a:t>Based on William Stallings • Chapter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53212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ECDDE"/>
                </a:solidFill>
                <a:latin typeface="Aptos"/>
              </a:defRPr>
            </a:pPr>
            <a:r>
              <a:t>Concepts • Diagrams • Worked examples • Class interaction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ECDDE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ECDD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44168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234440"/>
            <a:ext cx="6190488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253142"/>
                </a:solidFill>
                <a:latin typeface="Aptos"/>
              </a:defRPr>
            </a:pPr>
            <a:r>
              <a:t>Explain what an instruction set is and why it matters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915668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805940"/>
            <a:ext cx="6190488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253142"/>
                </a:solidFill>
                <a:latin typeface="Aptos"/>
              </a:defRPr>
            </a:pPr>
            <a:r>
              <a:t>Identify the fields and characteristics of a machine instruction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487168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377440"/>
            <a:ext cx="6190488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253142"/>
                </a:solidFill>
                <a:latin typeface="Aptos"/>
              </a:defRPr>
            </a:pPr>
            <a:r>
              <a:t>Distinguish operand types and data representations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8668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2948940"/>
            <a:ext cx="6190488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253142"/>
                </a:solidFill>
                <a:latin typeface="Aptos"/>
              </a:defRPr>
            </a:pPr>
            <a:r>
              <a:t>Compare x86 and ARM at a conceptual level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630168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520440"/>
            <a:ext cx="6190488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253142"/>
                </a:solidFill>
                <a:latin typeface="Aptos"/>
              </a:defRPr>
            </a:pPr>
            <a:r>
              <a:t>Classify common operations and trace a short instruction sequence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371600"/>
            <a:ext cx="3840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1371600"/>
            <a:ext cx="73152" cy="338328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44968" y="1517904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Success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1947672"/>
            <a:ext cx="3474720" cy="2724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By the end, you should be able to read a simple instruction, identify its operands, predict its effect, and explain why the ISA matters.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5074920"/>
            <a:ext cx="1371600" cy="347472"/>
          </a:xfrm>
          <a:prstGeom prst="roundRect">
            <a:avLst/>
          </a:prstGeom>
          <a:solidFill>
            <a:srgbClr val="DE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510235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245BA6"/>
                </a:solidFill>
                <a:latin typeface="Aptos"/>
              </a:defRPr>
            </a:pPr>
            <a:r>
              <a:t>THINK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5074920"/>
            <a:ext cx="1371600" cy="347472"/>
          </a:xfrm>
          <a:prstGeom prst="roundRect">
            <a:avLst/>
          </a:prstGeom>
          <a:solidFill>
            <a:srgbClr val="DE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510235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245BA6"/>
                </a:solidFill>
                <a:latin typeface="Aptos"/>
              </a:defRPr>
            </a:pPr>
            <a:r>
              <a:t>PAIR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35640" y="5074920"/>
            <a:ext cx="731520" cy="347472"/>
          </a:xfrm>
          <a:prstGeom prst="roundRect">
            <a:avLst/>
          </a:prstGeom>
          <a:solidFill>
            <a:srgbClr val="DE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35640" y="5102352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245BA6"/>
                </a:solidFill>
                <a:latin typeface="Aptos"/>
              </a:defRPr>
            </a:pPr>
            <a:r>
              <a:t>SHARE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Warm-up: what does this line tell the CPU?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ENGAGE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4663440" cy="91440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444752"/>
            <a:ext cx="4334255" cy="6949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2300" b="0" i="0">
                <a:solidFill>
                  <a:srgbClr val="FFFFFF"/>
                </a:solidFill>
                <a:latin typeface="Consolas"/>
              </a:defRPr>
            </a:pPr>
            <a:r>
              <a:t>ADD R1, R2, R3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1435607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53912" y="1325880"/>
            <a:ext cx="5093207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2000" b="0" i="0">
                <a:solidFill>
                  <a:srgbClr val="253142"/>
                </a:solidFill>
                <a:latin typeface="Aptos"/>
              </a:defRPr>
            </a:pPr>
            <a:r>
              <a:t>Which item is the operation?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2057908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53912" y="1948180"/>
            <a:ext cx="5093207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2000" b="0" i="0">
                <a:solidFill>
                  <a:srgbClr val="253142"/>
                </a:solidFill>
                <a:latin typeface="Aptos"/>
              </a:defRPr>
            </a:pPr>
            <a:r>
              <a:t>Which items are the operands?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2680208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2570480"/>
            <a:ext cx="5093207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2000" b="0" i="0">
                <a:solidFill>
                  <a:srgbClr val="253142"/>
                </a:solidFill>
                <a:latin typeface="Aptos"/>
              </a:defRPr>
            </a:pPr>
            <a:r>
              <a:t>Where might the result go?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63240"/>
            <a:ext cx="4572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063240"/>
            <a:ext cx="73152" cy="14630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209544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Quick poll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39312"/>
            <a:ext cx="4206240" cy="8046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A) Add memory addresses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B) Add values in registers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C) Display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245BA6"/>
                </a:solidFill>
                <a:latin typeface="Aptos"/>
              </a:defRPr>
            </a:pPr>
            <a:r>
              <a:t>Discuss with a partner for 45 seconds. There can be syntax differences between processor families.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3.1  What is an Instruction Set Architecture (ISA)?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18288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380744"/>
            <a:ext cx="475487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111F39"/>
                </a:solidFill>
                <a:latin typeface="Aptos"/>
              </a:defRPr>
            </a:pPr>
            <a:r>
              <a:t>ISA = software–hardware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10512"/>
            <a:ext cx="4754879" cy="11704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Defines the machine-visible instructions, registers, data types, addressing rules, and behavior a programmer can rely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3444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73152" cy="109728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380744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810512"/>
            <a:ext cx="146304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Apps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2377440"/>
            <a:ext cx="0" cy="36576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274320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2743200"/>
            <a:ext cx="73152" cy="109728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2889504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ISA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319272"/>
            <a:ext cx="146304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Instructions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0" y="3886200"/>
            <a:ext cx="0" cy="36576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425196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4251960"/>
            <a:ext cx="73152" cy="109728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4398264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828032"/>
            <a:ext cx="146304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CPU +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697480"/>
            <a:ext cx="2560320" cy="1737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5E6C80"/>
                </a:solidFill>
                <a:latin typeface="Aptos"/>
              </a:defRPr>
            </a:pPr>
            <a:r>
              <a:t>Compiler / assembler translate program intent into ISA instructions.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5E6C80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 i="0">
                <a:solidFill>
                  <a:srgbClr val="5E6C80"/>
                </a:solidFill>
                <a:latin typeface="Aptos"/>
              </a:defRPr>
            </a:pPr>
            <a:r>
              <a:t>The processor implements that contract.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657600"/>
            <a:ext cx="5029200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253142"/>
                </a:solidFill>
                <a:latin typeface="Aptos"/>
              </a:defRPr>
            </a:pPr>
            <a:r>
              <a:t>Analogy: the ISA is like a shared language. Software gives commands in that language; the CPU must interpret them consistently.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3.1  ISA characteristics and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16002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807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10512"/>
            <a:ext cx="3063240" cy="9418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ADD, LOAD, STORE, BRANCH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344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234440"/>
            <a:ext cx="73152" cy="160020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3807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Data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810512"/>
            <a:ext cx="3063240" cy="9418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Integers, addresses, floating point, vectors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2344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234440"/>
            <a:ext cx="73152" cy="16002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13807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Registers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810512"/>
            <a:ext cx="3063240" cy="9418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Named fast storage inside the CPU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918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291840"/>
            <a:ext cx="73152" cy="16002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4381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Addressing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867912"/>
            <a:ext cx="3063240" cy="9418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How an instruction locates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2918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291840"/>
            <a:ext cx="73152" cy="160020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1728" y="34381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Encoding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867912"/>
            <a:ext cx="3063240" cy="9418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Bit pattern representing each instruction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2918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3291840"/>
            <a:ext cx="73152" cy="1600200"/>
          </a:xfrm>
          <a:prstGeom prst="rect">
            <a:avLst/>
          </a:prstGeom>
          <a:solidFill>
            <a:srgbClr val="CB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76488" y="34381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Control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867912"/>
            <a:ext cx="3063240" cy="9418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Rules for next instruction: sequential or branch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Key distinction: ISA = what the machine exposes; microarchitecture = how a particular CPU implements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From source code to machine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VISUAL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194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73152" cy="16002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7510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Source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04872"/>
            <a:ext cx="1828800" cy="9418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total = a +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1325880"/>
            <a:ext cx="502920" cy="347472"/>
          </a:xfrm>
          <a:prstGeom prst="round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135331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2606040"/>
            <a:ext cx="576072" cy="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20440" y="1828800"/>
            <a:ext cx="2194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20440" y="1828800"/>
            <a:ext cx="73152" cy="160020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21608" y="197510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Compiler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404872"/>
            <a:ext cx="1828800" cy="9418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choose instructions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25880"/>
            <a:ext cx="502920" cy="347472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135331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60720" y="2606040"/>
            <a:ext cx="576072" cy="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46520" y="1828800"/>
            <a:ext cx="2194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46520" y="1828800"/>
            <a:ext cx="73152" cy="16002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7688" y="197510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Machine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2404872"/>
            <a:ext cx="1828800" cy="9418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binary bit pattern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325880"/>
            <a:ext cx="502920" cy="347472"/>
          </a:xfrm>
          <a:prstGeom prst="round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135331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0" y="2606040"/>
            <a:ext cx="576072" cy="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72600" y="1828800"/>
            <a:ext cx="2194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72600" y="1828800"/>
            <a:ext cx="73152" cy="16002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73768" y="197510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2404872"/>
            <a:ext cx="1828800" cy="9418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decode + execute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0" y="1325880"/>
            <a:ext cx="502920" cy="347472"/>
          </a:xfrm>
          <a:prstGeom prst="round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95560" y="135331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160520"/>
            <a:ext cx="1051560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253142"/>
                </a:solidFill>
                <a:latin typeface="Aptos"/>
              </a:defRPr>
            </a:pPr>
            <a:r>
              <a:t>Example: total = a + b may become LOAD, ADD, STORE instructions depending on where a, b, and total live.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245BA6"/>
                </a:solidFill>
                <a:latin typeface="Aptos"/>
              </a:defRPr>
            </a:pPr>
            <a:r>
              <a:t>Ask: does the CPU directly execute C++ statements? Why or why not?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3.2  Anatomy of a machine instruction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INSTRUCTION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2057400" cy="777240"/>
          </a:xfrm>
          <a:prstGeom prst="rect">
            <a:avLst/>
          </a:prstGeom>
          <a:solidFill>
            <a:srgbClr val="24B1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810512"/>
            <a:ext cx="2002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OPCODE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600200"/>
            <a:ext cx="2377440" cy="777240"/>
          </a:xfrm>
          <a:prstGeom prst="rect">
            <a:avLst/>
          </a:prstGeom>
          <a:solidFill>
            <a:srgbClr val="245B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6351" y="1810512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DESTINATION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600200"/>
            <a:ext cx="2011680" cy="777240"/>
          </a:xfrm>
          <a:prstGeom prst="rect">
            <a:avLst/>
          </a:prstGeom>
          <a:solidFill>
            <a:srgbClr val="F5B5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93792" y="1810512"/>
            <a:ext cx="1956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SOURCE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600200"/>
            <a:ext cx="2743200" cy="777240"/>
          </a:xfrm>
          <a:prstGeom prst="rect">
            <a:avLst/>
          </a:prstGeom>
          <a:solidFill>
            <a:srgbClr val="755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5472" y="1810512"/>
            <a:ext cx="2688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SOURCE 2 / MODE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2" y="2834640"/>
            <a:ext cx="4818888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253142"/>
                </a:solidFill>
                <a:latin typeface="Aptos"/>
              </a:defRPr>
            </a:pPr>
            <a:r>
              <a:t>Opcode: action to perform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503168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" y="3393440"/>
            <a:ext cx="4818888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253142"/>
                </a:solidFill>
                <a:latin typeface="Aptos"/>
              </a:defRPr>
            </a:pPr>
            <a:r>
              <a:t>Operand fields: identify input/output values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061968"/>
            <a:ext cx="109728" cy="109728"/>
          </a:xfrm>
          <a:prstGeom prst="ellipse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952239"/>
            <a:ext cx="4818888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253142"/>
                </a:solidFill>
                <a:latin typeface="Aptos"/>
              </a:defRPr>
            </a:pPr>
            <a:r>
              <a:t>Mode or immediate field: may specify how to find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88920"/>
            <a:ext cx="49377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788920"/>
            <a:ext cx="73152" cy="21031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2935224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364991"/>
            <a:ext cx="4572000" cy="144475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This is a conceptual format, not a universal bit layout. Real ISA encodings vary in length and field arrangement.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Prompt: if the opcode says ADD, what other information does the CPU still need?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3.2  Instruction length and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INSTRUCTION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18288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80744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Fixed-length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10512"/>
            <a:ext cx="3108960" cy="11704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Many instructions use a regular size, simplifying fetch/decode. Example: common AArch64 instructions are 32 bits.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18288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80744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Variable-length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10512"/>
            <a:ext cx="3108960" cy="11704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x86 instructions can vary in length, allowing compact encodings but more complex decoding.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73152" cy="18288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380744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10512"/>
            <a:ext cx="3017520" cy="11704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Code density, decoding complexity, instruction expressiveness, and implementation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Fixed 32-bit example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114800"/>
            <a:ext cx="640080" cy="594360"/>
          </a:xfrm>
          <a:prstGeom prst="rect">
            <a:avLst/>
          </a:prstGeom>
          <a:solidFill>
            <a:srgbClr val="24B1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27939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Byte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4114800"/>
            <a:ext cx="640080" cy="594360"/>
          </a:xfrm>
          <a:prstGeom prst="rect">
            <a:avLst/>
          </a:prstGeom>
          <a:solidFill>
            <a:srgbClr val="245B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427939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Byte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114800"/>
            <a:ext cx="640080" cy="594360"/>
          </a:xfrm>
          <a:prstGeom prst="rect">
            <a:avLst/>
          </a:prstGeom>
          <a:solidFill>
            <a:srgbClr val="F5B5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0" y="427939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Byte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4114800"/>
            <a:ext cx="640080" cy="594360"/>
          </a:xfrm>
          <a:prstGeom prst="rect">
            <a:avLst/>
          </a:prstGeom>
          <a:solidFill>
            <a:srgbClr val="755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7520" y="427939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Byte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7033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Variable-length concept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114800"/>
            <a:ext cx="594360" cy="594360"/>
          </a:xfrm>
          <a:prstGeom prst="rect">
            <a:avLst/>
          </a:prstGeom>
          <a:solidFill>
            <a:srgbClr val="24B1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0" y="427939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1 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0" y="4114800"/>
            <a:ext cx="1051560" cy="594360"/>
          </a:xfrm>
          <a:prstGeom prst="rect">
            <a:avLst/>
          </a:prstGeom>
          <a:solidFill>
            <a:srgbClr val="245B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66360" y="4279392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2 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14800"/>
            <a:ext cx="731520" cy="594360"/>
          </a:xfrm>
          <a:prstGeom prst="rect">
            <a:avLst/>
          </a:prstGeom>
          <a:solidFill>
            <a:srgbClr val="F5B5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42793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1 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114800"/>
            <a:ext cx="1417320" cy="594360"/>
          </a:xfrm>
          <a:prstGeom prst="rect">
            <a:avLst/>
          </a:prstGeom>
          <a:solidFill>
            <a:srgbClr val="755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49440" y="427939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3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977639"/>
            <a:ext cx="26517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x86 instructions may use different numbers of bytes.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3.2  Zero-, one-, two-, and three-address styles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INSTRUCTION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2651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73152" cy="192024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335024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Three-address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2286000" cy="12618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ADD R0, R1, R2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R0 ← R1 + R2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188720"/>
            <a:ext cx="2651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188720"/>
            <a:ext cx="73152" cy="192024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1335024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Two-address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764792"/>
            <a:ext cx="2286000" cy="12618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ADD R0, R1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R0 ← R0 + R1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188720"/>
            <a:ext cx="2331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73152" cy="19202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1335024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One-address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764792"/>
            <a:ext cx="1965960" cy="12618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ADD X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AC ← AC + M[X]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1887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61120" y="1188720"/>
            <a:ext cx="73152" cy="192024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62288" y="1335024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Zero-address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1764792"/>
            <a:ext cx="2148840" cy="12618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ADD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Uses stack top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03320"/>
            <a:ext cx="105156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253142"/>
                </a:solidFill>
                <a:latin typeface="Aptos"/>
              </a:defRPr>
            </a:pPr>
            <a:r>
              <a:t>Worked example: compute Z = (A + B) × C. Which style might require a temporary register or stack operation?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72000"/>
            <a:ext cx="9875520" cy="7772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4690872"/>
            <a:ext cx="9546336" cy="5577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FFFFF"/>
                </a:solidFill>
                <a:latin typeface="Consolas"/>
              </a:defRPr>
            </a:pPr>
            <a:r>
              <a:t>LOAD R1, A     ; ADD R1, B     ; MUL R1, C     ; STORE Z, R1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3.2  Addressing modes: where is the operand?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INSTRUCTION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15568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3152" cy="77724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26187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Immediate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2377440" cy="1188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207008"/>
            <a:ext cx="393192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Value is inside instruction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179576"/>
            <a:ext cx="3474720" cy="566928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1298448"/>
            <a:ext cx="3145536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MOV R0, #5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0574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057400"/>
            <a:ext cx="73152" cy="77724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220370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633472"/>
            <a:ext cx="2377440" cy="1188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80" y="2148840"/>
            <a:ext cx="393192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Value is in a register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121408"/>
            <a:ext cx="3474720" cy="566928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6992" y="2240279"/>
            <a:ext cx="3145536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ADD R0, R1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999232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999232"/>
            <a:ext cx="73152" cy="7772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14553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Direct / absolute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575304"/>
            <a:ext cx="2377440" cy="1188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80" y="3090672"/>
            <a:ext cx="393192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Instruction gives a memory address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063240"/>
            <a:ext cx="3474720" cy="566928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36992" y="3182112"/>
            <a:ext cx="3145536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LOAD R0, [1000]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41063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3941063"/>
            <a:ext cx="73152" cy="77724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408736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Register indirect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517136"/>
            <a:ext cx="2377440" cy="1188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11880" y="4032503"/>
            <a:ext cx="393192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Register contains the address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4005072"/>
            <a:ext cx="3474720" cy="566928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36992" y="4123944"/>
            <a:ext cx="3145536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LOAD R0, [R2]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882896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5800" y="4882896"/>
            <a:ext cx="73152" cy="77724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6968" y="502920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Base + offset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" y="5458968"/>
            <a:ext cx="2377440" cy="1188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11880" y="4974336"/>
            <a:ext cx="393192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Address = base register + constant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946904"/>
            <a:ext cx="3474720" cy="566928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36992" y="5065776"/>
            <a:ext cx="3145536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LOAD R0, [R2, #8]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989320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Check: in LOAD R0, [R2, #8], is 8 the data or part of the address calculation?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3.3  Types of operands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DATA &amp; OPERANDS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749808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8930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Addresses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19072"/>
            <a:ext cx="2377440" cy="9143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234440"/>
            <a:ext cx="72237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Locations of instructions or data in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75688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075688"/>
            <a:ext cx="73152" cy="749808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2219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651760"/>
            <a:ext cx="2377440" cy="9143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2167128"/>
            <a:ext cx="72237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Unsigned integers, signed integers, floating 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08376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008376"/>
            <a:ext cx="73152" cy="749808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15468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Characters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584448"/>
            <a:ext cx="2377440" cy="9143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3099816"/>
            <a:ext cx="72237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Character codes such as ASCII or Unicode encodings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41064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941064"/>
            <a:ext cx="73152" cy="749808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08736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Logical / bit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517136"/>
            <a:ext cx="2377440" cy="9143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03320" y="4032504"/>
            <a:ext cx="72237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Flags, masks, Boolean values, packed bits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73752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4873752"/>
            <a:ext cx="73152" cy="749808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502005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Vectors / packed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449824"/>
            <a:ext cx="2377440" cy="9143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03320" y="4965192"/>
            <a:ext cx="72237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Multiple small values processed together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The same bit pattern can mean different things depending on the instruction and data type.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3.3  Numeric operands: signed vs unsigned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DATA &amp; OPERANDS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73152" cy="141732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35024"/>
            <a:ext cx="475487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Unsigned 8-bit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64792"/>
            <a:ext cx="4754879" cy="7589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Range: 0 to 255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Example: 11111111₂ = 255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73152" cy="14173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335024"/>
            <a:ext cx="475487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Two's-complement signed 8-bit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4754879" cy="7589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Range: −128 to +127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Example: 11111111₂ = −1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154680"/>
            <a:ext cx="438912" cy="530352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282696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3154680"/>
            <a:ext cx="438912" cy="530352"/>
          </a:xfrm>
          <a:prstGeom prst="round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72768" y="3282696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9696" y="3154680"/>
            <a:ext cx="438912" cy="530352"/>
          </a:xfrm>
          <a:prstGeom prst="round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39696" y="3282696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6624" y="3154680"/>
            <a:ext cx="438912" cy="530352"/>
          </a:xfrm>
          <a:prstGeom prst="round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06624" y="3282696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154680"/>
            <a:ext cx="438912" cy="530352"/>
          </a:xfrm>
          <a:prstGeom prst="round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73552" y="3282696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3154680"/>
            <a:ext cx="438912" cy="530352"/>
          </a:xfrm>
          <a:prstGeom prst="round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0" y="3282696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3154680"/>
            <a:ext cx="438912" cy="530352"/>
          </a:xfrm>
          <a:prstGeom prst="round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07408" y="3282696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74336" y="3154680"/>
            <a:ext cx="438912" cy="530352"/>
          </a:xfrm>
          <a:prstGeom prst="round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74336" y="3282696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8404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245BA6"/>
                </a:solidFill>
                <a:latin typeface="Aptos"/>
              </a:defRPr>
            </a:pPr>
            <a:r>
              <a:t>Unsigned interpretation: 255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840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B53E"/>
                </a:solidFill>
                <a:latin typeface="Aptos"/>
              </a:defRPr>
            </a:pPr>
            <a:r>
              <a:t>Signed interpretation: −1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572000"/>
            <a:ext cx="10149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4400" y="4572000"/>
            <a:ext cx="73152" cy="9144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15568" y="4718304"/>
            <a:ext cx="9784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Class question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" y="5148072"/>
            <a:ext cx="978408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Why does a computer need a rule for interpreting bits rather than storing a separate '+' or '−' sign symbol?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3.3  Other operand representations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DATA &amp; OPERANDS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210312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80744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Character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10512"/>
            <a:ext cx="3108960" cy="144475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A character is encoded as a number.</a:t>
            </a:r>
          </a:p>
          <a:p>
            <a:pPr algn="l">
              <a:spcAft>
                <a:spcPts val="700"/>
              </a:spcAft>
              <a:defRPr sz="1500" b="0" i="0">
                <a:solidFill>
                  <a:srgbClr val="253142"/>
                </a:solidFill>
                <a:latin typeface="Aptos"/>
              </a:defRPr>
            </a:pPr>
            <a:r>
              <a:t>Example: ASCII 'A' = 65 decimal (0x41).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210312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80744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Floating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10512"/>
            <a:ext cx="3108960" cy="144475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Represents fractional values using sign, exponent, and significand.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Example: 3.5.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73152" cy="21031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380744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Vector / SIMD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10512"/>
            <a:ext cx="3017520" cy="144475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One instruction can operate on several packed values.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Example: add four 8-bit pixels in parallel.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Four pixel channels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51960"/>
            <a:ext cx="594360" cy="347472"/>
          </a:xfrm>
          <a:prstGeom prst="roundRect">
            <a:avLst/>
          </a:prstGeom>
          <a:solidFill>
            <a:srgbClr val="CB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279392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4251960"/>
            <a:ext cx="594360" cy="347472"/>
          </a:xfrm>
          <a:prstGeom prst="round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08760" y="4279392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4251960"/>
            <a:ext cx="594360" cy="347472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94560" y="4279392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251960"/>
            <a:ext cx="594360" cy="347472"/>
          </a:xfrm>
          <a:prstGeom prst="round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80360" y="4279392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40480" y="4434840"/>
            <a:ext cx="1005840" cy="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983480" y="3931920"/>
            <a:ext cx="2286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83480" y="3931920"/>
            <a:ext cx="73152" cy="105156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84648" y="40782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SIMD ADD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4507992"/>
            <a:ext cx="1920240" cy="39319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R, G, B, A processed as packed lanes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52360" y="4434840"/>
            <a:ext cx="777240" cy="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12480" y="4114800"/>
            <a:ext cx="2377440" cy="7772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Useful in graphics, audio, and scientific workloads.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3.4  Intel x86 and ARM data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ISA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338328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80744"/>
            <a:ext cx="475487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Intel x86 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4754879" cy="2724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Integer operands: 8, 16, 32, 64-bit forms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Floating-point: x87 and SIMD formats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Packed SIMD data: SSE/AVX families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Byte-addressable memory; little-endian is common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• x86-64 has general-purpose registers such as RAX, RBX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73152" cy="338328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380744"/>
            <a:ext cx="475487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ARM (AArch32 / AArch64)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810512"/>
            <a:ext cx="4754879" cy="2724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• Integer operands depend on execution state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• AArch64 general-purpose registers are 64-bit X registers; W views access lower 32 bits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• Floating-point and SIMD registers support multiple formats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• Byte-addressable memory; little-endian commonly used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• Register names include X0–X30 / W0–W30 in AArch64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0424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Important: exact instruction availability and register conventions depend on the specific architecture version and execution mode.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3.4  Register width: x86-64 and ARM AArch64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ISA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ARM AArch64 register 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754880" cy="6858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47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X0 = 64 bits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06040"/>
            <a:ext cx="2377440" cy="59436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76148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W0 = low 32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x86-64 register names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73152" cy="9144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792224"/>
            <a:ext cx="448055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RAX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221992"/>
            <a:ext cx="4480559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64-bit register; EAX names its lower 32 bits.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73152" cy="9144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2889504"/>
            <a:ext cx="448055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RBX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319272"/>
            <a:ext cx="4480559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Another 64-bit general-purpose register.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14800"/>
            <a:ext cx="102412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253142"/>
                </a:solidFill>
                <a:latin typeface="Aptos"/>
              </a:defRPr>
            </a:pPr>
            <a:r>
              <a:t>Register width affects how many bits can be processed directly, but it does not by itself tell us how fast a processor 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035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Pair task: if W0 contains 0x00000005, what numeric value is in W0? What does X0 show after a 32-bit write in AArch64?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3.5  Types of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150876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807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Data transfer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10512"/>
            <a:ext cx="3063240" cy="8503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LOAD, STORE, MOV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344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234440"/>
            <a:ext cx="73152" cy="150876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3807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Arithmetic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810512"/>
            <a:ext cx="3063240" cy="8503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ADD, SUB, MUL, DIV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2344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234440"/>
            <a:ext cx="73152" cy="150876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13807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Logical / bitwise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810512"/>
            <a:ext cx="3063240" cy="8503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AND, ORR/OR, XOR, NOT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004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200400"/>
            <a:ext cx="73152" cy="150876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34670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Shift / rotate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776472"/>
            <a:ext cx="3063240" cy="8503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LSL/SHL, LSR/SHR, 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2004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200400"/>
            <a:ext cx="73152" cy="150876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1728" y="334670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Control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776472"/>
            <a:ext cx="3063240" cy="8503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Branch, compare-and-branch, call, return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2004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3200400"/>
            <a:ext cx="73152" cy="1508760"/>
          </a:xfrm>
          <a:prstGeom prst="rect">
            <a:avLst/>
          </a:prstGeom>
          <a:solidFill>
            <a:srgbClr val="CB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76488" y="334670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I/O and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776472"/>
            <a:ext cx="3063240" cy="8503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Device access, traps, system calls, privileged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4068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Modern ISAs also include atomic, cryptographic, vector, and specialized instructions.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3.5  Data transfer: LOAD, STORE, MOVE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141732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80744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10512"/>
            <a:ext cx="2971800" cy="7589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Copy data from memory into a register.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14173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80744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11F39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10512"/>
            <a:ext cx="2971800" cy="7589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Copy data from a register to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73152" cy="141732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380744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10512"/>
            <a:ext cx="2971800" cy="7589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Copy a value between registers or from an immediate, depending on ISA.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24612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246120"/>
            <a:ext cx="73152" cy="105156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3392424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Memory[1000]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822191"/>
            <a:ext cx="2103120" cy="39319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42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20440" y="3749039"/>
            <a:ext cx="1188720" cy="0"/>
          </a:xfrm>
          <a:prstGeom prst="line">
            <a:avLst/>
          </a:prstGeom>
          <a:ln w="381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846320" y="3246120"/>
            <a:ext cx="2286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46320" y="3246120"/>
            <a:ext cx="73152" cy="105156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47488" y="33924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3822191"/>
            <a:ext cx="1920240" cy="39319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42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69480" y="3749039"/>
            <a:ext cx="1143000" cy="0"/>
          </a:xfrm>
          <a:prstGeom prst="line">
            <a:avLst/>
          </a:prstGeom>
          <a:ln w="38100">
            <a:solidFill>
              <a:srgbClr val="F5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549640" y="324612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49640" y="3246120"/>
            <a:ext cx="73152" cy="105156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50808" y="3392424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Memory[1004]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0808" y="3822191"/>
            <a:ext cx="2103120" cy="39319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892040"/>
            <a:ext cx="99669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253142"/>
                </a:solidFill>
                <a:latin typeface="Aptos"/>
              </a:defRPr>
            </a:pPr>
            <a:r>
              <a:t>Example sequence: LOAD R1, [1000] then STORE [1004], R1. The value is copied; the original memory location is not automatically erased.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3.5  Arithmetic and logical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4846320" cy="118872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353312"/>
            <a:ext cx="4517136" cy="9692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ADD R0, R1, R2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SUB R3, R0, #1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234440"/>
            <a:ext cx="5029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1234440"/>
            <a:ext cx="73152" cy="118872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0488" y="1380744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Arithmetic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1810512"/>
            <a:ext cx="4663440" cy="5303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If R1 = 7 and R2 = 5, then R0 = 12.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4846320" cy="118872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090672"/>
            <a:ext cx="4517136" cy="9692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AND R4, R1, #0x0F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EOR R5, R1, R2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2971800"/>
            <a:ext cx="5029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89320" y="2971800"/>
            <a:ext cx="73152" cy="118872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90488" y="3118104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Bitwise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547872"/>
            <a:ext cx="4663440" cy="5303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AND can mask selected bits. XOR returns 1 where corresponding bits differ.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10424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245BA6"/>
                </a:solidFill>
                <a:latin typeface="Aptos"/>
              </a:defRPr>
            </a:pPr>
            <a:r>
              <a:t>Student challenge: with R1 = 1100₂ and mask = 1010₂, compute R1 AND mask.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3.5  Shift operations: move bits, not decimal digits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245BA6"/>
                </a:solidFill>
                <a:latin typeface="Aptos"/>
              </a:defRPr>
            </a:pPr>
            <a:r>
              <a:t>Start: 0000 1100₂ =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1872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00784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00784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39696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39696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78608" y="1737360"/>
            <a:ext cx="347472" cy="457200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78608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1737360"/>
            <a:ext cx="347472" cy="457200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17520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95344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95344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54880" y="1965960"/>
            <a:ext cx="960120" cy="0"/>
          </a:xfrm>
          <a:prstGeom prst="line">
            <a:avLst/>
          </a:prstGeom>
          <a:ln w="38100">
            <a:solidFill>
              <a:srgbClr val="F5B5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89320" y="123444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B53E"/>
                </a:solidFill>
                <a:latin typeface="Aptos"/>
              </a:defRPr>
            </a:pPr>
            <a:r>
              <a:t>Logical left shift by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89320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28231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1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67144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67144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06056" y="1737360"/>
            <a:ext cx="347472" cy="457200"/>
          </a:xfrm>
          <a:prstGeom prst="round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06056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44967" y="1737360"/>
            <a:ext cx="347472" cy="457200"/>
          </a:xfrm>
          <a:prstGeom prst="round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44967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83879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22792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22792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1704" y="1737360"/>
            <a:ext cx="347472" cy="457200"/>
          </a:xfrm>
          <a:prstGeom prst="roundRect">
            <a:avLst/>
          </a:prstGeom>
          <a:solidFill>
            <a:srgbClr val="D2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1704" y="184708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2971800"/>
            <a:ext cx="4846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2960" y="2971800"/>
            <a:ext cx="73152" cy="132588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4128" y="3118104"/>
            <a:ext cx="448055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For unsigned values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" y="3547872"/>
            <a:ext cx="4480559" cy="6675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A left shift by 1 is equivalent to multiplying by 2 when no significant bit is lost.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2971800"/>
            <a:ext cx="4846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17920" y="2971800"/>
            <a:ext cx="73152" cy="132588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19088" y="3118104"/>
            <a:ext cx="448055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Right shift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3547872"/>
            <a:ext cx="4480559" cy="6675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A logical right shift inserts zeros on the left; arithmetic right shift generally preserves the sign bit.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98348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245BA6"/>
                </a:solidFill>
                <a:latin typeface="Aptos"/>
              </a:defRPr>
            </a:pPr>
            <a:r>
              <a:t>Try: what is 0000 1000₂ shifted left by 2? Answer: 0010 0000₂ = 32.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3.5  Control flow: sequential execution and branches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148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868680"/>
          </a:xfrm>
          <a:prstGeom prst="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80744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PC =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1783080" cy="21031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Fetch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1664208"/>
            <a:ext cx="731520" cy="0"/>
          </a:xfrm>
          <a:prstGeom prst="line">
            <a:avLst/>
          </a:prstGeom>
          <a:ln w="25400">
            <a:solidFill>
              <a:srgbClr val="24B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4760" y="1234440"/>
            <a:ext cx="2194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94760" y="1234440"/>
            <a:ext cx="73152" cy="86868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95928" y="138074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5928" y="1810512"/>
            <a:ext cx="1828800" cy="21031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R1 == R2?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1664208"/>
            <a:ext cx="731520" cy="0"/>
          </a:xfrm>
          <a:prstGeom prst="line">
            <a:avLst/>
          </a:prstGeom>
          <a:ln w="25400">
            <a:solidFill>
              <a:srgbClr val="2C9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03720" y="1051560"/>
            <a:ext cx="1965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03720" y="1051560"/>
            <a:ext cx="73152" cy="86868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04888" y="1197863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1627631"/>
            <a:ext cx="1600200" cy="21031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Branch target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1965960"/>
            <a:ext cx="777240" cy="914400"/>
          </a:xfrm>
          <a:prstGeom prst="line">
            <a:avLst/>
          </a:prstGeom>
          <a:ln w="25400">
            <a:solidFill>
              <a:srgbClr val="CB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03720" y="2560320"/>
            <a:ext cx="1965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03720" y="2560320"/>
            <a:ext cx="73152" cy="868680"/>
          </a:xfrm>
          <a:prstGeom prst="rect">
            <a:avLst/>
          </a:prstGeom>
          <a:solidFill>
            <a:srgbClr val="CB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04888" y="2706624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111F39"/>
                </a:solidFill>
                <a:latin typeface="Aptos"/>
              </a:defRPr>
            </a:pPr>
            <a:r>
              <a:t>False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3136391"/>
            <a:ext cx="1600200" cy="21031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Next instruction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280160"/>
            <a:ext cx="1920240" cy="1920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PC = Program Counter: holds the address used to fetch the next instruction.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069080"/>
            <a:ext cx="7132320" cy="10058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187952"/>
            <a:ext cx="6803136" cy="7863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CMP R1, R2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BEQ equal_label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160520"/>
            <a:ext cx="246888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5E6C80"/>
                </a:solidFill>
                <a:latin typeface="Aptos"/>
              </a:defRPr>
            </a:pPr>
            <a:r>
              <a:t>BEQ means branch if equal in common assembly syntaxes.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Interaction: if the comparison is false, should execution stop or continue? Explain.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3.6  Intel x86 operation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ISA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Intel-style syntax (illustrative)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4937760" cy="141732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719072"/>
            <a:ext cx="4608576" cy="11978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MOV EAX, 7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ADD EAX, 5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; EAX becomes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4846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600200"/>
            <a:ext cx="73152" cy="141732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746504"/>
            <a:ext cx="448055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What happens?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76272"/>
            <a:ext cx="4480559" cy="7589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MOV places 7 in EAX. ADD adds 5 to the existing EAX value. The destination is also an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40"/>
            <a:ext cx="4937760" cy="12344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639312"/>
            <a:ext cx="4608576" cy="10149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FFFFF"/>
                </a:solidFill>
                <a:latin typeface="Consolas"/>
              </a:defRPr>
            </a:pPr>
            <a:r>
              <a:t>MOV ECX, [RDI+4]</a:t>
            </a:r>
          </a:p>
          <a:p>
            <a:pPr algn="l">
              <a:spcAft>
                <a:spcPts val="700"/>
              </a:spcAft>
              <a:defRPr sz="1500" b="0" i="0">
                <a:solidFill>
                  <a:srgbClr val="FFFFFF"/>
                </a:solidFill>
                <a:latin typeface="Consolas"/>
              </a:defRPr>
            </a:pPr>
            <a:r>
              <a:t>; load a 32-bit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2044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3520440"/>
            <a:ext cx="73152" cy="1234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3666744"/>
            <a:ext cx="448055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Memory operand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96512"/>
            <a:ext cx="4480559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Square brackets denote a memory reference in common Intel syntax. [RDI+4] means memory at address RDI + 4.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5780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x86 supports rich instruction encodings and many operand forms; exact legal combinations depend on the instruction.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3.6  ARM AArch64 operation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ISA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AArch64-style syntax (illustrative)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4937760" cy="141732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719072"/>
            <a:ext cx="4608576" cy="11978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MOV W0, #7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ADD W0, W0, #5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; W0 becomes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4846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600200"/>
            <a:ext cx="73152" cy="141732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746504"/>
            <a:ext cx="448055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What happens?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76272"/>
            <a:ext cx="4480559" cy="7589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W0 is a 32-bit register view. ADD uses W0 as an input and writes the result to W0.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40"/>
            <a:ext cx="4937760" cy="12344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639312"/>
            <a:ext cx="4608576" cy="10149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FFFFF"/>
                </a:solidFill>
                <a:latin typeface="Consolas"/>
              </a:defRPr>
            </a:pPr>
            <a:r>
              <a:t>LDR W1, [X2, #4]</a:t>
            </a:r>
          </a:p>
          <a:p>
            <a:pPr algn="l">
              <a:spcAft>
                <a:spcPts val="700"/>
              </a:spcAft>
              <a:defRPr sz="1500" b="0" i="0">
                <a:solidFill>
                  <a:srgbClr val="FFFFFF"/>
                </a:solidFill>
                <a:latin typeface="Consolas"/>
              </a:defRPr>
            </a:pPr>
            <a:r>
              <a:t>; load 32-bit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2044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3520440"/>
            <a:ext cx="73152" cy="123444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3666744"/>
            <a:ext cx="448055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Memory operand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96512"/>
            <a:ext cx="4480559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X2 contains a base address; #4 is a byte offset for this load form.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5780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245BA6"/>
                </a:solidFill>
                <a:latin typeface="Aptos"/>
              </a:defRPr>
            </a:pPr>
            <a:r>
              <a:t>ARM uses load/store design: arithmetic usually works on registers, while loads/stores access memory.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3.6  x86 vs ARM: compare the design ideas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ISA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2468880" cy="502920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4416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34440"/>
            <a:ext cx="3749039" cy="502920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344168"/>
            <a:ext cx="365759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x86-64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234440"/>
            <a:ext cx="3840480" cy="502920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1344168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ARM AArch64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37360"/>
            <a:ext cx="2468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1847088"/>
            <a:ext cx="232257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253142"/>
                </a:solidFill>
                <a:latin typeface="Aptos"/>
              </a:defRPr>
            </a:pPr>
            <a:r>
              <a:t>Instruction length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737360"/>
            <a:ext cx="37490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6432" y="1847088"/>
            <a:ext cx="3602735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Variable length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737360"/>
            <a:ext cx="3840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847088"/>
            <a:ext cx="369417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Fixed 32-bit base instructions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450592"/>
            <a:ext cx="2468880" cy="713232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2560320"/>
            <a:ext cx="232257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253142"/>
                </a:solidFill>
                <a:latin typeface="Aptos"/>
              </a:defRPr>
            </a:pPr>
            <a:r>
              <a:t>Arithmetic operands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450592"/>
            <a:ext cx="3749039" cy="713232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6432" y="2560320"/>
            <a:ext cx="3602735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Many instructions allow register/memory forms; rules vary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450592"/>
            <a:ext cx="3840480" cy="713232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79792" y="2560320"/>
            <a:ext cx="369417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Usually register operands; memory via load/store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163824"/>
            <a:ext cx="2468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3273552"/>
            <a:ext cx="232257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253142"/>
                </a:solidFill>
                <a:latin typeface="Aptos"/>
              </a:defRPr>
            </a:pPr>
            <a:r>
              <a:t>Register naming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163824"/>
            <a:ext cx="37490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56432" y="3273552"/>
            <a:ext cx="3602735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RAX, RBX, RCX…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163824"/>
            <a:ext cx="3840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79792" y="3273552"/>
            <a:ext cx="369417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X0–X30; W0–W30 views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877056"/>
            <a:ext cx="2468880" cy="713232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3986784"/>
            <a:ext cx="232257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253142"/>
                </a:solidFill>
                <a:latin typeface="Aptos"/>
              </a:defRPr>
            </a:pPr>
            <a:r>
              <a:t>Encoding style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3877056"/>
            <a:ext cx="3749039" cy="713232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56432" y="3986784"/>
            <a:ext cx="3602735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Dense, historically complex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877056"/>
            <a:ext cx="3840480" cy="713232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79792" y="3986784"/>
            <a:ext cx="369417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Regular base encoding, with extensions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590288"/>
            <a:ext cx="2468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" y="4700016"/>
            <a:ext cx="232257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253142"/>
                </a:solidFill>
                <a:latin typeface="Aptos"/>
              </a:defRPr>
            </a:pPr>
            <a:r>
              <a:t>Typical design emphasis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590288"/>
            <a:ext cx="3749039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56432" y="4700016"/>
            <a:ext cx="3602735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Compatibility and code density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590288"/>
            <a:ext cx="3840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79792" y="4700016"/>
            <a:ext cx="369417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Regularity and power/performance efficiency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Both are powerful ISAs; performance depends on the implementation, workload, compiler, and system—not ISA alone.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Worked example: trace register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4572000" cy="205740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353312"/>
            <a:ext cx="4242816" cy="18379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MOV R1, #8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MOV R2, #3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ADD R3, R1, R2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FFFFF"/>
                </a:solidFill>
                <a:latin typeface="Consolas"/>
              </a:defRPr>
            </a:pPr>
            <a:r>
              <a:t>SUB R4, R3, #2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417320"/>
            <a:ext cx="960120" cy="457200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5000" y="153619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1417320"/>
            <a:ext cx="960120" cy="457200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153619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417320"/>
            <a:ext cx="960120" cy="457200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153619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17320"/>
            <a:ext cx="960120" cy="457200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6840" y="153619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4120" y="1417320"/>
            <a:ext cx="960120" cy="457200"/>
          </a:xfrm>
          <a:prstGeom prst="rect">
            <a:avLst/>
          </a:prstGeom>
          <a:solidFill>
            <a:srgbClr val="111F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04120" y="153619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1874519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0" y="1993391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253142"/>
                </a:solidFill>
                <a:latin typeface="Aptos"/>
              </a:defRPr>
            </a:pPr>
            <a:r>
              <a:t>Init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1874519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1993391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1874519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1993391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1874519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6840" y="1993391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04120" y="1874519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04120" y="1993391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2350008"/>
            <a:ext cx="960120" cy="47548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15000" y="246887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253142"/>
                </a:solidFill>
                <a:latin typeface="Aptos"/>
              </a:defRPr>
            </a:pPr>
            <a:r>
              <a:t>MOV R1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2350008"/>
            <a:ext cx="960120" cy="47548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12280" y="246887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2350008"/>
            <a:ext cx="960120" cy="47548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09560" y="246887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2350008"/>
            <a:ext cx="960120" cy="47548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06840" y="246887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2350008"/>
            <a:ext cx="960120" cy="47548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04120" y="246887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0" y="2825496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15000" y="294436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253142"/>
                </a:solidFill>
                <a:latin typeface="Aptos"/>
              </a:defRPr>
            </a:pPr>
            <a:r>
              <a:t>MOV R2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80" y="2825496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2280" y="294436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9560" y="2825496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9560" y="294436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40" y="2825496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06840" y="294436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04120" y="2825496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104120" y="294436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0" y="3300984"/>
            <a:ext cx="960120" cy="47548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15000" y="341985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253142"/>
                </a:solidFill>
                <a:latin typeface="Aptos"/>
              </a:defRPr>
            </a:pPr>
            <a:r>
              <a:t>ADD R3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3300984"/>
            <a:ext cx="960120" cy="47548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12280" y="341985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09560" y="3300984"/>
            <a:ext cx="960120" cy="47548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09560" y="341985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6840" y="3300984"/>
            <a:ext cx="960120" cy="47548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06840" y="341985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04120" y="3300984"/>
            <a:ext cx="960120" cy="475488"/>
          </a:xfrm>
          <a:prstGeom prst="rect">
            <a:avLst/>
          </a:prstGeom>
          <a:solidFill>
            <a:srgbClr val="DEEB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104120" y="341985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15000" y="3776472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15000" y="389534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253142"/>
                </a:solidFill>
                <a:latin typeface="Aptos"/>
              </a:defRPr>
            </a:pPr>
            <a:r>
              <a:t>SUB R4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12280" y="3776472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812280" y="389534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09560" y="3776472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909560" y="389534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06840" y="3776472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006840" y="389534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04120" y="3776472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104120" y="389534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25314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3886200"/>
            <a:ext cx="4297680" cy="6858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Think aloud: which instruction first produces a new value in R3?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8680" y="4754880"/>
            <a:ext cx="9966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68680" y="4754880"/>
            <a:ext cx="73152" cy="86868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69848" y="4901184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111F39"/>
                </a:solidFill>
                <a:latin typeface="Aptos"/>
              </a:defRPr>
            </a:pPr>
            <a:r>
              <a:t>Instructor prompt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9848" y="5330952"/>
            <a:ext cx="9601200" cy="21031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253142"/>
                </a:solidFill>
                <a:latin typeface="Aptos"/>
              </a:defRPr>
            </a:pPr>
            <a:r>
              <a:t>Ask a student to explain each state change without reading the answer from the table.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Pair activity: build an instruction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INTERACTIVE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51560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253142"/>
                </a:solidFill>
                <a:latin typeface="Aptos"/>
              </a:defRPr>
            </a:pPr>
            <a:r>
              <a:t>Scenario: a temperature sensor stores a reading in memory. Multiply the reading by 2, then save it in another location.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73152" cy="150876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020824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50591"/>
            <a:ext cx="2880360" cy="8503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1. Load the reading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2. Double it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3. Store the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874519"/>
            <a:ext cx="73152" cy="150876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2020824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450591"/>
            <a:ext cx="2880360" cy="8503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Use a register for arithmetic. State your assumed addresses and register names.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73152" cy="150876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020824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50591"/>
            <a:ext cx="2880360" cy="8503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142"/>
                </a:solidFill>
                <a:latin typeface="Aptos"/>
              </a:defRPr>
            </a:pPr>
            <a:r>
              <a:t>Write 3–4 instructions. Explain each operand and addressing mode.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45BA6"/>
                </a:solidFill>
                <a:latin typeface="Aptos"/>
              </a:defRPr>
            </a:pPr>
            <a:r>
              <a:t>Starter template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434840"/>
            <a:ext cx="10058400" cy="100584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3271" y="4553712"/>
            <a:ext cx="9729216" cy="7863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FFFFF"/>
                </a:solidFill>
                <a:latin typeface="Consolas"/>
              </a:defRPr>
            </a:pPr>
            <a:r>
              <a:t>LOAD R1, [sensor_address]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FFFFF"/>
                </a:solidFill>
                <a:latin typeface="Consolas"/>
              </a:defRPr>
            </a:pPr>
            <a:r>
              <a:t>ADD  R2, R1, R1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FFFFF"/>
                </a:solidFill>
                <a:latin typeface="Consolas"/>
              </a:defRPr>
            </a:pPr>
            <a:r>
              <a:t>STORE [result_address], R2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235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5E6C80"/>
                </a:solidFill>
                <a:latin typeface="Aptos"/>
              </a:defRPr>
            </a:pPr>
            <a:r>
              <a:t>Note: generic pseudocode—real syntax differs between ISAs.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Quick knowledge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CHECK FOR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15568"/>
            <a:ext cx="457200" cy="347472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078992"/>
            <a:ext cx="621792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53142"/>
                </a:solidFill>
                <a:latin typeface="Aptos"/>
              </a:defRPr>
            </a:pPr>
            <a:r>
              <a:t>What does an opcode specify?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078992"/>
            <a:ext cx="3566160" cy="5943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C9165"/>
                </a:solidFill>
                <a:latin typeface="Aptos"/>
              </a:defRPr>
            </a:pPr>
            <a:r>
              <a:t>Answer: The operation to perform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57400"/>
            <a:ext cx="457200" cy="347472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1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020824"/>
            <a:ext cx="621792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53142"/>
                </a:solidFill>
                <a:latin typeface="Aptos"/>
              </a:defRPr>
            </a:pPr>
            <a:r>
              <a:t>What is an immediate operand?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020824"/>
            <a:ext cx="3566160" cy="5943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C9165"/>
                </a:solidFill>
                <a:latin typeface="Aptos"/>
              </a:defRPr>
            </a:pPr>
            <a:r>
              <a:t>Answer: A constant encoded in the instruction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99232"/>
            <a:ext cx="457200" cy="347472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02666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62656"/>
            <a:ext cx="621792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53142"/>
                </a:solidFill>
                <a:latin typeface="Aptos"/>
              </a:defRPr>
            </a:pPr>
            <a:r>
              <a:t>Which typically uses fixed 32-bit base instructions: x86-64 or AArch64?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962656"/>
            <a:ext cx="3566160" cy="5943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C9165"/>
                </a:solidFill>
                <a:latin typeface="Aptos"/>
              </a:defRPr>
            </a:pPr>
            <a:r>
              <a:t>Answer: AArch64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41063"/>
            <a:ext cx="457200" cy="347472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96849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04487"/>
            <a:ext cx="621792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53142"/>
                </a:solidFill>
                <a:latin typeface="Aptos"/>
              </a:defRPr>
            </a:pPr>
            <a:r>
              <a:t>What does a STORE instruction do?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904487"/>
            <a:ext cx="3566160" cy="5943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C9165"/>
                </a:solidFill>
                <a:latin typeface="Aptos"/>
              </a:defRPr>
            </a:pPr>
            <a:r>
              <a:t>Answer: Copies data from a register to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882896"/>
            <a:ext cx="457200" cy="347472"/>
          </a:xfrm>
          <a:prstGeom prst="roundRect">
            <a:avLst/>
          </a:prstGeom>
          <a:solidFill>
            <a:srgbClr val="24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91032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46320"/>
            <a:ext cx="621792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253142"/>
                </a:solidFill>
                <a:latin typeface="Aptos"/>
              </a:defRPr>
            </a:pPr>
            <a:r>
              <a:t>Why do branches matter?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46320"/>
            <a:ext cx="3566160" cy="5943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C9165"/>
                </a:solidFill>
                <a:latin typeface="Aptos"/>
              </a:defRPr>
            </a:pPr>
            <a:r>
              <a:t>Answer: They change the normal sequence of instruction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98932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245BA6"/>
                </a:solidFill>
                <a:latin typeface="Aptos"/>
              </a:defRPr>
            </a:pPr>
            <a:r>
              <a:t>Instructor: hide the right column while students answer, then reveal it for peer checking.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111F39"/>
                </a:solidFill>
                <a:latin typeface="Aptos"/>
              </a:defRPr>
            </a:pPr>
            <a:r>
              <a:t>Exit ticket: explain it in your own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822960" cy="54864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2918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45BA6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5E6C80"/>
                </a:solidFill>
                <a:latin typeface="Aptos"/>
              </a:defRPr>
            </a:pPr>
            <a:r>
              <a:t>COMPUTER ARCHITECTURE  •  INSTRUCTION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5E6C80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1828800"/>
          </a:xfrm>
          <a:prstGeom prst="rect">
            <a:avLst/>
          </a:prstGeom>
          <a:solidFill>
            <a:srgbClr val="24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3807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10512"/>
            <a:ext cx="3063240" cy="11704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What is an ISA, and how is it different from a CPU implementation?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1828800"/>
          </a:xfrm>
          <a:prstGeom prst="rect">
            <a:avLst/>
          </a:prstGeom>
          <a:solidFill>
            <a:srgbClr val="F5B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807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10512"/>
            <a:ext cx="3063240" cy="11704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Decode this: ADD R0, R1, R2. Identify operation, sources, and destination.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73152" cy="1828800"/>
          </a:xfrm>
          <a:prstGeom prst="rect">
            <a:avLst/>
          </a:prstGeom>
          <a:solidFill>
            <a:srgbClr val="75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3807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111F39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810512"/>
            <a:ext cx="3063240" cy="11704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142"/>
                </a:solidFill>
                <a:latin typeface="Aptos"/>
              </a:defRPr>
            </a:pPr>
            <a:r>
              <a:t>Give one difference between x86-64 and ARM AArch64.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40480"/>
            <a:ext cx="10424160" cy="6400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245BA6"/>
                </a:solidFill>
                <a:latin typeface="Aptos"/>
              </a:defRPr>
            </a:pPr>
            <a:r>
              <a:t>Take-home task: write a short instruction sequence to calculate average = (A + B) / 2. Label every operand and addressing mode.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10424160" cy="5943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5E6C80"/>
                </a:solidFill>
                <a:latin typeface="Aptos"/>
              </a:defRPr>
            </a:pPr>
            <a:r>
              <a:t>Reading: William Stallings, Computer Organization and Architecture, chapter on Instruction Sets (section numbering/page numbers may vary by edition).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2502</Words>
  <Application>Microsoft Office PowerPoint</Application>
  <PresentationFormat>Widescreen</PresentationFormat>
  <Paragraphs>483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 Sets — Computer Architecture</dc:title>
  <dc:subject>William Stallings Chapter 12: Instruction Set Characteristics, Machine Instructions, Operands, x86 and ARM</dc:subject>
  <dc:creator>OpenAI</dc:creator>
  <cp:keywords>Computer Architecture, Instruction Set, x86, ARM, Stallings, teaching slides</cp:keywords>
  <dc:description>generated using python-pptx</dc:description>
  <cp:lastModifiedBy>PC</cp:lastModifiedBy>
  <cp:revision>2</cp:revision>
  <dcterms:created xsi:type="dcterms:W3CDTF">2013-01-27T09:14:16Z</dcterms:created>
  <dcterms:modified xsi:type="dcterms:W3CDTF">2026-10-21T11:28:05Z</dcterms:modified>
  <cp:category/>
</cp:coreProperties>
</file>