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24B1BE"/>
                </a:solidFill>
                <a:latin typeface="Aptos"/>
              </a:defRPr>
            </a:pPr>
            <a:r>
              <a:t>COMPUTER ARCHITECTURE &amp;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ADDRESSING MODES</a:t>
            </a:r>
          </a:p>
          <a:p>
            <a:pPr algn="l">
              <a:spcAft>
                <a:spcPts val="5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&amp; INSTRUCTION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62179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000" b="0" i="0">
                <a:solidFill>
                  <a:srgbClr val="DCE6F2"/>
                </a:solidFill>
                <a:latin typeface="Aptos"/>
              </a:defRPr>
            </a:pPr>
            <a:r>
              <a:t>How a CPU finds data and decodes each instruction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51960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F5B53E"/>
                </a:solidFill>
                <a:latin typeface="Aptos"/>
              </a:defRPr>
            </a:pPr>
            <a:r>
              <a:t>William Stallings • Chapter 13 topic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937760"/>
            <a:ext cx="6217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BECDDE"/>
                </a:solidFill>
                <a:latin typeface="Aptos"/>
              </a:defRPr>
            </a:pPr>
            <a:r>
              <a:t>Definitions • Diagrams • Advantages &amp; limitations • x86/ARM examples • Activities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417320"/>
            <a:ext cx="2286000" cy="22860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21040" y="1783080"/>
            <a:ext cx="1554480" cy="155448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22860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t>CPU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051560"/>
            <a:ext cx="91440" cy="29260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92440" y="3703320"/>
            <a:ext cx="91440" cy="29260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85048" y="1051560"/>
            <a:ext cx="91440" cy="29260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85048" y="3703320"/>
            <a:ext cx="91440" cy="29260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77656" y="1051560"/>
            <a:ext cx="91440" cy="29260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77656" y="3703320"/>
            <a:ext cx="91440" cy="29260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70263" y="1051560"/>
            <a:ext cx="91440" cy="29260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70263" y="3703320"/>
            <a:ext cx="91440" cy="29260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62872" y="1051560"/>
            <a:ext cx="91440" cy="29260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62872" y="3703320"/>
            <a:ext cx="91440" cy="29260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55480" y="1051560"/>
            <a:ext cx="91440" cy="29260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555480" y="3703320"/>
            <a:ext cx="91440" cy="29260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48088" y="1051560"/>
            <a:ext cx="91440" cy="29260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48088" y="3703320"/>
            <a:ext cx="91440" cy="29260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43800" y="1600200"/>
            <a:ext cx="292608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241280" y="1600200"/>
            <a:ext cx="292608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43800" y="1920240"/>
            <a:ext cx="292608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241280" y="1920240"/>
            <a:ext cx="292608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43800" y="2240280"/>
            <a:ext cx="292608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241280" y="2240280"/>
            <a:ext cx="292608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43800" y="2560320"/>
            <a:ext cx="292608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241280" y="2560320"/>
            <a:ext cx="292608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43800" y="2880360"/>
            <a:ext cx="292608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241280" y="2880360"/>
            <a:ext cx="292608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543800" y="3200400"/>
            <a:ext cx="292608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241280" y="3200400"/>
            <a:ext cx="292608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BECDDE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BECDDE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298448"/>
            <a:ext cx="109728" cy="109728"/>
          </a:xfrm>
          <a:prstGeom prst="ellipse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188720"/>
            <a:ext cx="6373368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253142"/>
                </a:solidFill>
                <a:latin typeface="Aptos"/>
              </a:defRPr>
            </a:pPr>
            <a:r>
              <a:t>Define addressing modes and explain why CPUs need them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011680"/>
            <a:ext cx="109728" cy="109728"/>
          </a:xfrm>
          <a:prstGeom prst="ellipse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901952"/>
            <a:ext cx="6373368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253142"/>
                </a:solidFill>
                <a:latin typeface="Aptos"/>
              </a:defRPr>
            </a:pPr>
            <a:r>
              <a:t>Calculate effective addresses for common modes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724912"/>
            <a:ext cx="109728" cy="109728"/>
          </a:xfrm>
          <a:prstGeom prst="ellipse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615184"/>
            <a:ext cx="6373368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253142"/>
                </a:solidFill>
                <a:latin typeface="Aptos"/>
              </a:defRPr>
            </a:pPr>
            <a:r>
              <a:t>Compare x86 and ARM addressing patterns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438144"/>
            <a:ext cx="109728" cy="109728"/>
          </a:xfrm>
          <a:prstGeom prst="ellipse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3328416"/>
            <a:ext cx="6373368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253142"/>
                </a:solidFill>
                <a:latin typeface="Aptos"/>
              </a:defRPr>
            </a:pPr>
            <a:r>
              <a:t>Read instruction formats and identify their fields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151376"/>
            <a:ext cx="109728" cy="109728"/>
          </a:xfrm>
          <a:prstGeom prst="ellipse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4041648"/>
            <a:ext cx="6373368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253142"/>
                </a:solidFill>
                <a:latin typeface="Aptos"/>
              </a:defRPr>
            </a:pPr>
            <a:r>
              <a:t>Interpret simple assembly language and trace execution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32588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26679" y="1325880"/>
            <a:ext cx="73152" cy="201168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27848" y="1444752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By the 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1847088"/>
            <a:ext cx="3200400" cy="140817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You should be able to explain where an operand comes from, how an instruction is encoded, and why different designs make different trade-offs.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3657600"/>
            <a:ext cx="3566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26679" y="3657600"/>
            <a:ext cx="73152" cy="137160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27848" y="3776472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Learning routine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4178808"/>
            <a:ext cx="3200400" cy="7680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Predict → Discuss → Trace → 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Warm-up: where is the value 25?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ENGAGE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80160"/>
            <a:ext cx="4754880" cy="91440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1380744"/>
            <a:ext cx="4462272" cy="7315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2200" b="0" i="0">
                <a:solidFill>
                  <a:srgbClr val="FFFFFF"/>
                </a:solidFill>
                <a:latin typeface="Consolas"/>
              </a:defRPr>
            </a:pPr>
            <a:r>
              <a:t>MOV R0, #25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4754880" cy="91440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615184"/>
            <a:ext cx="4462272" cy="7315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LDR W0, [X1, #8]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3444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234440"/>
            <a:ext cx="73152" cy="11430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1353312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Question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755648"/>
            <a:ext cx="4572000" cy="5394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In the first instruction, where is 25 stored?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5176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2651760"/>
            <a:ext cx="73152" cy="114300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2770632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Question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172968"/>
            <a:ext cx="4572000" cy="5394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In the second instruction, what does X1 + 8 represent?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51960"/>
            <a:ext cx="10241280" cy="5943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245BA6"/>
                </a:solidFill>
                <a:latin typeface="Aptos"/>
              </a:defRPr>
            </a:pPr>
            <a:r>
              <a:t>Think for 30 seconds, discuss with a partner, then share your reasoning.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66360"/>
            <a:ext cx="10241280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5E6C80"/>
                </a:solidFill>
                <a:latin typeface="Aptos"/>
              </a:defRPr>
            </a:pPr>
            <a:r>
              <a:t>Note: examples use simplified assembly syntax; exact syntax varies by ISA and assembler.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4.1 Addressing modes: definition and purpose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4846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73152" cy="16002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307592"/>
            <a:ext cx="448055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11F39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4480559" cy="99669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53142"/>
                </a:solidFill>
                <a:latin typeface="Aptos"/>
              </a:defRPr>
            </a:pPr>
            <a:r>
              <a:t>An addressing mode is the rule an instruction uses to identify an operand or calculate where that operand is located.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63240"/>
            <a:ext cx="4846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063240"/>
            <a:ext cx="73152" cy="155448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182112"/>
            <a:ext cx="448055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Why do we use them?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584448"/>
            <a:ext cx="4480559" cy="95097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Programs work with constants, registers, arrays, pointers, stack values, and memory objects. One way to locate data cannot serve every need efficiently.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23444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1234440"/>
            <a:ext cx="73152" cy="96012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01968" y="1353312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Instruction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1755648"/>
            <a:ext cx="1463040" cy="3566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LOAD R0, [R1,#4]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0" y="2240280"/>
            <a:ext cx="0" cy="36576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0" y="265176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2651760"/>
            <a:ext cx="73152" cy="96012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2770632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Address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172968"/>
            <a:ext cx="1463040" cy="3566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R1 + 4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0" y="3657600"/>
            <a:ext cx="0" cy="36576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0" y="406908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4069080"/>
            <a:ext cx="73152" cy="96012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01968" y="4187952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590288"/>
            <a:ext cx="1463040" cy="3566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Read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2011680"/>
            <a:ext cx="2377440" cy="2286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53142"/>
                </a:solidFill>
                <a:latin typeface="Aptos"/>
              </a:defRPr>
            </a:pPr>
            <a:r>
              <a:t>The mode tells the CPU how to interpret the operand field: as a value, a register, or a route to a memory address.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Effective address: the key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3931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73152" cy="128016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261872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664207"/>
            <a:ext cx="3566160" cy="67665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Effective address (EA) = the memory address calculated from the instruction's addressing rule.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43200"/>
            <a:ext cx="4572000" cy="91440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2843784"/>
            <a:ext cx="4279392" cy="7315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EA = base register + offset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14300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245BA6"/>
                </a:solidFill>
                <a:latin typeface="Aptos"/>
              </a:defRPr>
            </a:pPr>
            <a:r>
              <a:t>Example: X1 = 1000, offset =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69164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0760" y="1691640"/>
            <a:ext cx="73152" cy="96012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8" y="1810512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X1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212848"/>
            <a:ext cx="1463040" cy="3566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1000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69164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58200" y="1691640"/>
            <a:ext cx="73152" cy="96012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59368" y="1810512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Offset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212848"/>
            <a:ext cx="1463040" cy="3566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#8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95160" y="2743200"/>
            <a:ext cx="1005840" cy="59436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549640" y="2743200"/>
            <a:ext cx="822960" cy="59436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15200" y="3383280"/>
            <a:ext cx="2103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0" y="3383280"/>
            <a:ext cx="73152" cy="91440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16368" y="3502152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11F39"/>
                </a:solidFill>
                <a:latin typeface="Aptos"/>
              </a:defRPr>
            </a:pPr>
            <a:r>
              <a:t>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3904488"/>
            <a:ext cx="1737360" cy="3108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253142"/>
                </a:solidFill>
                <a:latin typeface="Aptos"/>
              </a:defRPr>
            </a:pPr>
            <a:r>
              <a:t>1008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343400"/>
            <a:ext cx="104241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253142"/>
                </a:solidFill>
                <a:latin typeface="Aptos"/>
              </a:defRPr>
            </a:pPr>
            <a:r>
              <a:t>If the instruction is LDR W0, [X1, #8], the CPU reads data from memory address 1008; it does not load the number 8.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2578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245BA6"/>
                </a:solidFill>
                <a:latin typeface="Aptos"/>
              </a:defRPr>
            </a:pPr>
            <a:r>
              <a:t>Quick check: if X1 = 2040 and offset = 12, what is EA?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4.1 Immediate addressing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ADDRESSING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73152" cy="150876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307592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2834640" cy="90525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The operand value is encoded inside the instruction.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108960" cy="77724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426464"/>
            <a:ext cx="2816352" cy="594359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MOV R0, #25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18872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73152" cy="150876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65008" y="1307592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Best used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709928"/>
            <a:ext cx="2926080" cy="90525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Constants, counters, masks, small offsets.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5468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154680"/>
            <a:ext cx="73152" cy="141732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273552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675888"/>
            <a:ext cx="4663440" cy="8138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Fast access; no separate data-memory read for the constant; code can be concise.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54680"/>
            <a:ext cx="4937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154680"/>
            <a:ext cx="73152" cy="1417320"/>
          </a:xfrm>
          <a:prstGeom prst="rect">
            <a:avLst/>
          </a:prstGeom>
          <a:solidFill>
            <a:srgbClr val="CB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273552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675888"/>
            <a:ext cx="4572000" cy="8138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Immediate values may have size or encoding restrictions; large constants may need multiple instructions or literal loads.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07492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245BA6"/>
                </a:solidFill>
                <a:latin typeface="Aptos"/>
              </a:defRPr>
            </a:pPr>
            <a:r>
              <a:t>Ask: in MOV R0, #25, is 25 a memory address or the actual value?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4.1 Register addressing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ADDRESSING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200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73152" cy="146304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307592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2834640" cy="85953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The operand is held in a CPU register named by the instruction.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108960" cy="77724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426464"/>
            <a:ext cx="2816352" cy="594359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ADD R0, 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1430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245BA6"/>
                </a:solidFill>
                <a:latin typeface="Aptos"/>
              </a:defRPr>
            </a:pPr>
            <a:r>
              <a:t>Register bank (concept)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554480"/>
            <a:ext cx="2651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09560" y="1554480"/>
            <a:ext cx="73152" cy="475488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0728" y="167335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11F39"/>
                </a:solidFill>
                <a:latin typeface="Aptos"/>
              </a:defRPr>
            </a:pPr>
            <a:r>
              <a:t>R0    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2651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09560" y="2148840"/>
            <a:ext cx="73152" cy="475488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0728" y="226771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11F39"/>
                </a:solidFill>
                <a:latin typeface="Aptos"/>
              </a:defRPr>
            </a:pPr>
            <a:r>
              <a:t>R1    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2743200"/>
            <a:ext cx="2651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09560" y="2743200"/>
            <a:ext cx="73152" cy="47548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0728" y="286207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11F39"/>
                </a:solidFill>
                <a:latin typeface="Aptos"/>
              </a:defRPr>
            </a:pPr>
            <a:r>
              <a:t>R2     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24612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3246120"/>
            <a:ext cx="73152" cy="137160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3364991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767328"/>
            <a:ext cx="4663440" cy="7680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Very fast; avoids a data-memory access; useful for repeated calculations.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246120"/>
            <a:ext cx="4937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3246120"/>
            <a:ext cx="73152" cy="1371600"/>
          </a:xfrm>
          <a:prstGeom prst="rect">
            <a:avLst/>
          </a:prstGeom>
          <a:solidFill>
            <a:srgbClr val="CB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9088" y="3364991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767328"/>
            <a:ext cx="4572000" cy="7680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Register count is limited. Values may need loading into registers first; register allocation is important.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07492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245BA6"/>
                </a:solidFill>
                <a:latin typeface="Aptos"/>
              </a:defRPr>
            </a:pPr>
            <a:r>
              <a:t>Practice: if R0 = 7 and R1 = 5, what value does ADD R0, R1 produce in a two-operand style?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4.1 Direct (absolute) addressing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ADDRESSING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657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73152" cy="141732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30759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3291840" cy="8138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The instruction specifies a memory address directly, or encodes an address/displacement that identifies a location.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325880"/>
            <a:ext cx="2926080" cy="77724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01184" y="1426464"/>
            <a:ext cx="2633472" cy="594359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FFFFFF"/>
                </a:solidFill>
                <a:latin typeface="Consolas"/>
              </a:defRPr>
            </a:pPr>
            <a:r>
              <a:t>LOAD R0, [1000]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18872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188720"/>
            <a:ext cx="73152" cy="141732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307592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709928"/>
            <a:ext cx="2834640" cy="8138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If memory[1000] = 42, the loaded value is 42.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0632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245BA6"/>
                </a:solidFill>
                <a:latin typeface="Aptos"/>
              </a:defRPr>
            </a:pPr>
            <a:r>
              <a:t>Memory (simplified)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474720"/>
            <a:ext cx="16459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8680" y="3474720"/>
            <a:ext cx="73152" cy="73152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9848" y="3593591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11F39"/>
                </a:solidFill>
                <a:latin typeface="Aptos"/>
              </a:defRPr>
            </a:pPr>
            <a:r>
              <a:t>Addr 1000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995928"/>
            <a:ext cx="1280160" cy="1280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Value: 42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474720"/>
            <a:ext cx="16459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88920" y="3474720"/>
            <a:ext cx="73152" cy="73152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90088" y="3593591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11F39"/>
                </a:solidFill>
                <a:latin typeface="Aptos"/>
              </a:defRPr>
            </a:pPr>
            <a:r>
              <a:t>Addr 1004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3995928"/>
            <a:ext cx="1280160" cy="1280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Value: 17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3474720"/>
            <a:ext cx="16459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09160" y="3474720"/>
            <a:ext cx="73152" cy="73152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10328" y="3593591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11F39"/>
                </a:solidFill>
                <a:latin typeface="Aptos"/>
              </a:defRPr>
            </a:pPr>
            <a:r>
              <a:t>Addr 1008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8" y="3995928"/>
            <a:ext cx="1280160" cy="1280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Value: 99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3291840"/>
            <a:ext cx="4023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40880" y="3291840"/>
            <a:ext cx="73152" cy="118872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42048" y="3410712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Advantages / limits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3813048"/>
            <a:ext cx="3657600" cy="5852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Simple and explicit. But fixed addresses can make code less relocatable and may require more bits to encode.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16636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5E6C80"/>
                </a:solidFill>
                <a:latin typeface="Aptos"/>
              </a:defRPr>
            </a:pPr>
            <a:r>
              <a:t>Conceptual example only: many modern instructions use base-plus-displacement rather than a full absolute address.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4.1 Register-indirect addressing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ADDRESSING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3291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73152" cy="13716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261872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664207"/>
            <a:ext cx="2926080" cy="7680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A register contains the memory address of the operand.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280160"/>
            <a:ext cx="3200400" cy="77724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380744"/>
            <a:ext cx="2907792" cy="594359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LOAD R0, [R2]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14630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73152" cy="77724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1307592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R2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709928"/>
            <a:ext cx="1097280" cy="17373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1000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69680" y="2011680"/>
            <a:ext cx="0" cy="45720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38160" y="2514600"/>
            <a:ext cx="14630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2514600"/>
            <a:ext cx="73152" cy="7772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39328" y="2633472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11F39"/>
                </a:solidFill>
                <a:latin typeface="Aptos"/>
              </a:defRPr>
            </a:pPr>
            <a:r>
              <a:t>Mem[1000]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3035808"/>
            <a:ext cx="1097280" cy="17373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63240"/>
            <a:ext cx="5029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3063240"/>
            <a:ext cx="73152" cy="132588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3182112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584448"/>
            <a:ext cx="4663440" cy="72237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Excellent for pointers, linked lists, dynamic data, and arrays; the address can change without rewriting the instruction.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063240"/>
            <a:ext cx="4937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3063240"/>
            <a:ext cx="73152" cy="1325880"/>
          </a:xfrm>
          <a:prstGeom prst="rect">
            <a:avLst/>
          </a:prstGeom>
          <a:solidFill>
            <a:srgbClr val="CB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3182112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584448"/>
            <a:ext cx="4572000" cy="72237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May require a load to obtain the pointer first; dependent memory accesses can add latency.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9834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245BA6"/>
                </a:solidFill>
                <a:latin typeface="Aptos"/>
              </a:defRPr>
            </a:pPr>
            <a:r>
              <a:t>Explain: why is it useful for a linked list if each node points to the next node?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4.1 Base + displacement / indexed addressing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ADDRESSING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3749039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73152" cy="128016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261872"/>
            <a:ext cx="338327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664207"/>
            <a:ext cx="3383279" cy="67665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The effective address is formed from a base register plus a constant offset; indexed forms may add an index or scaled index.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280160"/>
            <a:ext cx="3474720" cy="77724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92624" y="1380744"/>
            <a:ext cx="3182112" cy="594359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LDR W0, [X1, #8]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240280"/>
            <a:ext cx="3474720" cy="77724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92624" y="2340864"/>
            <a:ext cx="3182112" cy="594359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FFFFFF"/>
                </a:solidFill>
                <a:latin typeface="Consolas"/>
              </a:defRPr>
            </a:pPr>
            <a:r>
              <a:t>MOV EAX, [RDI+8]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18872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0" y="1188720"/>
            <a:ext cx="73152" cy="173736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87968" y="1307592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Why use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1709928"/>
            <a:ext cx="2103120" cy="113385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Arrays, structures, stack frames, and fields in objects.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245BA6"/>
                </a:solidFill>
                <a:latin typeface="Aptos"/>
              </a:defRPr>
            </a:pPr>
            <a:r>
              <a:t>Array of 4-byte integers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840480"/>
            <a:ext cx="9601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68680" y="3840480"/>
            <a:ext cx="73152" cy="6858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" y="3959352"/>
            <a:ext cx="594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11F39"/>
                </a:solidFill>
                <a:latin typeface="Aptos"/>
              </a:defRPr>
            </a:pPr>
            <a:r>
              <a:t>A[0]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361688"/>
            <a:ext cx="594360" cy="8229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253142"/>
                </a:solidFill>
                <a:latin typeface="Aptos"/>
              </a:defRPr>
            </a:pPr>
            <a:r>
              <a:t>@ 1000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3840480"/>
            <a:ext cx="9601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11680" y="3840480"/>
            <a:ext cx="73152" cy="68580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12848" y="3959352"/>
            <a:ext cx="594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11F39"/>
                </a:solidFill>
                <a:latin typeface="Aptos"/>
              </a:defRPr>
            </a:pPr>
            <a:r>
              <a:t>A[1]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2848" y="4361688"/>
            <a:ext cx="594360" cy="8229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253142"/>
                </a:solidFill>
                <a:latin typeface="Aptos"/>
              </a:defRPr>
            </a:pPr>
            <a:r>
              <a:t>@ 1004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54680" y="3840480"/>
            <a:ext cx="9601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154680" y="3840480"/>
            <a:ext cx="73152" cy="68580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55848" y="3959352"/>
            <a:ext cx="594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11F39"/>
                </a:solidFill>
                <a:latin typeface="Aptos"/>
              </a:defRPr>
            </a:pPr>
            <a:r>
              <a:t>A[2]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5848" y="4361688"/>
            <a:ext cx="594360" cy="8229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253142"/>
                </a:solidFill>
                <a:latin typeface="Aptos"/>
              </a:defRPr>
            </a:pPr>
            <a:r>
              <a:t>@ 1008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840480"/>
            <a:ext cx="9601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97680" y="3840480"/>
            <a:ext cx="73152" cy="68580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98848" y="3959352"/>
            <a:ext cx="594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11F39"/>
                </a:solidFill>
                <a:latin typeface="Aptos"/>
              </a:defRPr>
            </a:pPr>
            <a:r>
              <a:t>A[3]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4361688"/>
            <a:ext cx="594360" cy="8229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253142"/>
                </a:solidFill>
                <a:latin typeface="Aptos"/>
              </a:defRPr>
            </a:pPr>
            <a:r>
              <a:t>@ 1012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3657600"/>
            <a:ext cx="512064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253142"/>
                </a:solidFill>
                <a:latin typeface="Aptos"/>
              </a:defRPr>
            </a:pPr>
            <a:r>
              <a:t>Address of A[i] = base + i × element_size</a:t>
            </a:r>
          </a:p>
          <a:p>
            <a:pPr algn="l">
              <a:spcAft>
                <a:spcPts val="500"/>
              </a:spcAft>
              <a:defRPr sz="1600" b="0" i="0">
                <a:solidFill>
                  <a:srgbClr val="253142"/>
                </a:solidFill>
                <a:latin typeface="Aptos"/>
              </a:defRPr>
            </a:pPr>
            <a:r>
              <a:t>For A[2]: 1000 + 2 × 4 = 1008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25780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245BA6"/>
                </a:solidFill>
                <a:latin typeface="Aptos"/>
              </a:defRPr>
            </a:pPr>
            <a:r>
              <a:t>Advantage: compact and flexible. Limitation: offset range and scaling rules depend on the ISA and instruction.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4.1 Stack and PC-relative addressing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ADDRESSING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73152" cy="141732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261872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Stack-based addressing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664207"/>
            <a:ext cx="4663440" cy="8138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The stack pointer (SP) identifies the top of a stack. PUSH/POP or load/store patterns access values relative to the stack.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141732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261872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PC-relative addressing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664207"/>
            <a:ext cx="4663440" cy="8138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The address is calculated from the program counter plus an offset. Common for branches and position-independent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26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245BA6"/>
                </a:solidFill>
                <a:latin typeface="Aptos"/>
              </a:defRPr>
            </a:pPr>
            <a:r>
              <a:t>Stack grows (conceptually)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37560"/>
            <a:ext cx="25603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3337560"/>
            <a:ext cx="73152" cy="438912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" y="3456432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11F39"/>
                </a:solidFill>
                <a:latin typeface="Aptos"/>
              </a:defRPr>
            </a:pPr>
            <a:r>
              <a:t>Top / SP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904487"/>
            <a:ext cx="25603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3904487"/>
            <a:ext cx="73152" cy="438912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4023359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11F39"/>
                </a:solidFill>
                <a:latin typeface="Aptos"/>
              </a:defRPr>
            </a:pPr>
            <a:r>
              <a:t>Saved R1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471416"/>
            <a:ext cx="25603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" y="4471416"/>
            <a:ext cx="73152" cy="438912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" y="459028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11F39"/>
                </a:solidFill>
                <a:latin typeface="Aptos"/>
              </a:defRPr>
            </a:pPr>
            <a:r>
              <a:t>Return addr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383280"/>
            <a:ext cx="1828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0" y="3383280"/>
            <a:ext cx="73152" cy="73152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73168" y="3502152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PC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3904488"/>
            <a:ext cx="1463040" cy="1280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0x1000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3383280"/>
            <a:ext cx="1828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15200" y="3383280"/>
            <a:ext cx="73152" cy="73152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16368" y="3502152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Offset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904488"/>
            <a:ext cx="1463040" cy="1280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+0x20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92240" y="3749039"/>
            <a:ext cx="594360" cy="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4297680"/>
            <a:ext cx="2103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132320" y="4297680"/>
            <a:ext cx="73152" cy="73152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33488" y="4416552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3488" y="4818888"/>
            <a:ext cx="1737360" cy="1280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0x1020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337560"/>
            <a:ext cx="2011680" cy="10972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Useful for function calls, local variables, branches, and relocatable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4.1 Addressing modes: choose the right tool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1920240" cy="566928"/>
          </a:xfrm>
          <a:prstGeom prst="rect">
            <a:avLst/>
          </a:prstGeom>
          <a:solidFill>
            <a:srgbClr val="111F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5272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143000"/>
            <a:ext cx="2834640" cy="566928"/>
          </a:xfrm>
          <a:prstGeom prst="rect">
            <a:avLst/>
          </a:prstGeom>
          <a:solidFill>
            <a:srgbClr val="111F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0" y="1252728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Operand location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1143000"/>
            <a:ext cx="2926080" cy="566928"/>
          </a:xfrm>
          <a:prstGeom prst="rect">
            <a:avLst/>
          </a:prstGeom>
          <a:solidFill>
            <a:srgbClr val="111F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1252728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Main advantage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1143000"/>
            <a:ext cx="3108960" cy="566928"/>
          </a:xfrm>
          <a:prstGeom prst="rect">
            <a:avLst/>
          </a:prstGeom>
          <a:solidFill>
            <a:srgbClr val="111F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252728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Main limitation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1709928"/>
            <a:ext cx="1920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1792224"/>
            <a:ext cx="179222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53142"/>
                </a:solidFill>
                <a:latin typeface="Aptos"/>
              </a:defRPr>
            </a:pPr>
            <a:r>
              <a:t>Immediate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1709928"/>
            <a:ext cx="2834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70048" y="1792224"/>
            <a:ext cx="270662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Inside instruction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0680" y="1709928"/>
            <a:ext cx="29260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04688" y="1792224"/>
            <a:ext cx="279806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Fast constants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709928"/>
            <a:ext cx="31089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0768" y="1792224"/>
            <a:ext cx="298094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Value range may be limited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276856"/>
            <a:ext cx="1920240" cy="56692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2359152"/>
            <a:ext cx="179222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53142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2276856"/>
            <a:ext cx="2834640" cy="56692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70048" y="2359152"/>
            <a:ext cx="270662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CPU register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0680" y="2276856"/>
            <a:ext cx="2926080" cy="56692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04688" y="2359152"/>
            <a:ext cx="279806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Very fast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2276856"/>
            <a:ext cx="3108960" cy="56692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0768" y="2359152"/>
            <a:ext cx="298094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Few registers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2843784"/>
            <a:ext cx="1920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2926079"/>
            <a:ext cx="179222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53142"/>
                </a:solidFill>
                <a:latin typeface="Aptos"/>
              </a:defRPr>
            </a:pPr>
            <a:r>
              <a:t>Direct / absolute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2843784"/>
            <a:ext cx="2834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70048" y="2926079"/>
            <a:ext cx="270662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Address specified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40680" y="2843784"/>
            <a:ext cx="29260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04688" y="2926079"/>
            <a:ext cx="279806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Simple to understand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2843784"/>
            <a:ext cx="31089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0768" y="2926079"/>
            <a:ext cx="298094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Relocation / encoding cost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3410712"/>
            <a:ext cx="1920240" cy="56692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9808" y="3493008"/>
            <a:ext cx="179222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53142"/>
                </a:solidFill>
                <a:latin typeface="Aptos"/>
              </a:defRPr>
            </a:pPr>
            <a:r>
              <a:t>Register indirect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40" y="3410712"/>
            <a:ext cx="2834640" cy="56692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70048" y="3493008"/>
            <a:ext cx="270662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Address held in register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40680" y="3410712"/>
            <a:ext cx="2926080" cy="56692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04688" y="3493008"/>
            <a:ext cx="279806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Flexible pointers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3410712"/>
            <a:ext cx="3108960" cy="56692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30768" y="3493008"/>
            <a:ext cx="298094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Pointer dependency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3977639"/>
            <a:ext cx="1920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9808" y="4059935"/>
            <a:ext cx="179222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53142"/>
                </a:solidFill>
                <a:latin typeface="Aptos"/>
              </a:defRPr>
            </a:pPr>
            <a:r>
              <a:t>Base + offset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40" y="3977639"/>
            <a:ext cx="2834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70048" y="4059935"/>
            <a:ext cx="270662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Base register + displacement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40680" y="3977639"/>
            <a:ext cx="29260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504688" y="4059935"/>
            <a:ext cx="279806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Excellent for arrays/fields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66760" y="3977639"/>
            <a:ext cx="31089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30768" y="4059935"/>
            <a:ext cx="298094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Offset/scaling limits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" y="4544568"/>
            <a:ext cx="1920240" cy="56692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49808" y="4626864"/>
            <a:ext cx="179222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53142"/>
                </a:solidFill>
                <a:latin typeface="Aptos"/>
              </a:defRPr>
            </a:pPr>
            <a:r>
              <a:t>PC-relative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40" y="4544568"/>
            <a:ext cx="2834640" cy="56692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670048" y="4626864"/>
            <a:ext cx="270662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PC + displacement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40680" y="4544568"/>
            <a:ext cx="2926080" cy="56692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504688" y="4626864"/>
            <a:ext cx="279806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Relocatable branches/data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66760" y="4544568"/>
            <a:ext cx="3108960" cy="56692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0768" y="4626864"/>
            <a:ext cx="2980944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Reach may be limited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553212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245BA6"/>
                </a:solidFill>
                <a:latin typeface="Aptos"/>
              </a:defRPr>
            </a:pPr>
            <a:r>
              <a:t>Pair challenge: choose an addressing mode for (1) constant 10, (2) array element A[3], (3) pointer to a node.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4.2 x86 and ARM addressing modes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ISA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1206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73152" cy="333756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307592"/>
            <a:ext cx="475487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x86-64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4754879" cy="27340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• Immediate: MOV EAX, 5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• Register: ADD EAX, EBX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• Base + displacement: MOV EAX, [RDI+8]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• Indexed: MOV EAX, [RDI+RCX*4+8]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• Stack operations: PUSH, POP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x86 offers rich memory operand forms, but legal forms vary by instruction.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1206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73152" cy="333756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307592"/>
            <a:ext cx="475487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ARM AArch64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709928"/>
            <a:ext cx="4754879" cy="27340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• Immediate: MOV W0, #5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• Register: ADD W0, W1, W2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• Base + offset: LDR W0, [X1, #8]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• Register offset: LDR W0, [X1, X2]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• Stack: SP-based load/store patterns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ARM arithmetic generally uses registers; memory is accessed explicitly with load/store instructions.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245BA6"/>
                </a:solidFill>
                <a:latin typeface="Aptos"/>
              </a:defRPr>
            </a:pPr>
            <a:r>
              <a:t>Remember: both ISAs support several ways to access operands, but their syntax, restrictions, and encoding details differ.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4.2 x86-64: base + index × scale + displacement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ISA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88720"/>
            <a:ext cx="5486400" cy="91440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289304"/>
            <a:ext cx="5193792" cy="7315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MOV EAX, [RDI + RCX*4 + 8]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188720"/>
            <a:ext cx="4389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29400" y="1188720"/>
            <a:ext cx="73152" cy="91440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30568" y="1307592"/>
            <a:ext cx="402335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Effective address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1709928"/>
            <a:ext cx="4023359" cy="3108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RDI + (RCX × 4) + 8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5176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651760"/>
            <a:ext cx="73152" cy="9144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2770632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172968"/>
            <a:ext cx="1965960" cy="3108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RDI = 1000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880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800" b="1" i="0">
                <a:solidFill>
                  <a:srgbClr val="245BA6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265176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74720" y="2651760"/>
            <a:ext cx="73152" cy="91440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75888" y="2770632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3172968"/>
            <a:ext cx="1965960" cy="3108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RCX =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880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800" b="1" i="0">
                <a:solidFill>
                  <a:srgbClr val="245BA6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65176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2651760"/>
            <a:ext cx="73152" cy="91440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73368" y="2770632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172968"/>
            <a:ext cx="1965960" cy="3108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880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800" b="1" i="0">
                <a:solidFill>
                  <a:srgbClr val="245BA6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265176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869680" y="2651760"/>
            <a:ext cx="73152" cy="91440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70848" y="2770632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Disp.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0848" y="3172968"/>
            <a:ext cx="1965960" cy="3108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4114800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828800" y="4114800"/>
            <a:ext cx="73152" cy="91440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29968" y="423367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Calculation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9968" y="4636008"/>
            <a:ext cx="3291840" cy="3108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1000 + (2 × 4) + 8 = 1016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4114800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26480" y="4114800"/>
            <a:ext cx="73152" cy="9144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27648" y="423367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Why useful?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4636008"/>
            <a:ext cx="3291840" cy="3108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Compact access to array elements and fields.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486400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5E6C80"/>
                </a:solidFill>
                <a:latin typeface="Aptos"/>
              </a:defRPr>
            </a:pPr>
            <a:r>
              <a:t>Note: x86 scale factors are commonly 1, 2, 4, or 8; the exact form must be supported by the addressing encoding.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4.2 ARM AArch64: load/store addressing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ISA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88720"/>
            <a:ext cx="5303520" cy="91440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289304"/>
            <a:ext cx="5010912" cy="7315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LDR W0, [X1, #12]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4389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73152" cy="9144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307592"/>
            <a:ext cx="402335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09928"/>
            <a:ext cx="4023359" cy="3108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Read 32 bits from address X1 + 12 into W0.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245BA6"/>
                </a:solidFill>
                <a:latin typeface="Aptos"/>
              </a:defRPr>
            </a:pPr>
            <a:r>
              <a:t>Four-byte array elements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017520"/>
            <a:ext cx="1005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3017520"/>
            <a:ext cx="73152" cy="82296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9848" y="3136391"/>
            <a:ext cx="6400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11F39"/>
                </a:solidFill>
                <a:latin typeface="Aptos"/>
              </a:defRPr>
            </a:pPr>
            <a:r>
              <a:t>A[0]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538727"/>
            <a:ext cx="64008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253142"/>
                </a:solidFill>
                <a:latin typeface="Aptos"/>
              </a:defRPr>
            </a:pPr>
            <a:r>
              <a:t>addr 1000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57400" y="3017520"/>
            <a:ext cx="1005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057400" y="3017520"/>
            <a:ext cx="73152" cy="82296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58568" y="3136391"/>
            <a:ext cx="6400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11F39"/>
                </a:solidFill>
                <a:latin typeface="Aptos"/>
              </a:defRPr>
            </a:pPr>
            <a:r>
              <a:t>A[1]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3538727"/>
            <a:ext cx="64008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253142"/>
                </a:solidFill>
                <a:latin typeface="Aptos"/>
              </a:defRPr>
            </a:pPr>
            <a:r>
              <a:t>addr 1004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3017520"/>
            <a:ext cx="1005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46120" y="3017520"/>
            <a:ext cx="73152" cy="82296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47288" y="3136391"/>
            <a:ext cx="6400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11F39"/>
                </a:solidFill>
                <a:latin typeface="Aptos"/>
              </a:defRPr>
            </a:pPr>
            <a:r>
              <a:t>A[2]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7288" y="3538727"/>
            <a:ext cx="64008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253142"/>
                </a:solidFill>
                <a:latin typeface="Aptos"/>
              </a:defRPr>
            </a:pPr>
            <a:r>
              <a:t>addr 1008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017520"/>
            <a:ext cx="1005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34840" y="3017520"/>
            <a:ext cx="73152" cy="82296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36008" y="3136391"/>
            <a:ext cx="6400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11F39"/>
                </a:solidFill>
                <a:latin typeface="Aptos"/>
              </a:defRPr>
            </a:pPr>
            <a:r>
              <a:t>A[3]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3538727"/>
            <a:ext cx="64008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253142"/>
                </a:solidFill>
                <a:latin typeface="Aptos"/>
              </a:defRPr>
            </a:pPr>
            <a:r>
              <a:t>addr 1012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2606040"/>
            <a:ext cx="4572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26480" y="2606040"/>
            <a:ext cx="73152" cy="118872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7648" y="2724912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Why offset 12?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127248"/>
            <a:ext cx="4206240" cy="5852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If X1 is the array base and each element is 4 bytes, offset 12 reaches element A[3].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4069080"/>
            <a:ext cx="4572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26480" y="4069080"/>
            <a:ext cx="73152" cy="109728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27648" y="4187952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Advantages / limitation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590288"/>
            <a:ext cx="4206240" cy="49377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Regular load/store model is easier to reason about. Offset ranges and alignment rules depend on instruction form.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25780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245BA6"/>
                </a:solidFill>
                <a:latin typeface="Aptos"/>
              </a:defRPr>
            </a:pPr>
            <a:r>
              <a:t>Student prompt: what offset reaches A[2] when each element is 4 bytes?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4.3 Instruction formats: definition and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INSTRUCTION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46634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73152" cy="13716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261872"/>
            <a:ext cx="429767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664207"/>
            <a:ext cx="4297679" cy="7680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An instruction format is the arrangement of bits that encodes the operation, registers, addressing information, and sometimes an immediate value.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508760"/>
            <a:ext cx="1508760" cy="685800"/>
          </a:xfrm>
          <a:prstGeom prst="rect">
            <a:avLst/>
          </a:prstGeom>
          <a:solidFill>
            <a:srgbClr val="24B1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79007" y="1719072"/>
            <a:ext cx="14721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OPCODE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79" y="1508760"/>
            <a:ext cx="1097280" cy="685800"/>
          </a:xfrm>
          <a:prstGeom prst="rect">
            <a:avLst/>
          </a:prstGeom>
          <a:solidFill>
            <a:srgbClr val="245B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87767" y="1719072"/>
            <a:ext cx="10607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REG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59" y="1508760"/>
            <a:ext cx="1097280" cy="685800"/>
          </a:xfrm>
          <a:prstGeom prst="rect">
            <a:avLst/>
          </a:prstGeom>
          <a:solidFill>
            <a:srgbClr val="F5B5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7" y="1719072"/>
            <a:ext cx="10607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REG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64039" y="1508760"/>
            <a:ext cx="2011680" cy="685800"/>
          </a:xfrm>
          <a:prstGeom prst="rect">
            <a:avLst/>
          </a:prstGeom>
          <a:solidFill>
            <a:srgbClr val="7558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82327" y="1719072"/>
            <a:ext cx="19751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MODE / IMM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926080"/>
            <a:ext cx="46634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2926080"/>
            <a:ext cx="73152" cy="137160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3044952"/>
            <a:ext cx="429767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Why use formats?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47288"/>
            <a:ext cx="4297679" cy="7680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The CPU must decode bit patterns reliably. Consistent fields help hardware identify the operation and operands.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926080"/>
            <a:ext cx="5577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60720" y="2926080"/>
            <a:ext cx="73152" cy="137160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61888" y="3044952"/>
            <a:ext cx="521207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Trade-offs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1888" y="3447288"/>
            <a:ext cx="5212079" cy="7680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More fields can express more choices but consume bits. Regular formats simplify decoding; compact formats can improve code density.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9834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245BA6"/>
                </a:solidFill>
                <a:latin typeface="Aptos"/>
              </a:defRPr>
            </a:pPr>
            <a:r>
              <a:t>This is a conceptual diagram—not a universal encoding. Each ISA defines its own exact bit positions.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4.3 Instruction format design: advantages and disadvantages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INSTRUCTION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73152" cy="18288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35331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Fixed-length formats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55648"/>
            <a:ext cx="3017520" cy="122529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Advantages: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• Easier instruction boundaries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• Predictable fetch/decode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Limitations: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• Some instructions may use bits inefficiently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73152" cy="182880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35331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Variable-length formats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755648"/>
            <a:ext cx="3017520" cy="122529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Advantages: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• Can encode simple instructions compactly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• Good code density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Limitations: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• More complex instruction-boundary decoding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344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34440"/>
            <a:ext cx="73152" cy="182880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35331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Hybrid / compressed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55648"/>
            <a:ext cx="3017520" cy="122529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Some architectures support multiple instruction lengths or compact subsets to balance code size and decode complexity.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245BA6"/>
                </a:solidFill>
                <a:latin typeface="Aptos"/>
              </a:defRPr>
            </a:pPr>
            <a:r>
              <a:t>Fixed-size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14800"/>
            <a:ext cx="658368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68680" y="4114800"/>
            <a:ext cx="73152" cy="566928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" y="4233672"/>
            <a:ext cx="292607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11F39"/>
                </a:solidFill>
                <a:latin typeface="Aptos"/>
              </a:defRPr>
            </a:pPr>
            <a:r>
              <a:t>B1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18488" y="4114800"/>
            <a:ext cx="658368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618488" y="4114800"/>
            <a:ext cx="73152" cy="566928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19656" y="4233672"/>
            <a:ext cx="292607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11F39"/>
                </a:solidFill>
                <a:latin typeface="Aptos"/>
              </a:defRPr>
            </a:pPr>
            <a:r>
              <a:t>B2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68296" y="4114800"/>
            <a:ext cx="658368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368296" y="4114800"/>
            <a:ext cx="73152" cy="56692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9464" y="4233672"/>
            <a:ext cx="292607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11F39"/>
                </a:solidFill>
                <a:latin typeface="Aptos"/>
              </a:defRPr>
            </a:pPr>
            <a:r>
              <a:t>B3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18104" y="4114800"/>
            <a:ext cx="658368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118104" y="4114800"/>
            <a:ext cx="73152" cy="566928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19272" y="4233672"/>
            <a:ext cx="292607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11F39"/>
                </a:solidFill>
                <a:latin typeface="Aptos"/>
              </a:defRPr>
            </a:pPr>
            <a:r>
              <a:t>B4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7033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245BA6"/>
                </a:solidFill>
                <a:latin typeface="Aptos"/>
              </a:defRPr>
            </a:pPr>
            <a:r>
              <a:t>Variable-size example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4114800"/>
            <a:ext cx="6400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0" y="4114800"/>
            <a:ext cx="73152" cy="566928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73168" y="4233672"/>
            <a:ext cx="27431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11F39"/>
                </a:solidFill>
                <a:latin typeface="Aptos"/>
              </a:defRPr>
            </a:pPr>
            <a:r>
              <a:t>1B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12080" y="4114800"/>
            <a:ext cx="1143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212080" y="4114800"/>
            <a:ext cx="73152" cy="566928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13248" y="4233672"/>
            <a:ext cx="7772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11F39"/>
                </a:solidFill>
                <a:latin typeface="Aptos"/>
              </a:defRPr>
            </a:pPr>
            <a:r>
              <a:t>2B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4114800"/>
            <a:ext cx="7772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55080" y="4114800"/>
            <a:ext cx="73152" cy="56692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56248" y="4233672"/>
            <a:ext cx="41147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11F39"/>
                </a:solidFill>
                <a:latin typeface="Aptos"/>
              </a:defRPr>
            </a:pPr>
            <a:r>
              <a:t>1B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0" y="4114800"/>
            <a:ext cx="1325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132320" y="4114800"/>
            <a:ext cx="73152" cy="566928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33488" y="4233672"/>
            <a:ext cx="96011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11F39"/>
                </a:solidFill>
                <a:latin typeface="Aptos"/>
              </a:defRPr>
            </a:pPr>
            <a:r>
              <a:t>3B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3977639"/>
            <a:ext cx="219456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Ask: which design is easier to decode? Which can save space?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4.3 Common instruction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INSTRUCTION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97280"/>
            <a:ext cx="2926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097280"/>
            <a:ext cx="73152" cy="713232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216152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Opcode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207008"/>
            <a:ext cx="694944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53142"/>
                </a:solidFill>
                <a:latin typeface="Aptos"/>
              </a:defRPr>
            </a:pPr>
            <a:r>
              <a:t>Which action? ADD, LOAD, BRANCH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11680"/>
            <a:ext cx="2926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011680"/>
            <a:ext cx="73152" cy="713232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" y="2130552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Register field(s)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121408"/>
            <a:ext cx="694944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53142"/>
                </a:solidFill>
                <a:latin typeface="Aptos"/>
              </a:defRPr>
            </a:pPr>
            <a:r>
              <a:t>Which register(s) supply or receive values?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926080"/>
            <a:ext cx="2926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2926080"/>
            <a:ext cx="73152" cy="713232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3044952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Addressing / mode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035808"/>
            <a:ext cx="694944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53142"/>
                </a:solidFill>
                <a:latin typeface="Aptos"/>
              </a:defRPr>
            </a:pPr>
            <a:r>
              <a:t>How should operand fields be interpreted?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840480"/>
            <a:ext cx="2926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3840480"/>
            <a:ext cx="73152" cy="713232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" y="3959352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Immediate / displacement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950208"/>
            <a:ext cx="694944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53142"/>
                </a:solidFill>
                <a:latin typeface="Aptos"/>
              </a:defRPr>
            </a:pPr>
            <a:r>
              <a:t>Constant or offset encoded in the instruction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754880"/>
            <a:ext cx="2926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4754880"/>
            <a:ext cx="73152" cy="713232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408" y="4873752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Condition / modifier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864608"/>
            <a:ext cx="694944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53142"/>
                </a:solidFill>
                <a:latin typeface="Aptos"/>
              </a:defRPr>
            </a:pPr>
            <a:r>
              <a:t>Optional condition, width, shift, or variant information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806440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245BA6"/>
                </a:solidFill>
                <a:latin typeface="Aptos"/>
              </a:defRPr>
            </a:pPr>
            <a:r>
              <a:t>Not every instruction has every field. The encoding depends on the ISA and the operation.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4.4 x86-64 instruction format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ISA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73152" cy="123444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26187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Key 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664207"/>
            <a:ext cx="3291840" cy="63093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x86 instructions are variable length (up to 15 bytes in 64-bit mode).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554480"/>
            <a:ext cx="1188720" cy="685800"/>
          </a:xfrm>
          <a:prstGeom prst="rect">
            <a:avLst/>
          </a:prstGeom>
          <a:solidFill>
            <a:srgbClr val="24B1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46504"/>
            <a:ext cx="1152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Prefixes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554480"/>
            <a:ext cx="1005840" cy="685800"/>
          </a:xfrm>
          <a:prstGeom prst="rect">
            <a:avLst/>
          </a:prstGeom>
          <a:solidFill>
            <a:srgbClr val="245B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79007" y="1746504"/>
            <a:ext cx="96926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Opcode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554480"/>
            <a:ext cx="1097280" cy="685800"/>
          </a:xfrm>
          <a:prstGeom prst="rect">
            <a:avLst/>
          </a:prstGeom>
          <a:solidFill>
            <a:srgbClr val="F5B5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84848" y="1746504"/>
            <a:ext cx="10607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ModR/M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554480"/>
            <a:ext cx="731520" cy="685800"/>
          </a:xfrm>
          <a:prstGeom prst="rect">
            <a:avLst/>
          </a:prstGeom>
          <a:solidFill>
            <a:srgbClr val="7558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82127" y="1746504"/>
            <a:ext cx="6949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SIB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1554480"/>
            <a:ext cx="914400" cy="685800"/>
          </a:xfrm>
          <a:prstGeom prst="rect">
            <a:avLst/>
          </a:prstGeom>
          <a:solidFill>
            <a:srgbClr val="2C916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13648" y="1746504"/>
            <a:ext cx="8778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Disp.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1554480"/>
            <a:ext cx="822960" cy="685800"/>
          </a:xfrm>
          <a:prstGeom prst="rect">
            <a:avLst/>
          </a:prstGeom>
          <a:solidFill>
            <a:srgbClr val="CB4C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28048" y="1746504"/>
            <a:ext cx="7863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Imm.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971800"/>
            <a:ext cx="4937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2971800"/>
            <a:ext cx="73152" cy="141732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3090672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Why so many fields?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493008"/>
            <a:ext cx="4572000" cy="8138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x86 supports many operand combinations, legacy compatibility, prefixes, and flexible memory addressing.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971800"/>
            <a:ext cx="4937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2971800"/>
            <a:ext cx="73152" cy="141732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9088" y="3090672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Benefits and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493008"/>
            <a:ext cx="4572000" cy="8138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Benefit: compact encodings and rich forms. Cost: decoding is more complex and instruction length is less predictable.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98348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5E6C80"/>
                </a:solidFill>
                <a:latin typeface="Aptos"/>
              </a:defRPr>
            </a:pPr>
            <a:r>
              <a:t>Not all fields are present in every instruction; this diagram shows possible components, not a fixed layout.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4.4 ARM AArch64 instruction formats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ISA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73152" cy="123444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26187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Key 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664207"/>
            <a:ext cx="3291840" cy="63093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AArch64 base instructions are 32 bits wide, with different encoding classes for different instruction families.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23444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245BA6"/>
                </a:solidFill>
                <a:latin typeface="Aptos"/>
              </a:defRPr>
            </a:pPr>
            <a:r>
              <a:t>Illustrative 32-bit instruction word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691640"/>
            <a:ext cx="1463040" cy="685800"/>
          </a:xfrm>
          <a:prstGeom prst="rect">
            <a:avLst/>
          </a:prstGeom>
          <a:solidFill>
            <a:srgbClr val="24B1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28032" y="1892807"/>
            <a:ext cx="14081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OP / class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691640"/>
            <a:ext cx="1554480" cy="685800"/>
          </a:xfrm>
          <a:prstGeom prst="rect">
            <a:avLst/>
          </a:prstGeom>
          <a:solidFill>
            <a:srgbClr val="245B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1072" y="1892807"/>
            <a:ext cx="149961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Registers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691640"/>
            <a:ext cx="2011680" cy="685800"/>
          </a:xfrm>
          <a:prstGeom prst="rect">
            <a:avLst/>
          </a:prstGeom>
          <a:solidFill>
            <a:srgbClr val="F5B5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45552" y="1892807"/>
            <a:ext cx="195681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Immediate / mode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71800"/>
            <a:ext cx="4937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2971800"/>
            <a:ext cx="73152" cy="141732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090672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493008"/>
            <a:ext cx="4572000" cy="8138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Regular width simplifies instruction-boundary identification and supports predictable decode.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971800"/>
            <a:ext cx="4937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971800"/>
            <a:ext cx="73152" cy="141732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3090672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Trade-offs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493008"/>
            <a:ext cx="4572000" cy="8138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Different instruction classes still have different field layouts; constants or addresses may need multiple instructions.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98348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5E6C80"/>
                </a:solidFill>
                <a:latin typeface="Aptos"/>
              </a:defRPr>
            </a:pPr>
            <a:r>
              <a:t>ARM also has other architecture states and instruction sets historically; this slide focuses on AArch64.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4.5 Assembly language: definition and 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4754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73152" cy="141732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261872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664207"/>
            <a:ext cx="4389120" cy="8138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Assembly language is a human-readable representation of machine instructions using mnemonics, registers, labels, and operands.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14300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143000"/>
            <a:ext cx="73152" cy="141732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7" y="1261872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Why use 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7" y="1664207"/>
            <a:ext cx="4663440" cy="8138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To inspect low-level behavior, debug performance-sensitive code, understand compiler output, and interact with hardware or system interfaces.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063240"/>
            <a:ext cx="4663440" cy="123444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163824"/>
            <a:ext cx="4370831" cy="10515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MOV W0, #7</a:t>
            </a:r>
          </a:p>
          <a:p>
            <a:pPr algn="l">
              <a:spcAft>
                <a:spcPts val="5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ADD W0, W0, #5</a:t>
            </a:r>
          </a:p>
          <a:p>
            <a:pPr algn="l">
              <a:spcAft>
                <a:spcPts val="5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; W0 = 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063240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35040" y="3063240"/>
            <a:ext cx="73152" cy="123444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36207" y="3182112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Assembly vs machine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3584448"/>
            <a:ext cx="4663440" cy="63093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Assembly uses readable mnemonics. The assembler translates them into encoded instruction bytes/bits.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8348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245BA6"/>
                </a:solidFill>
                <a:latin typeface="Aptos"/>
              </a:defRPr>
            </a:pPr>
            <a:r>
              <a:t>Assembly is still architecture-specific: x86 assembly will not normally run unchanged on ARM.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4.5 From assembly to execution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" cy="11430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947672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0008"/>
            <a:ext cx="1463040" cy="5394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program.s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95728" y="2395728"/>
            <a:ext cx="274320" cy="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0" y="182880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1828800"/>
            <a:ext cx="73152" cy="114300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44368" y="1947672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Assembler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350008"/>
            <a:ext cx="1463040" cy="5394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mnemonics → bits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90288" y="2395728"/>
            <a:ext cx="274320" cy="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37760" y="182880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37760" y="1828800"/>
            <a:ext cx="73152" cy="114300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38928" y="1947672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Object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2350008"/>
            <a:ext cx="1463040" cy="5394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machine code + symbols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84848" y="2395728"/>
            <a:ext cx="274320" cy="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32320" y="182880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32320" y="1828800"/>
            <a:ext cx="73152" cy="114300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33488" y="1947672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Linker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2350008"/>
            <a:ext cx="1463040" cy="5394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combine code/libraries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79408" y="2395728"/>
            <a:ext cx="274320" cy="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326880" y="182880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326880" y="1828800"/>
            <a:ext cx="73152" cy="114300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28048" y="1947672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CPU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2350008"/>
            <a:ext cx="1463040" cy="5394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fetch, decode, execute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657600"/>
            <a:ext cx="105156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253142"/>
                </a:solidFill>
                <a:latin typeface="Aptos"/>
              </a:defRPr>
            </a:pPr>
            <a:r>
              <a:t>Assembler: translates mnemonics. Linker: resolves symbols and combines modules. Loader: places the executable in memory.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572000"/>
            <a:ext cx="4754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2960" y="4572000"/>
            <a:ext cx="73152" cy="91440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4128" y="4690872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Advantage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5093208"/>
            <a:ext cx="4389120" cy="3108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Precise control and excellent visibility into registers and memory.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4572000"/>
            <a:ext cx="4754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26480" y="4572000"/>
            <a:ext cx="73152" cy="914400"/>
          </a:xfrm>
          <a:prstGeom prst="rect">
            <a:avLst/>
          </a:prstGeom>
          <a:solidFill>
            <a:srgbClr val="CB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27648" y="4690872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093208"/>
            <a:ext cx="4389120" cy="3108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More architecture-specific, harder to maintain, and often less portable than high-level code.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4.5 Read an assembly instruction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88720"/>
            <a:ext cx="4937760" cy="114300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289304"/>
            <a:ext cx="4645152" cy="9601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2000" b="0" i="0">
                <a:solidFill>
                  <a:srgbClr val="FFFFFF"/>
                </a:solidFill>
                <a:latin typeface="Consolas"/>
              </a:defRPr>
            </a:pPr>
            <a:r>
              <a:t>LDR W0, [X1, #8]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1600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73152" cy="6858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353312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11F39"/>
                </a:solidFill>
                <a:latin typeface="Aptos"/>
              </a:defRPr>
            </a:pPr>
            <a:r>
              <a:t>LDR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353312"/>
            <a:ext cx="2743200" cy="4114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Mnemonic / operation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94560"/>
            <a:ext cx="1600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194560"/>
            <a:ext cx="73152" cy="68580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2313432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11F39"/>
                </a:solidFill>
                <a:latin typeface="Aptos"/>
              </a:defRPr>
            </a:pPr>
            <a:r>
              <a:t>W0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13432"/>
            <a:ext cx="2743200" cy="4114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Destination register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54680"/>
            <a:ext cx="1600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154680"/>
            <a:ext cx="73152" cy="68580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273552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11F39"/>
                </a:solidFill>
                <a:latin typeface="Aptos"/>
              </a:defRPr>
            </a:pPr>
            <a:r>
              <a:t>[X1, #8]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273552"/>
            <a:ext cx="2743200" cy="4114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Memory operand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14800"/>
            <a:ext cx="1600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4114800"/>
            <a:ext cx="73152" cy="68580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4233672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11F39"/>
                </a:solidFill>
                <a:latin typeface="Aptos"/>
              </a:defRPr>
            </a:pPr>
            <a:r>
              <a:t>X1 + 8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233672"/>
            <a:ext cx="2743200" cy="4114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Effective address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880360"/>
            <a:ext cx="4754880" cy="5943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245BA6"/>
                </a:solidFill>
                <a:latin typeface="Aptos"/>
              </a:defRPr>
            </a:pPr>
            <a:r>
              <a:t>Assume X1 = 1000 and memory[1008] = 77.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3794760"/>
            <a:ext cx="4754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68680" y="3794760"/>
            <a:ext cx="73152" cy="91440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" y="3913632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4315968"/>
            <a:ext cx="4389120" cy="3108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After the instruction, what value is in W0?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572000"/>
            <a:ext cx="4389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4572000"/>
            <a:ext cx="73152" cy="91440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4690872"/>
            <a:ext cx="402335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5093208"/>
            <a:ext cx="4023359" cy="3108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W0 = 77; the offset selects address 1008.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Worked example: access A[3]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73152" cy="123444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26187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Given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664207"/>
            <a:ext cx="3291840" cy="63093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Base address = 2000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Each integer = 4 bytes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280160"/>
            <a:ext cx="4114800" cy="82296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01184" y="1380744"/>
            <a:ext cx="3822191" cy="6400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EA = base + i × size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188720"/>
            <a:ext cx="2103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0" y="1188720"/>
            <a:ext cx="73152" cy="10058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45168" y="1307592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1709928"/>
            <a:ext cx="1737360" cy="40233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i = 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0" y="2286000"/>
            <a:ext cx="0" cy="50292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40480" y="283464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40480" y="2834640"/>
            <a:ext cx="73152" cy="96012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41648" y="295351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3355848"/>
            <a:ext cx="3108960" cy="3566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2000 + 3 × 4 = 2012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343400"/>
            <a:ext cx="1143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4343400"/>
            <a:ext cx="73152" cy="77724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" y="4462272"/>
            <a:ext cx="7772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11F39"/>
                </a:solidFill>
                <a:latin typeface="Aptos"/>
              </a:defRPr>
            </a:pPr>
            <a:r>
              <a:t>A[0]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864608"/>
            <a:ext cx="777240" cy="17373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2000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48840" y="4343400"/>
            <a:ext cx="1143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148840" y="4343400"/>
            <a:ext cx="73152" cy="77724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50008" y="4462272"/>
            <a:ext cx="7772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11F39"/>
                </a:solidFill>
                <a:latin typeface="Aptos"/>
              </a:defRPr>
            </a:pPr>
            <a:r>
              <a:t>A[1]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50008" y="4864608"/>
            <a:ext cx="777240" cy="17373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2004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20440" y="4343400"/>
            <a:ext cx="1143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520440" y="4343400"/>
            <a:ext cx="73152" cy="77724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21608" y="4462272"/>
            <a:ext cx="7772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11F39"/>
                </a:solidFill>
                <a:latin typeface="Aptos"/>
              </a:defRPr>
            </a:pPr>
            <a:r>
              <a:t>A[2]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21608" y="4864608"/>
            <a:ext cx="777240" cy="17373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2008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92040" y="4343400"/>
            <a:ext cx="1143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892040" y="4343400"/>
            <a:ext cx="73152" cy="77724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93207" y="4462272"/>
            <a:ext cx="7772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11F39"/>
                </a:solidFill>
                <a:latin typeface="Aptos"/>
              </a:defRPr>
            </a:pPr>
            <a:r>
              <a:t>A[3]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93207" y="4864608"/>
            <a:ext cx="777240" cy="17373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2012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343400"/>
            <a:ext cx="1143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63640" y="4343400"/>
            <a:ext cx="73152" cy="77724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64807" y="4462272"/>
            <a:ext cx="7772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11F39"/>
                </a:solidFill>
                <a:latin typeface="Aptos"/>
              </a:defRPr>
            </a:pPr>
            <a:r>
              <a:t>A[4]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7" y="4864608"/>
            <a:ext cx="777240" cy="17373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2016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48640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245BA6"/>
                </a:solidFill>
                <a:latin typeface="Aptos"/>
              </a:defRPr>
            </a:pPr>
            <a:r>
              <a:t>Question: if each element were 8 bytes instead, what would be the address of A[3]?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Design trade-offs: why no single mode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73152" cy="192024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35331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55648"/>
            <a:ext cx="3017520" cy="131673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Registers are usually fast. Memory-based operands may need additional memory access and can be affected by cache behavior.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73152" cy="19202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35331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Code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755648"/>
            <a:ext cx="3017520" cy="131673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Immediate values and compact encodings can save instructions; large constants or complex addressing may require extra bytes/instructions.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3444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34440"/>
            <a:ext cx="73152" cy="192024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35331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Flexibility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55648"/>
            <a:ext cx="3017520" cy="131673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Indirect and indexed modes support pointers and arrays, but require more complex address calculations or encoding rules.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40480"/>
            <a:ext cx="10332720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245BA6"/>
                </a:solidFill>
                <a:latin typeface="Aptos"/>
              </a:defRPr>
            </a:pPr>
            <a:r>
              <a:t>Small-group question: if you were designing an ISA for a battery-powered device, what trade-off would matter most and why?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63440"/>
            <a:ext cx="9875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4663440"/>
            <a:ext cx="73152" cy="82296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4782312"/>
            <a:ext cx="95097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5184648"/>
            <a:ext cx="950976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The best design balances hardware complexity, performance, code density, compiler needs, and backward compatibility.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Pair activity: decode, calculate, explain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INTERACTIVE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73152" cy="13716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26187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Task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664207"/>
            <a:ext cx="3017520" cy="7680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R1 = 500; decode LOAD R0, [R1, #12]. Calculate EA.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430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143000"/>
            <a:ext cx="73152" cy="137160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26187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Task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664207"/>
            <a:ext cx="3017520" cy="7680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RDI = 1000, RCX = 3. Calculate [RDI + RCX*4 + 8].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143000"/>
            <a:ext cx="73152" cy="137160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26187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Task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664207"/>
            <a:ext cx="3017520" cy="7680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Explain one benefit and one limitation of variable-length instructions.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154680"/>
            <a:ext cx="10241280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245BA6"/>
                </a:solidFill>
                <a:latin typeface="Aptos"/>
              </a:defRPr>
            </a:pPr>
            <a:r>
              <a:t>Instructions: 3 minutes in pairs, then one pair presents its calculation and another pair checks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886200"/>
            <a:ext cx="9966960" cy="105156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4983" y="3986784"/>
            <a:ext cx="9674352" cy="8686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FFFFFF"/>
                </a:solidFill>
                <a:latin typeface="Consolas"/>
              </a:defRPr>
            </a:pPr>
            <a:r>
              <a:t>A: EA = 500 + 12 = 512</a:t>
            </a:r>
          </a:p>
          <a:p>
            <a:pPr algn="l">
              <a:spcAft>
                <a:spcPts val="500"/>
              </a:spcAft>
              <a:defRPr sz="1600" b="0" i="0">
                <a:solidFill>
                  <a:srgbClr val="FFFFFF"/>
                </a:solidFill>
                <a:latin typeface="Consolas"/>
              </a:defRPr>
            </a:pPr>
            <a:r>
              <a:t>B: EA = 1000 + (3 × 4) + 8 = 1020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578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5E6C80"/>
                </a:solidFill>
                <a:latin typeface="Aptos"/>
              </a:defRPr>
            </a:pPr>
            <a:r>
              <a:t>Instructor: ask students to explain the formula, not just state the answer.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Knowledge check: no notes for 60 seconds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15568"/>
            <a:ext cx="457200" cy="329184"/>
          </a:xfrm>
          <a:prstGeom prst="round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15214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078992"/>
            <a:ext cx="6126480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253142"/>
                </a:solidFill>
                <a:latin typeface="Aptos"/>
              </a:defRPr>
            </a:pPr>
            <a:r>
              <a:t>1. What is an addressing mode?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078992"/>
            <a:ext cx="3611880" cy="5943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C9165"/>
                </a:solidFill>
                <a:latin typeface="Aptos"/>
              </a:defRPr>
            </a:pPr>
            <a:r>
              <a:t>Answer: Rule for locating or interpreting an operand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48256"/>
            <a:ext cx="457200" cy="329184"/>
          </a:xfrm>
          <a:prstGeom prst="round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08483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011680"/>
            <a:ext cx="6126480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253142"/>
                </a:solidFill>
                <a:latin typeface="Aptos"/>
              </a:defRPr>
            </a:pPr>
            <a:r>
              <a:t>2. What does #5 usually indicate in these examples?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011680"/>
            <a:ext cx="3611880" cy="5943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C9165"/>
                </a:solidFill>
                <a:latin typeface="Aptos"/>
              </a:defRPr>
            </a:pPr>
            <a:r>
              <a:t>Answer: Immediate constant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980944"/>
            <a:ext cx="457200" cy="329184"/>
          </a:xfrm>
          <a:prstGeom prst="round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01752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44368"/>
            <a:ext cx="6126480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253142"/>
                </a:solidFill>
                <a:latin typeface="Aptos"/>
              </a:defRPr>
            </a:pPr>
            <a:r>
              <a:t>3. What is EA for base 300 + offset 16?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944368"/>
            <a:ext cx="3611880" cy="5943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C9165"/>
                </a:solidFill>
                <a:latin typeface="Aptos"/>
              </a:defRPr>
            </a:pPr>
            <a:r>
              <a:t>Answer: 316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13632"/>
            <a:ext cx="457200" cy="329184"/>
          </a:xfrm>
          <a:prstGeom prst="round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95020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877056"/>
            <a:ext cx="6126480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253142"/>
                </a:solidFill>
                <a:latin typeface="Aptos"/>
              </a:defRPr>
            </a:pPr>
            <a:r>
              <a:t>4. Which ISA has variable-length instructions: x86-64 or AArch64?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3877056"/>
            <a:ext cx="3611880" cy="5943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C9165"/>
                </a:solidFill>
                <a:latin typeface="Aptos"/>
              </a:defRPr>
            </a:pPr>
            <a:r>
              <a:t>Answer: x86-64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846320"/>
            <a:ext cx="457200" cy="329184"/>
          </a:xfrm>
          <a:prstGeom prst="round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8828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809744"/>
            <a:ext cx="6126480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253142"/>
                </a:solidFill>
                <a:latin typeface="Aptos"/>
              </a:defRPr>
            </a:pPr>
            <a:r>
              <a:t>5. What does an assembler do?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809744"/>
            <a:ext cx="3611880" cy="5943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C9165"/>
                </a:solidFill>
                <a:latin typeface="Aptos"/>
              </a:defRPr>
            </a:pPr>
            <a:r>
              <a:t>Answer: Translates assembly mnemonics to machine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94360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245BA6"/>
                </a:solidFill>
                <a:latin typeface="Aptos"/>
              </a:defRPr>
            </a:pPr>
            <a:r>
              <a:t>Instructor: cover the answer column for the first round, then use peer marking.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11F39"/>
                </a:solidFill>
                <a:latin typeface="Aptos"/>
              </a:defRPr>
            </a:pPr>
            <a:r>
              <a:t>Exit ticket: connect the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1089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245BA6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ADDRESSING MODES &amp;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73152" cy="16002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30759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3017520" cy="99669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What is the difference between an operand value and an effective address?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887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188720"/>
            <a:ext cx="73152" cy="160020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30759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709928"/>
            <a:ext cx="3017520" cy="99669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Write an instruction that loads a value from base register X1 plus offset 16.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887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188720"/>
            <a:ext cx="73152" cy="160020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30759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09928"/>
            <a:ext cx="3017520" cy="99669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Give one advantage and one limitation of x86 variable-length formats.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10332720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245BA6"/>
                </a:solidFill>
                <a:latin typeface="Aptos"/>
              </a:defRPr>
            </a:pPr>
            <a:r>
              <a:t>Take-home task: show how to access A[4] in an array of 4-byte integers using a base address and an index.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297680"/>
            <a:ext cx="9966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68680" y="4297680"/>
            <a:ext cx="73152" cy="91440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" y="4416552"/>
            <a:ext cx="9601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Reading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818888"/>
            <a:ext cx="9601200" cy="3108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William Stallings, Computer Organization and Architecture: addressing modes, instruction formats, and assembly language. Page numbers vary by edition.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577840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E6C80"/>
                </a:solidFill>
                <a:latin typeface="Aptos"/>
              </a:defRPr>
            </a:pPr>
            <a:r>
              <a:t>Slides use teaching examples and original diagrams; verify exact syntax against the architecture/assembler used in your lab.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2892</Words>
  <Application>Microsoft Office PowerPoint</Application>
  <PresentationFormat>Widescreen</PresentationFormat>
  <Paragraphs>497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Modes and Instruction Formats — Computer Architecture</dc:title>
  <dc:subject>William Stallings Chapter 13 topic set: addressing modes, instruction formats, x86/ARM, assembly language</dc:subject>
  <dc:creator>OpenAI</dc:creator>
  <cp:keywords>Computer Architecture, Addressing Modes, Instruction Formats, x86-64, ARM AArch64, Assembly</cp:keywords>
  <dc:description>generated using python-pptx</dc:description>
  <cp:lastModifiedBy>PC</cp:lastModifiedBy>
  <cp:revision>2</cp:revision>
  <dcterms:created xsi:type="dcterms:W3CDTF">2013-01-27T09:14:16Z</dcterms:created>
  <dcterms:modified xsi:type="dcterms:W3CDTF">2026-10-21T11:42:58Z</dcterms:modified>
  <cp:category/>
</cp:coreProperties>
</file>