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4" r:id="rId25"/>
    <p:sldId id="281" r:id="rId26"/>
    <p:sldId id="282" r:id="rId27"/>
    <p:sldId id="280"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7" r:id="rId41"/>
    <p:sldId id="296" r:id="rId42"/>
    <p:sldId id="298" r:id="rId43"/>
    <p:sldId id="299" r:id="rId44"/>
    <p:sldId id="300" r:id="rId45"/>
    <p:sldId id="301" r:id="rId46"/>
    <p:sldId id="303" r:id="rId47"/>
    <p:sldId id="304" r:id="rId48"/>
    <p:sldId id="305" r:id="rId49"/>
    <p:sldId id="310" r:id="rId50"/>
    <p:sldId id="302" r:id="rId51"/>
    <p:sldId id="306" r:id="rId52"/>
    <p:sldId id="307" r:id="rId53"/>
    <p:sldId id="309" r:id="rId54"/>
    <p:sldId id="27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B29D358-D485-491E-9E49-FBBF317E14E7}">
          <p14:sldIdLst>
            <p14:sldId id="256"/>
            <p14:sldId id="257"/>
          </p14:sldIdLst>
        </p14:section>
        <p14:section name="Compilers - Brief History" id="{50E259B9-F77B-40B4-98C6-68A2E2168F96}">
          <p14:sldIdLst>
            <p14:sldId id="258"/>
            <p14:sldId id="259"/>
            <p14:sldId id="260"/>
            <p14:sldId id="261"/>
            <p14:sldId id="262"/>
            <p14:sldId id="263"/>
            <p14:sldId id="264"/>
            <p14:sldId id="265"/>
            <p14:sldId id="266"/>
            <p14:sldId id="267"/>
            <p14:sldId id="268"/>
          </p14:sldIdLst>
        </p14:section>
        <p14:section name="Language processors" id="{5AF48D2F-9D01-4971-8F5E-BAE2A17D8C4D}">
          <p14:sldIdLst>
            <p14:sldId id="269"/>
            <p14:sldId id="270"/>
            <p14:sldId id="271"/>
            <p14:sldId id="272"/>
            <p14:sldId id="273"/>
            <p14:sldId id="274"/>
            <p14:sldId id="275"/>
            <p14:sldId id="276"/>
            <p14:sldId id="277"/>
          </p14:sldIdLst>
        </p14:section>
        <p14:section name="The Structure of a Compiler" id="{6EFECC21-8BFA-474A-9D46-7E6AFEF327DA}">
          <p14:sldIdLst>
            <p14:sldId id="278"/>
            <p14:sldId id="294"/>
            <p14:sldId id="281"/>
            <p14:sldId id="282"/>
            <p14:sldId id="280"/>
          </p14:sldIdLst>
        </p14:section>
        <p14:section name="Types of Compilers" id="{9D2A47D2-99F8-4998-BE36-5EC8B8A658FA}">
          <p14:sldIdLst>
            <p14:sldId id="283"/>
            <p14:sldId id="284"/>
            <p14:sldId id="285"/>
            <p14:sldId id="286"/>
            <p14:sldId id="287"/>
            <p14:sldId id="288"/>
          </p14:sldIdLst>
        </p14:section>
        <p14:section name="The Lexical Analyzer" id="{6F0C6A6D-F3C5-4B7B-8273-35C65758A77A}">
          <p14:sldIdLst>
            <p14:sldId id="289"/>
            <p14:sldId id="290"/>
            <p14:sldId id="291"/>
            <p14:sldId id="292"/>
            <p14:sldId id="293"/>
          </p14:sldIdLst>
        </p14:section>
        <p14:section name="The Parser" id="{36C22CCA-F1FD-4364-90E5-74941C10DC2B}">
          <p14:sldIdLst>
            <p14:sldId id="295"/>
            <p14:sldId id="297"/>
            <p14:sldId id="296"/>
            <p14:sldId id="298"/>
          </p14:sldIdLst>
        </p14:section>
        <p14:section name="The Code Generator" id="{9D35182A-E5C1-44B8-AE60-9A62A662877A}">
          <p14:sldIdLst>
            <p14:sldId id="299"/>
          </p14:sldIdLst>
        </p14:section>
        <p14:section name="Representing Computer Languages" id="{B74CECBC-B127-4C10-B4C5-917489DB8307}">
          <p14:sldIdLst>
            <p14:sldId id="300"/>
            <p14:sldId id="301"/>
            <p14:sldId id="303"/>
            <p14:sldId id="304"/>
            <p14:sldId id="305"/>
          </p14:sldIdLst>
        </p14:section>
        <p14:section name="Lab" id="{9C8A74E9-2FEF-40BC-90AB-2AD3D6F2D9D7}">
          <p14:sldIdLst>
            <p14:sldId id="310"/>
            <p14:sldId id="302"/>
            <p14:sldId id="306"/>
            <p14:sldId id="307"/>
            <p14:sldId id="309"/>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4E4099-A83D-473C-B863-B97DD0CD0257}" v="10" dt="2026-08-22T05:49:11.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56" autoAdjust="0"/>
    <p:restoredTop sz="94660"/>
  </p:normalViewPr>
  <p:slideViewPr>
    <p:cSldViewPr snapToGrid="0">
      <p:cViewPr varScale="1">
        <p:scale>
          <a:sx n="75" d="100"/>
          <a:sy n="75" d="100"/>
        </p:scale>
        <p:origin x="4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033-18-0009" userId="125440cf-afe6-44c1-9378-a4c3e80d8228" providerId="ADAL" clId="{1C06D664-FBAA-47F9-A2F9-A5C015E7549B}"/>
    <pc:docChg chg="undo custSel addSld delSld modSld sldOrd modMainMaster addSection modSection">
      <pc:chgData name="033-18-0009" userId="125440cf-afe6-44c1-9378-a4c3e80d8228" providerId="ADAL" clId="{1C06D664-FBAA-47F9-A2F9-A5C015E7549B}" dt="2026-08-22T05:49:11.657" v="2214"/>
      <pc:docMkLst>
        <pc:docMk/>
      </pc:docMkLst>
      <pc:sldChg chg="modSp mod">
        <pc:chgData name="033-18-0009" userId="125440cf-afe6-44c1-9378-a4c3e80d8228" providerId="ADAL" clId="{1C06D664-FBAA-47F9-A2F9-A5C015E7549B}" dt="2026-08-09T06:57:15.689" v="117"/>
        <pc:sldMkLst>
          <pc:docMk/>
          <pc:sldMk cId="3072013332" sldId="256"/>
        </pc:sldMkLst>
        <pc:spChg chg="mod">
          <ac:chgData name="033-18-0009" userId="125440cf-afe6-44c1-9378-a4c3e80d8228" providerId="ADAL" clId="{1C06D664-FBAA-47F9-A2F9-A5C015E7549B}" dt="2026-08-09T06:57:15.689" v="117"/>
          <ac:spMkLst>
            <pc:docMk/>
            <pc:sldMk cId="3072013332" sldId="256"/>
            <ac:spMk id="2" creationId="{00000000-0000-0000-0000-000000000000}"/>
          </ac:spMkLst>
        </pc:spChg>
      </pc:sldChg>
      <pc:sldChg chg="modSp mod ord">
        <pc:chgData name="033-18-0009" userId="125440cf-afe6-44c1-9378-a4c3e80d8228" providerId="ADAL" clId="{1C06D664-FBAA-47F9-A2F9-A5C015E7549B}" dt="2026-08-09T07:01:41.683" v="170"/>
        <pc:sldMkLst>
          <pc:docMk/>
          <pc:sldMk cId="1233043448" sldId="257"/>
        </pc:sldMkLst>
        <pc:spChg chg="mod">
          <ac:chgData name="033-18-0009" userId="125440cf-afe6-44c1-9378-a4c3e80d8228" providerId="ADAL" clId="{1C06D664-FBAA-47F9-A2F9-A5C015E7549B}" dt="2026-08-09T07:01:09.812" v="166" actId="15"/>
          <ac:spMkLst>
            <pc:docMk/>
            <pc:sldMk cId="1233043448" sldId="257"/>
            <ac:spMk id="2" creationId="{8A2193AB-F4FB-F48D-08E9-AAAFC90321B8}"/>
          </ac:spMkLst>
        </pc:spChg>
      </pc:sldChg>
      <pc:sldChg chg="modSp new mod ord">
        <pc:chgData name="033-18-0009" userId="125440cf-afe6-44c1-9378-a4c3e80d8228" providerId="ADAL" clId="{1C06D664-FBAA-47F9-A2F9-A5C015E7549B}" dt="2026-08-09T07:12:05.456" v="220"/>
        <pc:sldMkLst>
          <pc:docMk/>
          <pc:sldMk cId="3587983107" sldId="258"/>
        </pc:sldMkLst>
        <pc:spChg chg="mod">
          <ac:chgData name="033-18-0009" userId="125440cf-afe6-44c1-9378-a4c3e80d8228" providerId="ADAL" clId="{1C06D664-FBAA-47F9-A2F9-A5C015E7549B}" dt="2026-08-09T07:12:05.456" v="220"/>
          <ac:spMkLst>
            <pc:docMk/>
            <pc:sldMk cId="3587983107" sldId="258"/>
            <ac:spMk id="2" creationId="{EE5ECEDA-7575-B1C8-63BF-51D724C6D009}"/>
          </ac:spMkLst>
        </pc:spChg>
      </pc:sldChg>
      <pc:sldChg chg="modSp new mod">
        <pc:chgData name="033-18-0009" userId="125440cf-afe6-44c1-9378-a4c3e80d8228" providerId="ADAL" clId="{1C06D664-FBAA-47F9-A2F9-A5C015E7549B}" dt="2026-08-19T12:49:01.117" v="1688" actId="20577"/>
        <pc:sldMkLst>
          <pc:docMk/>
          <pc:sldMk cId="2814626476" sldId="259"/>
        </pc:sldMkLst>
        <pc:spChg chg="mod">
          <ac:chgData name="033-18-0009" userId="125440cf-afe6-44c1-9378-a4c3e80d8228" providerId="ADAL" clId="{1C06D664-FBAA-47F9-A2F9-A5C015E7549B}" dt="2026-08-19T12:49:01.117" v="1688" actId="20577"/>
          <ac:spMkLst>
            <pc:docMk/>
            <pc:sldMk cId="2814626476" sldId="259"/>
            <ac:spMk id="2" creationId="{FACFE7DC-1D71-3E36-B7CD-EC398B81E709}"/>
          </ac:spMkLst>
        </pc:spChg>
      </pc:sldChg>
      <pc:sldChg chg="addSp modSp new mod">
        <pc:chgData name="033-18-0009" userId="125440cf-afe6-44c1-9378-a4c3e80d8228" providerId="ADAL" clId="{1C06D664-FBAA-47F9-A2F9-A5C015E7549B}" dt="2026-08-09T07:29:35.177" v="316" actId="14100"/>
        <pc:sldMkLst>
          <pc:docMk/>
          <pc:sldMk cId="195582314" sldId="260"/>
        </pc:sldMkLst>
        <pc:spChg chg="mod">
          <ac:chgData name="033-18-0009" userId="125440cf-afe6-44c1-9378-a4c3e80d8228" providerId="ADAL" clId="{1C06D664-FBAA-47F9-A2F9-A5C015E7549B}" dt="2026-08-09T07:28:25.739" v="310" actId="20577"/>
          <ac:spMkLst>
            <pc:docMk/>
            <pc:sldMk cId="195582314" sldId="260"/>
            <ac:spMk id="2" creationId="{FCE147AE-F2B9-E4EF-5592-41215F2631D9}"/>
          </ac:spMkLst>
        </pc:spChg>
        <pc:graphicFrameChg chg="add mod modGraphic">
          <ac:chgData name="033-18-0009" userId="125440cf-afe6-44c1-9378-a4c3e80d8228" providerId="ADAL" clId="{1C06D664-FBAA-47F9-A2F9-A5C015E7549B}" dt="2026-08-09T07:29:35.177" v="316" actId="14100"/>
          <ac:graphicFrameMkLst>
            <pc:docMk/>
            <pc:sldMk cId="195582314" sldId="260"/>
            <ac:graphicFrameMk id="8" creationId="{F11CE72A-E1F5-FE70-A39C-5F720C9CD39A}"/>
          </ac:graphicFrameMkLst>
        </pc:graphicFrameChg>
      </pc:sldChg>
      <pc:sldChg chg="modSp new mod">
        <pc:chgData name="033-18-0009" userId="125440cf-afe6-44c1-9378-a4c3e80d8228" providerId="ADAL" clId="{1C06D664-FBAA-47F9-A2F9-A5C015E7549B}" dt="2026-08-09T07:39:01.906" v="411" actId="15"/>
        <pc:sldMkLst>
          <pc:docMk/>
          <pc:sldMk cId="1487162234" sldId="261"/>
        </pc:sldMkLst>
        <pc:spChg chg="mod">
          <ac:chgData name="033-18-0009" userId="125440cf-afe6-44c1-9378-a4c3e80d8228" providerId="ADAL" clId="{1C06D664-FBAA-47F9-A2F9-A5C015E7549B}" dt="2026-08-09T07:39:01.906" v="411" actId="15"/>
          <ac:spMkLst>
            <pc:docMk/>
            <pc:sldMk cId="1487162234" sldId="261"/>
            <ac:spMk id="2" creationId="{34D98E87-4B4F-5A10-1DF1-8AF355A5008A}"/>
          </ac:spMkLst>
        </pc:spChg>
      </pc:sldChg>
      <pc:sldChg chg="addSp modSp new mod">
        <pc:chgData name="033-18-0009" userId="125440cf-afe6-44c1-9378-a4c3e80d8228" providerId="ADAL" clId="{1C06D664-FBAA-47F9-A2F9-A5C015E7549B}" dt="2026-08-09T07:42:07.204" v="447"/>
        <pc:sldMkLst>
          <pc:docMk/>
          <pc:sldMk cId="1512349454" sldId="262"/>
        </pc:sldMkLst>
        <pc:spChg chg="mod">
          <ac:chgData name="033-18-0009" userId="125440cf-afe6-44c1-9378-a4c3e80d8228" providerId="ADAL" clId="{1C06D664-FBAA-47F9-A2F9-A5C015E7549B}" dt="2026-08-09T07:40:43.142" v="446" actId="15"/>
          <ac:spMkLst>
            <pc:docMk/>
            <pc:sldMk cId="1512349454" sldId="262"/>
            <ac:spMk id="2" creationId="{6EC6B706-0765-052E-6466-3376A2FFEE39}"/>
          </ac:spMkLst>
        </pc:spChg>
        <pc:graphicFrameChg chg="add mod">
          <ac:chgData name="033-18-0009" userId="125440cf-afe6-44c1-9378-a4c3e80d8228" providerId="ADAL" clId="{1C06D664-FBAA-47F9-A2F9-A5C015E7549B}" dt="2026-08-09T07:42:07.204" v="447"/>
          <ac:graphicFrameMkLst>
            <pc:docMk/>
            <pc:sldMk cId="1512349454" sldId="262"/>
            <ac:graphicFrameMk id="6" creationId="{7975AFD5-3C04-2E0C-A1A9-DB6429ACA608}"/>
          </ac:graphicFrameMkLst>
        </pc:graphicFrameChg>
      </pc:sldChg>
      <pc:sldChg chg="addSp delSp modSp new mod">
        <pc:chgData name="033-18-0009" userId="125440cf-afe6-44c1-9378-a4c3e80d8228" providerId="ADAL" clId="{1C06D664-FBAA-47F9-A2F9-A5C015E7549B}" dt="2026-08-09T07:52:07.714" v="485" actId="1076"/>
        <pc:sldMkLst>
          <pc:docMk/>
          <pc:sldMk cId="3695882701" sldId="263"/>
        </pc:sldMkLst>
        <pc:spChg chg="mod">
          <ac:chgData name="033-18-0009" userId="125440cf-afe6-44c1-9378-a4c3e80d8228" providerId="ADAL" clId="{1C06D664-FBAA-47F9-A2F9-A5C015E7549B}" dt="2026-08-09T07:51:51.123" v="483"/>
          <ac:spMkLst>
            <pc:docMk/>
            <pc:sldMk cId="3695882701" sldId="263"/>
            <ac:spMk id="2" creationId="{23D05B98-AE5B-9C75-1FD7-2D3C93EBF0B5}"/>
          </ac:spMkLst>
        </pc:spChg>
        <pc:picChg chg="add mod">
          <ac:chgData name="033-18-0009" userId="125440cf-afe6-44c1-9378-a4c3e80d8228" providerId="ADAL" clId="{1C06D664-FBAA-47F9-A2F9-A5C015E7549B}" dt="2026-08-09T07:51:37.250" v="474" actId="1076"/>
          <ac:picMkLst>
            <pc:docMk/>
            <pc:sldMk cId="3695882701" sldId="263"/>
            <ac:picMk id="8" creationId="{95318697-8D2C-13D6-39B6-0BB9AB43923B}"/>
          </ac:picMkLst>
        </pc:picChg>
        <pc:picChg chg="add mod">
          <ac:chgData name="033-18-0009" userId="125440cf-afe6-44c1-9378-a4c3e80d8228" providerId="ADAL" clId="{1C06D664-FBAA-47F9-A2F9-A5C015E7549B}" dt="2026-08-09T07:52:07.714" v="485" actId="1076"/>
          <ac:picMkLst>
            <pc:docMk/>
            <pc:sldMk cId="3695882701" sldId="263"/>
            <ac:picMk id="10" creationId="{C903D9F0-9005-4EAC-E71D-B136A3176154}"/>
          </ac:picMkLst>
        </pc:picChg>
      </pc:sldChg>
      <pc:sldChg chg="addSp modSp new mod">
        <pc:chgData name="033-18-0009" userId="125440cf-afe6-44c1-9378-a4c3e80d8228" providerId="ADAL" clId="{1C06D664-FBAA-47F9-A2F9-A5C015E7549B}" dt="2026-08-09T07:56:23.759" v="510" actId="14100"/>
        <pc:sldMkLst>
          <pc:docMk/>
          <pc:sldMk cId="999597470" sldId="264"/>
        </pc:sldMkLst>
        <pc:spChg chg="mod">
          <ac:chgData name="033-18-0009" userId="125440cf-afe6-44c1-9378-a4c3e80d8228" providerId="ADAL" clId="{1C06D664-FBAA-47F9-A2F9-A5C015E7549B}" dt="2026-08-09T07:55:59.915" v="505" actId="15"/>
          <ac:spMkLst>
            <pc:docMk/>
            <pc:sldMk cId="999597470" sldId="264"/>
            <ac:spMk id="2" creationId="{5ED8866D-36D2-8C01-1655-3C5A2AEF2FAE}"/>
          </ac:spMkLst>
        </pc:spChg>
        <pc:picChg chg="add mod">
          <ac:chgData name="033-18-0009" userId="125440cf-afe6-44c1-9378-a4c3e80d8228" providerId="ADAL" clId="{1C06D664-FBAA-47F9-A2F9-A5C015E7549B}" dt="2026-08-09T07:56:23.759" v="510" actId="14100"/>
          <ac:picMkLst>
            <pc:docMk/>
            <pc:sldMk cId="999597470" sldId="264"/>
            <ac:picMk id="7" creationId="{ADA94562-03A7-C9E9-0587-DE049BD7F2F2}"/>
          </ac:picMkLst>
        </pc:picChg>
      </pc:sldChg>
      <pc:sldChg chg="modSp new mod">
        <pc:chgData name="033-18-0009" userId="125440cf-afe6-44c1-9378-a4c3e80d8228" providerId="ADAL" clId="{1C06D664-FBAA-47F9-A2F9-A5C015E7549B}" dt="2026-08-09T08:09:00.382" v="553" actId="20577"/>
        <pc:sldMkLst>
          <pc:docMk/>
          <pc:sldMk cId="2793540101" sldId="265"/>
        </pc:sldMkLst>
        <pc:spChg chg="mod">
          <ac:chgData name="033-18-0009" userId="125440cf-afe6-44c1-9378-a4c3e80d8228" providerId="ADAL" clId="{1C06D664-FBAA-47F9-A2F9-A5C015E7549B}" dt="2026-08-09T08:09:00.382" v="553" actId="20577"/>
          <ac:spMkLst>
            <pc:docMk/>
            <pc:sldMk cId="2793540101" sldId="265"/>
            <ac:spMk id="2" creationId="{F214E6B3-FB4E-5D7E-F9C9-FCFC146E30E4}"/>
          </ac:spMkLst>
        </pc:spChg>
      </pc:sldChg>
      <pc:sldChg chg="addSp modSp new mod">
        <pc:chgData name="033-18-0009" userId="125440cf-afe6-44c1-9378-a4c3e80d8228" providerId="ADAL" clId="{1C06D664-FBAA-47F9-A2F9-A5C015E7549B}" dt="2026-08-09T08:14:16.609" v="600" actId="1076"/>
        <pc:sldMkLst>
          <pc:docMk/>
          <pc:sldMk cId="3626985715" sldId="266"/>
        </pc:sldMkLst>
        <pc:spChg chg="mod">
          <ac:chgData name="033-18-0009" userId="125440cf-afe6-44c1-9378-a4c3e80d8228" providerId="ADAL" clId="{1C06D664-FBAA-47F9-A2F9-A5C015E7549B}" dt="2026-08-09T08:13:50.939" v="596" actId="20577"/>
          <ac:spMkLst>
            <pc:docMk/>
            <pc:sldMk cId="3626985715" sldId="266"/>
            <ac:spMk id="2" creationId="{1B15AC13-1172-4AD6-86BC-DBEE7C029DE7}"/>
          </ac:spMkLst>
        </pc:spChg>
        <pc:spChg chg="add mod">
          <ac:chgData name="033-18-0009" userId="125440cf-afe6-44c1-9378-a4c3e80d8228" providerId="ADAL" clId="{1C06D664-FBAA-47F9-A2F9-A5C015E7549B}" dt="2026-08-09T08:14:13.787" v="599" actId="1076"/>
          <ac:spMkLst>
            <pc:docMk/>
            <pc:sldMk cId="3626985715" sldId="266"/>
            <ac:spMk id="10" creationId="{25779AFB-5135-E4BC-2E1C-3232D3C70656}"/>
          </ac:spMkLst>
        </pc:spChg>
        <pc:picChg chg="add mod">
          <ac:chgData name="033-18-0009" userId="125440cf-afe6-44c1-9378-a4c3e80d8228" providerId="ADAL" clId="{1C06D664-FBAA-47F9-A2F9-A5C015E7549B}" dt="2026-08-09T08:12:51.464" v="588" actId="14100"/>
          <ac:picMkLst>
            <pc:docMk/>
            <pc:sldMk cId="3626985715" sldId="266"/>
            <ac:picMk id="7" creationId="{189F041C-94BB-FDA5-0A06-237843021588}"/>
          </ac:picMkLst>
        </pc:picChg>
        <pc:picChg chg="add mod">
          <ac:chgData name="033-18-0009" userId="125440cf-afe6-44c1-9378-a4c3e80d8228" providerId="ADAL" clId="{1C06D664-FBAA-47F9-A2F9-A5C015E7549B}" dt="2026-08-09T08:14:16.609" v="600" actId="1076"/>
          <ac:picMkLst>
            <pc:docMk/>
            <pc:sldMk cId="3626985715" sldId="266"/>
            <ac:picMk id="9" creationId="{1A9D1029-E2EC-7CB7-349C-92DAA530E70A}"/>
          </ac:picMkLst>
        </pc:picChg>
      </pc:sldChg>
      <pc:sldChg chg="modSp new mod">
        <pc:chgData name="033-18-0009" userId="125440cf-afe6-44c1-9378-a4c3e80d8228" providerId="ADAL" clId="{1C06D664-FBAA-47F9-A2F9-A5C015E7549B}" dt="2026-08-09T10:29:16.689" v="668" actId="27636"/>
        <pc:sldMkLst>
          <pc:docMk/>
          <pc:sldMk cId="1154834047" sldId="267"/>
        </pc:sldMkLst>
        <pc:spChg chg="mod">
          <ac:chgData name="033-18-0009" userId="125440cf-afe6-44c1-9378-a4c3e80d8228" providerId="ADAL" clId="{1C06D664-FBAA-47F9-A2F9-A5C015E7549B}" dt="2026-08-09T10:29:16.689" v="668" actId="27636"/>
          <ac:spMkLst>
            <pc:docMk/>
            <pc:sldMk cId="1154834047" sldId="267"/>
            <ac:spMk id="2" creationId="{ADB1158F-BD54-C507-4E84-A2D3900F22F8}"/>
          </ac:spMkLst>
        </pc:spChg>
      </pc:sldChg>
      <pc:sldChg chg="addSp modSp new mod ord">
        <pc:chgData name="033-18-0009" userId="125440cf-afe6-44c1-9378-a4c3e80d8228" providerId="ADAL" clId="{1C06D664-FBAA-47F9-A2F9-A5C015E7549B}" dt="2026-08-09T10:38:43.841" v="685"/>
        <pc:sldMkLst>
          <pc:docMk/>
          <pc:sldMk cId="1125516018" sldId="268"/>
        </pc:sldMkLst>
        <pc:spChg chg="mod">
          <ac:chgData name="033-18-0009" userId="125440cf-afe6-44c1-9378-a4c3e80d8228" providerId="ADAL" clId="{1C06D664-FBAA-47F9-A2F9-A5C015E7549B}" dt="2026-08-09T10:35:39.115" v="675"/>
          <ac:spMkLst>
            <pc:docMk/>
            <pc:sldMk cId="1125516018" sldId="268"/>
            <ac:spMk id="2" creationId="{E18B1E36-B722-1675-D896-3E8E725412FB}"/>
          </ac:spMkLst>
        </pc:spChg>
        <pc:graphicFrameChg chg="add mod modGraphic">
          <ac:chgData name="033-18-0009" userId="125440cf-afe6-44c1-9378-a4c3e80d8228" providerId="ADAL" clId="{1C06D664-FBAA-47F9-A2F9-A5C015E7549B}" dt="2026-08-09T10:36:06.349" v="681" actId="14100"/>
          <ac:graphicFrameMkLst>
            <pc:docMk/>
            <pc:sldMk cId="1125516018" sldId="268"/>
            <ac:graphicFrameMk id="6" creationId="{A15D2C6B-CEBE-1895-5019-2AFB61BB10E0}"/>
          </ac:graphicFrameMkLst>
        </pc:graphicFrameChg>
      </pc:sldChg>
      <pc:sldChg chg="modSp new mod ord">
        <pc:chgData name="033-18-0009" userId="125440cf-afe6-44c1-9378-a4c3e80d8228" providerId="ADAL" clId="{1C06D664-FBAA-47F9-A2F9-A5C015E7549B}" dt="2026-08-09T11:38:09.268" v="734" actId="15"/>
        <pc:sldMkLst>
          <pc:docMk/>
          <pc:sldMk cId="3977136225" sldId="269"/>
        </pc:sldMkLst>
        <pc:spChg chg="mod">
          <ac:chgData name="033-18-0009" userId="125440cf-afe6-44c1-9378-a4c3e80d8228" providerId="ADAL" clId="{1C06D664-FBAA-47F9-A2F9-A5C015E7549B}" dt="2026-08-09T11:38:09.268" v="734" actId="15"/>
          <ac:spMkLst>
            <pc:docMk/>
            <pc:sldMk cId="3977136225" sldId="269"/>
            <ac:spMk id="2" creationId="{D0D4BFEA-46AE-2A65-D94F-A587936D16BD}"/>
          </ac:spMkLst>
        </pc:spChg>
      </pc:sldChg>
      <pc:sldChg chg="modSp new mod">
        <pc:chgData name="033-18-0009" userId="125440cf-afe6-44c1-9378-a4c3e80d8228" providerId="ADAL" clId="{1C06D664-FBAA-47F9-A2F9-A5C015E7549B}" dt="2026-08-09T11:44:33.153" v="784" actId="27636"/>
        <pc:sldMkLst>
          <pc:docMk/>
          <pc:sldMk cId="3910246543" sldId="270"/>
        </pc:sldMkLst>
        <pc:spChg chg="mod">
          <ac:chgData name="033-18-0009" userId="125440cf-afe6-44c1-9378-a4c3e80d8228" providerId="ADAL" clId="{1C06D664-FBAA-47F9-A2F9-A5C015E7549B}" dt="2026-08-09T11:44:33.153" v="784" actId="27636"/>
          <ac:spMkLst>
            <pc:docMk/>
            <pc:sldMk cId="3910246543" sldId="270"/>
            <ac:spMk id="2" creationId="{93EC17C2-BE90-25BA-1584-9F419AA7765F}"/>
          </ac:spMkLst>
        </pc:spChg>
      </pc:sldChg>
      <pc:sldChg chg="modSp new mod">
        <pc:chgData name="033-18-0009" userId="125440cf-afe6-44c1-9378-a4c3e80d8228" providerId="ADAL" clId="{1C06D664-FBAA-47F9-A2F9-A5C015E7549B}" dt="2026-08-09T11:52:21.170" v="840" actId="20577"/>
        <pc:sldMkLst>
          <pc:docMk/>
          <pc:sldMk cId="2423488653" sldId="271"/>
        </pc:sldMkLst>
        <pc:spChg chg="mod">
          <ac:chgData name="033-18-0009" userId="125440cf-afe6-44c1-9378-a4c3e80d8228" providerId="ADAL" clId="{1C06D664-FBAA-47F9-A2F9-A5C015E7549B}" dt="2026-08-09T11:52:21.170" v="840" actId="20577"/>
          <ac:spMkLst>
            <pc:docMk/>
            <pc:sldMk cId="2423488653" sldId="271"/>
            <ac:spMk id="2" creationId="{029B7DBC-8AC7-6F14-4223-1D973959C458}"/>
          </ac:spMkLst>
        </pc:spChg>
      </pc:sldChg>
      <pc:sldChg chg="addSp delSp modSp new mod">
        <pc:chgData name="033-18-0009" userId="125440cf-afe6-44c1-9378-a4c3e80d8228" providerId="ADAL" clId="{1C06D664-FBAA-47F9-A2F9-A5C015E7549B}" dt="2026-08-09T11:53:37.748" v="867" actId="14100"/>
        <pc:sldMkLst>
          <pc:docMk/>
          <pc:sldMk cId="216538376" sldId="272"/>
        </pc:sldMkLst>
        <pc:spChg chg="add del mod">
          <ac:chgData name="033-18-0009" userId="125440cf-afe6-44c1-9378-a4c3e80d8228" providerId="ADAL" clId="{1C06D664-FBAA-47F9-A2F9-A5C015E7549B}" dt="2026-08-09T11:53:17.260" v="863" actId="15"/>
          <ac:spMkLst>
            <pc:docMk/>
            <pc:sldMk cId="216538376" sldId="272"/>
            <ac:spMk id="2" creationId="{A9168198-A672-6E3D-A80F-BB9CBCB4F490}"/>
          </ac:spMkLst>
        </pc:spChg>
        <pc:graphicFrameChg chg="add mod modGraphic">
          <ac:chgData name="033-18-0009" userId="125440cf-afe6-44c1-9378-a4c3e80d8228" providerId="ADAL" clId="{1C06D664-FBAA-47F9-A2F9-A5C015E7549B}" dt="2026-08-09T11:53:37.748" v="867" actId="14100"/>
          <ac:graphicFrameMkLst>
            <pc:docMk/>
            <pc:sldMk cId="216538376" sldId="272"/>
            <ac:graphicFrameMk id="10" creationId="{CB7F05F9-61FE-35DE-78A1-AD2324D88070}"/>
          </ac:graphicFrameMkLst>
        </pc:graphicFrameChg>
      </pc:sldChg>
      <pc:sldChg chg="modSp new mod">
        <pc:chgData name="033-18-0009" userId="125440cf-afe6-44c1-9378-a4c3e80d8228" providerId="ADAL" clId="{1C06D664-FBAA-47F9-A2F9-A5C015E7549B}" dt="2026-08-19T12:43:17.535" v="1679" actId="15"/>
        <pc:sldMkLst>
          <pc:docMk/>
          <pc:sldMk cId="3079267032" sldId="273"/>
        </pc:sldMkLst>
        <pc:spChg chg="mod">
          <ac:chgData name="033-18-0009" userId="125440cf-afe6-44c1-9378-a4c3e80d8228" providerId="ADAL" clId="{1C06D664-FBAA-47F9-A2F9-A5C015E7549B}" dt="2026-08-19T12:43:17.535" v="1679" actId="15"/>
          <ac:spMkLst>
            <pc:docMk/>
            <pc:sldMk cId="3079267032" sldId="273"/>
            <ac:spMk id="2" creationId="{C8EEE0AC-2FE9-38FB-BDA0-81153051C662}"/>
          </ac:spMkLst>
        </pc:spChg>
      </pc:sldChg>
      <pc:sldChg chg="modSp new mod">
        <pc:chgData name="033-18-0009" userId="125440cf-afe6-44c1-9378-a4c3e80d8228" providerId="ADAL" clId="{1C06D664-FBAA-47F9-A2F9-A5C015E7549B}" dt="2026-08-09T12:16:45.784" v="922" actId="15"/>
        <pc:sldMkLst>
          <pc:docMk/>
          <pc:sldMk cId="2751301207" sldId="274"/>
        </pc:sldMkLst>
        <pc:spChg chg="mod">
          <ac:chgData name="033-18-0009" userId="125440cf-afe6-44c1-9378-a4c3e80d8228" providerId="ADAL" clId="{1C06D664-FBAA-47F9-A2F9-A5C015E7549B}" dt="2026-08-09T12:16:45.784" v="922" actId="15"/>
          <ac:spMkLst>
            <pc:docMk/>
            <pc:sldMk cId="2751301207" sldId="274"/>
            <ac:spMk id="2" creationId="{FAA63606-633E-D740-3B2E-7BC9CD66FAF8}"/>
          </ac:spMkLst>
        </pc:spChg>
      </pc:sldChg>
      <pc:sldChg chg="addSp modSp new mod">
        <pc:chgData name="033-18-0009" userId="125440cf-afe6-44c1-9378-a4c3e80d8228" providerId="ADAL" clId="{1C06D664-FBAA-47F9-A2F9-A5C015E7549B}" dt="2026-08-09T12:21:05.702" v="960" actId="14100"/>
        <pc:sldMkLst>
          <pc:docMk/>
          <pc:sldMk cId="4013768575" sldId="275"/>
        </pc:sldMkLst>
        <pc:spChg chg="mod">
          <ac:chgData name="033-18-0009" userId="125440cf-afe6-44c1-9378-a4c3e80d8228" providerId="ADAL" clId="{1C06D664-FBAA-47F9-A2F9-A5C015E7549B}" dt="2026-08-09T12:20:58.249" v="957" actId="20577"/>
          <ac:spMkLst>
            <pc:docMk/>
            <pc:sldMk cId="4013768575" sldId="275"/>
            <ac:spMk id="2" creationId="{C68587E6-75BA-DC6C-5489-EC11E1B6F1D4}"/>
          </ac:spMkLst>
        </pc:spChg>
        <pc:picChg chg="add mod">
          <ac:chgData name="033-18-0009" userId="125440cf-afe6-44c1-9378-a4c3e80d8228" providerId="ADAL" clId="{1C06D664-FBAA-47F9-A2F9-A5C015E7549B}" dt="2026-08-09T12:21:05.702" v="960" actId="14100"/>
          <ac:picMkLst>
            <pc:docMk/>
            <pc:sldMk cId="4013768575" sldId="275"/>
            <ac:picMk id="7" creationId="{FF548EAA-3C12-16EE-FA4E-7F506912A13C}"/>
          </ac:picMkLst>
        </pc:picChg>
        <pc:picChg chg="add mod">
          <ac:chgData name="033-18-0009" userId="125440cf-afe6-44c1-9378-a4c3e80d8228" providerId="ADAL" clId="{1C06D664-FBAA-47F9-A2F9-A5C015E7549B}" dt="2026-08-09T12:21:03.080" v="959" actId="14100"/>
          <ac:picMkLst>
            <pc:docMk/>
            <pc:sldMk cId="4013768575" sldId="275"/>
            <ac:picMk id="9" creationId="{AAF69FD4-2C28-3709-D02E-A9165A682C7E}"/>
          </ac:picMkLst>
        </pc:picChg>
      </pc:sldChg>
      <pc:sldChg chg="modSp new mod">
        <pc:chgData name="033-18-0009" userId="125440cf-afe6-44c1-9378-a4c3e80d8228" providerId="ADAL" clId="{1C06D664-FBAA-47F9-A2F9-A5C015E7549B}" dt="2026-08-09T12:23:39.301" v="985" actId="15"/>
        <pc:sldMkLst>
          <pc:docMk/>
          <pc:sldMk cId="612442065" sldId="276"/>
        </pc:sldMkLst>
        <pc:spChg chg="mod">
          <ac:chgData name="033-18-0009" userId="125440cf-afe6-44c1-9378-a4c3e80d8228" providerId="ADAL" clId="{1C06D664-FBAA-47F9-A2F9-A5C015E7549B}" dt="2026-08-09T12:23:39.301" v="985" actId="15"/>
          <ac:spMkLst>
            <pc:docMk/>
            <pc:sldMk cId="612442065" sldId="276"/>
            <ac:spMk id="2" creationId="{FDAB9460-05C0-DAE1-5585-2588FA2E4DDC}"/>
          </ac:spMkLst>
        </pc:spChg>
      </pc:sldChg>
      <pc:sldChg chg="modSp new mod ord">
        <pc:chgData name="033-18-0009" userId="125440cf-afe6-44c1-9378-a4c3e80d8228" providerId="ADAL" clId="{1C06D664-FBAA-47F9-A2F9-A5C015E7549B}" dt="2026-08-09T12:41:03.163" v="1035"/>
        <pc:sldMkLst>
          <pc:docMk/>
          <pc:sldMk cId="1228350276" sldId="277"/>
        </pc:sldMkLst>
        <pc:spChg chg="mod">
          <ac:chgData name="033-18-0009" userId="125440cf-afe6-44c1-9378-a4c3e80d8228" providerId="ADAL" clId="{1C06D664-FBAA-47F9-A2F9-A5C015E7549B}" dt="2026-08-09T12:30:40.290" v="1031" actId="20577"/>
          <ac:spMkLst>
            <pc:docMk/>
            <pc:sldMk cId="1228350276" sldId="277"/>
            <ac:spMk id="2" creationId="{77C1E4CE-A9F0-3E1E-3C82-525B38CBCB17}"/>
          </ac:spMkLst>
        </pc:spChg>
      </pc:sldChg>
      <pc:sldChg chg="delSp modSp new mod ord">
        <pc:chgData name="033-18-0009" userId="125440cf-afe6-44c1-9378-a4c3e80d8228" providerId="ADAL" clId="{1C06D664-FBAA-47F9-A2F9-A5C015E7549B}" dt="2026-08-19T13:00:38.656" v="1713" actId="15"/>
        <pc:sldMkLst>
          <pc:docMk/>
          <pc:sldMk cId="1674906013" sldId="278"/>
        </pc:sldMkLst>
        <pc:spChg chg="mod">
          <ac:chgData name="033-18-0009" userId="125440cf-afe6-44c1-9378-a4c3e80d8228" providerId="ADAL" clId="{1C06D664-FBAA-47F9-A2F9-A5C015E7549B}" dt="2026-08-19T13:00:38.656" v="1713" actId="15"/>
          <ac:spMkLst>
            <pc:docMk/>
            <pc:sldMk cId="1674906013" sldId="278"/>
            <ac:spMk id="2" creationId="{CBAE306B-DE36-8E95-4B02-1F17C400D208}"/>
          </ac:spMkLst>
        </pc:spChg>
      </pc:sldChg>
      <pc:sldChg chg="modSp new mod ord">
        <pc:chgData name="033-18-0009" userId="125440cf-afe6-44c1-9378-a4c3e80d8228" providerId="ADAL" clId="{1C06D664-FBAA-47F9-A2F9-A5C015E7549B}" dt="2026-08-19T11:46:12.359" v="1499"/>
        <pc:sldMkLst>
          <pc:docMk/>
          <pc:sldMk cId="1717505759" sldId="279"/>
        </pc:sldMkLst>
        <pc:spChg chg="mod">
          <ac:chgData name="033-18-0009" userId="125440cf-afe6-44c1-9378-a4c3e80d8228" providerId="ADAL" clId="{1C06D664-FBAA-47F9-A2F9-A5C015E7549B}" dt="2026-08-09T12:45:04.004" v="1075" actId="20577"/>
          <ac:spMkLst>
            <pc:docMk/>
            <pc:sldMk cId="1717505759" sldId="279"/>
            <ac:spMk id="2" creationId="{2012703F-2C62-013A-51A9-AFB6BB65534C}"/>
          </ac:spMkLst>
        </pc:spChg>
      </pc:sldChg>
      <pc:sldChg chg="addSp modSp new mod">
        <pc:chgData name="033-18-0009" userId="125440cf-afe6-44c1-9378-a4c3e80d8228" providerId="ADAL" clId="{1C06D664-FBAA-47F9-A2F9-A5C015E7549B}" dt="2026-08-09T12:46:38.578" v="1089" actId="20577"/>
        <pc:sldMkLst>
          <pc:docMk/>
          <pc:sldMk cId="2720040937" sldId="280"/>
        </pc:sldMkLst>
        <pc:spChg chg="mod">
          <ac:chgData name="033-18-0009" userId="125440cf-afe6-44c1-9378-a4c3e80d8228" providerId="ADAL" clId="{1C06D664-FBAA-47F9-A2F9-A5C015E7549B}" dt="2026-08-09T12:46:38.578" v="1089" actId="20577"/>
          <ac:spMkLst>
            <pc:docMk/>
            <pc:sldMk cId="2720040937" sldId="280"/>
            <ac:spMk id="2" creationId="{10CA439F-B997-8C75-8829-D1637F9E165F}"/>
          </ac:spMkLst>
        </pc:spChg>
        <pc:picChg chg="add mod">
          <ac:chgData name="033-18-0009" userId="125440cf-afe6-44c1-9378-a4c3e80d8228" providerId="ADAL" clId="{1C06D664-FBAA-47F9-A2F9-A5C015E7549B}" dt="2026-08-09T12:46:15.154" v="1084" actId="1076"/>
          <ac:picMkLst>
            <pc:docMk/>
            <pc:sldMk cId="2720040937" sldId="280"/>
            <ac:picMk id="7" creationId="{A08760D0-CF5F-E882-2745-575C8388DEA7}"/>
          </ac:picMkLst>
        </pc:picChg>
      </pc:sldChg>
      <pc:sldChg chg="modSp new mod">
        <pc:chgData name="033-18-0009" userId="125440cf-afe6-44c1-9378-a4c3e80d8228" providerId="ADAL" clId="{1C06D664-FBAA-47F9-A2F9-A5C015E7549B}" dt="2026-08-09T13:05:55.669" v="1153" actId="15"/>
        <pc:sldMkLst>
          <pc:docMk/>
          <pc:sldMk cId="4262597061" sldId="281"/>
        </pc:sldMkLst>
        <pc:spChg chg="mod">
          <ac:chgData name="033-18-0009" userId="125440cf-afe6-44c1-9378-a4c3e80d8228" providerId="ADAL" clId="{1C06D664-FBAA-47F9-A2F9-A5C015E7549B}" dt="2026-08-09T13:05:55.669" v="1153" actId="15"/>
          <ac:spMkLst>
            <pc:docMk/>
            <pc:sldMk cId="4262597061" sldId="281"/>
            <ac:spMk id="2" creationId="{5BAD5B2A-39C7-E817-6A4E-224BBBFC5514}"/>
          </ac:spMkLst>
        </pc:spChg>
      </pc:sldChg>
      <pc:sldChg chg="modSp new mod">
        <pc:chgData name="033-18-0009" userId="125440cf-afe6-44c1-9378-a4c3e80d8228" providerId="ADAL" clId="{1C06D664-FBAA-47F9-A2F9-A5C015E7549B}" dt="2026-08-09T13:08:43.197" v="1184" actId="15"/>
        <pc:sldMkLst>
          <pc:docMk/>
          <pc:sldMk cId="3032104109" sldId="282"/>
        </pc:sldMkLst>
        <pc:spChg chg="mod">
          <ac:chgData name="033-18-0009" userId="125440cf-afe6-44c1-9378-a4c3e80d8228" providerId="ADAL" clId="{1C06D664-FBAA-47F9-A2F9-A5C015E7549B}" dt="2026-08-09T13:08:43.197" v="1184" actId="15"/>
          <ac:spMkLst>
            <pc:docMk/>
            <pc:sldMk cId="3032104109" sldId="282"/>
            <ac:spMk id="2" creationId="{3C57075A-1579-8D62-F426-7A29A7F41A49}"/>
          </ac:spMkLst>
        </pc:spChg>
      </pc:sldChg>
      <pc:sldChg chg="modSp new mod ord">
        <pc:chgData name="033-18-0009" userId="125440cf-afe6-44c1-9378-a4c3e80d8228" providerId="ADAL" clId="{1C06D664-FBAA-47F9-A2F9-A5C015E7549B}" dt="2026-08-09T13:13:24.501" v="1230" actId="20577"/>
        <pc:sldMkLst>
          <pc:docMk/>
          <pc:sldMk cId="2249852434" sldId="283"/>
        </pc:sldMkLst>
        <pc:spChg chg="mod">
          <ac:chgData name="033-18-0009" userId="125440cf-afe6-44c1-9378-a4c3e80d8228" providerId="ADAL" clId="{1C06D664-FBAA-47F9-A2F9-A5C015E7549B}" dt="2026-08-09T13:13:24.501" v="1230" actId="20577"/>
          <ac:spMkLst>
            <pc:docMk/>
            <pc:sldMk cId="2249852434" sldId="283"/>
            <ac:spMk id="2" creationId="{C553A964-6915-1E1E-037F-6642D481698D}"/>
          </ac:spMkLst>
        </pc:spChg>
      </pc:sldChg>
      <pc:sldChg chg="modSp new mod">
        <pc:chgData name="033-18-0009" userId="125440cf-afe6-44c1-9378-a4c3e80d8228" providerId="ADAL" clId="{1C06D664-FBAA-47F9-A2F9-A5C015E7549B}" dt="2026-08-09T13:15:25.825" v="1255" actId="15"/>
        <pc:sldMkLst>
          <pc:docMk/>
          <pc:sldMk cId="2231276281" sldId="284"/>
        </pc:sldMkLst>
        <pc:spChg chg="mod">
          <ac:chgData name="033-18-0009" userId="125440cf-afe6-44c1-9378-a4c3e80d8228" providerId="ADAL" clId="{1C06D664-FBAA-47F9-A2F9-A5C015E7549B}" dt="2026-08-09T13:15:25.825" v="1255" actId="15"/>
          <ac:spMkLst>
            <pc:docMk/>
            <pc:sldMk cId="2231276281" sldId="284"/>
            <ac:spMk id="2" creationId="{36B66DFF-DC7F-E4F4-F98C-DE82F63548E3}"/>
          </ac:spMkLst>
        </pc:spChg>
      </pc:sldChg>
      <pc:sldChg chg="addSp modSp new mod">
        <pc:chgData name="033-18-0009" userId="125440cf-afe6-44c1-9378-a4c3e80d8228" providerId="ADAL" clId="{1C06D664-FBAA-47F9-A2F9-A5C015E7549B}" dt="2026-08-09T13:22:28.267" v="1304" actId="1076"/>
        <pc:sldMkLst>
          <pc:docMk/>
          <pc:sldMk cId="3327767343" sldId="285"/>
        </pc:sldMkLst>
        <pc:spChg chg="mod">
          <ac:chgData name="033-18-0009" userId="125440cf-afe6-44c1-9378-a4c3e80d8228" providerId="ADAL" clId="{1C06D664-FBAA-47F9-A2F9-A5C015E7549B}" dt="2026-08-09T13:22:07.953" v="1302"/>
          <ac:spMkLst>
            <pc:docMk/>
            <pc:sldMk cId="3327767343" sldId="285"/>
            <ac:spMk id="2" creationId="{C37D5C75-C9D2-503E-435E-7DD0C3D840C7}"/>
          </ac:spMkLst>
        </pc:spChg>
        <pc:picChg chg="add mod">
          <ac:chgData name="033-18-0009" userId="125440cf-afe6-44c1-9378-a4c3e80d8228" providerId="ADAL" clId="{1C06D664-FBAA-47F9-A2F9-A5C015E7549B}" dt="2026-08-09T13:21:41.784" v="1297" actId="1076"/>
          <ac:picMkLst>
            <pc:docMk/>
            <pc:sldMk cId="3327767343" sldId="285"/>
            <ac:picMk id="7" creationId="{D904FF9D-465E-F4B4-E763-54DB448C3E83}"/>
          </ac:picMkLst>
        </pc:picChg>
        <pc:picChg chg="add mod">
          <ac:chgData name="033-18-0009" userId="125440cf-afe6-44c1-9378-a4c3e80d8228" providerId="ADAL" clId="{1C06D664-FBAA-47F9-A2F9-A5C015E7549B}" dt="2026-08-09T13:22:28.267" v="1304" actId="1076"/>
          <ac:picMkLst>
            <pc:docMk/>
            <pc:sldMk cId="3327767343" sldId="285"/>
            <ac:picMk id="9" creationId="{0B6B8901-833A-B249-A9DA-20601D0724C1}"/>
          </ac:picMkLst>
        </pc:picChg>
      </pc:sldChg>
      <pc:sldChg chg="modSp new mod">
        <pc:chgData name="033-18-0009" userId="125440cf-afe6-44c1-9378-a4c3e80d8228" providerId="ADAL" clId="{1C06D664-FBAA-47F9-A2F9-A5C015E7549B}" dt="2026-08-09T13:24:44.596" v="1324" actId="20577"/>
        <pc:sldMkLst>
          <pc:docMk/>
          <pc:sldMk cId="719938253" sldId="286"/>
        </pc:sldMkLst>
        <pc:spChg chg="mod">
          <ac:chgData name="033-18-0009" userId="125440cf-afe6-44c1-9378-a4c3e80d8228" providerId="ADAL" clId="{1C06D664-FBAA-47F9-A2F9-A5C015E7549B}" dt="2026-08-09T13:24:44.596" v="1324" actId="20577"/>
          <ac:spMkLst>
            <pc:docMk/>
            <pc:sldMk cId="719938253" sldId="286"/>
            <ac:spMk id="2" creationId="{CFC77D17-BCFC-62EF-2539-8BFAA436EB08}"/>
          </ac:spMkLst>
        </pc:spChg>
      </pc:sldChg>
      <pc:sldChg chg="modSp new mod">
        <pc:chgData name="033-18-0009" userId="125440cf-afe6-44c1-9378-a4c3e80d8228" providerId="ADAL" clId="{1C06D664-FBAA-47F9-A2F9-A5C015E7549B}" dt="2026-08-19T11:40:59.641" v="1481" actId="20577"/>
        <pc:sldMkLst>
          <pc:docMk/>
          <pc:sldMk cId="430825963" sldId="287"/>
        </pc:sldMkLst>
        <pc:spChg chg="mod">
          <ac:chgData name="033-18-0009" userId="125440cf-afe6-44c1-9378-a4c3e80d8228" providerId="ADAL" clId="{1C06D664-FBAA-47F9-A2F9-A5C015E7549B}" dt="2026-08-19T11:40:59.641" v="1481" actId="20577"/>
          <ac:spMkLst>
            <pc:docMk/>
            <pc:sldMk cId="430825963" sldId="287"/>
            <ac:spMk id="2" creationId="{4BB9AD5D-50DD-7031-AE7B-C424C07DE97B}"/>
          </ac:spMkLst>
        </pc:spChg>
      </pc:sldChg>
      <pc:sldChg chg="addSp delSp modSp new mod ord">
        <pc:chgData name="033-18-0009" userId="125440cf-afe6-44c1-9378-a4c3e80d8228" providerId="ADAL" clId="{1C06D664-FBAA-47F9-A2F9-A5C015E7549B}" dt="2026-08-19T11:46:15.564" v="1501"/>
        <pc:sldMkLst>
          <pc:docMk/>
          <pc:sldMk cId="601824861" sldId="288"/>
        </pc:sldMkLst>
        <pc:picChg chg="add mod ord">
          <ac:chgData name="033-18-0009" userId="125440cf-afe6-44c1-9378-a4c3e80d8228" providerId="ADAL" clId="{1C06D664-FBAA-47F9-A2F9-A5C015E7549B}" dt="2026-08-19T11:43:34.881" v="1487" actId="14100"/>
          <ac:picMkLst>
            <pc:docMk/>
            <pc:sldMk cId="601824861" sldId="288"/>
            <ac:picMk id="7" creationId="{78292088-0B04-54F2-6041-95B2D5B991C7}"/>
          </ac:picMkLst>
        </pc:picChg>
      </pc:sldChg>
      <pc:sldChg chg="modSp new mod ord">
        <pc:chgData name="033-18-0009" userId="125440cf-afe6-44c1-9378-a4c3e80d8228" providerId="ADAL" clId="{1C06D664-FBAA-47F9-A2F9-A5C015E7549B}" dt="2026-08-19T12:17:03.581" v="1572" actId="20577"/>
        <pc:sldMkLst>
          <pc:docMk/>
          <pc:sldMk cId="100530391" sldId="289"/>
        </pc:sldMkLst>
        <pc:spChg chg="mod">
          <ac:chgData name="033-18-0009" userId="125440cf-afe6-44c1-9378-a4c3e80d8228" providerId="ADAL" clId="{1C06D664-FBAA-47F9-A2F9-A5C015E7549B}" dt="2026-08-19T12:17:03.581" v="1572" actId="20577"/>
          <ac:spMkLst>
            <pc:docMk/>
            <pc:sldMk cId="100530391" sldId="289"/>
            <ac:spMk id="2" creationId="{41DABF6E-F7BE-67F5-621D-DD47ADCF226C}"/>
          </ac:spMkLst>
        </pc:spChg>
      </pc:sldChg>
      <pc:sldChg chg="modSp new mod">
        <pc:chgData name="033-18-0009" userId="125440cf-afe6-44c1-9378-a4c3e80d8228" providerId="ADAL" clId="{1C06D664-FBAA-47F9-A2F9-A5C015E7549B}" dt="2026-08-19T12:19:13.765" v="1600" actId="27636"/>
        <pc:sldMkLst>
          <pc:docMk/>
          <pc:sldMk cId="1587263755" sldId="290"/>
        </pc:sldMkLst>
        <pc:spChg chg="mod">
          <ac:chgData name="033-18-0009" userId="125440cf-afe6-44c1-9378-a4c3e80d8228" providerId="ADAL" clId="{1C06D664-FBAA-47F9-A2F9-A5C015E7549B}" dt="2026-08-19T12:19:13.765" v="1600" actId="27636"/>
          <ac:spMkLst>
            <pc:docMk/>
            <pc:sldMk cId="1587263755" sldId="290"/>
            <ac:spMk id="2" creationId="{52FEC8BF-B45A-24CF-9001-46DB82BED15E}"/>
          </ac:spMkLst>
        </pc:spChg>
      </pc:sldChg>
      <pc:sldChg chg="addSp delSp modSp new mod">
        <pc:chgData name="033-18-0009" userId="125440cf-afe6-44c1-9378-a4c3e80d8228" providerId="ADAL" clId="{1C06D664-FBAA-47F9-A2F9-A5C015E7549B}" dt="2026-08-19T12:23:11.098" v="1628" actId="14100"/>
        <pc:sldMkLst>
          <pc:docMk/>
          <pc:sldMk cId="1147696097" sldId="291"/>
        </pc:sldMkLst>
        <pc:spChg chg="mod">
          <ac:chgData name="033-18-0009" userId="125440cf-afe6-44c1-9378-a4c3e80d8228" providerId="ADAL" clId="{1C06D664-FBAA-47F9-A2F9-A5C015E7549B}" dt="2026-08-19T12:21:57.691" v="1619" actId="20577"/>
          <ac:spMkLst>
            <pc:docMk/>
            <pc:sldMk cId="1147696097" sldId="291"/>
            <ac:spMk id="2" creationId="{1565D801-2BB5-675E-9D61-3F7E744FE6C8}"/>
          </ac:spMkLst>
        </pc:spChg>
        <pc:picChg chg="add mod">
          <ac:chgData name="033-18-0009" userId="125440cf-afe6-44c1-9378-a4c3e80d8228" providerId="ADAL" clId="{1C06D664-FBAA-47F9-A2F9-A5C015E7549B}" dt="2026-08-19T12:22:09.707" v="1622" actId="1076"/>
          <ac:picMkLst>
            <pc:docMk/>
            <pc:sldMk cId="1147696097" sldId="291"/>
            <ac:picMk id="9" creationId="{298F796E-CB73-BA11-F40C-0FFAB933B2D1}"/>
          </ac:picMkLst>
        </pc:picChg>
        <pc:picChg chg="add mod">
          <ac:chgData name="033-18-0009" userId="125440cf-afe6-44c1-9378-a4c3e80d8228" providerId="ADAL" clId="{1C06D664-FBAA-47F9-A2F9-A5C015E7549B}" dt="2026-08-19T12:23:11.098" v="1628" actId="14100"/>
          <ac:picMkLst>
            <pc:docMk/>
            <pc:sldMk cId="1147696097" sldId="291"/>
            <ac:picMk id="13" creationId="{F7CD0A83-A09B-AAB6-5382-6BFD03EA82FE}"/>
          </ac:picMkLst>
        </pc:picChg>
      </pc:sldChg>
      <pc:sldChg chg="addSp modSp new mod">
        <pc:chgData name="033-18-0009" userId="125440cf-afe6-44c1-9378-a4c3e80d8228" providerId="ADAL" clId="{1C06D664-FBAA-47F9-A2F9-A5C015E7549B}" dt="2026-08-19T12:34:09.496" v="1665" actId="15"/>
        <pc:sldMkLst>
          <pc:docMk/>
          <pc:sldMk cId="2422786432" sldId="292"/>
        </pc:sldMkLst>
        <pc:spChg chg="mod">
          <ac:chgData name="033-18-0009" userId="125440cf-afe6-44c1-9378-a4c3e80d8228" providerId="ADAL" clId="{1C06D664-FBAA-47F9-A2F9-A5C015E7549B}" dt="2026-08-19T12:34:09.496" v="1665" actId="15"/>
          <ac:spMkLst>
            <pc:docMk/>
            <pc:sldMk cId="2422786432" sldId="292"/>
            <ac:spMk id="2" creationId="{C532BD6E-ACAA-EA1E-FAD8-5A16E67CBF60}"/>
          </ac:spMkLst>
        </pc:spChg>
        <pc:picChg chg="add mod">
          <ac:chgData name="033-18-0009" userId="125440cf-afe6-44c1-9378-a4c3e80d8228" providerId="ADAL" clId="{1C06D664-FBAA-47F9-A2F9-A5C015E7549B}" dt="2026-08-19T12:24:59.238" v="1636" actId="1076"/>
          <ac:picMkLst>
            <pc:docMk/>
            <pc:sldMk cId="2422786432" sldId="292"/>
            <ac:picMk id="7" creationId="{BB70647C-4B40-4841-6BB4-C24BE95DFCC3}"/>
          </ac:picMkLst>
        </pc:picChg>
      </pc:sldChg>
      <pc:sldChg chg="modSp new mod">
        <pc:chgData name="033-18-0009" userId="125440cf-afe6-44c1-9378-a4c3e80d8228" providerId="ADAL" clId="{1C06D664-FBAA-47F9-A2F9-A5C015E7549B}" dt="2026-08-19T12:41:55.909" v="1675" actId="20577"/>
        <pc:sldMkLst>
          <pc:docMk/>
          <pc:sldMk cId="2898264798" sldId="293"/>
        </pc:sldMkLst>
        <pc:spChg chg="mod">
          <ac:chgData name="033-18-0009" userId="125440cf-afe6-44c1-9378-a4c3e80d8228" providerId="ADAL" clId="{1C06D664-FBAA-47F9-A2F9-A5C015E7549B}" dt="2026-08-19T12:41:55.909" v="1675" actId="20577"/>
          <ac:spMkLst>
            <pc:docMk/>
            <pc:sldMk cId="2898264798" sldId="293"/>
            <ac:spMk id="2" creationId="{F73C893A-791F-4C4F-1DD0-13D9FBE1D1B4}"/>
          </ac:spMkLst>
        </pc:spChg>
      </pc:sldChg>
      <pc:sldChg chg="addSp delSp modSp new mod">
        <pc:chgData name="033-18-0009" userId="125440cf-afe6-44c1-9378-a4c3e80d8228" providerId="ADAL" clId="{1C06D664-FBAA-47F9-A2F9-A5C015E7549B}" dt="2026-08-19T12:59:55.206" v="1704" actId="22"/>
        <pc:sldMkLst>
          <pc:docMk/>
          <pc:sldMk cId="2940905518" sldId="294"/>
        </pc:sldMkLst>
        <pc:picChg chg="add mod ord">
          <ac:chgData name="033-18-0009" userId="125440cf-afe6-44c1-9378-a4c3e80d8228" providerId="ADAL" clId="{1C06D664-FBAA-47F9-A2F9-A5C015E7549B}" dt="2026-08-19T12:59:55.206" v="1704" actId="22"/>
          <ac:picMkLst>
            <pc:docMk/>
            <pc:sldMk cId="2940905518" sldId="294"/>
            <ac:picMk id="11" creationId="{3AF1DEF8-A96E-E795-DC9B-765AB522E38D}"/>
          </ac:picMkLst>
        </pc:picChg>
      </pc:sldChg>
      <pc:sldChg chg="addSp delSp modSp new mod">
        <pc:chgData name="033-18-0009" userId="125440cf-afe6-44c1-9378-a4c3e80d8228" providerId="ADAL" clId="{1C06D664-FBAA-47F9-A2F9-A5C015E7549B}" dt="2026-08-19T13:48:40.292" v="1770"/>
        <pc:sldMkLst>
          <pc:docMk/>
          <pc:sldMk cId="341628106" sldId="295"/>
        </pc:sldMkLst>
        <pc:spChg chg="mod">
          <ac:chgData name="033-18-0009" userId="125440cf-afe6-44c1-9378-a4c3e80d8228" providerId="ADAL" clId="{1C06D664-FBAA-47F9-A2F9-A5C015E7549B}" dt="2026-08-19T13:48:40.292" v="1770"/>
          <ac:spMkLst>
            <pc:docMk/>
            <pc:sldMk cId="341628106" sldId="295"/>
            <ac:spMk id="2" creationId="{E5BA9633-85A1-7FE8-6B68-A2745A6728F5}"/>
          </ac:spMkLst>
        </pc:spChg>
      </pc:sldChg>
      <pc:sldChg chg="addSp delSp modSp new mod">
        <pc:chgData name="033-18-0009" userId="125440cf-afe6-44c1-9378-a4c3e80d8228" providerId="ADAL" clId="{1C06D664-FBAA-47F9-A2F9-A5C015E7549B}" dt="2026-08-19T13:47:51.906" v="1765" actId="22"/>
        <pc:sldMkLst>
          <pc:docMk/>
          <pc:sldMk cId="3704151083" sldId="296"/>
        </pc:sldMkLst>
        <pc:picChg chg="add mod ord">
          <ac:chgData name="033-18-0009" userId="125440cf-afe6-44c1-9378-a4c3e80d8228" providerId="ADAL" clId="{1C06D664-FBAA-47F9-A2F9-A5C015E7549B}" dt="2026-08-19T13:47:51.906" v="1765" actId="22"/>
          <ac:picMkLst>
            <pc:docMk/>
            <pc:sldMk cId="3704151083" sldId="296"/>
            <ac:picMk id="7" creationId="{B8D80DA5-A506-D3E7-74A7-EB871DB7B7A8}"/>
          </ac:picMkLst>
        </pc:picChg>
      </pc:sldChg>
      <pc:sldChg chg="addSp delSp modSp new mod">
        <pc:chgData name="033-18-0009" userId="125440cf-afe6-44c1-9378-a4c3e80d8228" providerId="ADAL" clId="{1C06D664-FBAA-47F9-A2F9-A5C015E7549B}" dt="2026-08-19T13:53:10.911" v="1775" actId="14100"/>
        <pc:sldMkLst>
          <pc:docMk/>
          <pc:sldMk cId="1218549264" sldId="297"/>
        </pc:sldMkLst>
        <pc:picChg chg="add mod ord">
          <ac:chgData name="033-18-0009" userId="125440cf-afe6-44c1-9378-a4c3e80d8228" providerId="ADAL" clId="{1C06D664-FBAA-47F9-A2F9-A5C015E7549B}" dt="2026-08-19T13:53:10.911" v="1775" actId="14100"/>
          <ac:picMkLst>
            <pc:docMk/>
            <pc:sldMk cId="1218549264" sldId="297"/>
            <ac:picMk id="7" creationId="{694E2471-725D-3230-2240-A05D12865D18}"/>
          </ac:picMkLst>
        </pc:picChg>
      </pc:sldChg>
      <pc:sldChg chg="modSp new mod">
        <pc:chgData name="033-18-0009" userId="125440cf-afe6-44c1-9378-a4c3e80d8228" providerId="ADAL" clId="{1C06D664-FBAA-47F9-A2F9-A5C015E7549B}" dt="2026-08-19T13:59:56.739" v="1845" actId="20577"/>
        <pc:sldMkLst>
          <pc:docMk/>
          <pc:sldMk cId="401559723" sldId="298"/>
        </pc:sldMkLst>
        <pc:spChg chg="mod">
          <ac:chgData name="033-18-0009" userId="125440cf-afe6-44c1-9378-a4c3e80d8228" providerId="ADAL" clId="{1C06D664-FBAA-47F9-A2F9-A5C015E7549B}" dt="2026-08-19T13:59:56.739" v="1845" actId="20577"/>
          <ac:spMkLst>
            <pc:docMk/>
            <pc:sldMk cId="401559723" sldId="298"/>
            <ac:spMk id="2" creationId="{EBF9B07A-F744-FF02-E0A8-DC2196325FD9}"/>
          </ac:spMkLst>
        </pc:spChg>
      </pc:sldChg>
      <pc:sldChg chg="addSp modSp new mod">
        <pc:chgData name="033-18-0009" userId="125440cf-afe6-44c1-9378-a4c3e80d8228" providerId="ADAL" clId="{1C06D664-FBAA-47F9-A2F9-A5C015E7549B}" dt="2026-08-19T14:09:02.984" v="1913" actId="27636"/>
        <pc:sldMkLst>
          <pc:docMk/>
          <pc:sldMk cId="2678324604" sldId="299"/>
        </pc:sldMkLst>
        <pc:spChg chg="mod">
          <ac:chgData name="033-18-0009" userId="125440cf-afe6-44c1-9378-a4c3e80d8228" providerId="ADAL" clId="{1C06D664-FBAA-47F9-A2F9-A5C015E7549B}" dt="2026-08-19T14:09:02.984" v="1913" actId="27636"/>
          <ac:spMkLst>
            <pc:docMk/>
            <pc:sldMk cId="2678324604" sldId="299"/>
            <ac:spMk id="2" creationId="{B3778A1B-2D6D-299E-EE42-FDAA9A223FCE}"/>
          </ac:spMkLst>
        </pc:spChg>
        <pc:picChg chg="add mod">
          <ac:chgData name="033-18-0009" userId="125440cf-afe6-44c1-9378-a4c3e80d8228" providerId="ADAL" clId="{1C06D664-FBAA-47F9-A2F9-A5C015E7549B}" dt="2026-08-19T14:08:34.745" v="1905" actId="1076"/>
          <ac:picMkLst>
            <pc:docMk/>
            <pc:sldMk cId="2678324604" sldId="299"/>
            <ac:picMk id="7" creationId="{071F0F90-6E22-AE98-E767-20F597C94A02}"/>
          </ac:picMkLst>
        </pc:picChg>
      </pc:sldChg>
      <pc:sldChg chg="addSp modSp new mod">
        <pc:chgData name="033-18-0009" userId="125440cf-afe6-44c1-9378-a4c3e80d8228" providerId="ADAL" clId="{1C06D664-FBAA-47F9-A2F9-A5C015E7549B}" dt="2026-08-19T14:21:06.914" v="1977" actId="1076"/>
        <pc:sldMkLst>
          <pc:docMk/>
          <pc:sldMk cId="293142236" sldId="300"/>
        </pc:sldMkLst>
        <pc:spChg chg="mod">
          <ac:chgData name="033-18-0009" userId="125440cf-afe6-44c1-9378-a4c3e80d8228" providerId="ADAL" clId="{1C06D664-FBAA-47F9-A2F9-A5C015E7549B}" dt="2026-08-19T14:20:23.949" v="1973"/>
          <ac:spMkLst>
            <pc:docMk/>
            <pc:sldMk cId="293142236" sldId="300"/>
            <ac:spMk id="2" creationId="{C198C1FD-9670-7AC4-9520-08C678CC90EE}"/>
          </ac:spMkLst>
        </pc:spChg>
        <pc:picChg chg="add mod">
          <ac:chgData name="033-18-0009" userId="125440cf-afe6-44c1-9378-a4c3e80d8228" providerId="ADAL" clId="{1C06D664-FBAA-47F9-A2F9-A5C015E7549B}" dt="2026-08-19T14:21:06.914" v="1977" actId="1076"/>
          <ac:picMkLst>
            <pc:docMk/>
            <pc:sldMk cId="293142236" sldId="300"/>
            <ac:picMk id="7" creationId="{FDDD6992-BDAD-9042-A3FB-A11613087A66}"/>
          </ac:picMkLst>
        </pc:picChg>
      </pc:sldChg>
      <pc:sldChg chg="addSp delSp modSp new mod">
        <pc:chgData name="033-18-0009" userId="125440cf-afe6-44c1-9378-a4c3e80d8228" providerId="ADAL" clId="{1C06D664-FBAA-47F9-A2F9-A5C015E7549B}" dt="2026-08-19T14:26:04.303" v="1996" actId="1076"/>
        <pc:sldMkLst>
          <pc:docMk/>
          <pc:sldMk cId="3521849184" sldId="301"/>
        </pc:sldMkLst>
        <pc:picChg chg="add mod">
          <ac:chgData name="033-18-0009" userId="125440cf-afe6-44c1-9378-a4c3e80d8228" providerId="ADAL" clId="{1C06D664-FBAA-47F9-A2F9-A5C015E7549B}" dt="2026-08-19T14:25:45.184" v="1989" actId="1076"/>
          <ac:picMkLst>
            <pc:docMk/>
            <pc:sldMk cId="3521849184" sldId="301"/>
            <ac:picMk id="7" creationId="{98B47645-67E0-1FCA-4A0D-A5441D63FE7A}"/>
          </ac:picMkLst>
        </pc:picChg>
        <pc:picChg chg="add mod">
          <ac:chgData name="033-18-0009" userId="125440cf-afe6-44c1-9378-a4c3e80d8228" providerId="ADAL" clId="{1C06D664-FBAA-47F9-A2F9-A5C015E7549B}" dt="2026-08-19T14:25:58.714" v="1994" actId="1076"/>
          <ac:picMkLst>
            <pc:docMk/>
            <pc:sldMk cId="3521849184" sldId="301"/>
            <ac:picMk id="9" creationId="{4D7FB5DE-F7F0-DABA-E96A-C7B4368C22BE}"/>
          </ac:picMkLst>
        </pc:picChg>
        <pc:picChg chg="add mod ord">
          <ac:chgData name="033-18-0009" userId="125440cf-afe6-44c1-9378-a4c3e80d8228" providerId="ADAL" clId="{1C06D664-FBAA-47F9-A2F9-A5C015E7549B}" dt="2026-08-19T14:26:04.303" v="1996" actId="1076"/>
          <ac:picMkLst>
            <pc:docMk/>
            <pc:sldMk cId="3521849184" sldId="301"/>
            <ac:picMk id="11" creationId="{C69F6897-5A9A-894C-9CB4-AABE97C3426B}"/>
          </ac:picMkLst>
        </pc:picChg>
      </pc:sldChg>
      <pc:sldChg chg="addSp modSp new mod ord">
        <pc:chgData name="033-18-0009" userId="125440cf-afe6-44c1-9378-a4c3e80d8228" providerId="ADAL" clId="{1C06D664-FBAA-47F9-A2F9-A5C015E7549B}" dt="2026-08-22T05:44:49.424" v="2126"/>
        <pc:sldMkLst>
          <pc:docMk/>
          <pc:sldMk cId="3050726944" sldId="302"/>
        </pc:sldMkLst>
        <pc:spChg chg="mod">
          <ac:chgData name="033-18-0009" userId="125440cf-afe6-44c1-9378-a4c3e80d8228" providerId="ADAL" clId="{1C06D664-FBAA-47F9-A2F9-A5C015E7549B}" dt="2026-08-20T13:16:20.734" v="2063" actId="15"/>
          <ac:spMkLst>
            <pc:docMk/>
            <pc:sldMk cId="3050726944" sldId="302"/>
            <ac:spMk id="2" creationId="{2FAA50C7-FC97-12C9-7E45-F6DC028BCD3F}"/>
          </ac:spMkLst>
        </pc:spChg>
        <pc:picChg chg="add mod">
          <ac:chgData name="033-18-0009" userId="125440cf-afe6-44c1-9378-a4c3e80d8228" providerId="ADAL" clId="{1C06D664-FBAA-47F9-A2F9-A5C015E7549B}" dt="2026-08-20T13:07:41.902" v="2046" actId="1076"/>
          <ac:picMkLst>
            <pc:docMk/>
            <pc:sldMk cId="3050726944" sldId="302"/>
            <ac:picMk id="7" creationId="{50C847B0-E5A9-DCAC-A08E-EF4C3ED22971}"/>
          </ac:picMkLst>
        </pc:picChg>
      </pc:sldChg>
      <pc:sldChg chg="addSp delSp modSp new mod">
        <pc:chgData name="033-18-0009" userId="125440cf-afe6-44c1-9378-a4c3e80d8228" providerId="ADAL" clId="{1C06D664-FBAA-47F9-A2F9-A5C015E7549B}" dt="2026-08-20T10:34:03.458" v="2029" actId="14100"/>
        <pc:sldMkLst>
          <pc:docMk/>
          <pc:sldMk cId="3757508241" sldId="303"/>
        </pc:sldMkLst>
        <pc:picChg chg="add mod ord">
          <ac:chgData name="033-18-0009" userId="125440cf-afe6-44c1-9378-a4c3e80d8228" providerId="ADAL" clId="{1C06D664-FBAA-47F9-A2F9-A5C015E7549B}" dt="2026-08-20T10:32:43.692" v="2025" actId="14100"/>
          <ac:picMkLst>
            <pc:docMk/>
            <pc:sldMk cId="3757508241" sldId="303"/>
            <ac:picMk id="9" creationId="{1E7B9A31-C89E-87CC-D4DD-C93A33BFF2ED}"/>
          </ac:picMkLst>
        </pc:picChg>
        <pc:picChg chg="add mod">
          <ac:chgData name="033-18-0009" userId="125440cf-afe6-44c1-9378-a4c3e80d8228" providerId="ADAL" clId="{1C06D664-FBAA-47F9-A2F9-A5C015E7549B}" dt="2026-08-20T10:34:03.458" v="2029" actId="14100"/>
          <ac:picMkLst>
            <pc:docMk/>
            <pc:sldMk cId="3757508241" sldId="303"/>
            <ac:picMk id="11" creationId="{52E9E20A-17AD-7B06-325F-AC56A601D335}"/>
          </ac:picMkLst>
        </pc:picChg>
      </pc:sldChg>
      <pc:sldChg chg="addSp delSp modSp new mod">
        <pc:chgData name="033-18-0009" userId="125440cf-afe6-44c1-9378-a4c3e80d8228" providerId="ADAL" clId="{1C06D664-FBAA-47F9-A2F9-A5C015E7549B}" dt="2026-08-20T10:34:42.984" v="2032" actId="14100"/>
        <pc:sldMkLst>
          <pc:docMk/>
          <pc:sldMk cId="3244500999" sldId="304"/>
        </pc:sldMkLst>
        <pc:picChg chg="add mod ord">
          <ac:chgData name="033-18-0009" userId="125440cf-afe6-44c1-9378-a4c3e80d8228" providerId="ADAL" clId="{1C06D664-FBAA-47F9-A2F9-A5C015E7549B}" dt="2026-08-20T10:34:42.984" v="2032" actId="14100"/>
          <ac:picMkLst>
            <pc:docMk/>
            <pc:sldMk cId="3244500999" sldId="304"/>
            <ac:picMk id="7" creationId="{255D0BD1-984A-C58F-EF1E-21022E09110B}"/>
          </ac:picMkLst>
        </pc:picChg>
      </pc:sldChg>
      <pc:sldChg chg="addSp delSp modSp new mod">
        <pc:chgData name="033-18-0009" userId="125440cf-afe6-44c1-9378-a4c3e80d8228" providerId="ADAL" clId="{1C06D664-FBAA-47F9-A2F9-A5C015E7549B}" dt="2026-08-20T10:35:08.257" v="2035" actId="14100"/>
        <pc:sldMkLst>
          <pc:docMk/>
          <pc:sldMk cId="1697514454" sldId="305"/>
        </pc:sldMkLst>
        <pc:picChg chg="add mod ord">
          <ac:chgData name="033-18-0009" userId="125440cf-afe6-44c1-9378-a4c3e80d8228" providerId="ADAL" clId="{1C06D664-FBAA-47F9-A2F9-A5C015E7549B}" dt="2026-08-20T10:35:08.257" v="2035" actId="14100"/>
          <ac:picMkLst>
            <pc:docMk/>
            <pc:sldMk cId="1697514454" sldId="305"/>
            <ac:picMk id="7" creationId="{11055F72-715A-B5C7-D183-F6355DF66152}"/>
          </ac:picMkLst>
        </pc:picChg>
      </pc:sldChg>
      <pc:sldChg chg="addSp delSp modSp new mod">
        <pc:chgData name="033-18-0009" userId="125440cf-afe6-44c1-9378-a4c3e80d8228" providerId="ADAL" clId="{1C06D664-FBAA-47F9-A2F9-A5C015E7549B}" dt="2026-08-20T13:17:08.304" v="2067" actId="1076"/>
        <pc:sldMkLst>
          <pc:docMk/>
          <pc:sldMk cId="3830490106" sldId="306"/>
        </pc:sldMkLst>
        <pc:picChg chg="add mod ord">
          <ac:chgData name="033-18-0009" userId="125440cf-afe6-44c1-9378-a4c3e80d8228" providerId="ADAL" clId="{1C06D664-FBAA-47F9-A2F9-A5C015E7549B}" dt="2026-08-20T13:17:08.304" v="2067" actId="1076"/>
          <ac:picMkLst>
            <pc:docMk/>
            <pc:sldMk cId="3830490106" sldId="306"/>
            <ac:picMk id="7" creationId="{66164E06-AD58-7BF0-DD8E-C442C49E6233}"/>
          </ac:picMkLst>
        </pc:picChg>
      </pc:sldChg>
      <pc:sldChg chg="addSp delSp modSp new mod">
        <pc:chgData name="033-18-0009" userId="125440cf-afe6-44c1-9378-a4c3e80d8228" providerId="ADAL" clId="{1C06D664-FBAA-47F9-A2F9-A5C015E7549B}" dt="2026-08-22T05:44:36.854" v="2123" actId="20577"/>
        <pc:sldMkLst>
          <pc:docMk/>
          <pc:sldMk cId="1805247315" sldId="307"/>
        </pc:sldMkLst>
        <pc:spChg chg="mod">
          <ac:chgData name="033-18-0009" userId="125440cf-afe6-44c1-9378-a4c3e80d8228" providerId="ADAL" clId="{1C06D664-FBAA-47F9-A2F9-A5C015E7549B}" dt="2026-08-22T05:44:36.854" v="2123" actId="20577"/>
          <ac:spMkLst>
            <pc:docMk/>
            <pc:sldMk cId="1805247315" sldId="307"/>
            <ac:spMk id="2" creationId="{394B2CD0-8015-F377-9216-12BEDE23F542}"/>
          </ac:spMkLst>
        </pc:spChg>
        <pc:picChg chg="add del mod">
          <ac:chgData name="033-18-0009" userId="125440cf-afe6-44c1-9378-a4c3e80d8228" providerId="ADAL" clId="{1C06D664-FBAA-47F9-A2F9-A5C015E7549B}" dt="2026-08-22T05:38:56.477" v="2119" actId="478"/>
          <ac:picMkLst>
            <pc:docMk/>
            <pc:sldMk cId="1805247315" sldId="307"/>
            <ac:picMk id="7" creationId="{1CB0F577-643D-D9B9-FB74-5A389DB68670}"/>
          </ac:picMkLst>
        </pc:picChg>
      </pc:sldChg>
      <pc:sldChg chg="addSp delSp modSp new del mod">
        <pc:chgData name="033-18-0009" userId="125440cf-afe6-44c1-9378-a4c3e80d8228" providerId="ADAL" clId="{1C06D664-FBAA-47F9-A2F9-A5C015E7549B}" dt="2026-08-22T05:38:49.361" v="2118" actId="47"/>
        <pc:sldMkLst>
          <pc:docMk/>
          <pc:sldMk cId="2085470723" sldId="308"/>
        </pc:sldMkLst>
      </pc:sldChg>
      <pc:sldChg chg="addSp delSp modSp new mod">
        <pc:chgData name="033-18-0009" userId="125440cf-afe6-44c1-9378-a4c3e80d8228" providerId="ADAL" clId="{1C06D664-FBAA-47F9-A2F9-A5C015E7549B}" dt="2026-08-22T05:38:46.458" v="2117" actId="478"/>
        <pc:sldMkLst>
          <pc:docMk/>
          <pc:sldMk cId="1597642536" sldId="309"/>
        </pc:sldMkLst>
        <pc:spChg chg="add mod">
          <ac:chgData name="033-18-0009" userId="125440cf-afe6-44c1-9378-a4c3e80d8228" providerId="ADAL" clId="{1C06D664-FBAA-47F9-A2F9-A5C015E7549B}" dt="2026-08-22T05:38:46.458" v="2117" actId="478"/>
          <ac:spMkLst>
            <pc:docMk/>
            <pc:sldMk cId="1597642536" sldId="309"/>
            <ac:spMk id="6" creationId="{C03703A2-6815-03AD-5F77-F88D08C2EF32}"/>
          </ac:spMkLst>
        </pc:spChg>
        <pc:picChg chg="add del mod ord">
          <ac:chgData name="033-18-0009" userId="125440cf-afe6-44c1-9378-a4c3e80d8228" providerId="ADAL" clId="{1C06D664-FBAA-47F9-A2F9-A5C015E7549B}" dt="2026-08-22T05:38:46.458" v="2117" actId="478"/>
          <ac:picMkLst>
            <pc:docMk/>
            <pc:sldMk cId="1597642536" sldId="309"/>
            <ac:picMk id="7" creationId="{7B3107A7-A795-BB02-D1BB-30117ACCBD2A}"/>
          </ac:picMkLst>
        </pc:picChg>
      </pc:sldChg>
      <pc:sldChg chg="modSp new mod">
        <pc:chgData name="033-18-0009" userId="125440cf-afe6-44c1-9378-a4c3e80d8228" providerId="ADAL" clId="{1C06D664-FBAA-47F9-A2F9-A5C015E7549B}" dt="2026-08-22T05:49:11.657" v="2214"/>
        <pc:sldMkLst>
          <pc:docMk/>
          <pc:sldMk cId="4165667786" sldId="310"/>
        </pc:sldMkLst>
        <pc:spChg chg="mod">
          <ac:chgData name="033-18-0009" userId="125440cf-afe6-44c1-9378-a4c3e80d8228" providerId="ADAL" clId="{1C06D664-FBAA-47F9-A2F9-A5C015E7549B}" dt="2026-08-22T05:49:11.657" v="2214"/>
          <ac:spMkLst>
            <pc:docMk/>
            <pc:sldMk cId="4165667786" sldId="310"/>
            <ac:spMk id="2" creationId="{C8665A71-EC7C-B694-4694-E93395E4B4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BAF985-37DC-4D76-9B1A-75322C2FC967}" type="datetimeFigureOut">
              <a:rPr lang="en-US" smtClean="0"/>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A00D0C-B2D4-4857-8334-8150CE253E2D}" type="slidenum">
              <a:rPr lang="en-US" smtClean="0"/>
              <a:t>‹#›</a:t>
            </a:fld>
            <a:endParaRPr lang="en-US"/>
          </a:p>
        </p:txBody>
      </p:sp>
    </p:spTree>
    <p:extLst>
      <p:ext uri="{BB962C8B-B14F-4D97-AF65-F5344CB8AC3E}">
        <p14:creationId xmlns:p14="http://schemas.microsoft.com/office/powerpoint/2010/main" val="427554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5B6C041-A2C8-45B0-864C-D874E9579718}" type="datetime1">
              <a:rPr lang="en-US" smtClean="0"/>
              <a:t>8/22/2026</a:t>
            </a:fld>
            <a:endParaRPr lang="en-US"/>
          </a:p>
        </p:txBody>
      </p:sp>
      <p:sp>
        <p:nvSpPr>
          <p:cNvPr id="5" name="Footer Placeholder 4"/>
          <p:cNvSpPr>
            <a:spLocks noGrp="1"/>
          </p:cNvSpPr>
          <p:nvPr>
            <p:ph type="ftr" sz="quarter" idx="11"/>
          </p:nvPr>
        </p:nvSpPr>
        <p:spPr/>
        <p:txBody>
          <a:bodyPr/>
          <a:lstStyle/>
          <a:p>
            <a:r>
              <a:rPr lang="en-US"/>
              <a:t>Lec: Engr. Muhammad Ismail CS Dept: Sukkur IBA University Fall - 2026</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0124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356350"/>
          </a:xfrm>
        </p:spPr>
        <p:txBody>
          <a:bodyPr/>
          <a:lstStyle>
            <a:lvl5pPr>
              <a:defRPr/>
            </a:lvl5pPr>
            <a:lvl6pPr>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a:p>
            <a:pPr lvl="8"/>
            <a:endParaRPr lang="en-US" dirty="0"/>
          </a:p>
        </p:txBody>
      </p:sp>
      <p:sp>
        <p:nvSpPr>
          <p:cNvPr id="4" name="Date Placeholder 3"/>
          <p:cNvSpPr>
            <a:spLocks noGrp="1"/>
          </p:cNvSpPr>
          <p:nvPr>
            <p:ph type="dt" sz="half" idx="10"/>
          </p:nvPr>
        </p:nvSpPr>
        <p:spPr>
          <a:xfrm>
            <a:off x="0" y="6492875"/>
            <a:ext cx="2743200" cy="365125"/>
          </a:xfrm>
        </p:spPr>
        <p:txBody>
          <a:bodyPr/>
          <a:lstStyle/>
          <a:p>
            <a:fld id="{85217D42-CBAD-43EE-B2DB-C11CC3986ED6}" type="datetime1">
              <a:rPr lang="en-US" smtClean="0"/>
              <a:t>8/22/2026</a:t>
            </a:fld>
            <a:endParaRPr lang="en-US"/>
          </a:p>
        </p:txBody>
      </p:sp>
      <p:sp>
        <p:nvSpPr>
          <p:cNvPr id="5" name="Footer Placeholder 4"/>
          <p:cNvSpPr>
            <a:spLocks noGrp="1"/>
          </p:cNvSpPr>
          <p:nvPr>
            <p:ph type="ftr" sz="quarter" idx="11"/>
          </p:nvPr>
        </p:nvSpPr>
        <p:spPr>
          <a:xfrm>
            <a:off x="3949700" y="6483350"/>
            <a:ext cx="4660902" cy="365125"/>
          </a:xfrm>
        </p:spPr>
        <p:txBody>
          <a:bodyPr/>
          <a:lstStyle/>
          <a:p>
            <a:r>
              <a:rPr lang="en-US" dirty="0" err="1"/>
              <a:t>Lec</a:t>
            </a:r>
            <a:r>
              <a:rPr lang="en-US" dirty="0"/>
              <a:t>: Engr. Muhammad Ismail CS Dept: Sukkur IBA University Fall - 2026</a:t>
            </a:r>
          </a:p>
        </p:txBody>
      </p:sp>
      <p:sp>
        <p:nvSpPr>
          <p:cNvPr id="6" name="Slide Number Placeholder 5"/>
          <p:cNvSpPr>
            <a:spLocks noGrp="1"/>
          </p:cNvSpPr>
          <p:nvPr>
            <p:ph type="sldNum" sz="quarter" idx="12"/>
          </p:nvPr>
        </p:nvSpPr>
        <p:spPr>
          <a:xfrm>
            <a:off x="9448800" y="6492875"/>
            <a:ext cx="2743200"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4020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A2E1BE-FD49-41FC-A35A-53F5D212F628}" type="datetime1">
              <a:rPr lang="en-US" smtClean="0"/>
              <a:t>8/22/2026</a:t>
            </a:fld>
            <a:endParaRPr lang="en-US"/>
          </a:p>
        </p:txBody>
      </p:sp>
      <p:sp>
        <p:nvSpPr>
          <p:cNvPr id="5" name="Footer Placeholder 4"/>
          <p:cNvSpPr>
            <a:spLocks noGrp="1"/>
          </p:cNvSpPr>
          <p:nvPr>
            <p:ph type="ftr" sz="quarter" idx="11"/>
          </p:nvPr>
        </p:nvSpPr>
        <p:spPr/>
        <p:txBody>
          <a:bodyPr/>
          <a:lstStyle/>
          <a:p>
            <a:r>
              <a:rPr lang="en-US"/>
              <a:t>Lec: Engr. Muhammad Ismail CS Dept: Sukkur IBA University Fall - 2026</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65547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01693A-8255-4F1E-B396-31D43403EEBC}" type="datetime1">
              <a:rPr lang="en-US" smtClean="0"/>
              <a:t>8/22/2026</a:t>
            </a:fld>
            <a:endParaRPr lang="en-US"/>
          </a:p>
        </p:txBody>
      </p:sp>
      <p:sp>
        <p:nvSpPr>
          <p:cNvPr id="6" name="Footer Placeholder 5"/>
          <p:cNvSpPr>
            <a:spLocks noGrp="1"/>
          </p:cNvSpPr>
          <p:nvPr>
            <p:ph type="ftr" sz="quarter" idx="11"/>
          </p:nvPr>
        </p:nvSpPr>
        <p:spPr/>
        <p:txBody>
          <a:bodyPr/>
          <a:lstStyle/>
          <a:p>
            <a:r>
              <a:rPr lang="en-US"/>
              <a:t>Lec: Engr. Muhammad Ismail CS Dept: Sukkur IBA University Fall - 2026</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75149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86CD97-0CA5-49E6-8137-46AEAA43F29B}" type="datetime1">
              <a:rPr lang="en-US" smtClean="0"/>
              <a:t>8/22/2026</a:t>
            </a:fld>
            <a:endParaRPr lang="en-US"/>
          </a:p>
        </p:txBody>
      </p:sp>
      <p:sp>
        <p:nvSpPr>
          <p:cNvPr id="8" name="Footer Placeholder 7"/>
          <p:cNvSpPr>
            <a:spLocks noGrp="1"/>
          </p:cNvSpPr>
          <p:nvPr>
            <p:ph type="ftr" sz="quarter" idx="11"/>
          </p:nvPr>
        </p:nvSpPr>
        <p:spPr/>
        <p:txBody>
          <a:bodyPr/>
          <a:lstStyle/>
          <a:p>
            <a:r>
              <a:rPr lang="en-US"/>
              <a:t>Lec: Engr. Muhammad Ismail CS Dept: Sukkur IBA University Fall - 2026</a:t>
            </a:r>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2943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F49967-37C6-469E-A5AC-576F9CB5CFD5}" type="datetime1">
              <a:rPr lang="en-US" smtClean="0"/>
              <a:t>8/22/2026</a:t>
            </a:fld>
            <a:endParaRPr lang="en-US"/>
          </a:p>
        </p:txBody>
      </p:sp>
      <p:sp>
        <p:nvSpPr>
          <p:cNvPr id="4" name="Footer Placeholder 3"/>
          <p:cNvSpPr>
            <a:spLocks noGrp="1"/>
          </p:cNvSpPr>
          <p:nvPr>
            <p:ph type="ftr" sz="quarter" idx="11"/>
          </p:nvPr>
        </p:nvSpPr>
        <p:spPr/>
        <p:txBody>
          <a:bodyPr/>
          <a:lstStyle/>
          <a:p>
            <a:r>
              <a:rPr lang="en-US"/>
              <a:t>Lec: Engr. Muhammad Ismail CS Dept: Sukkur IBA University Fall - 2026</a:t>
            </a:r>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5808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E2EBCD-B957-4A91-A3F7-FAE6AC9F9D0D}" type="datetime1">
              <a:rPr lang="en-US" smtClean="0"/>
              <a:t>8/22/2026</a:t>
            </a:fld>
            <a:endParaRPr lang="en-US"/>
          </a:p>
        </p:txBody>
      </p:sp>
      <p:sp>
        <p:nvSpPr>
          <p:cNvPr id="3" name="Footer Placeholder 2"/>
          <p:cNvSpPr>
            <a:spLocks noGrp="1"/>
          </p:cNvSpPr>
          <p:nvPr>
            <p:ph type="ftr" sz="quarter" idx="11"/>
          </p:nvPr>
        </p:nvSpPr>
        <p:spPr/>
        <p:txBody>
          <a:bodyPr/>
          <a:lstStyle/>
          <a:p>
            <a:r>
              <a:rPr lang="en-US"/>
              <a:t>Lec: Engr. Muhammad Ismail CS Dept: Sukkur IBA University Fall - 2026</a:t>
            </a:r>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45406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220541-6615-41C8-AEE6-6C402073A0D7}" type="datetime1">
              <a:rPr lang="en-US" smtClean="0"/>
              <a:t>8/22/2026</a:t>
            </a:fld>
            <a:endParaRPr lang="en-US"/>
          </a:p>
        </p:txBody>
      </p:sp>
      <p:sp>
        <p:nvSpPr>
          <p:cNvPr id="6" name="Footer Placeholder 5"/>
          <p:cNvSpPr>
            <a:spLocks noGrp="1"/>
          </p:cNvSpPr>
          <p:nvPr>
            <p:ph type="ftr" sz="quarter" idx="11"/>
          </p:nvPr>
        </p:nvSpPr>
        <p:spPr/>
        <p:txBody>
          <a:bodyPr/>
          <a:lstStyle/>
          <a:p>
            <a:r>
              <a:rPr lang="en-US"/>
              <a:t>Lec: Engr. Muhammad Ismail CS Dept: Sukkur IBA University Fall - 2026</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00537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48A750-1D1F-48F6-B2BC-65585E482E4F}" type="datetime1">
              <a:rPr lang="en-US" smtClean="0"/>
              <a:t>8/22/2026</a:t>
            </a:fld>
            <a:endParaRPr lang="en-US"/>
          </a:p>
        </p:txBody>
      </p:sp>
      <p:sp>
        <p:nvSpPr>
          <p:cNvPr id="6" name="Footer Placeholder 5"/>
          <p:cNvSpPr>
            <a:spLocks noGrp="1"/>
          </p:cNvSpPr>
          <p:nvPr>
            <p:ph type="ftr" sz="quarter" idx="11"/>
          </p:nvPr>
        </p:nvSpPr>
        <p:spPr/>
        <p:txBody>
          <a:bodyPr/>
          <a:lstStyle/>
          <a:p>
            <a:r>
              <a:rPr lang="en-US"/>
              <a:t>Lec: Engr. Muhammad Ismail CS Dept: Sukkur IBA University Fall - 2026</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58587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0EC291-2157-4289-AAC7-865C5B96EF69}" type="datetime1">
              <a:rPr lang="en-US" smtClean="0"/>
              <a:t>8/22/2026</a:t>
            </a:fld>
            <a:endParaRPr lang="en-US"/>
          </a:p>
        </p:txBody>
      </p:sp>
      <p:sp>
        <p:nvSpPr>
          <p:cNvPr id="5" name="Footer Placeholder 4"/>
          <p:cNvSpPr>
            <a:spLocks noGrp="1"/>
          </p:cNvSpPr>
          <p:nvPr>
            <p:ph type="ftr" sz="quarter" idx="11"/>
          </p:nvPr>
        </p:nvSpPr>
        <p:spPr/>
        <p:txBody>
          <a:bodyPr/>
          <a:lstStyle/>
          <a:p>
            <a:r>
              <a:rPr lang="en-US"/>
              <a:t>Lec: Engr. Muhammad Ismail CS Dept: Sukkur IBA University Fall - 2026</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8256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9F470A-507B-4810-B656-777AC65B4565}" type="datetime1">
              <a:rPr lang="en-US" smtClean="0"/>
              <a:t>8/22/2026</a:t>
            </a:fld>
            <a:endParaRPr lang="en-US"/>
          </a:p>
        </p:txBody>
      </p:sp>
      <p:sp>
        <p:nvSpPr>
          <p:cNvPr id="5" name="Footer Placeholder 4"/>
          <p:cNvSpPr>
            <a:spLocks noGrp="1"/>
          </p:cNvSpPr>
          <p:nvPr>
            <p:ph type="ftr" sz="quarter" idx="11"/>
          </p:nvPr>
        </p:nvSpPr>
        <p:spPr/>
        <p:txBody>
          <a:bodyPr/>
          <a:lstStyle/>
          <a:p>
            <a:r>
              <a:rPr lang="en-US"/>
              <a:t>Lec: Engr. Muhammad Ismail CS Dept: Sukkur IBA University Fall - 2026</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43528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5FEAE-8E81-44A2-9A7B-A12854894861}" type="datetime1">
              <a:rPr lang="en-US" smtClean="0"/>
              <a:t>8/22/2026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Lec: Engr. Muhammad Ismail CS Dept: Sukkur IBA University Fall - 2026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97300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media.geeksforgeeks.org/wp-content/uploads/20250125122657693266/compiler-660.web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Introduction</a:t>
            </a:r>
            <a:endParaRPr lang="en-US" dirty="0"/>
          </a:p>
        </p:txBody>
      </p:sp>
      <p:sp>
        <p:nvSpPr>
          <p:cNvPr id="3" name="Subtitle 2"/>
          <p:cNvSpPr>
            <a:spLocks noGrp="1"/>
          </p:cNvSpPr>
          <p:nvPr>
            <p:ph type="subTitle" idx="1"/>
          </p:nvPr>
        </p:nvSpPr>
        <p:spPr/>
        <p:txBody>
          <a:bodyPr>
            <a:normAutofit fontScale="77500" lnSpcReduction="20000"/>
          </a:bodyPr>
          <a:lstStyle/>
          <a:p>
            <a:r>
              <a:rPr lang="en-US" dirty="0"/>
              <a:t>Compiler Construction</a:t>
            </a:r>
          </a:p>
          <a:p>
            <a:r>
              <a:rPr lang="en-US" dirty="0"/>
              <a:t>Lecturer: Engr. Muhammad Ismail </a:t>
            </a:r>
          </a:p>
          <a:p>
            <a:r>
              <a:rPr lang="en-US" dirty="0"/>
              <a:t>CS Department Sukkur  IBA University</a:t>
            </a:r>
          </a:p>
          <a:p>
            <a:r>
              <a:rPr lang="en-US" dirty="0"/>
              <a:t>Undergraduate (Fall - 2026)</a:t>
            </a:r>
          </a:p>
          <a:p>
            <a:r>
              <a:rPr lang="en-US" dirty="0"/>
              <a:t>Semester: V and VII</a:t>
            </a:r>
          </a:p>
          <a:p>
            <a:endParaRPr lang="en-US" dirty="0"/>
          </a:p>
          <a:p>
            <a:endParaRPr lang="en-US" dirty="0"/>
          </a:p>
        </p:txBody>
      </p:sp>
      <p:sp>
        <p:nvSpPr>
          <p:cNvPr id="4" name="Date Placeholder 3">
            <a:extLst>
              <a:ext uri="{FF2B5EF4-FFF2-40B4-BE49-F238E27FC236}">
                <a16:creationId xmlns:a16="http://schemas.microsoft.com/office/drawing/2014/main" id="{91D40996-9F68-B7F3-6798-6A0749A9C21E}"/>
              </a:ext>
            </a:extLst>
          </p:cNvPr>
          <p:cNvSpPr>
            <a:spLocks noGrp="1"/>
          </p:cNvSpPr>
          <p:nvPr>
            <p:ph type="dt" sz="half" idx="10"/>
          </p:nvPr>
        </p:nvSpPr>
        <p:spPr/>
        <p:txBody>
          <a:bodyPr/>
          <a:lstStyle/>
          <a:p>
            <a:fld id="{1172B3B3-6020-423E-8382-52EA6F0F7A9D}" type="datetime1">
              <a:rPr lang="en-US" smtClean="0"/>
              <a:t>8/22/2026</a:t>
            </a:fld>
            <a:endParaRPr lang="en-US"/>
          </a:p>
        </p:txBody>
      </p:sp>
      <p:sp>
        <p:nvSpPr>
          <p:cNvPr id="5" name="Footer Placeholder 4">
            <a:extLst>
              <a:ext uri="{FF2B5EF4-FFF2-40B4-BE49-F238E27FC236}">
                <a16:creationId xmlns:a16="http://schemas.microsoft.com/office/drawing/2014/main" id="{46EFB463-9576-C579-E1DC-727DD4DAA8A5}"/>
              </a:ext>
            </a:extLst>
          </p:cNvPr>
          <p:cNvSpPr>
            <a:spLocks noGrp="1"/>
          </p:cNvSpPr>
          <p:nvPr>
            <p:ph type="ftr" sz="quarter" idx="11"/>
          </p:nvPr>
        </p:nvSpPr>
        <p:spPr/>
        <p:txBody>
          <a:bodyPr/>
          <a:lstStyle/>
          <a:p>
            <a:r>
              <a:rPr lang="en-US"/>
              <a:t>Lec: Engr. Muhammad Ismail CS Dept: Sukkur IBA University Fall - 2026</a:t>
            </a:r>
          </a:p>
        </p:txBody>
      </p:sp>
      <p:sp>
        <p:nvSpPr>
          <p:cNvPr id="6" name="Slide Number Placeholder 5">
            <a:extLst>
              <a:ext uri="{FF2B5EF4-FFF2-40B4-BE49-F238E27FC236}">
                <a16:creationId xmlns:a16="http://schemas.microsoft.com/office/drawing/2014/main" id="{51962C4E-F48E-5796-97D3-FBE32FF8FBB5}"/>
              </a:ext>
            </a:extLst>
          </p:cNvPr>
          <p:cNvSpPr>
            <a:spLocks noGrp="1"/>
          </p:cNvSpPr>
          <p:nvPr>
            <p:ph type="sldNum" sz="quarter" idx="12"/>
          </p:nvPr>
        </p:nvSpPr>
        <p:spPr/>
        <p:txBody>
          <a:bodyPr/>
          <a:lstStyle/>
          <a:p>
            <a:fld id="{9B618960-8005-486C-9A75-10CB2AAC16F9}" type="slidenum">
              <a:rPr lang="en-US" smtClean="0"/>
              <a:t>1</a:t>
            </a:fld>
            <a:endParaRPr lang="en-US"/>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2193AB-F4FB-F48D-08E9-AAAFC90321B8}"/>
              </a:ext>
            </a:extLst>
          </p:cNvPr>
          <p:cNvSpPr>
            <a:spLocks noGrp="1"/>
          </p:cNvSpPr>
          <p:nvPr>
            <p:ph idx="1"/>
          </p:nvPr>
        </p:nvSpPr>
        <p:spPr/>
        <p:txBody>
          <a:bodyPr/>
          <a:lstStyle/>
          <a:p>
            <a:r>
              <a:rPr lang="en-US" dirty="0"/>
              <a:t>Computations</a:t>
            </a:r>
          </a:p>
          <a:p>
            <a:pPr lvl="1"/>
            <a:r>
              <a:rPr lang="en-US" dirty="0"/>
              <a:t>how a program's instructions are </a:t>
            </a:r>
          </a:p>
          <a:p>
            <a:pPr lvl="2"/>
            <a:r>
              <a:rPr lang="en-US" dirty="0"/>
              <a:t>analyzed, optimized, and transformed into </a:t>
            </a:r>
          </a:p>
          <a:p>
            <a:pPr lvl="3"/>
            <a:r>
              <a:rPr lang="en-US" dirty="0"/>
              <a:t>machine-readable code</a:t>
            </a:r>
          </a:p>
          <a:p>
            <a:pPr lvl="1"/>
            <a:r>
              <a:rPr lang="en-US" dirty="0"/>
              <a:t>Computation is any type of calculation or processing of information that follows a defined set of rules or an algorithm</a:t>
            </a:r>
          </a:p>
          <a:p>
            <a:pPr lvl="2"/>
            <a:r>
              <a:rPr lang="en-US" dirty="0"/>
              <a:t>It turns inputs like numbers or data into specific </a:t>
            </a:r>
          </a:p>
          <a:p>
            <a:pPr lvl="3"/>
            <a:r>
              <a:rPr lang="en-US" dirty="0"/>
              <a:t>outputs using math or logic.</a:t>
            </a:r>
          </a:p>
          <a:p>
            <a:pPr lvl="1"/>
            <a:r>
              <a:rPr lang="en-US" dirty="0"/>
              <a:t>Core Elements</a:t>
            </a:r>
          </a:p>
          <a:p>
            <a:pPr lvl="2"/>
            <a:r>
              <a:rPr lang="en-US" dirty="0"/>
              <a:t>Input and Output: </a:t>
            </a:r>
          </a:p>
          <a:p>
            <a:pPr lvl="3"/>
            <a:r>
              <a:rPr lang="en-US" dirty="0"/>
              <a:t>Takes raw data and transforms it into a useful result.</a:t>
            </a:r>
          </a:p>
          <a:p>
            <a:pPr lvl="2"/>
            <a:r>
              <a:rPr lang="en-US" dirty="0"/>
              <a:t>Rules and Programs: </a:t>
            </a:r>
          </a:p>
          <a:p>
            <a:pPr lvl="3"/>
            <a:r>
              <a:rPr lang="en-US" dirty="0"/>
              <a:t>Follows precise, step-by-step instructions (algorithms) that direct how the process changes over time.</a:t>
            </a:r>
          </a:p>
          <a:p>
            <a:pPr lvl="2"/>
            <a:r>
              <a:rPr lang="en-US" dirty="0"/>
              <a:t>State Changes: </a:t>
            </a:r>
          </a:p>
          <a:p>
            <a:pPr lvl="3"/>
            <a:r>
              <a:rPr lang="en-US" dirty="0"/>
              <a:t>Updates internal variables and data as it steps through the task.</a:t>
            </a:r>
          </a:p>
        </p:txBody>
      </p:sp>
      <p:sp>
        <p:nvSpPr>
          <p:cNvPr id="3" name="Date Placeholder 2">
            <a:extLst>
              <a:ext uri="{FF2B5EF4-FFF2-40B4-BE49-F238E27FC236}">
                <a16:creationId xmlns:a16="http://schemas.microsoft.com/office/drawing/2014/main" id="{A7DCE8AF-5BE8-ECD2-300D-D5B5F62BEC58}"/>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1B1D4506-E9B6-6EAF-D9F4-A934B8262F44}"/>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891E829D-7B3B-94EC-6205-41383575F620}"/>
              </a:ext>
            </a:extLst>
          </p:cNvPr>
          <p:cNvSpPr>
            <a:spLocks noGrp="1"/>
          </p:cNvSpPr>
          <p:nvPr>
            <p:ph type="sldNum" sz="quarter" idx="12"/>
          </p:nvPr>
        </p:nvSpPr>
        <p:spPr/>
        <p:txBody>
          <a:bodyPr/>
          <a:lstStyle/>
          <a:p>
            <a:fld id="{9B618960-8005-486C-9A75-10CB2AAC16F9}" type="slidenum">
              <a:rPr lang="en-US" smtClean="0"/>
              <a:t>2</a:t>
            </a:fld>
            <a:endParaRPr lang="en-US"/>
          </a:p>
        </p:txBody>
      </p:sp>
    </p:spTree>
    <p:extLst>
      <p:ext uri="{BB962C8B-B14F-4D97-AF65-F5344CB8AC3E}">
        <p14:creationId xmlns:p14="http://schemas.microsoft.com/office/powerpoint/2010/main" val="1233043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5ECEDA-7575-B1C8-63BF-51D724C6D009}"/>
              </a:ext>
            </a:extLst>
          </p:cNvPr>
          <p:cNvSpPr>
            <a:spLocks noGrp="1"/>
          </p:cNvSpPr>
          <p:nvPr>
            <p:ph idx="1"/>
          </p:nvPr>
        </p:nvSpPr>
        <p:spPr/>
        <p:txBody>
          <a:bodyPr/>
          <a:lstStyle/>
          <a:p>
            <a:r>
              <a:rPr lang="en-US" dirty="0"/>
              <a:t>Brief History</a:t>
            </a:r>
          </a:p>
          <a:p>
            <a:pPr lvl="1"/>
            <a:r>
              <a:rPr lang="en-US" dirty="0"/>
              <a:t>The term compiler was coined in the</a:t>
            </a:r>
          </a:p>
          <a:p>
            <a:pPr lvl="2"/>
            <a:r>
              <a:rPr lang="en-US" dirty="0"/>
              <a:t>early 1950s by </a:t>
            </a:r>
          </a:p>
          <a:p>
            <a:pPr lvl="3"/>
            <a:r>
              <a:rPr lang="en-US" dirty="0"/>
              <a:t>Grace Murray Hopper.</a:t>
            </a:r>
          </a:p>
          <a:p>
            <a:pPr lvl="1"/>
            <a:r>
              <a:rPr lang="en-US" dirty="0"/>
              <a:t>Compilers evolved from early, </a:t>
            </a:r>
          </a:p>
          <a:p>
            <a:pPr lvl="2"/>
            <a:r>
              <a:rPr lang="en-US" dirty="0"/>
              <a:t>manual assembly translation into modular infrastructure </a:t>
            </a:r>
          </a:p>
          <a:p>
            <a:pPr lvl="3"/>
            <a:r>
              <a:rPr lang="en-US" dirty="0"/>
              <a:t>capable of aggressive optimization and </a:t>
            </a:r>
          </a:p>
          <a:p>
            <a:pPr lvl="3"/>
            <a:r>
              <a:rPr lang="en-US" dirty="0"/>
              <a:t>dynamic code generation.</a:t>
            </a:r>
          </a:p>
          <a:p>
            <a:pPr lvl="1"/>
            <a:r>
              <a:rPr lang="en-US" dirty="0"/>
              <a:t>1952: The First Concept (A-0 System)</a:t>
            </a:r>
          </a:p>
          <a:p>
            <a:pPr lvl="2"/>
            <a:r>
              <a:rPr lang="en-US" b="1" dirty="0"/>
              <a:t>Grace Hopper</a:t>
            </a:r>
            <a:r>
              <a:rPr lang="en-US" dirty="0"/>
              <a:t> developed the A-0 System for the UNIVAC I, widely considered the first compiler. It functioned primarily as a loader or routine collection manager, translating mathematical code into subroutines stored on tape.</a:t>
            </a:r>
          </a:p>
          <a:p>
            <a:pPr lvl="3"/>
            <a:r>
              <a:rPr lang="en-US" dirty="0"/>
              <a:t>UNIVAC I </a:t>
            </a:r>
          </a:p>
          <a:p>
            <a:pPr lvl="4"/>
            <a:r>
              <a:rPr lang="en-US" dirty="0"/>
              <a:t>Universal Automatic Computer I</a:t>
            </a:r>
          </a:p>
          <a:p>
            <a:pPr lvl="5"/>
            <a:r>
              <a:rPr lang="en-US" dirty="0"/>
              <a:t>the first commercial general-purpose electronic digital computer made in the United States</a:t>
            </a:r>
          </a:p>
        </p:txBody>
      </p:sp>
      <p:sp>
        <p:nvSpPr>
          <p:cNvPr id="3" name="Date Placeholder 2">
            <a:extLst>
              <a:ext uri="{FF2B5EF4-FFF2-40B4-BE49-F238E27FC236}">
                <a16:creationId xmlns:a16="http://schemas.microsoft.com/office/drawing/2014/main" id="{380874CA-2EB1-141B-35E3-F66EE49CD190}"/>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F04F1070-7270-1E8A-C877-8E41B3BF1A68}"/>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4E0DBEF6-25F1-6520-19EA-5C19810E11C4}"/>
              </a:ext>
            </a:extLst>
          </p:cNvPr>
          <p:cNvSpPr>
            <a:spLocks noGrp="1"/>
          </p:cNvSpPr>
          <p:nvPr>
            <p:ph type="sldNum" sz="quarter" idx="12"/>
          </p:nvPr>
        </p:nvSpPr>
        <p:spPr/>
        <p:txBody>
          <a:bodyPr/>
          <a:lstStyle/>
          <a:p>
            <a:fld id="{9B618960-8005-486C-9A75-10CB2AAC16F9}" type="slidenum">
              <a:rPr lang="en-US" smtClean="0"/>
              <a:t>3</a:t>
            </a:fld>
            <a:endParaRPr lang="en-US"/>
          </a:p>
        </p:txBody>
      </p:sp>
    </p:spTree>
    <p:extLst>
      <p:ext uri="{BB962C8B-B14F-4D97-AF65-F5344CB8AC3E}">
        <p14:creationId xmlns:p14="http://schemas.microsoft.com/office/powerpoint/2010/main" val="3587983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CFE7DC-1D71-3E36-B7CD-EC398B81E709}"/>
              </a:ext>
            </a:extLst>
          </p:cNvPr>
          <p:cNvSpPr>
            <a:spLocks noGrp="1"/>
          </p:cNvSpPr>
          <p:nvPr>
            <p:ph idx="1"/>
          </p:nvPr>
        </p:nvSpPr>
        <p:spPr/>
        <p:txBody>
          <a:bodyPr>
            <a:normAutofit fontScale="92500" lnSpcReduction="10000"/>
          </a:bodyPr>
          <a:lstStyle/>
          <a:p>
            <a:r>
              <a:rPr lang="en-US" dirty="0"/>
              <a:t>1957: The First Complete Compiler (FORTRAN I)</a:t>
            </a:r>
          </a:p>
          <a:p>
            <a:pPr lvl="1"/>
            <a:r>
              <a:rPr lang="en-US" dirty="0"/>
              <a:t>Led by </a:t>
            </a:r>
            <a:r>
              <a:rPr lang="en-US" b="1" dirty="0"/>
              <a:t>John Backus</a:t>
            </a:r>
            <a:r>
              <a:rPr lang="en-US" dirty="0"/>
              <a:t> at IBM, </a:t>
            </a:r>
          </a:p>
          <a:p>
            <a:pPr lvl="2"/>
            <a:r>
              <a:rPr lang="en-US" dirty="0"/>
              <a:t>the FORTRAN I compiler proved that high-level code could rival hand-written machine code in speed. It introduced fundamental compiler concepts including basic blocks, control flow analysis, and early code optimization.</a:t>
            </a:r>
          </a:p>
          <a:p>
            <a:pPr lvl="2"/>
            <a:r>
              <a:rPr lang="en-US" dirty="0"/>
              <a:t>FORTRAN I</a:t>
            </a:r>
          </a:p>
          <a:p>
            <a:pPr lvl="3"/>
            <a:r>
              <a:rPr lang="en-US" dirty="0"/>
              <a:t>Formula Translator</a:t>
            </a:r>
          </a:p>
          <a:p>
            <a:pPr lvl="4"/>
            <a:r>
              <a:rPr lang="en-US" dirty="0"/>
              <a:t>released by IBM in 1957 and led by John Backus</a:t>
            </a:r>
          </a:p>
          <a:p>
            <a:pPr lvl="5"/>
            <a:r>
              <a:rPr lang="en-US" dirty="0"/>
              <a:t>the world's first widely used high-level programming language and the first to feature an optimizing compiler, proving that automated code could rival hand-coded assembly.</a:t>
            </a:r>
          </a:p>
          <a:p>
            <a:r>
              <a:rPr lang="en-US" dirty="0"/>
              <a:t>1960s: Formalization &amp; Self-Hosting</a:t>
            </a:r>
          </a:p>
          <a:p>
            <a:pPr lvl="1"/>
            <a:r>
              <a:rPr lang="en-US" dirty="0"/>
              <a:t>Formal language theory matured with </a:t>
            </a:r>
            <a:r>
              <a:rPr lang="en-US" b="1" dirty="0"/>
              <a:t>Noam Chomsky's</a:t>
            </a:r>
            <a:r>
              <a:rPr lang="en-US" dirty="0"/>
              <a:t> grammar hierarchy and the development of </a:t>
            </a:r>
            <a:r>
              <a:rPr lang="en-US" b="1" dirty="0"/>
              <a:t>Backus-Naur Form (BNF)</a:t>
            </a:r>
            <a:r>
              <a:rPr lang="en-US" dirty="0"/>
              <a:t> used for ALGOL 60. This era saw the creation of recursive-descent parsing and the </a:t>
            </a:r>
            <a:r>
              <a:rPr lang="en-US" b="1" dirty="0"/>
              <a:t>bootstrapping</a:t>
            </a:r>
            <a:r>
              <a:rPr lang="en-US" dirty="0"/>
              <a:t> method, allowing compilers to be written in the very language they compile.</a:t>
            </a:r>
          </a:p>
          <a:p>
            <a:pPr lvl="1"/>
            <a:r>
              <a:rPr lang="en-US" dirty="0"/>
              <a:t>When the source language is also the implementation language and the</a:t>
            </a:r>
          </a:p>
          <a:p>
            <a:pPr lvl="2"/>
            <a:r>
              <a:rPr lang="en-US" dirty="0"/>
              <a:t>source text to be compiled is actually a new version of the compiler itself, the process is called bootstrapping. </a:t>
            </a:r>
          </a:p>
          <a:p>
            <a:pPr lvl="1"/>
            <a:r>
              <a:rPr lang="en-US" b="1" dirty="0"/>
              <a:t>Noam Chomsky’s</a:t>
            </a:r>
          </a:p>
          <a:p>
            <a:pPr lvl="2"/>
            <a:r>
              <a:rPr lang="en-US" dirty="0"/>
              <a:t>a renowned American linguist, philosopher, cognitive scientist, historical essayist, social critic, and political activist. He is widely considered the "father of modern linguistics."</a:t>
            </a:r>
          </a:p>
          <a:p>
            <a:pPr lvl="1"/>
            <a:endParaRPr lang="en-US" dirty="0"/>
          </a:p>
        </p:txBody>
      </p:sp>
      <p:sp>
        <p:nvSpPr>
          <p:cNvPr id="3" name="Date Placeholder 2">
            <a:extLst>
              <a:ext uri="{FF2B5EF4-FFF2-40B4-BE49-F238E27FC236}">
                <a16:creationId xmlns:a16="http://schemas.microsoft.com/office/drawing/2014/main" id="{777937B5-3AF3-1EE6-A679-E79643DE55EF}"/>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3329F0AD-745F-98D2-B953-FDB3687E43A7}"/>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932125D-0A1F-92BA-F2A4-3A9DA9D1B5A9}"/>
              </a:ext>
            </a:extLst>
          </p:cNvPr>
          <p:cNvSpPr>
            <a:spLocks noGrp="1"/>
          </p:cNvSpPr>
          <p:nvPr>
            <p:ph type="sldNum" sz="quarter" idx="12"/>
          </p:nvPr>
        </p:nvSpPr>
        <p:spPr/>
        <p:txBody>
          <a:bodyPr/>
          <a:lstStyle/>
          <a:p>
            <a:fld id="{9B618960-8005-486C-9A75-10CB2AAC16F9}" type="slidenum">
              <a:rPr lang="en-US" smtClean="0"/>
              <a:t>4</a:t>
            </a:fld>
            <a:endParaRPr lang="en-US"/>
          </a:p>
        </p:txBody>
      </p:sp>
    </p:spTree>
    <p:extLst>
      <p:ext uri="{BB962C8B-B14F-4D97-AF65-F5344CB8AC3E}">
        <p14:creationId xmlns:p14="http://schemas.microsoft.com/office/powerpoint/2010/main" val="281462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CE147AE-F2B9-E4EF-5592-41215F2631D9}"/>
                  </a:ext>
                </a:extLst>
              </p:cNvPr>
              <p:cNvSpPr>
                <a:spLocks noGrp="1"/>
              </p:cNvSpPr>
              <p:nvPr>
                <p:ph idx="1"/>
              </p:nvPr>
            </p:nvSpPr>
            <p:spPr/>
            <p:txBody>
              <a:bodyPr/>
              <a:lstStyle/>
              <a:p>
                <a:r>
                  <a:rPr lang="en-US" dirty="0"/>
                  <a:t>The Chomsky Hierarchy</a:t>
                </a:r>
              </a:p>
              <a:p>
                <a:pPr lvl="1"/>
                <a:r>
                  <a:rPr lang="en-US" dirty="0"/>
                  <a:t>In 1956, linguist Noam Chomsky </a:t>
                </a:r>
              </a:p>
              <a:p>
                <a:pPr lvl="2"/>
                <a:r>
                  <a:rPr lang="en-US" dirty="0"/>
                  <a:t>categorized formal grammars into </a:t>
                </a:r>
              </a:p>
              <a:p>
                <a:pPr lvl="3"/>
                <a:r>
                  <a:rPr lang="en-US" dirty="0"/>
                  <a:t>four levels based on </a:t>
                </a:r>
              </a:p>
              <a:p>
                <a:pPr lvl="3"/>
                <a:r>
                  <a:rPr lang="en-US" dirty="0"/>
                  <a:t>the structural constraints of </a:t>
                </a:r>
              </a:p>
              <a:p>
                <a:pPr lvl="3"/>
                <a:r>
                  <a:rPr lang="en-US" dirty="0"/>
                  <a:t>their production rules (</a:t>
                </a:r>
                <a14:m>
                  <m:oMath xmlns:m="http://schemas.openxmlformats.org/officeDocument/2006/math">
                    <m:r>
                      <a:rPr lang="en-US" i="1">
                        <a:latin typeface="Cambria Math" panose="02040503050406030204" pitchFamily="18" charset="0"/>
                      </a:rPr>
                      <m:t>𝛼</m:t>
                    </m:r>
                    <m:r>
                      <a:rPr lang="en-US">
                        <a:latin typeface="Cambria Math" panose="02040503050406030204" pitchFamily="18" charset="0"/>
                      </a:rPr>
                      <m:t>→</m:t>
                    </m:r>
                    <m:r>
                      <a:rPr lang="en-US" i="1">
                        <a:latin typeface="Cambria Math" panose="02040503050406030204" pitchFamily="18" charset="0"/>
                      </a:rPr>
                      <m:t>𝛽</m:t>
                    </m:r>
                  </m:oMath>
                </a14:m>
                <a:r>
                  <a:rPr lang="en-US" dirty="0"/>
                  <a:t>). </a:t>
                </a:r>
              </a:p>
              <a:p>
                <a:pPr lvl="3"/>
                <a:r>
                  <a:rPr lang="en-US" dirty="0"/>
                  <a:t>Each level corresponds directly to </a:t>
                </a:r>
              </a:p>
              <a:p>
                <a:pPr lvl="3"/>
                <a:r>
                  <a:rPr lang="en-US" dirty="0"/>
                  <a:t>a specific type of </a:t>
                </a:r>
              </a:p>
              <a:p>
                <a:pPr lvl="3"/>
                <a:r>
                  <a:rPr lang="en-US" dirty="0"/>
                  <a:t>abstract machine (automaton) </a:t>
                </a:r>
              </a:p>
              <a:p>
                <a:pPr lvl="3"/>
                <a:r>
                  <a:rPr lang="en-US" dirty="0"/>
                  <a:t>required to recognize it.</a:t>
                </a:r>
              </a:p>
              <a:p>
                <a:pPr lvl="3"/>
                <a:endParaRPr lang="en-US" dirty="0"/>
              </a:p>
            </p:txBody>
          </p:sp>
        </mc:Choice>
        <mc:Fallback xmlns="">
          <p:sp>
            <p:nvSpPr>
              <p:cNvPr id="2" name="Content Placeholder 1">
                <a:extLst>
                  <a:ext uri="{FF2B5EF4-FFF2-40B4-BE49-F238E27FC236}">
                    <a16:creationId xmlns:a16="http://schemas.microsoft.com/office/drawing/2014/main" id="{FCE147AE-F2B9-E4EF-5592-41215F2631D9}"/>
                  </a:ext>
                </a:extLst>
              </p:cNvPr>
              <p:cNvSpPr>
                <a:spLocks noGrp="1" noRot="1" noChangeAspect="1" noMove="1" noResize="1" noEditPoints="1" noAdjustHandles="1" noChangeArrowheads="1" noChangeShapeType="1" noTextEdit="1"/>
              </p:cNvSpPr>
              <p:nvPr>
                <p:ph idx="1"/>
              </p:nvPr>
            </p:nvSpPr>
            <p:spPr>
              <a:blipFill>
                <a:blip r:embed="rId2"/>
                <a:stretch>
                  <a:fillRect l="-900" t="-1534"/>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24BD3E07-4794-715D-159B-033A674393CC}"/>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436FFB9A-DC3A-99FF-B276-057B58E64976}"/>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16E088BD-97C4-9224-B8C4-8500FF4FDBAF}"/>
              </a:ext>
            </a:extLst>
          </p:cNvPr>
          <p:cNvSpPr>
            <a:spLocks noGrp="1"/>
          </p:cNvSpPr>
          <p:nvPr>
            <p:ph type="sldNum" sz="quarter" idx="12"/>
          </p:nvPr>
        </p:nvSpPr>
        <p:spPr/>
        <p:txBody>
          <a:bodyPr/>
          <a:lstStyle/>
          <a:p>
            <a:fld id="{9B618960-8005-486C-9A75-10CB2AAC16F9}" type="slidenum">
              <a:rPr lang="en-US" smtClean="0"/>
              <a:t>5</a:t>
            </a:fld>
            <a:endParaRPr lang="en-US"/>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11CE72A-E1F5-FE70-A39C-5F720C9CD39A}"/>
                  </a:ext>
                </a:extLst>
              </p:cNvPr>
              <p:cNvGraphicFramePr>
                <a:graphicFrameLocks noGrp="1"/>
              </p:cNvGraphicFramePr>
              <p:nvPr>
                <p:extLst>
                  <p:ext uri="{D42A27DB-BD31-4B8C-83A1-F6EECF244321}">
                    <p14:modId xmlns:p14="http://schemas.microsoft.com/office/powerpoint/2010/main" val="1771587"/>
                  </p:ext>
                </p:extLst>
              </p:nvPr>
            </p:nvGraphicFramePr>
            <p:xfrm>
              <a:off x="4857662" y="9525"/>
              <a:ext cx="7334340" cy="6346823"/>
            </p:xfrm>
            <a:graphic>
              <a:graphicData uri="http://schemas.openxmlformats.org/drawingml/2006/table">
                <a:tbl>
                  <a:tblPr/>
                  <a:tblGrid>
                    <a:gridCol w="1466868">
                      <a:extLst>
                        <a:ext uri="{9D8B030D-6E8A-4147-A177-3AD203B41FA5}">
                          <a16:colId xmlns:a16="http://schemas.microsoft.com/office/drawing/2014/main" val="3066060752"/>
                        </a:ext>
                      </a:extLst>
                    </a:gridCol>
                    <a:gridCol w="1466868">
                      <a:extLst>
                        <a:ext uri="{9D8B030D-6E8A-4147-A177-3AD203B41FA5}">
                          <a16:colId xmlns:a16="http://schemas.microsoft.com/office/drawing/2014/main" val="3697802226"/>
                        </a:ext>
                      </a:extLst>
                    </a:gridCol>
                    <a:gridCol w="1466868">
                      <a:extLst>
                        <a:ext uri="{9D8B030D-6E8A-4147-A177-3AD203B41FA5}">
                          <a16:colId xmlns:a16="http://schemas.microsoft.com/office/drawing/2014/main" val="105602920"/>
                        </a:ext>
                      </a:extLst>
                    </a:gridCol>
                    <a:gridCol w="1466868">
                      <a:extLst>
                        <a:ext uri="{9D8B030D-6E8A-4147-A177-3AD203B41FA5}">
                          <a16:colId xmlns:a16="http://schemas.microsoft.com/office/drawing/2014/main" val="2160957380"/>
                        </a:ext>
                      </a:extLst>
                    </a:gridCol>
                    <a:gridCol w="1466868">
                      <a:extLst>
                        <a:ext uri="{9D8B030D-6E8A-4147-A177-3AD203B41FA5}">
                          <a16:colId xmlns:a16="http://schemas.microsoft.com/office/drawing/2014/main" val="4280545113"/>
                        </a:ext>
                      </a:extLst>
                    </a:gridCol>
                  </a:tblGrid>
                  <a:tr h="629213">
                    <a:tc>
                      <a:txBody>
                        <a:bodyPr/>
                        <a:lstStyle/>
                        <a:p>
                          <a:pPr>
                            <a:spcAft>
                              <a:spcPts val="2400"/>
                            </a:spcAft>
                            <a:buNone/>
                          </a:pPr>
                          <a:r>
                            <a:rPr lang="en-US" sz="1100" b="1">
                              <a:effectLst/>
                              <a:latin typeface="Google Sans Text"/>
                            </a:rPr>
                            <a:t>Type</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Language / Grammar</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Production Rule Constraint</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dirty="0">
                              <a:effectLst/>
                              <a:latin typeface="Google Sans Text"/>
                            </a:rPr>
                            <a:t>Automaton Required</a:t>
                          </a:r>
                          <a:endParaRPr lang="en-US" sz="1100" dirty="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Primary Computer Science Application</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837725632"/>
                      </a:ext>
                    </a:extLst>
                  </a:tr>
                  <a:tr h="1860275">
                    <a:tc>
                      <a:txBody>
                        <a:bodyPr/>
                        <a:lstStyle/>
                        <a:p>
                          <a:pPr>
                            <a:spcAft>
                              <a:spcPts val="2400"/>
                            </a:spcAft>
                            <a:buNone/>
                          </a:pPr>
                          <a:r>
                            <a:rPr lang="en-US" sz="1100" b="1">
                              <a:effectLst/>
                              <a:latin typeface="Google Sans Text"/>
                            </a:rPr>
                            <a:t>Type 3</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Regular</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14:m>
                            <m:oMath xmlns:m="http://schemas.openxmlformats.org/officeDocument/2006/math">
                              <m:r>
                                <a:rPr lang="en-US" sz="1100" i="1" smtClean="0">
                                  <a:latin typeface="Cambria Math" panose="02040503050406030204" pitchFamily="18" charset="0"/>
                                </a:rPr>
                                <m:t>𝐴</m:t>
                              </m:r>
                              <m:r>
                                <a:rPr lang="en-US" sz="1100" i="0">
                                  <a:latin typeface="Cambria Math" panose="02040503050406030204" pitchFamily="18" charset="0"/>
                                </a:rPr>
                                <m:t>→</m:t>
                              </m:r>
                              <m:r>
                                <a:rPr lang="en-US" sz="1100" i="1">
                                  <a:latin typeface="Cambria Math" panose="02040503050406030204" pitchFamily="18" charset="0"/>
                                </a:rPr>
                                <m:t>𝑎</m:t>
                              </m:r>
                            </m:oMath>
                          </a14:m>
                          <a:r>
                            <a:rPr lang="en-US" sz="1100">
                              <a:effectLst/>
                              <a:latin typeface="Google Sans Text"/>
                            </a:rPr>
                            <a:t>or </a:t>
                          </a:r>
                          <a14:m>
                            <m:oMath xmlns:m="http://schemas.openxmlformats.org/officeDocument/2006/math">
                              <m:r>
                                <a:rPr lang="en-US" sz="1100" i="1" smtClean="0">
                                  <a:latin typeface="Cambria Math" panose="02040503050406030204" pitchFamily="18" charset="0"/>
                                </a:rPr>
                                <m:t>𝐴</m:t>
                              </m:r>
                              <m:r>
                                <a:rPr lang="en-US" sz="1100" i="0">
                                  <a:latin typeface="Cambria Math" panose="02040503050406030204" pitchFamily="18" charset="0"/>
                                </a:rPr>
                                <m:t>→</m:t>
                              </m:r>
                              <m:r>
                                <a:rPr lang="en-US" sz="1100" i="1">
                                  <a:latin typeface="Cambria Math" panose="02040503050406030204" pitchFamily="18" charset="0"/>
                                </a:rPr>
                                <m:t>𝑎𝐵</m:t>
                              </m:r>
                            </m:oMath>
                          </a14:m>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a:effectLst/>
                              <a:latin typeface="Google Sans Text"/>
                            </a:rPr>
                            <a:t>Finite State Automaton (DFA/NFA)</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Lexical Analysis (Scanning):</a:t>
                          </a:r>
                          <a:r>
                            <a:rPr lang="en-US" sz="1100">
                              <a:effectLst/>
                              <a:latin typeface="Google Sans Text"/>
                            </a:rPr>
                            <a:t> Identifying keywords, identifiers, and literals via Regular Expressions.</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29012686"/>
                      </a:ext>
                    </a:extLst>
                  </a:tr>
                  <a:tr h="1367849">
                    <a:tc>
                      <a:txBody>
                        <a:bodyPr/>
                        <a:lstStyle/>
                        <a:p>
                          <a:pPr>
                            <a:spcAft>
                              <a:spcPts val="2400"/>
                            </a:spcAft>
                            <a:buNone/>
                          </a:pPr>
                          <a:r>
                            <a:rPr lang="en-US" sz="1100" b="1">
                              <a:effectLst/>
                              <a:latin typeface="Google Sans Text"/>
                            </a:rPr>
                            <a:t>Type 2</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dirty="0">
                              <a:effectLst/>
                              <a:latin typeface="Google Sans Text"/>
                            </a:rPr>
                            <a:t>Context-Free</a:t>
                          </a:r>
                          <a:endParaRPr lang="en-US" sz="1100" dirty="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14:m>
                            <m:oMath xmlns:m="http://schemas.openxmlformats.org/officeDocument/2006/math">
                              <m:r>
                                <a:rPr lang="en-US" sz="1100" i="1" smtClean="0">
                                  <a:latin typeface="Cambria Math" panose="02040503050406030204" pitchFamily="18" charset="0"/>
                                </a:rPr>
                                <m:t>𝐴</m:t>
                              </m:r>
                              <m:r>
                                <a:rPr lang="en-US" sz="1100" i="0">
                                  <a:latin typeface="Cambria Math" panose="02040503050406030204" pitchFamily="18" charset="0"/>
                                </a:rPr>
                                <m:t>→</m:t>
                              </m:r>
                              <m:r>
                                <a:rPr lang="en-US" sz="1100" i="1">
                                  <a:latin typeface="Cambria Math" panose="02040503050406030204" pitchFamily="18" charset="0"/>
                                </a:rPr>
                                <m:t>𝛾</m:t>
                              </m:r>
                            </m:oMath>
                          </a14:m>
                          <a:r>
                            <a:rPr lang="en-US" sz="1100">
                              <a:effectLst/>
                              <a:latin typeface="Google Sans Text"/>
                            </a:rPr>
                            <a:t>(</a:t>
                          </a:r>
                          <a14:m>
                            <m:oMath xmlns:m="http://schemas.openxmlformats.org/officeDocument/2006/math">
                              <m:r>
                                <a:rPr lang="en-US" sz="1100" i="1" smtClean="0">
                                  <a:latin typeface="Cambria Math" panose="02040503050406030204" pitchFamily="18" charset="0"/>
                                </a:rPr>
                                <m:t>𝐴</m:t>
                              </m:r>
                            </m:oMath>
                          </a14:m>
                          <a:r>
                            <a:rPr lang="en-US" sz="1100">
                              <a:effectLst/>
                              <a:latin typeface="Google Sans Text"/>
                            </a:rPr>
                            <a:t> is a single non-terminal)</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a:effectLst/>
                              <a:latin typeface="Google Sans Text"/>
                            </a:rPr>
                            <a:t>Pushdown Automaton (PDA)</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Syntax Analysis (Parsing):</a:t>
                          </a:r>
                          <a:r>
                            <a:rPr lang="en-US" sz="1100">
                              <a:effectLst/>
                              <a:latin typeface="Google Sans Text"/>
                            </a:rPr>
                            <a:t> Defining language structure, nested blocks, and expressions via BNF.</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064329604"/>
                      </a:ext>
                    </a:extLst>
                  </a:tr>
                  <a:tr h="1367849">
                    <a:tc>
                      <a:txBody>
                        <a:bodyPr/>
                        <a:lstStyle/>
                        <a:p>
                          <a:pPr>
                            <a:spcAft>
                              <a:spcPts val="2400"/>
                            </a:spcAft>
                            <a:buNone/>
                          </a:pPr>
                          <a:r>
                            <a:rPr lang="en-US" sz="1100" b="1">
                              <a:effectLst/>
                              <a:latin typeface="Google Sans Text"/>
                            </a:rPr>
                            <a:t>Type 1</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Context-Sensitive</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14:m>
                            <m:oMathPara xmlns:m="http://schemas.openxmlformats.org/officeDocument/2006/math">
                              <m:oMath>
                                <m:r>
                                  <a:rPr lang="en-US" sz="1100" i="1" smtClean="0">
                                    <a:latin typeface="Cambria Math" panose="02040503050406030204" pitchFamily="18" charset="0"/>
                                  </a:rPr>
                                  <m:t>𝛼</m:t>
                                </m:r>
                                <m:r>
                                  <a:rPr lang="en-US" sz="1100" i="1" smtClean="0">
                                    <a:latin typeface="Cambria Math" panose="02040503050406030204" pitchFamily="18" charset="0"/>
                                  </a:rPr>
                                  <m:t>𝐴</m:t>
                                </m:r>
                                <m:r>
                                  <a:rPr lang="en-US" sz="1100" i="1" smtClean="0">
                                    <a:latin typeface="Cambria Math" panose="02040503050406030204" pitchFamily="18" charset="0"/>
                                  </a:rPr>
                                  <m:t>𝛽</m:t>
                                </m:r>
                                <m:r>
                                  <a:rPr lang="en-US" sz="1100" i="0">
                                    <a:latin typeface="Cambria Math" panose="02040503050406030204" pitchFamily="18" charset="0"/>
                                  </a:rPr>
                                  <m:t>→</m:t>
                                </m:r>
                                <m:r>
                                  <a:rPr lang="en-US" sz="1100" i="1">
                                    <a:latin typeface="Cambria Math" panose="02040503050406030204" pitchFamily="18" charset="0"/>
                                  </a:rPr>
                                  <m:t>𝛼𝛾𝛽</m:t>
                                </m:r>
                              </m:oMath>
                            </m:oMathPara>
                          </a14:m>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a:effectLst/>
                              <a:latin typeface="Google Sans Text"/>
                            </a:rPr>
                            <a:t>Linear-Bounded Automaton (LBA)</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dirty="0">
                              <a:effectLst/>
                              <a:latin typeface="Google Sans Text"/>
                            </a:rPr>
                            <a:t>Semantic Validation:</a:t>
                          </a:r>
                          <a:r>
                            <a:rPr lang="en-US" sz="1100" dirty="0">
                              <a:effectLst/>
                              <a:latin typeface="Google Sans Text"/>
                            </a:rPr>
                            <a:t> Types, scope, and variable declarations before compilation.</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30619325"/>
                      </a:ext>
                    </a:extLst>
                  </a:tr>
                  <a:tr h="1121637">
                    <a:tc>
                      <a:txBody>
                        <a:bodyPr/>
                        <a:lstStyle/>
                        <a:p>
                          <a:pPr>
                            <a:spcAft>
                              <a:spcPts val="2400"/>
                            </a:spcAft>
                            <a:buNone/>
                          </a:pPr>
                          <a:r>
                            <a:rPr lang="en-US" sz="1100" b="1">
                              <a:effectLst/>
                              <a:latin typeface="Google Sans Text"/>
                            </a:rPr>
                            <a:t>Type 0</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Unrestricted</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14:m>
                            <m:oMath xmlns:m="http://schemas.openxmlformats.org/officeDocument/2006/math">
                              <m:r>
                                <a:rPr lang="en-US" sz="1100" i="1" smtClean="0">
                                  <a:latin typeface="Cambria Math" panose="02040503050406030204" pitchFamily="18" charset="0"/>
                                </a:rPr>
                                <m:t>𝛼</m:t>
                              </m:r>
                              <m:r>
                                <a:rPr lang="en-US" sz="1100" i="0">
                                  <a:latin typeface="Cambria Math" panose="02040503050406030204" pitchFamily="18" charset="0"/>
                                </a:rPr>
                                <m:t>→</m:t>
                              </m:r>
                              <m:r>
                                <a:rPr lang="en-US" sz="1100" i="1">
                                  <a:latin typeface="Cambria Math" panose="02040503050406030204" pitchFamily="18" charset="0"/>
                                </a:rPr>
                                <m:t>𝛽</m:t>
                              </m:r>
                            </m:oMath>
                          </a14:m>
                          <a:r>
                            <a:rPr lang="en-US" sz="1100">
                              <a:effectLst/>
                              <a:latin typeface="Google Sans Text"/>
                            </a:rPr>
                            <a:t>(no restrictions)</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a:effectLst/>
                              <a:latin typeface="Google Sans Text"/>
                            </a:rPr>
                            <a:t>Turing Machine</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dirty="0">
                              <a:effectLst/>
                              <a:latin typeface="Google Sans Text"/>
                            </a:rPr>
                            <a:t>General computation / undecidable languages.</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92365427"/>
                      </a:ext>
                    </a:extLst>
                  </a:tr>
                </a:tbl>
              </a:graphicData>
            </a:graphic>
          </p:graphicFrame>
        </mc:Choice>
        <mc:Fallback xmlns="">
          <p:graphicFrame>
            <p:nvGraphicFramePr>
              <p:cNvPr id="8" name="Table 7">
                <a:extLst>
                  <a:ext uri="{FF2B5EF4-FFF2-40B4-BE49-F238E27FC236}">
                    <a16:creationId xmlns:a16="http://schemas.microsoft.com/office/drawing/2014/main" id="{F11CE72A-E1F5-FE70-A39C-5F720C9CD39A}"/>
                  </a:ext>
                </a:extLst>
              </p:cNvPr>
              <p:cNvGraphicFramePr>
                <a:graphicFrameLocks noGrp="1"/>
              </p:cNvGraphicFramePr>
              <p:nvPr>
                <p:extLst>
                  <p:ext uri="{D42A27DB-BD31-4B8C-83A1-F6EECF244321}">
                    <p14:modId xmlns:p14="http://schemas.microsoft.com/office/powerpoint/2010/main" val="1771587"/>
                  </p:ext>
                </p:extLst>
              </p:nvPr>
            </p:nvGraphicFramePr>
            <p:xfrm>
              <a:off x="4857662" y="9525"/>
              <a:ext cx="7334340" cy="6346823"/>
            </p:xfrm>
            <a:graphic>
              <a:graphicData uri="http://schemas.openxmlformats.org/drawingml/2006/table">
                <a:tbl>
                  <a:tblPr/>
                  <a:tblGrid>
                    <a:gridCol w="1466868">
                      <a:extLst>
                        <a:ext uri="{9D8B030D-6E8A-4147-A177-3AD203B41FA5}">
                          <a16:colId xmlns:a16="http://schemas.microsoft.com/office/drawing/2014/main" val="3066060752"/>
                        </a:ext>
                      </a:extLst>
                    </a:gridCol>
                    <a:gridCol w="1466868">
                      <a:extLst>
                        <a:ext uri="{9D8B030D-6E8A-4147-A177-3AD203B41FA5}">
                          <a16:colId xmlns:a16="http://schemas.microsoft.com/office/drawing/2014/main" val="3697802226"/>
                        </a:ext>
                      </a:extLst>
                    </a:gridCol>
                    <a:gridCol w="1466868">
                      <a:extLst>
                        <a:ext uri="{9D8B030D-6E8A-4147-A177-3AD203B41FA5}">
                          <a16:colId xmlns:a16="http://schemas.microsoft.com/office/drawing/2014/main" val="105602920"/>
                        </a:ext>
                      </a:extLst>
                    </a:gridCol>
                    <a:gridCol w="1466868">
                      <a:extLst>
                        <a:ext uri="{9D8B030D-6E8A-4147-A177-3AD203B41FA5}">
                          <a16:colId xmlns:a16="http://schemas.microsoft.com/office/drawing/2014/main" val="2160957380"/>
                        </a:ext>
                      </a:extLst>
                    </a:gridCol>
                    <a:gridCol w="1466868">
                      <a:extLst>
                        <a:ext uri="{9D8B030D-6E8A-4147-A177-3AD203B41FA5}">
                          <a16:colId xmlns:a16="http://schemas.microsoft.com/office/drawing/2014/main" val="4280545113"/>
                        </a:ext>
                      </a:extLst>
                    </a:gridCol>
                  </a:tblGrid>
                  <a:tr h="629213">
                    <a:tc>
                      <a:txBody>
                        <a:bodyPr/>
                        <a:lstStyle/>
                        <a:p>
                          <a:pPr>
                            <a:spcAft>
                              <a:spcPts val="2400"/>
                            </a:spcAft>
                            <a:buNone/>
                          </a:pPr>
                          <a:r>
                            <a:rPr lang="en-US" sz="1100" b="1">
                              <a:effectLst/>
                              <a:latin typeface="Google Sans Text"/>
                            </a:rPr>
                            <a:t>Type</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Language / Grammar</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Production Rule Constraint</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dirty="0">
                              <a:effectLst/>
                              <a:latin typeface="Google Sans Text"/>
                            </a:rPr>
                            <a:t>Automaton Required</a:t>
                          </a:r>
                          <a:endParaRPr lang="en-US" sz="1100" dirty="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Primary Computer Science Application</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837725632"/>
                      </a:ext>
                    </a:extLst>
                  </a:tr>
                  <a:tr h="1860275">
                    <a:tc>
                      <a:txBody>
                        <a:bodyPr/>
                        <a:lstStyle/>
                        <a:p>
                          <a:pPr>
                            <a:spcAft>
                              <a:spcPts val="2400"/>
                            </a:spcAft>
                            <a:buNone/>
                          </a:pPr>
                          <a:r>
                            <a:rPr lang="en-US" sz="1100" b="1">
                              <a:effectLst/>
                              <a:latin typeface="Google Sans Text"/>
                            </a:rPr>
                            <a:t>Type 3</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Regular</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endParaRPr lang="en-US"/>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blipFill>
                          <a:blip r:embed="rId3"/>
                          <a:stretch>
                            <a:fillRect l="-200000" t="-33987" r="-200415" b="-207516"/>
                          </a:stretch>
                        </a:blipFill>
                      </a:tcPr>
                    </a:tc>
                    <a:tc>
                      <a:txBody>
                        <a:bodyPr/>
                        <a:lstStyle/>
                        <a:p>
                          <a:pPr>
                            <a:spcAft>
                              <a:spcPts val="2400"/>
                            </a:spcAft>
                            <a:buNone/>
                          </a:pPr>
                          <a:r>
                            <a:rPr lang="en-US" sz="1100">
                              <a:effectLst/>
                              <a:latin typeface="Google Sans Text"/>
                            </a:rPr>
                            <a:t>Finite State Automaton (DFA/NFA)</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Lexical Analysis (Scanning):</a:t>
                          </a:r>
                          <a:r>
                            <a:rPr lang="en-US" sz="1100">
                              <a:effectLst/>
                              <a:latin typeface="Google Sans Text"/>
                            </a:rPr>
                            <a:t> Identifying keywords, identifiers, and literals via Regular Expressions.</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29012686"/>
                      </a:ext>
                    </a:extLst>
                  </a:tr>
                  <a:tr h="1367849">
                    <a:tc>
                      <a:txBody>
                        <a:bodyPr/>
                        <a:lstStyle/>
                        <a:p>
                          <a:pPr>
                            <a:spcAft>
                              <a:spcPts val="2400"/>
                            </a:spcAft>
                            <a:buNone/>
                          </a:pPr>
                          <a:r>
                            <a:rPr lang="en-US" sz="1100" b="1">
                              <a:effectLst/>
                              <a:latin typeface="Google Sans Text"/>
                            </a:rPr>
                            <a:t>Type 2</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dirty="0">
                              <a:effectLst/>
                              <a:latin typeface="Google Sans Text"/>
                            </a:rPr>
                            <a:t>Context-Free</a:t>
                          </a:r>
                          <a:endParaRPr lang="en-US" sz="1100" dirty="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endParaRPr lang="en-US"/>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blipFill>
                          <a:blip r:embed="rId3"/>
                          <a:stretch>
                            <a:fillRect l="-200000" t="-183036" r="-200415" b="-183482"/>
                          </a:stretch>
                        </a:blipFill>
                      </a:tcPr>
                    </a:tc>
                    <a:tc>
                      <a:txBody>
                        <a:bodyPr/>
                        <a:lstStyle/>
                        <a:p>
                          <a:pPr>
                            <a:spcAft>
                              <a:spcPts val="2400"/>
                            </a:spcAft>
                            <a:buNone/>
                          </a:pPr>
                          <a:r>
                            <a:rPr lang="en-US" sz="1100">
                              <a:effectLst/>
                              <a:latin typeface="Google Sans Text"/>
                            </a:rPr>
                            <a:t>Pushdown Automaton (PDA)</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Syntax Analysis (Parsing):</a:t>
                          </a:r>
                          <a:r>
                            <a:rPr lang="en-US" sz="1100">
                              <a:effectLst/>
                              <a:latin typeface="Google Sans Text"/>
                            </a:rPr>
                            <a:t> Defining language structure, nested blocks, and expressions via BNF.</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064329604"/>
                      </a:ext>
                    </a:extLst>
                  </a:tr>
                  <a:tr h="1367849">
                    <a:tc>
                      <a:txBody>
                        <a:bodyPr/>
                        <a:lstStyle/>
                        <a:p>
                          <a:pPr>
                            <a:spcAft>
                              <a:spcPts val="2400"/>
                            </a:spcAft>
                            <a:buNone/>
                          </a:pPr>
                          <a:r>
                            <a:rPr lang="en-US" sz="1100" b="1">
                              <a:effectLst/>
                              <a:latin typeface="Google Sans Text"/>
                            </a:rPr>
                            <a:t>Type 1</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Context-Sensitive</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endParaRPr lang="en-US"/>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blipFill>
                          <a:blip r:embed="rId3"/>
                          <a:stretch>
                            <a:fillRect l="-200000" t="-281778" r="-200415" b="-82667"/>
                          </a:stretch>
                        </a:blipFill>
                      </a:tcPr>
                    </a:tc>
                    <a:tc>
                      <a:txBody>
                        <a:bodyPr/>
                        <a:lstStyle/>
                        <a:p>
                          <a:pPr>
                            <a:spcAft>
                              <a:spcPts val="2400"/>
                            </a:spcAft>
                            <a:buNone/>
                          </a:pPr>
                          <a:r>
                            <a:rPr lang="en-US" sz="1100">
                              <a:effectLst/>
                              <a:latin typeface="Google Sans Text"/>
                            </a:rPr>
                            <a:t>Linear-Bounded Automaton (LBA)</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dirty="0">
                              <a:effectLst/>
                              <a:latin typeface="Google Sans Text"/>
                            </a:rPr>
                            <a:t>Semantic Validation:</a:t>
                          </a:r>
                          <a:r>
                            <a:rPr lang="en-US" sz="1100" dirty="0">
                              <a:effectLst/>
                              <a:latin typeface="Google Sans Text"/>
                            </a:rPr>
                            <a:t> Types, scope, and variable declarations before compilation.</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30619325"/>
                      </a:ext>
                    </a:extLst>
                  </a:tr>
                  <a:tr h="1121637">
                    <a:tc>
                      <a:txBody>
                        <a:bodyPr/>
                        <a:lstStyle/>
                        <a:p>
                          <a:pPr>
                            <a:spcAft>
                              <a:spcPts val="2400"/>
                            </a:spcAft>
                            <a:buNone/>
                          </a:pPr>
                          <a:r>
                            <a:rPr lang="en-US" sz="1100" b="1">
                              <a:effectLst/>
                              <a:latin typeface="Google Sans Text"/>
                            </a:rPr>
                            <a:t>Type 0</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Unrestricted</a:t>
                          </a:r>
                          <a:endParaRPr lang="en-US" sz="1100">
                            <a:effectLst/>
                            <a:latin typeface="Google Sans Text"/>
                          </a:endParaRP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endParaRPr lang="en-US"/>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blipFill>
                          <a:blip r:embed="rId3"/>
                          <a:stretch>
                            <a:fillRect l="-200000" t="-466848" r="-200415" b="-1087"/>
                          </a:stretch>
                        </a:blipFill>
                      </a:tcPr>
                    </a:tc>
                    <a:tc>
                      <a:txBody>
                        <a:bodyPr/>
                        <a:lstStyle/>
                        <a:p>
                          <a:pPr>
                            <a:spcAft>
                              <a:spcPts val="2400"/>
                            </a:spcAft>
                            <a:buNone/>
                          </a:pPr>
                          <a:r>
                            <a:rPr lang="en-US" sz="1100">
                              <a:effectLst/>
                              <a:latin typeface="Google Sans Text"/>
                            </a:rPr>
                            <a:t>Turing Machine</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dirty="0">
                              <a:effectLst/>
                              <a:latin typeface="Google Sans Text"/>
                            </a:rPr>
                            <a:t>General computation / undecidable languages.</a:t>
                          </a:r>
                        </a:p>
                      </a:txBody>
                      <a:tcPr marL="70334" marR="70334" marT="46889" marB="46889"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92365427"/>
                      </a:ext>
                    </a:extLst>
                  </a:tr>
                </a:tbl>
              </a:graphicData>
            </a:graphic>
          </p:graphicFrame>
        </mc:Fallback>
      </mc:AlternateContent>
    </p:spTree>
    <p:extLst>
      <p:ext uri="{BB962C8B-B14F-4D97-AF65-F5344CB8AC3E}">
        <p14:creationId xmlns:p14="http://schemas.microsoft.com/office/powerpoint/2010/main" val="195582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D98E87-4B4F-5A10-1DF1-8AF355A5008A}"/>
              </a:ext>
            </a:extLst>
          </p:cNvPr>
          <p:cNvSpPr>
            <a:spLocks noGrp="1"/>
          </p:cNvSpPr>
          <p:nvPr>
            <p:ph idx="1"/>
          </p:nvPr>
        </p:nvSpPr>
        <p:spPr/>
        <p:txBody>
          <a:bodyPr>
            <a:normAutofit fontScale="92500" lnSpcReduction="20000"/>
          </a:bodyPr>
          <a:lstStyle/>
          <a:p>
            <a:r>
              <a:rPr lang="en-US" dirty="0"/>
              <a:t>Backus-Naur Form (BNF)</a:t>
            </a:r>
          </a:p>
          <a:p>
            <a:pPr lvl="1"/>
            <a:r>
              <a:rPr lang="en-US" dirty="0"/>
              <a:t>While Chomsky developed his </a:t>
            </a:r>
          </a:p>
          <a:p>
            <a:pPr lvl="2"/>
            <a:r>
              <a:rPr lang="en-US" dirty="0"/>
              <a:t>hierarchy for natural language analysis, </a:t>
            </a:r>
          </a:p>
          <a:p>
            <a:pPr lvl="3"/>
            <a:r>
              <a:rPr lang="en-US" dirty="0"/>
              <a:t>computer scientists John Backus and Peter Naur independently needed a </a:t>
            </a:r>
          </a:p>
          <a:p>
            <a:pPr lvl="3"/>
            <a:r>
              <a:rPr lang="en-US" dirty="0"/>
              <a:t>formal notation to specify the syntax of </a:t>
            </a:r>
            <a:r>
              <a:rPr lang="en-US" b="1" dirty="0"/>
              <a:t>ALGOL 60</a:t>
            </a:r>
            <a:r>
              <a:rPr lang="en-US" dirty="0"/>
              <a:t>. </a:t>
            </a:r>
          </a:p>
          <a:p>
            <a:pPr lvl="3"/>
            <a:r>
              <a:rPr lang="en-US" dirty="0"/>
              <a:t>They developed </a:t>
            </a:r>
            <a:r>
              <a:rPr lang="en-US" b="1" dirty="0"/>
              <a:t>BNF</a:t>
            </a:r>
            <a:r>
              <a:rPr lang="en-US" dirty="0"/>
              <a:t>, which turned out to be a practical, human-readable metalanguage for defining </a:t>
            </a:r>
            <a:r>
              <a:rPr lang="en-US" b="1" dirty="0"/>
              <a:t>Type 2 (Context-Free) Grammars</a:t>
            </a:r>
            <a:r>
              <a:rPr lang="en-US" dirty="0"/>
              <a:t>.</a:t>
            </a:r>
          </a:p>
          <a:p>
            <a:pPr lvl="1"/>
            <a:r>
              <a:rPr lang="en-US" b="1" dirty="0"/>
              <a:t>ALGOL 60</a:t>
            </a:r>
          </a:p>
          <a:p>
            <a:pPr lvl="2"/>
            <a:r>
              <a:rPr lang="en-US" dirty="0"/>
              <a:t>ALGOL 60 (Algorithmic Language 1960)</a:t>
            </a:r>
          </a:p>
          <a:p>
            <a:pPr lvl="3"/>
            <a:r>
              <a:rPr lang="en-US" dirty="0"/>
              <a:t>one of the most influential programming languages in computer science. Created by an international joint committee of American and European scientists, it established the design patterns, syntax conventions, and mathematical rigor that defined almost every imperative programming language that followed.</a:t>
            </a:r>
          </a:p>
          <a:p>
            <a:pPr lvl="1"/>
            <a:r>
              <a:rPr lang="en-US" dirty="0"/>
              <a:t>Imperative programming</a:t>
            </a:r>
          </a:p>
          <a:p>
            <a:pPr lvl="2"/>
            <a:r>
              <a:rPr lang="en-US" dirty="0"/>
              <a:t>a programming paradigm that uses statements to explicitly change a program's state. It focuses on </a:t>
            </a:r>
            <a:r>
              <a:rPr lang="en-US" b="1" dirty="0"/>
              <a:t>how</a:t>
            </a:r>
            <a:r>
              <a:rPr lang="en-US" dirty="0"/>
              <a:t> a computation should execute by providing a step-by-step sequence of commands for the computer to follow.</a:t>
            </a:r>
          </a:p>
          <a:p>
            <a:pPr lvl="2"/>
            <a:r>
              <a:rPr lang="en-US" dirty="0"/>
              <a:t>Core Characteristics</a:t>
            </a:r>
          </a:p>
          <a:p>
            <a:pPr lvl="3"/>
            <a:r>
              <a:rPr lang="en-US" dirty="0"/>
              <a:t>Explicit State Changes: </a:t>
            </a:r>
          </a:p>
          <a:p>
            <a:pPr lvl="4"/>
            <a:r>
              <a:rPr lang="en-US" dirty="0"/>
              <a:t>Programs maintain state through variables, which are mutated over time using assignment statements.</a:t>
            </a:r>
          </a:p>
          <a:p>
            <a:pPr lvl="3"/>
            <a:r>
              <a:rPr lang="en-US" dirty="0"/>
              <a:t>Sequential Execution: </a:t>
            </a:r>
          </a:p>
          <a:p>
            <a:pPr lvl="4"/>
            <a:r>
              <a:rPr lang="en-US" dirty="0"/>
              <a:t>Instructions execute in a predictable top-to-bottom sequence unless interrupted by control structures.</a:t>
            </a:r>
          </a:p>
          <a:p>
            <a:pPr lvl="3"/>
            <a:r>
              <a:rPr lang="en-US" dirty="0"/>
              <a:t>Control Flow Statements: </a:t>
            </a:r>
          </a:p>
          <a:p>
            <a:pPr lvl="4"/>
            <a:r>
              <a:rPr lang="en-US" dirty="0"/>
              <a:t>Relies on explicitly managing execution order using loops (for, while), conditional branches (if-else), and jump statements (</a:t>
            </a:r>
            <a:r>
              <a:rPr lang="en-US" dirty="0" err="1"/>
              <a:t>goto</a:t>
            </a:r>
            <a:r>
              <a:rPr lang="en-US" dirty="0"/>
              <a:t>, break).</a:t>
            </a:r>
          </a:p>
          <a:p>
            <a:pPr lvl="3"/>
            <a:r>
              <a:rPr lang="en-US" dirty="0"/>
              <a:t>Direct Memory Manipulation: </a:t>
            </a:r>
          </a:p>
          <a:p>
            <a:pPr lvl="4"/>
            <a:r>
              <a:rPr lang="en-US" dirty="0"/>
              <a:t>Often allows direct reading and writing of specific memory locations or pointer addresses.</a:t>
            </a:r>
          </a:p>
          <a:p>
            <a:pPr lvl="3"/>
            <a:endParaRPr lang="en-US" dirty="0"/>
          </a:p>
        </p:txBody>
      </p:sp>
      <p:sp>
        <p:nvSpPr>
          <p:cNvPr id="3" name="Date Placeholder 2">
            <a:extLst>
              <a:ext uri="{FF2B5EF4-FFF2-40B4-BE49-F238E27FC236}">
                <a16:creationId xmlns:a16="http://schemas.microsoft.com/office/drawing/2014/main" id="{EAB48546-10C7-553C-8D4F-AA7592F2D1AE}"/>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F66D30A9-DC81-A07A-3903-639650E2B808}"/>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4CEF1224-30EA-7DE9-3647-08A226B98587}"/>
              </a:ext>
            </a:extLst>
          </p:cNvPr>
          <p:cNvSpPr>
            <a:spLocks noGrp="1"/>
          </p:cNvSpPr>
          <p:nvPr>
            <p:ph type="sldNum" sz="quarter" idx="12"/>
          </p:nvPr>
        </p:nvSpPr>
        <p:spPr/>
        <p:txBody>
          <a:bodyPr/>
          <a:lstStyle/>
          <a:p>
            <a:fld id="{9B618960-8005-486C-9A75-10CB2AAC16F9}" type="slidenum">
              <a:rPr lang="en-US" smtClean="0"/>
              <a:t>6</a:t>
            </a:fld>
            <a:endParaRPr lang="en-US"/>
          </a:p>
        </p:txBody>
      </p:sp>
    </p:spTree>
    <p:extLst>
      <p:ext uri="{BB962C8B-B14F-4D97-AF65-F5344CB8AC3E}">
        <p14:creationId xmlns:p14="http://schemas.microsoft.com/office/powerpoint/2010/main" val="1487162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C6B706-0765-052E-6466-3376A2FFEE39}"/>
              </a:ext>
            </a:extLst>
          </p:cNvPr>
          <p:cNvSpPr>
            <a:spLocks noGrp="1"/>
          </p:cNvSpPr>
          <p:nvPr>
            <p:ph idx="1"/>
          </p:nvPr>
        </p:nvSpPr>
        <p:spPr/>
        <p:txBody>
          <a:bodyPr/>
          <a:lstStyle/>
          <a:p>
            <a:pPr lvl="1"/>
            <a:r>
              <a:rPr lang="en-US" dirty="0"/>
              <a:t>Key Sub-paradigms</a:t>
            </a:r>
          </a:p>
          <a:p>
            <a:pPr lvl="2"/>
            <a:r>
              <a:rPr lang="en-US" dirty="0"/>
              <a:t>Imperative programming serves as the foundation for several major operational styles:</a:t>
            </a:r>
          </a:p>
          <a:p>
            <a:pPr lvl="3"/>
            <a:r>
              <a:rPr lang="en-US" dirty="0"/>
              <a:t>Procedural Programming: </a:t>
            </a:r>
          </a:p>
          <a:p>
            <a:pPr lvl="4"/>
            <a:r>
              <a:rPr lang="en-US" dirty="0"/>
              <a:t>Groups imperative commands into reusable subroutines or functions (e.g., C, Pascal, Fortran).</a:t>
            </a:r>
          </a:p>
          <a:p>
            <a:pPr lvl="3"/>
            <a:r>
              <a:rPr lang="en-US" dirty="0"/>
              <a:t>Object-Oriented Programming (OOP): </a:t>
            </a:r>
          </a:p>
          <a:p>
            <a:pPr lvl="4"/>
            <a:r>
              <a:rPr lang="en-US" dirty="0"/>
              <a:t>Encapsulates imperative code and mutable state into objects containing methods and properties (e.g., Java, C++, Python).</a:t>
            </a:r>
          </a:p>
        </p:txBody>
      </p:sp>
      <p:sp>
        <p:nvSpPr>
          <p:cNvPr id="3" name="Date Placeholder 2">
            <a:extLst>
              <a:ext uri="{FF2B5EF4-FFF2-40B4-BE49-F238E27FC236}">
                <a16:creationId xmlns:a16="http://schemas.microsoft.com/office/drawing/2014/main" id="{BD028715-9A9E-085A-C037-BBDF55A88226}"/>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12A3ED41-484B-25B3-A0EF-5096514E6EEF}"/>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1351245C-6271-7916-324A-AC1E64A7DA56}"/>
              </a:ext>
            </a:extLst>
          </p:cNvPr>
          <p:cNvSpPr>
            <a:spLocks noGrp="1"/>
          </p:cNvSpPr>
          <p:nvPr>
            <p:ph type="sldNum" sz="quarter" idx="12"/>
          </p:nvPr>
        </p:nvSpPr>
        <p:spPr/>
        <p:txBody>
          <a:bodyPr/>
          <a:lstStyle/>
          <a:p>
            <a:fld id="{9B618960-8005-486C-9A75-10CB2AAC16F9}" type="slidenum">
              <a:rPr lang="en-US" smtClean="0"/>
              <a:t>7</a:t>
            </a:fld>
            <a:endParaRPr lang="en-US"/>
          </a:p>
        </p:txBody>
      </p:sp>
      <p:graphicFrame>
        <p:nvGraphicFramePr>
          <p:cNvPr id="6" name="Table 5">
            <a:extLst>
              <a:ext uri="{FF2B5EF4-FFF2-40B4-BE49-F238E27FC236}">
                <a16:creationId xmlns:a16="http://schemas.microsoft.com/office/drawing/2014/main" id="{7975AFD5-3C04-2E0C-A1A9-DB6429ACA608}"/>
              </a:ext>
            </a:extLst>
          </p:cNvPr>
          <p:cNvGraphicFramePr>
            <a:graphicFrameLocks noGrp="1"/>
          </p:cNvGraphicFramePr>
          <p:nvPr/>
        </p:nvGraphicFramePr>
        <p:xfrm>
          <a:off x="838200" y="2248694"/>
          <a:ext cx="10515600" cy="3505200"/>
        </p:xfrm>
        <a:graphic>
          <a:graphicData uri="http://schemas.openxmlformats.org/drawingml/2006/table">
            <a:tbl>
              <a:tblPr/>
              <a:tblGrid>
                <a:gridCol w="3505200">
                  <a:extLst>
                    <a:ext uri="{9D8B030D-6E8A-4147-A177-3AD203B41FA5}">
                      <a16:colId xmlns:a16="http://schemas.microsoft.com/office/drawing/2014/main" val="732644587"/>
                    </a:ext>
                  </a:extLst>
                </a:gridCol>
                <a:gridCol w="3505200">
                  <a:extLst>
                    <a:ext uri="{9D8B030D-6E8A-4147-A177-3AD203B41FA5}">
                      <a16:colId xmlns:a16="http://schemas.microsoft.com/office/drawing/2014/main" val="2540807094"/>
                    </a:ext>
                  </a:extLst>
                </a:gridCol>
                <a:gridCol w="3505200">
                  <a:extLst>
                    <a:ext uri="{9D8B030D-6E8A-4147-A177-3AD203B41FA5}">
                      <a16:colId xmlns:a16="http://schemas.microsoft.com/office/drawing/2014/main" val="3437054234"/>
                    </a:ext>
                  </a:extLst>
                </a:gridCol>
              </a:tblGrid>
              <a:tr h="0">
                <a:tc>
                  <a:txBody>
                    <a:bodyPr/>
                    <a:lstStyle/>
                    <a:p>
                      <a:pPr>
                        <a:spcAft>
                          <a:spcPts val="2400"/>
                        </a:spcAft>
                        <a:buNone/>
                      </a:pPr>
                      <a:r>
                        <a:rPr lang="en-US" b="1">
                          <a:effectLst/>
                          <a:latin typeface="Google Sans Text"/>
                        </a:rPr>
                        <a:t>Feature</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b="1">
                          <a:effectLst/>
                          <a:latin typeface="Google Sans Text"/>
                        </a:rPr>
                        <a:t>Imperative Programming</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b="1">
                          <a:effectLst/>
                          <a:latin typeface="Google Sans Text"/>
                        </a:rPr>
                        <a:t>Declarative Programming</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85130869"/>
                  </a:ext>
                </a:extLst>
              </a:tr>
              <a:tr h="0">
                <a:tc>
                  <a:txBody>
                    <a:bodyPr/>
                    <a:lstStyle/>
                    <a:p>
                      <a:pPr>
                        <a:spcAft>
                          <a:spcPts val="2400"/>
                        </a:spcAft>
                        <a:buNone/>
                      </a:pPr>
                      <a:r>
                        <a:rPr lang="en-US" b="1">
                          <a:effectLst/>
                          <a:latin typeface="Google Sans Text"/>
                        </a:rPr>
                        <a:t>Primary Focus</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Describes </a:t>
                      </a:r>
                      <a:r>
                        <a:rPr lang="en-US" b="1">
                          <a:effectLst/>
                          <a:latin typeface="Google Sans Text"/>
                        </a:rPr>
                        <a:t>how</a:t>
                      </a:r>
                      <a:r>
                        <a:rPr lang="en-US">
                          <a:effectLst/>
                          <a:latin typeface="Google Sans Text"/>
                        </a:rPr>
                        <a:t> to achieve a result (step-by-step instructions).</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Describes </a:t>
                      </a:r>
                      <a:r>
                        <a:rPr lang="en-US" b="1">
                          <a:effectLst/>
                          <a:latin typeface="Google Sans Text"/>
                        </a:rPr>
                        <a:t>what</a:t>
                      </a:r>
                      <a:r>
                        <a:rPr lang="en-US">
                          <a:effectLst/>
                          <a:latin typeface="Google Sans Text"/>
                        </a:rPr>
                        <a:t> result is desired (logic without execution steps).</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73985439"/>
                  </a:ext>
                </a:extLst>
              </a:tr>
              <a:tr h="0">
                <a:tc>
                  <a:txBody>
                    <a:bodyPr/>
                    <a:lstStyle/>
                    <a:p>
                      <a:pPr>
                        <a:spcAft>
                          <a:spcPts val="2400"/>
                        </a:spcAft>
                        <a:buNone/>
                      </a:pPr>
                      <a:r>
                        <a:rPr lang="en-US" b="1">
                          <a:effectLst/>
                          <a:latin typeface="Google Sans Text"/>
                        </a:rPr>
                        <a:t>State &amp; Mutation</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Heavily relies on mutable state and side effects.</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dirty="0">
                          <a:effectLst/>
                          <a:latin typeface="Google Sans Text"/>
                        </a:rPr>
                        <a:t>Avoids mutable state; relies on immutable data and pure functions.</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090003610"/>
                  </a:ext>
                </a:extLst>
              </a:tr>
              <a:tr h="0">
                <a:tc>
                  <a:txBody>
                    <a:bodyPr/>
                    <a:lstStyle/>
                    <a:p>
                      <a:pPr>
                        <a:spcAft>
                          <a:spcPts val="2400"/>
                        </a:spcAft>
                        <a:buNone/>
                      </a:pPr>
                      <a:r>
                        <a:rPr lang="en-US" b="1">
                          <a:effectLst/>
                          <a:latin typeface="Google Sans Text"/>
                        </a:rPr>
                        <a:t>Control Flow</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Explicitly defined via loops, conditionals, and function calls.</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Implicitly handled by the underlying execution engine or solver.</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64920739"/>
                  </a:ext>
                </a:extLst>
              </a:tr>
              <a:tr h="0">
                <a:tc>
                  <a:txBody>
                    <a:bodyPr/>
                    <a:lstStyle/>
                    <a:p>
                      <a:pPr>
                        <a:spcAft>
                          <a:spcPts val="2400"/>
                        </a:spcAft>
                        <a:buNone/>
                      </a:pPr>
                      <a:r>
                        <a:rPr lang="en-US" b="1">
                          <a:effectLst/>
                          <a:latin typeface="Google Sans Text"/>
                        </a:rPr>
                        <a:t>Common Examples</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C, C++, Java, Python, Go, Rust</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dirty="0">
                          <a:effectLst/>
                          <a:latin typeface="Google Sans Text"/>
                        </a:rPr>
                        <a:t>SQL, HTML, Haskell, Prolog, XSLT</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437371552"/>
                  </a:ext>
                </a:extLst>
              </a:tr>
            </a:tbl>
          </a:graphicData>
        </a:graphic>
      </p:graphicFrame>
    </p:spTree>
    <p:extLst>
      <p:ext uri="{BB962C8B-B14F-4D97-AF65-F5344CB8AC3E}">
        <p14:creationId xmlns:p14="http://schemas.microsoft.com/office/powerpoint/2010/main" val="1512349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D05B98-AE5B-9C75-1FD7-2D3C93EBF0B5}"/>
              </a:ext>
            </a:extLst>
          </p:cNvPr>
          <p:cNvSpPr>
            <a:spLocks noGrp="1"/>
          </p:cNvSpPr>
          <p:nvPr>
            <p:ph idx="1"/>
          </p:nvPr>
        </p:nvSpPr>
        <p:spPr/>
        <p:txBody>
          <a:bodyPr/>
          <a:lstStyle/>
          <a:p>
            <a:pPr lvl="1"/>
            <a:r>
              <a:rPr lang="en-US" dirty="0"/>
              <a:t>Code Example (Imperative vs. Declarative)</a:t>
            </a:r>
          </a:p>
          <a:p>
            <a:pPr lvl="2"/>
            <a:r>
              <a:rPr lang="en-US" b="1" dirty="0"/>
              <a:t>Imperative (Python):</a:t>
            </a:r>
            <a:r>
              <a:rPr lang="en-US" dirty="0"/>
              <a:t> Manually loop through a list and mutate a accumulator variable to sum even numbers.</a:t>
            </a:r>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r>
              <a:rPr lang="en-US" b="1" dirty="0"/>
              <a:t>Declarative / Functional Equivalent:</a:t>
            </a:r>
            <a:r>
              <a:rPr lang="en-US" dirty="0"/>
              <a:t> State the filter and sum transformations without explicit loops or state mutation.</a:t>
            </a:r>
          </a:p>
        </p:txBody>
      </p:sp>
      <p:sp>
        <p:nvSpPr>
          <p:cNvPr id="3" name="Date Placeholder 2">
            <a:extLst>
              <a:ext uri="{FF2B5EF4-FFF2-40B4-BE49-F238E27FC236}">
                <a16:creationId xmlns:a16="http://schemas.microsoft.com/office/drawing/2014/main" id="{DF54AAC9-C071-F4AF-3514-AEE33D3CC664}"/>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ECD57791-085D-AD56-5A06-49A00B70CDAF}"/>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458F345-27DF-486C-1FA9-1FB887B50A2F}"/>
              </a:ext>
            </a:extLst>
          </p:cNvPr>
          <p:cNvSpPr>
            <a:spLocks noGrp="1"/>
          </p:cNvSpPr>
          <p:nvPr>
            <p:ph type="sldNum" sz="quarter" idx="12"/>
          </p:nvPr>
        </p:nvSpPr>
        <p:spPr/>
        <p:txBody>
          <a:bodyPr/>
          <a:lstStyle/>
          <a:p>
            <a:fld id="{9B618960-8005-486C-9A75-10CB2AAC16F9}" type="slidenum">
              <a:rPr lang="en-US" smtClean="0"/>
              <a:t>8</a:t>
            </a:fld>
            <a:endParaRPr lang="en-US"/>
          </a:p>
        </p:txBody>
      </p:sp>
      <p:pic>
        <p:nvPicPr>
          <p:cNvPr id="8" name="Picture 7">
            <a:extLst>
              <a:ext uri="{FF2B5EF4-FFF2-40B4-BE49-F238E27FC236}">
                <a16:creationId xmlns:a16="http://schemas.microsoft.com/office/drawing/2014/main" id="{95318697-8D2C-13D6-39B6-0BB9AB43923B}"/>
              </a:ext>
            </a:extLst>
          </p:cNvPr>
          <p:cNvPicPr>
            <a:picLocks noChangeAspect="1"/>
          </p:cNvPicPr>
          <p:nvPr/>
        </p:nvPicPr>
        <p:blipFill>
          <a:blip r:embed="rId2"/>
          <a:stretch>
            <a:fillRect/>
          </a:stretch>
        </p:blipFill>
        <p:spPr>
          <a:xfrm>
            <a:off x="2527300" y="887309"/>
            <a:ext cx="3949700" cy="1919133"/>
          </a:xfrm>
          <a:prstGeom prst="rect">
            <a:avLst/>
          </a:prstGeom>
        </p:spPr>
      </p:pic>
      <p:pic>
        <p:nvPicPr>
          <p:cNvPr id="10" name="Picture 9">
            <a:extLst>
              <a:ext uri="{FF2B5EF4-FFF2-40B4-BE49-F238E27FC236}">
                <a16:creationId xmlns:a16="http://schemas.microsoft.com/office/drawing/2014/main" id="{C903D9F0-9005-4EAC-E71D-B136A3176154}"/>
              </a:ext>
            </a:extLst>
          </p:cNvPr>
          <p:cNvPicPr>
            <a:picLocks noChangeAspect="1"/>
          </p:cNvPicPr>
          <p:nvPr/>
        </p:nvPicPr>
        <p:blipFill>
          <a:blip r:embed="rId3"/>
          <a:stretch>
            <a:fillRect/>
          </a:stretch>
        </p:blipFill>
        <p:spPr>
          <a:xfrm>
            <a:off x="2506384" y="4368747"/>
            <a:ext cx="3991532" cy="762106"/>
          </a:xfrm>
          <a:prstGeom prst="rect">
            <a:avLst/>
          </a:prstGeom>
        </p:spPr>
      </p:pic>
    </p:spTree>
    <p:extLst>
      <p:ext uri="{BB962C8B-B14F-4D97-AF65-F5344CB8AC3E}">
        <p14:creationId xmlns:p14="http://schemas.microsoft.com/office/powerpoint/2010/main" val="3695882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D8866D-36D2-8C01-1655-3C5A2AEF2FAE}"/>
              </a:ext>
            </a:extLst>
          </p:cNvPr>
          <p:cNvSpPr>
            <a:spLocks noGrp="1"/>
          </p:cNvSpPr>
          <p:nvPr>
            <p:ph idx="1"/>
          </p:nvPr>
        </p:nvSpPr>
        <p:spPr/>
        <p:txBody>
          <a:bodyPr/>
          <a:lstStyle/>
          <a:p>
            <a:r>
              <a:rPr lang="en-US" dirty="0"/>
              <a:t>Meta-components of BNF:</a:t>
            </a:r>
          </a:p>
          <a:p>
            <a:pPr lvl="1"/>
            <a:r>
              <a:rPr lang="en-US" dirty="0">
                <a:latin typeface="Courier New" panose="02070309020205020404" pitchFamily="49" charset="0"/>
              </a:rPr>
              <a:t>&lt;Non-terminal&gt;</a:t>
            </a:r>
            <a:r>
              <a:rPr lang="en-US" dirty="0"/>
              <a:t>: Syntactic variables enclosed in angle brackets.</a:t>
            </a:r>
          </a:p>
          <a:p>
            <a:pPr lvl="1"/>
            <a:r>
              <a:rPr lang="en-US" dirty="0">
                <a:latin typeface="Courier New" panose="02070309020205020404" pitchFamily="49" charset="0"/>
              </a:rPr>
              <a:t>::=</a:t>
            </a:r>
            <a:r>
              <a:rPr lang="en-US" dirty="0"/>
              <a:t>: Meaning "is defined as".</a:t>
            </a:r>
          </a:p>
          <a:p>
            <a:pPr lvl="1"/>
            <a:r>
              <a:rPr lang="en-US" dirty="0">
                <a:latin typeface="Courier New" panose="02070309020205020404" pitchFamily="49" charset="0"/>
              </a:rPr>
              <a:t>|</a:t>
            </a:r>
            <a:r>
              <a:rPr lang="en-US" dirty="0"/>
              <a:t>: Meaning "OR" (alternative production choices).</a:t>
            </a:r>
          </a:p>
          <a:p>
            <a:pPr lvl="1"/>
            <a:r>
              <a:rPr lang="en-US" dirty="0">
                <a:latin typeface="Courier New" panose="02070309020205020404" pitchFamily="49" charset="0"/>
              </a:rPr>
              <a:t>Terminal</a:t>
            </a:r>
            <a:r>
              <a:rPr lang="en-US" dirty="0"/>
              <a:t>: Actual symbols/tokens appearing in the code (e.g., </a:t>
            </a:r>
            <a:r>
              <a:rPr lang="en-US" dirty="0">
                <a:latin typeface="Courier New" panose="02070309020205020404" pitchFamily="49" charset="0"/>
              </a:rPr>
              <a:t>if</a:t>
            </a:r>
            <a:r>
              <a:rPr lang="en-US" dirty="0"/>
              <a:t>, </a:t>
            </a:r>
            <a:r>
              <a:rPr lang="en-US" dirty="0">
                <a:latin typeface="Courier New" panose="02070309020205020404" pitchFamily="49" charset="0"/>
              </a:rPr>
              <a:t>+</a:t>
            </a:r>
            <a:r>
              <a:rPr lang="en-US" dirty="0"/>
              <a:t>, </a:t>
            </a:r>
            <a:r>
              <a:rPr lang="en-US" dirty="0">
                <a:latin typeface="Courier New" panose="02070309020205020404" pitchFamily="49" charset="0"/>
              </a:rPr>
              <a:t>number</a:t>
            </a:r>
            <a:r>
              <a:rPr lang="en-US" dirty="0"/>
              <a:t>).</a:t>
            </a:r>
          </a:p>
          <a:p>
            <a:r>
              <a:rPr lang="en-US" dirty="0"/>
              <a:t>Example: Expression Syntax in BNF</a:t>
            </a:r>
          </a:p>
          <a:p>
            <a:pPr lvl="1"/>
            <a:endParaRPr lang="en-US" dirty="0"/>
          </a:p>
        </p:txBody>
      </p:sp>
      <p:sp>
        <p:nvSpPr>
          <p:cNvPr id="3" name="Date Placeholder 2">
            <a:extLst>
              <a:ext uri="{FF2B5EF4-FFF2-40B4-BE49-F238E27FC236}">
                <a16:creationId xmlns:a16="http://schemas.microsoft.com/office/drawing/2014/main" id="{C9DA7818-A20C-7B0A-8D8E-9283F3D9D7D1}"/>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24B69DD6-C350-C7FC-74E7-1C1AC58C015B}"/>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16CFD8DF-1C8D-0721-66FF-DB0EAE8F5497}"/>
              </a:ext>
            </a:extLst>
          </p:cNvPr>
          <p:cNvSpPr>
            <a:spLocks noGrp="1"/>
          </p:cNvSpPr>
          <p:nvPr>
            <p:ph type="sldNum" sz="quarter" idx="12"/>
          </p:nvPr>
        </p:nvSpPr>
        <p:spPr/>
        <p:txBody>
          <a:bodyPr/>
          <a:lstStyle/>
          <a:p>
            <a:fld id="{9B618960-8005-486C-9A75-10CB2AAC16F9}" type="slidenum">
              <a:rPr lang="en-US" smtClean="0"/>
              <a:t>9</a:t>
            </a:fld>
            <a:endParaRPr lang="en-US"/>
          </a:p>
        </p:txBody>
      </p:sp>
      <p:pic>
        <p:nvPicPr>
          <p:cNvPr id="7" name="Picture 6">
            <a:extLst>
              <a:ext uri="{FF2B5EF4-FFF2-40B4-BE49-F238E27FC236}">
                <a16:creationId xmlns:a16="http://schemas.microsoft.com/office/drawing/2014/main" id="{ADA94562-03A7-C9E9-0587-DE049BD7F2F2}"/>
              </a:ext>
            </a:extLst>
          </p:cNvPr>
          <p:cNvPicPr>
            <a:picLocks noChangeAspect="1"/>
          </p:cNvPicPr>
          <p:nvPr/>
        </p:nvPicPr>
        <p:blipFill>
          <a:blip r:embed="rId2"/>
          <a:stretch>
            <a:fillRect/>
          </a:stretch>
        </p:blipFill>
        <p:spPr>
          <a:xfrm>
            <a:off x="1621905" y="2535152"/>
            <a:ext cx="5121795" cy="1663601"/>
          </a:xfrm>
          <a:prstGeom prst="rect">
            <a:avLst/>
          </a:prstGeom>
        </p:spPr>
      </p:pic>
    </p:spTree>
    <p:extLst>
      <p:ext uri="{BB962C8B-B14F-4D97-AF65-F5344CB8AC3E}">
        <p14:creationId xmlns:p14="http://schemas.microsoft.com/office/powerpoint/2010/main" val="999597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14E6B3-FB4E-5D7E-F9C9-FCFC146E30E4}"/>
              </a:ext>
            </a:extLst>
          </p:cNvPr>
          <p:cNvSpPr>
            <a:spLocks noGrp="1"/>
          </p:cNvSpPr>
          <p:nvPr>
            <p:ph idx="1"/>
          </p:nvPr>
        </p:nvSpPr>
        <p:spPr/>
        <p:txBody>
          <a:bodyPr/>
          <a:lstStyle/>
          <a:p>
            <a:pPr lvl="1"/>
            <a:r>
              <a:rPr lang="en-US" dirty="0"/>
              <a:t>How They Came Together in Compiler Design</a:t>
            </a:r>
          </a:p>
          <a:p>
            <a:pPr lvl="2"/>
            <a:r>
              <a:rPr lang="en-US" dirty="0"/>
              <a:t>The intersection of Chomsky's classification and Backus &amp; Naur's notation transformed compiler construction from a manual, ad-hoc craft into an automated science:</a:t>
            </a:r>
          </a:p>
          <a:p>
            <a:pPr lvl="3"/>
            <a:r>
              <a:rPr lang="en-US" dirty="0"/>
              <a:t>Phase Division: Frontends split naturally into two phases—Lexer (Type 3 / Regular) and Parser (Type 2 / Context-Free).</a:t>
            </a:r>
          </a:p>
          <a:p>
            <a:pPr lvl="3"/>
            <a:r>
              <a:rPr lang="en-US" dirty="0"/>
              <a:t>Parser Generators: Tools like </a:t>
            </a:r>
            <a:r>
              <a:rPr lang="en-US" dirty="0" err="1"/>
              <a:t>Yacc</a:t>
            </a:r>
            <a:r>
              <a:rPr lang="en-US" dirty="0"/>
              <a:t> and Bison take a context-free grammar written in a BNF variant and automatically generate deterministic parsers (like LALR parsers).</a:t>
            </a:r>
          </a:p>
          <a:p>
            <a:pPr lvl="3"/>
            <a:r>
              <a:rPr lang="en-US" dirty="0"/>
              <a:t>AST Construction: BNF rules form the foundation for building Abstract Syntax Trees (ASTs), which middle-ends optimize before code generation.</a:t>
            </a:r>
          </a:p>
          <a:p>
            <a:pPr lvl="1"/>
            <a:r>
              <a:rPr lang="en-US" b="1" dirty="0"/>
              <a:t>Recursive-descent parsing</a:t>
            </a:r>
            <a:r>
              <a:rPr lang="en-US" dirty="0"/>
              <a:t> and </a:t>
            </a:r>
            <a:r>
              <a:rPr lang="en-US" b="1" dirty="0"/>
              <a:t>bootstrapping</a:t>
            </a:r>
            <a:r>
              <a:rPr lang="en-US" dirty="0"/>
              <a:t> </a:t>
            </a:r>
          </a:p>
          <a:p>
            <a:pPr lvl="2"/>
            <a:r>
              <a:rPr lang="en-US" dirty="0"/>
              <a:t>are two fundamental concepts in compiler implementation. </a:t>
            </a:r>
          </a:p>
          <a:p>
            <a:pPr lvl="3"/>
            <a:r>
              <a:rPr lang="en-US" dirty="0"/>
              <a:t>Recursive descent provides a straightforward, hand-writable technique for syntactic analysis, </a:t>
            </a:r>
          </a:p>
          <a:p>
            <a:pPr lvl="3"/>
            <a:r>
              <a:rPr lang="en-US" dirty="0"/>
              <a:t>while bootstrapping provides a practical method for building self-hosting language compilers from scratch.</a:t>
            </a:r>
          </a:p>
          <a:p>
            <a:r>
              <a:rPr lang="en-US" dirty="0"/>
              <a:t>1970s: UNIX, C, and Automated Frontend Generators</a:t>
            </a:r>
          </a:p>
          <a:p>
            <a:pPr lvl="1"/>
            <a:r>
              <a:rPr lang="en-US" dirty="0"/>
              <a:t>Dennis Ritchie developed </a:t>
            </a:r>
            <a:r>
              <a:rPr lang="en-US" b="1" dirty="0"/>
              <a:t>C</a:t>
            </a:r>
            <a:r>
              <a:rPr lang="en-US" dirty="0"/>
              <a:t>, </a:t>
            </a:r>
          </a:p>
          <a:p>
            <a:pPr lvl="2"/>
            <a:r>
              <a:rPr lang="en-US" dirty="0"/>
              <a:t>designed alongside UNIX to produce portable low-level systems software. </a:t>
            </a:r>
          </a:p>
          <a:p>
            <a:pPr lvl="2"/>
            <a:r>
              <a:rPr lang="en-US" dirty="0"/>
              <a:t>Automated parser generator tools like </a:t>
            </a:r>
            <a:r>
              <a:rPr lang="en-US" b="1" dirty="0" err="1"/>
              <a:t>Yacc</a:t>
            </a:r>
            <a:r>
              <a:rPr lang="en-US" dirty="0"/>
              <a:t> (Yet Another Compiler-Compiler) and </a:t>
            </a:r>
          </a:p>
          <a:p>
            <a:pPr lvl="2"/>
            <a:r>
              <a:rPr lang="en-US" b="1" dirty="0"/>
              <a:t>Lex</a:t>
            </a:r>
            <a:r>
              <a:rPr lang="en-US" dirty="0"/>
              <a:t> simplified compiler design by generating </a:t>
            </a:r>
            <a:r>
              <a:rPr lang="en-US" dirty="0" err="1"/>
              <a:t>lexers</a:t>
            </a:r>
            <a:r>
              <a:rPr lang="en-US" dirty="0"/>
              <a:t> and parsers from context-free grammar specifications.</a:t>
            </a:r>
          </a:p>
        </p:txBody>
      </p:sp>
      <p:sp>
        <p:nvSpPr>
          <p:cNvPr id="3" name="Date Placeholder 2">
            <a:extLst>
              <a:ext uri="{FF2B5EF4-FFF2-40B4-BE49-F238E27FC236}">
                <a16:creationId xmlns:a16="http://schemas.microsoft.com/office/drawing/2014/main" id="{499ADC5C-72C6-210A-BA29-6C7370ED327F}"/>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06BAFAF2-E29E-06F6-2962-8FAB35E6F393}"/>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350204FE-75D0-EECB-D8AC-FC56C22288D2}"/>
              </a:ext>
            </a:extLst>
          </p:cNvPr>
          <p:cNvSpPr>
            <a:spLocks noGrp="1"/>
          </p:cNvSpPr>
          <p:nvPr>
            <p:ph type="sldNum" sz="quarter" idx="12"/>
          </p:nvPr>
        </p:nvSpPr>
        <p:spPr/>
        <p:txBody>
          <a:bodyPr/>
          <a:lstStyle/>
          <a:p>
            <a:fld id="{9B618960-8005-486C-9A75-10CB2AAC16F9}" type="slidenum">
              <a:rPr lang="en-US" smtClean="0"/>
              <a:t>10</a:t>
            </a:fld>
            <a:endParaRPr lang="en-US"/>
          </a:p>
        </p:txBody>
      </p:sp>
    </p:spTree>
    <p:extLst>
      <p:ext uri="{BB962C8B-B14F-4D97-AF65-F5344CB8AC3E}">
        <p14:creationId xmlns:p14="http://schemas.microsoft.com/office/powerpoint/2010/main" val="2793540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15AC13-1172-4AD6-86BC-DBEE7C029DE7}"/>
              </a:ext>
            </a:extLst>
          </p:cNvPr>
          <p:cNvSpPr>
            <a:spLocks noGrp="1"/>
          </p:cNvSpPr>
          <p:nvPr>
            <p:ph idx="1"/>
          </p:nvPr>
        </p:nvSpPr>
        <p:spPr/>
        <p:txBody>
          <a:bodyPr/>
          <a:lstStyle/>
          <a:p>
            <a:r>
              <a:rPr lang="en-US" dirty="0"/>
              <a:t>1980s–1990s: Modern Optimization &amp; SSA Form</a:t>
            </a:r>
          </a:p>
          <a:p>
            <a:pPr lvl="1"/>
            <a:r>
              <a:rPr lang="en-US" dirty="0"/>
              <a:t>Compilers shifted focus to sophisticated middle-end optimizations. </a:t>
            </a:r>
          </a:p>
          <a:p>
            <a:pPr lvl="2"/>
            <a:r>
              <a:rPr lang="en-US" b="1" dirty="0"/>
              <a:t>Static Single Assignment (SSA)</a:t>
            </a:r>
            <a:r>
              <a:rPr lang="en-US" dirty="0"/>
              <a:t> form was introduced, </a:t>
            </a:r>
          </a:p>
          <a:p>
            <a:pPr lvl="3"/>
            <a:r>
              <a:rPr lang="en-US" dirty="0"/>
              <a:t>vastly simplifying optimization passes like </a:t>
            </a:r>
          </a:p>
          <a:p>
            <a:pPr lvl="4"/>
            <a:r>
              <a:rPr lang="en-US" dirty="0"/>
              <a:t>global value numbering, </a:t>
            </a:r>
          </a:p>
          <a:p>
            <a:pPr lvl="4"/>
            <a:r>
              <a:rPr lang="en-US" dirty="0"/>
              <a:t>dead code elimination, </a:t>
            </a:r>
          </a:p>
          <a:p>
            <a:pPr lvl="4"/>
            <a:r>
              <a:rPr lang="en-US" dirty="0"/>
              <a:t>and register allocation via graph coloring. </a:t>
            </a:r>
          </a:p>
          <a:p>
            <a:pPr lvl="2"/>
            <a:r>
              <a:rPr lang="en-US" dirty="0"/>
              <a:t>GNU's </a:t>
            </a:r>
            <a:r>
              <a:rPr lang="en-US" b="1" dirty="0"/>
              <a:t>GCC</a:t>
            </a:r>
            <a:r>
              <a:rPr lang="en-US" dirty="0"/>
              <a:t> became the open-source standard across platform architectures.</a:t>
            </a:r>
          </a:p>
          <a:p>
            <a:pPr lvl="1"/>
            <a:r>
              <a:rPr lang="en-US" b="1" dirty="0"/>
              <a:t>Static Single Assignment (SSA)</a:t>
            </a:r>
            <a:r>
              <a:rPr lang="en-US" dirty="0"/>
              <a:t> </a:t>
            </a:r>
          </a:p>
          <a:p>
            <a:pPr lvl="2"/>
            <a:r>
              <a:rPr lang="en-US" dirty="0"/>
              <a:t>is an intermediate representation (IR) property used by </a:t>
            </a:r>
          </a:p>
          <a:p>
            <a:pPr lvl="3"/>
            <a:r>
              <a:rPr lang="en-US" dirty="0"/>
              <a:t>modern compilers (such as LLVM, GCC, and the Go compiler) where </a:t>
            </a:r>
          </a:p>
          <a:p>
            <a:pPr lvl="4"/>
            <a:r>
              <a:rPr lang="en-US" b="1" dirty="0"/>
              <a:t>every variable is assigned exactly once</a:t>
            </a:r>
            <a:r>
              <a:rPr lang="en-US" dirty="0"/>
              <a:t>, and </a:t>
            </a:r>
          </a:p>
          <a:p>
            <a:pPr lvl="5"/>
            <a:r>
              <a:rPr lang="en-US" b="1" dirty="0"/>
              <a:t>every variable must be defined before it is used</a:t>
            </a:r>
            <a:r>
              <a:rPr lang="en-US" dirty="0"/>
              <a:t>.</a:t>
            </a:r>
          </a:p>
          <a:p>
            <a:pPr lvl="3"/>
            <a:r>
              <a:rPr lang="en-US" dirty="0"/>
              <a:t>Non-SSA Code (Source Code):</a:t>
            </a:r>
          </a:p>
          <a:p>
            <a:pPr lvl="3"/>
            <a:endParaRPr lang="en-US" dirty="0"/>
          </a:p>
          <a:p>
            <a:pPr lvl="1"/>
            <a:endParaRPr lang="en-US" dirty="0"/>
          </a:p>
        </p:txBody>
      </p:sp>
      <p:sp>
        <p:nvSpPr>
          <p:cNvPr id="3" name="Date Placeholder 2">
            <a:extLst>
              <a:ext uri="{FF2B5EF4-FFF2-40B4-BE49-F238E27FC236}">
                <a16:creationId xmlns:a16="http://schemas.microsoft.com/office/drawing/2014/main" id="{B8053553-B63A-F0B5-C469-9A955AE9FFBD}"/>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85F8BA54-9D61-3EF7-0E16-5B1575A6A19F}"/>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03360527-8EE3-3B8F-6B80-48FE491263E4}"/>
              </a:ext>
            </a:extLst>
          </p:cNvPr>
          <p:cNvSpPr>
            <a:spLocks noGrp="1"/>
          </p:cNvSpPr>
          <p:nvPr>
            <p:ph type="sldNum" sz="quarter" idx="12"/>
          </p:nvPr>
        </p:nvSpPr>
        <p:spPr/>
        <p:txBody>
          <a:bodyPr/>
          <a:lstStyle/>
          <a:p>
            <a:fld id="{9B618960-8005-486C-9A75-10CB2AAC16F9}" type="slidenum">
              <a:rPr lang="en-US" smtClean="0"/>
              <a:t>11</a:t>
            </a:fld>
            <a:endParaRPr lang="en-US"/>
          </a:p>
        </p:txBody>
      </p:sp>
      <p:pic>
        <p:nvPicPr>
          <p:cNvPr id="7" name="Picture 6">
            <a:extLst>
              <a:ext uri="{FF2B5EF4-FFF2-40B4-BE49-F238E27FC236}">
                <a16:creationId xmlns:a16="http://schemas.microsoft.com/office/drawing/2014/main" id="{189F041C-94BB-FDA5-0A06-237843021588}"/>
              </a:ext>
            </a:extLst>
          </p:cNvPr>
          <p:cNvPicPr>
            <a:picLocks noChangeAspect="1"/>
          </p:cNvPicPr>
          <p:nvPr/>
        </p:nvPicPr>
        <p:blipFill>
          <a:blip r:embed="rId2"/>
          <a:stretch>
            <a:fillRect/>
          </a:stretch>
        </p:blipFill>
        <p:spPr>
          <a:xfrm>
            <a:off x="4748130" y="4422699"/>
            <a:ext cx="1538370" cy="1086002"/>
          </a:xfrm>
          <a:prstGeom prst="rect">
            <a:avLst/>
          </a:prstGeom>
        </p:spPr>
      </p:pic>
      <p:pic>
        <p:nvPicPr>
          <p:cNvPr id="9" name="Picture 8">
            <a:extLst>
              <a:ext uri="{FF2B5EF4-FFF2-40B4-BE49-F238E27FC236}">
                <a16:creationId xmlns:a16="http://schemas.microsoft.com/office/drawing/2014/main" id="{1A9D1029-E2EC-7CB7-349C-92DAA530E70A}"/>
              </a:ext>
            </a:extLst>
          </p:cNvPr>
          <p:cNvPicPr>
            <a:picLocks noChangeAspect="1"/>
          </p:cNvPicPr>
          <p:nvPr/>
        </p:nvPicPr>
        <p:blipFill>
          <a:blip r:embed="rId3"/>
          <a:stretch>
            <a:fillRect/>
          </a:stretch>
        </p:blipFill>
        <p:spPr>
          <a:xfrm>
            <a:off x="2743200" y="5083094"/>
            <a:ext cx="1552792" cy="1162212"/>
          </a:xfrm>
          <a:prstGeom prst="rect">
            <a:avLst/>
          </a:prstGeom>
        </p:spPr>
      </p:pic>
      <p:sp>
        <p:nvSpPr>
          <p:cNvPr id="10" name="TextBox 9">
            <a:extLst>
              <a:ext uri="{FF2B5EF4-FFF2-40B4-BE49-F238E27FC236}">
                <a16:creationId xmlns:a16="http://schemas.microsoft.com/office/drawing/2014/main" id="{25779AFB-5135-E4BC-2E1C-3232D3C70656}"/>
              </a:ext>
            </a:extLst>
          </p:cNvPr>
          <p:cNvSpPr txBox="1"/>
          <p:nvPr/>
        </p:nvSpPr>
        <p:spPr>
          <a:xfrm>
            <a:off x="130882" y="5450354"/>
            <a:ext cx="2612318" cy="646331"/>
          </a:xfrm>
          <a:prstGeom prst="rect">
            <a:avLst/>
          </a:prstGeom>
          <a:noFill/>
        </p:spPr>
        <p:txBody>
          <a:bodyPr wrap="none" rtlCol="0">
            <a:spAutoFit/>
          </a:bodyPr>
          <a:lstStyle/>
          <a:p>
            <a:r>
              <a:rPr lang="en-US" dirty="0"/>
              <a:t>SSA Form Transformation:</a:t>
            </a:r>
          </a:p>
          <a:p>
            <a:endParaRPr lang="en-US" dirty="0"/>
          </a:p>
        </p:txBody>
      </p:sp>
    </p:spTree>
    <p:extLst>
      <p:ext uri="{BB962C8B-B14F-4D97-AF65-F5344CB8AC3E}">
        <p14:creationId xmlns:p14="http://schemas.microsoft.com/office/powerpoint/2010/main" val="3626985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DB1158F-BD54-C507-4E84-A2D3900F22F8}"/>
                  </a:ext>
                </a:extLst>
              </p:cNvPr>
              <p:cNvSpPr>
                <a:spLocks noGrp="1"/>
              </p:cNvSpPr>
              <p:nvPr>
                <p:ph idx="1"/>
              </p:nvPr>
            </p:nvSpPr>
            <p:spPr/>
            <p:txBody>
              <a:bodyPr>
                <a:normAutofit fontScale="92500" lnSpcReduction="10000"/>
              </a:bodyPr>
              <a:lstStyle/>
              <a:p>
                <a:r>
                  <a:rPr lang="en-US" dirty="0"/>
                  <a:t>2000s–Present: Modular Architectures (LLVM) &amp; JIT</a:t>
                </a:r>
              </a:p>
              <a:p>
                <a:pPr lvl="1"/>
                <a:r>
                  <a:rPr lang="en-US" dirty="0"/>
                  <a:t>Chris Lattner introduced </a:t>
                </a:r>
                <a:r>
                  <a:rPr lang="en-US" b="1" dirty="0"/>
                  <a:t>LLVM</a:t>
                </a:r>
                <a:r>
                  <a:rPr lang="en-US" dirty="0"/>
                  <a:t>, </a:t>
                </a:r>
              </a:p>
              <a:p>
                <a:pPr lvl="2"/>
                <a:r>
                  <a:rPr lang="en-US" dirty="0"/>
                  <a:t>decoupling compilers into modular frontends, </a:t>
                </a:r>
              </a:p>
              <a:p>
                <a:pPr lvl="3"/>
                <a:r>
                  <a:rPr lang="en-US" dirty="0"/>
                  <a:t>target-agnostic intermediate representations (IR), and </a:t>
                </a:r>
              </a:p>
              <a:p>
                <a:pPr lvl="3"/>
                <a:r>
                  <a:rPr lang="en-US" dirty="0"/>
                  <a:t>backend code generators. </a:t>
                </a:r>
              </a:p>
              <a:p>
                <a:pPr lvl="3"/>
                <a:r>
                  <a:rPr lang="en-US" dirty="0"/>
                  <a:t>Modern development leans heavily on </a:t>
                </a:r>
              </a:p>
              <a:p>
                <a:pPr lvl="4"/>
                <a:r>
                  <a:rPr lang="en-US" dirty="0"/>
                  <a:t>Just-In-Time (JIT) compilation (V8, JVM) and safety-focused static guarantees (Rust/</a:t>
                </a:r>
                <a:r>
                  <a:rPr lang="en-US" dirty="0" err="1"/>
                  <a:t>rustc</a:t>
                </a:r>
                <a:r>
                  <a:rPr lang="en-US" dirty="0"/>
                  <a:t>).</a:t>
                </a:r>
              </a:p>
              <a:p>
                <a:pPr lvl="1"/>
                <a:r>
                  <a:rPr lang="en-US" b="1" dirty="0"/>
                  <a:t>LLVM</a:t>
                </a:r>
                <a:r>
                  <a:rPr lang="en-US" dirty="0"/>
                  <a:t> (originally standing for </a:t>
                </a:r>
                <a:r>
                  <a:rPr lang="en-US" i="1" dirty="0"/>
                  <a:t>Low Level Virtual Machine)</a:t>
                </a:r>
              </a:p>
              <a:p>
                <a:pPr lvl="2"/>
                <a:r>
                  <a:rPr lang="en-US" dirty="0"/>
                  <a:t>a modular, reusable compiler and toolchain infrastructure. </a:t>
                </a:r>
              </a:p>
              <a:p>
                <a:pPr lvl="2"/>
                <a:r>
                  <a:rPr lang="en-US" dirty="0"/>
                  <a:t>LLVM revolutionized compiler architecture by decoupling frontends from backends through a universal, highly optimizable Intermediate Representation (IR).</a:t>
                </a:r>
              </a:p>
              <a:p>
                <a:pPr lvl="2"/>
                <a:r>
                  <a:rPr lang="en-US" dirty="0"/>
                  <a:t>The Three-Phase Compiler Architecture</a:t>
                </a:r>
              </a:p>
              <a:p>
                <a:pPr lvl="3"/>
                <a:r>
                  <a:rPr lang="en-US" dirty="0"/>
                  <a:t>Before LLVM, compilers like GCC tightly coupled language frontends with hardware backends. LLVM popularized a strictly decoupled three-phase design:</a:t>
                </a:r>
              </a:p>
              <a:p>
                <a:pPr lvl="4"/>
                <a14:m>
                  <m:oMath xmlns:m="http://schemas.openxmlformats.org/officeDocument/2006/math">
                    <m:r>
                      <m:rPr>
                        <m:nor/>
                      </m:rPr>
                      <a:rPr lang="en-US" i="0"/>
                      <m:t>Source Code</m:t>
                    </m:r>
                    <m:r>
                      <a:rPr lang="en-US">
                        <a:latin typeface="Cambria Math" panose="02040503050406030204" pitchFamily="18" charset="0"/>
                      </a:rPr>
                      <m:t>⟶</m:t>
                    </m:r>
                    <m:r>
                      <a:rPr lang="en-US" b="1">
                        <a:latin typeface="Cambria Math" panose="02040503050406030204" pitchFamily="18" charset="0"/>
                      </a:rPr>
                      <m:t>𝐅𝐫𝐨𝐧𝐭𝐞𝐧𝐝</m:t>
                    </m:r>
                    <m:r>
                      <a:rPr lang="en-US">
                        <a:latin typeface="Cambria Math" panose="02040503050406030204" pitchFamily="18" charset="0"/>
                      </a:rPr>
                      <m:t>⟶</m:t>
                    </m:r>
                    <m:r>
                      <a:rPr lang="en-US" b="1">
                        <a:latin typeface="Cambria Math" panose="02040503050406030204" pitchFamily="18" charset="0"/>
                      </a:rPr>
                      <m:t>𝐋𝐋𝐕𝐌</m:t>
                    </m:r>
                    <m:r>
                      <a:rPr lang="en-US">
                        <a:latin typeface="Cambria Math" panose="02040503050406030204" pitchFamily="18" charset="0"/>
                      </a:rPr>
                      <m:t> </m:t>
                    </m:r>
                    <m:r>
                      <a:rPr lang="en-US" b="1">
                        <a:latin typeface="Cambria Math" panose="02040503050406030204" pitchFamily="18" charset="0"/>
                      </a:rPr>
                      <m:t>𝐈𝐑</m:t>
                    </m:r>
                    <m:r>
                      <a:rPr lang="en-US">
                        <a:latin typeface="Cambria Math" panose="02040503050406030204" pitchFamily="18" charset="0"/>
                      </a:rPr>
                      <m:t>⟶</m:t>
                    </m:r>
                    <m:r>
                      <a:rPr lang="en-US" b="1">
                        <a:latin typeface="Cambria Math" panose="02040503050406030204" pitchFamily="18" charset="0"/>
                      </a:rPr>
                      <m:t>𝐎𝐩𝐭𝐢𝐦𝐢𝐳𝐞𝐫</m:t>
                    </m:r>
                    <m:r>
                      <a:rPr lang="en-US">
                        <a:latin typeface="Cambria Math" panose="02040503050406030204" pitchFamily="18" charset="0"/>
                      </a:rPr>
                      <m:t>⟶</m:t>
                    </m:r>
                    <m:r>
                      <a:rPr lang="en-US" b="1">
                        <a:latin typeface="Cambria Math" panose="02040503050406030204" pitchFamily="18" charset="0"/>
                      </a:rPr>
                      <m:t>𝐋𝐋𝐕𝐌</m:t>
                    </m:r>
                    <m:r>
                      <a:rPr lang="en-US">
                        <a:latin typeface="Cambria Math" panose="02040503050406030204" pitchFamily="18" charset="0"/>
                      </a:rPr>
                      <m:t> </m:t>
                    </m:r>
                    <m:r>
                      <a:rPr lang="en-US" b="1">
                        <a:latin typeface="Cambria Math" panose="02040503050406030204" pitchFamily="18" charset="0"/>
                      </a:rPr>
                      <m:t>𝐈𝐑</m:t>
                    </m:r>
                    <m:r>
                      <a:rPr lang="en-US">
                        <a:latin typeface="Cambria Math" panose="02040503050406030204" pitchFamily="18" charset="0"/>
                      </a:rPr>
                      <m:t>⟶</m:t>
                    </m:r>
                    <m:r>
                      <a:rPr lang="en-US" b="1">
                        <a:latin typeface="Cambria Math" panose="02040503050406030204" pitchFamily="18" charset="0"/>
                      </a:rPr>
                      <m:t>𝐁𝐚𝐜𝐤𝐞𝐧𝐝</m:t>
                    </m:r>
                    <m:r>
                      <a:rPr lang="en-US">
                        <a:latin typeface="Cambria Math" panose="02040503050406030204" pitchFamily="18" charset="0"/>
                      </a:rPr>
                      <m:t>⟶</m:t>
                    </m:r>
                    <m:r>
                      <m:rPr>
                        <m:nor/>
                      </m:rPr>
                      <a:rPr lang="en-US" i="0"/>
                      <m:t>Machine Code</m:t>
                    </m:r>
                  </m:oMath>
                </a14:m>
                <a:endParaRPr lang="en-US" dirty="0"/>
              </a:p>
              <a:p>
                <a:pPr lvl="3"/>
                <a:r>
                  <a:rPr lang="en-US" dirty="0"/>
                  <a:t>Frontend: Parses source code, performs semantic analysis, and translates the code into LLVM IR (e.g., Clang for C/C++, </a:t>
                </a:r>
                <a:r>
                  <a:rPr lang="en-US" dirty="0" err="1"/>
                  <a:t>rustc</a:t>
                </a:r>
                <a:r>
                  <a:rPr lang="en-US" dirty="0"/>
                  <a:t> for Rust, </a:t>
                </a:r>
                <a:r>
                  <a:rPr lang="en-US" dirty="0" err="1"/>
                  <a:t>swiftc</a:t>
                </a:r>
                <a:r>
                  <a:rPr lang="en-US" dirty="0"/>
                  <a:t> for Swift).</a:t>
                </a:r>
              </a:p>
              <a:p>
                <a:pPr lvl="3"/>
                <a:endParaRPr lang="en-US" dirty="0"/>
              </a:p>
              <a:p>
                <a:pPr lvl="3"/>
                <a:r>
                  <a:rPr lang="en-US" dirty="0"/>
                  <a:t>Optimizer (Middle-End): Executes machine-independent optimizations (dead code elimination, loop unrolling, constant propagation) on the LLVM IR.</a:t>
                </a:r>
              </a:p>
              <a:p>
                <a:pPr lvl="3"/>
                <a:endParaRPr lang="en-US" dirty="0"/>
              </a:p>
              <a:p>
                <a:pPr lvl="3"/>
                <a:r>
                  <a:rPr lang="en-US" dirty="0"/>
                  <a:t>Backend: Lowers optimized LLVM IR into target-specific assembly or machine code (e.g., x86, ARM, RISC-V, </a:t>
                </a:r>
                <a:r>
                  <a:rPr lang="en-US" dirty="0" err="1"/>
                  <a:t>WebAssembly</a:t>
                </a:r>
                <a:r>
                  <a:rPr lang="en-US" dirty="0"/>
                  <a:t>).</a:t>
                </a:r>
              </a:p>
              <a:p>
                <a:pPr lvl="2"/>
                <a:endParaRPr lang="en-US" dirty="0"/>
              </a:p>
            </p:txBody>
          </p:sp>
        </mc:Choice>
        <mc:Fallback xmlns="">
          <p:sp>
            <p:nvSpPr>
              <p:cNvPr id="2" name="Content Placeholder 1">
                <a:extLst>
                  <a:ext uri="{FF2B5EF4-FFF2-40B4-BE49-F238E27FC236}">
                    <a16:creationId xmlns:a16="http://schemas.microsoft.com/office/drawing/2014/main" id="{ADB1158F-BD54-C507-4E84-A2D3900F22F8}"/>
                  </a:ext>
                </a:extLst>
              </p:cNvPr>
              <p:cNvSpPr>
                <a:spLocks noGrp="1" noRot="1" noChangeAspect="1" noMove="1" noResize="1" noEditPoints="1" noAdjustHandles="1" noChangeArrowheads="1" noChangeShapeType="1" noTextEdit="1"/>
              </p:cNvSpPr>
              <p:nvPr>
                <p:ph idx="1"/>
              </p:nvPr>
            </p:nvSpPr>
            <p:spPr>
              <a:blipFill>
                <a:blip r:embed="rId2"/>
                <a:stretch>
                  <a:fillRect l="-750" t="-1918" r="-650" b="-767"/>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95E5DBA4-AD99-1877-3A6E-C0EB0C415FFD}"/>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BCD58AFA-AB53-1678-F0DF-DC84AC5035AC}"/>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88D5FC1-70BD-5BB9-0F87-A7CD7878B69E}"/>
              </a:ext>
            </a:extLst>
          </p:cNvPr>
          <p:cNvSpPr>
            <a:spLocks noGrp="1"/>
          </p:cNvSpPr>
          <p:nvPr>
            <p:ph type="sldNum" sz="quarter" idx="12"/>
          </p:nvPr>
        </p:nvSpPr>
        <p:spPr/>
        <p:txBody>
          <a:bodyPr/>
          <a:lstStyle/>
          <a:p>
            <a:fld id="{9B618960-8005-486C-9A75-10CB2AAC16F9}" type="slidenum">
              <a:rPr lang="en-US" smtClean="0"/>
              <a:t>12</a:t>
            </a:fld>
            <a:endParaRPr lang="en-US"/>
          </a:p>
        </p:txBody>
      </p:sp>
    </p:spTree>
    <p:extLst>
      <p:ext uri="{BB962C8B-B14F-4D97-AF65-F5344CB8AC3E}">
        <p14:creationId xmlns:p14="http://schemas.microsoft.com/office/powerpoint/2010/main" val="1154834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8B1E36-B722-1675-D896-3E8E725412FB}"/>
              </a:ext>
            </a:extLst>
          </p:cNvPr>
          <p:cNvSpPr>
            <a:spLocks noGrp="1"/>
          </p:cNvSpPr>
          <p:nvPr>
            <p:ph idx="1"/>
          </p:nvPr>
        </p:nvSpPr>
        <p:spPr/>
        <p:txBody>
          <a:bodyPr/>
          <a:lstStyle/>
          <a:p>
            <a:r>
              <a:rPr lang="en-US" dirty="0"/>
              <a:t>LLVM Intermediate Representation (LLVM IR)</a:t>
            </a:r>
          </a:p>
          <a:p>
            <a:pPr lvl="1"/>
            <a:r>
              <a:rPr lang="en-US" dirty="0"/>
              <a:t>LLVM IR is the universal language used across the entire toolchain. It is a strongly typed, RISC-like instruction set formatted in </a:t>
            </a:r>
            <a:r>
              <a:rPr lang="en-US" b="1" dirty="0"/>
              <a:t>Static Single Assignment (SSA)</a:t>
            </a:r>
            <a:r>
              <a:rPr lang="en-US" dirty="0"/>
              <a:t>.</a:t>
            </a:r>
          </a:p>
          <a:p>
            <a:pPr lvl="1"/>
            <a:r>
              <a:rPr lang="en-US" dirty="0"/>
              <a:t>Ahead-Of-Time (AOT) and Just-In-Time (JIT) compilation</a:t>
            </a:r>
          </a:p>
        </p:txBody>
      </p:sp>
      <p:sp>
        <p:nvSpPr>
          <p:cNvPr id="3" name="Date Placeholder 2">
            <a:extLst>
              <a:ext uri="{FF2B5EF4-FFF2-40B4-BE49-F238E27FC236}">
                <a16:creationId xmlns:a16="http://schemas.microsoft.com/office/drawing/2014/main" id="{6650AAE9-5368-8BB8-443C-ED1172809F14}"/>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A571396C-E110-47AE-BBAE-F581069130DB}"/>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6D11F267-4E9E-E202-7E7E-9E3A40FFCFDB}"/>
              </a:ext>
            </a:extLst>
          </p:cNvPr>
          <p:cNvSpPr>
            <a:spLocks noGrp="1"/>
          </p:cNvSpPr>
          <p:nvPr>
            <p:ph type="sldNum" sz="quarter" idx="12"/>
          </p:nvPr>
        </p:nvSpPr>
        <p:spPr/>
        <p:txBody>
          <a:bodyPr/>
          <a:lstStyle/>
          <a:p>
            <a:fld id="{9B618960-8005-486C-9A75-10CB2AAC16F9}" type="slidenum">
              <a:rPr lang="en-US" smtClean="0"/>
              <a:t>13</a:t>
            </a:fld>
            <a:endParaRPr lang="en-US"/>
          </a:p>
        </p:txBody>
      </p:sp>
      <p:graphicFrame>
        <p:nvGraphicFramePr>
          <p:cNvPr id="6" name="Table 5">
            <a:extLst>
              <a:ext uri="{FF2B5EF4-FFF2-40B4-BE49-F238E27FC236}">
                <a16:creationId xmlns:a16="http://schemas.microsoft.com/office/drawing/2014/main" id="{A15D2C6B-CEBE-1895-5019-2AFB61BB10E0}"/>
              </a:ext>
            </a:extLst>
          </p:cNvPr>
          <p:cNvGraphicFramePr>
            <a:graphicFrameLocks noGrp="1"/>
          </p:cNvGraphicFramePr>
          <p:nvPr>
            <p:extLst>
              <p:ext uri="{D42A27DB-BD31-4B8C-83A1-F6EECF244321}">
                <p14:modId xmlns:p14="http://schemas.microsoft.com/office/powerpoint/2010/main" val="199035817"/>
              </p:ext>
            </p:extLst>
          </p:nvPr>
        </p:nvGraphicFramePr>
        <p:xfrm>
          <a:off x="508000" y="1612900"/>
          <a:ext cx="10960101" cy="4743451"/>
        </p:xfrm>
        <a:graphic>
          <a:graphicData uri="http://schemas.openxmlformats.org/drawingml/2006/table">
            <a:tbl>
              <a:tblPr/>
              <a:tblGrid>
                <a:gridCol w="3653367">
                  <a:extLst>
                    <a:ext uri="{9D8B030D-6E8A-4147-A177-3AD203B41FA5}">
                      <a16:colId xmlns:a16="http://schemas.microsoft.com/office/drawing/2014/main" val="432788705"/>
                    </a:ext>
                  </a:extLst>
                </a:gridCol>
                <a:gridCol w="3653367">
                  <a:extLst>
                    <a:ext uri="{9D8B030D-6E8A-4147-A177-3AD203B41FA5}">
                      <a16:colId xmlns:a16="http://schemas.microsoft.com/office/drawing/2014/main" val="1184024708"/>
                    </a:ext>
                  </a:extLst>
                </a:gridCol>
                <a:gridCol w="3653367">
                  <a:extLst>
                    <a:ext uri="{9D8B030D-6E8A-4147-A177-3AD203B41FA5}">
                      <a16:colId xmlns:a16="http://schemas.microsoft.com/office/drawing/2014/main" val="4063202674"/>
                    </a:ext>
                  </a:extLst>
                </a:gridCol>
              </a:tblGrid>
              <a:tr h="291263">
                <a:tc>
                  <a:txBody>
                    <a:bodyPr/>
                    <a:lstStyle/>
                    <a:p>
                      <a:pPr>
                        <a:spcAft>
                          <a:spcPts val="2400"/>
                        </a:spcAft>
                        <a:buNone/>
                      </a:pPr>
                      <a:r>
                        <a:rPr lang="en-US" sz="1100" b="1">
                          <a:effectLst/>
                          <a:latin typeface="Google Sans Text"/>
                        </a:rPr>
                        <a:t>Trade-off Factor</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Ahead-Of-Time (AOT)</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Just-In-Time (JIT)</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2341408"/>
                  </a:ext>
                </a:extLst>
              </a:tr>
              <a:tr h="852989">
                <a:tc>
                  <a:txBody>
                    <a:bodyPr/>
                    <a:lstStyle/>
                    <a:p>
                      <a:pPr>
                        <a:spcAft>
                          <a:spcPts val="2400"/>
                        </a:spcAft>
                        <a:buNone/>
                      </a:pPr>
                      <a:r>
                        <a:rPr lang="en-US" sz="1100" b="1">
                          <a:effectLst/>
                          <a:latin typeface="Google Sans Text"/>
                        </a:rPr>
                        <a:t>Startup Overhead</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Near Instant:</a:t>
                      </a:r>
                      <a:r>
                        <a:rPr lang="en-US" sz="1100">
                          <a:effectLst/>
                          <a:latin typeface="Google Sans Text"/>
                        </a:rPr>
                        <a:t> Executes pre-compiled native binaries directly without runtime compilation delays.</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Warm-up Latency:</a:t>
                      </a:r>
                      <a:r>
                        <a:rPr lang="en-US" sz="1100">
                          <a:effectLst/>
                          <a:latin typeface="Google Sans Text"/>
                        </a:rPr>
                        <a:t> Higher initial overhead while interpreting bytecode or compiling hot code paths on the fly.</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64875944"/>
                  </a:ext>
                </a:extLst>
              </a:tr>
              <a:tr h="1040232">
                <a:tc>
                  <a:txBody>
                    <a:bodyPr/>
                    <a:lstStyle/>
                    <a:p>
                      <a:pPr>
                        <a:spcAft>
                          <a:spcPts val="2400"/>
                        </a:spcAft>
                        <a:buNone/>
                      </a:pPr>
                      <a:r>
                        <a:rPr lang="en-US" sz="1100" b="1">
                          <a:effectLst/>
                          <a:latin typeface="Google Sans Text"/>
                        </a:rPr>
                        <a:t>Peak Performance Potential</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Static Optimization:</a:t>
                      </a:r>
                      <a:r>
                        <a:rPr lang="en-US" sz="1100">
                          <a:effectLst/>
                          <a:latin typeface="Google Sans Text"/>
                        </a:rPr>
                        <a:t> Relies on compile-time static analysis, loop unrolling, and link-time optimizations (LTO).</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Dynamic / Profile-Guided Optimization (PGO):</a:t>
                      </a:r>
                      <a:r>
                        <a:rPr lang="en-US" sz="1100">
                          <a:effectLst/>
                          <a:latin typeface="Google Sans Text"/>
                        </a:rPr>
                        <a:t> Uses live execution profiles to dynamically inline, devirtualize, and optimize hot loops.</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50796228"/>
                  </a:ext>
                </a:extLst>
              </a:tr>
              <a:tr h="852989">
                <a:tc>
                  <a:txBody>
                    <a:bodyPr/>
                    <a:lstStyle/>
                    <a:p>
                      <a:pPr>
                        <a:spcAft>
                          <a:spcPts val="2400"/>
                        </a:spcAft>
                        <a:buNone/>
                      </a:pPr>
                      <a:r>
                        <a:rPr lang="en-US" sz="1100" b="1">
                          <a:effectLst/>
                          <a:latin typeface="Google Sans Text"/>
                        </a:rPr>
                        <a:t>Memory Footprint</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Minimal:</a:t>
                      </a:r>
                      <a:r>
                        <a:rPr lang="en-US" sz="1100">
                          <a:effectLst/>
                          <a:latin typeface="Google Sans Text"/>
                        </a:rPr>
                        <a:t> Requires memory only for executable code and runtime application state.</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Heavy:</a:t>
                      </a:r>
                      <a:r>
                        <a:rPr lang="en-US" sz="1100">
                          <a:effectLst/>
                          <a:latin typeface="Google Sans Text"/>
                        </a:rPr>
                        <a:t> Requires additional RAM to keep the compiler engine, bytecode, virtual machine runtime, and profile counters active.</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49130551"/>
                  </a:ext>
                </a:extLst>
              </a:tr>
              <a:tr h="852989">
                <a:tc>
                  <a:txBody>
                    <a:bodyPr/>
                    <a:lstStyle/>
                    <a:p>
                      <a:pPr>
                        <a:spcAft>
                          <a:spcPts val="2400"/>
                        </a:spcAft>
                        <a:buNone/>
                      </a:pPr>
                      <a:r>
                        <a:rPr lang="en-US" sz="1100" b="1">
                          <a:effectLst/>
                          <a:latin typeface="Google Sans Text"/>
                        </a:rPr>
                        <a:t>Portability &amp; Distribution</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Target-Specific Binaries:</a:t>
                      </a:r>
                      <a:r>
                        <a:rPr lang="en-US" sz="1100">
                          <a:effectLst/>
                          <a:latin typeface="Google Sans Text"/>
                        </a:rPr>
                        <a:t> Must build separate platform-specific executables for every target OS/architecture.</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Portable Bytecode:</a:t>
                      </a:r>
                      <a:r>
                        <a:rPr lang="en-US" sz="1100">
                          <a:effectLst/>
                          <a:latin typeface="Google Sans Text"/>
                        </a:rPr>
                        <a:t> Distributes unified, platform-agnostic code (.class, .wasm) that runs anywhere a JIT engine exists.</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447566063"/>
                  </a:ext>
                </a:extLst>
              </a:tr>
              <a:tr h="852989">
                <a:tc>
                  <a:txBody>
                    <a:bodyPr/>
                    <a:lstStyle/>
                    <a:p>
                      <a:pPr>
                        <a:spcAft>
                          <a:spcPts val="2400"/>
                        </a:spcAft>
                        <a:buNone/>
                      </a:pPr>
                      <a:r>
                        <a:rPr lang="en-US" sz="1100" b="1">
                          <a:effectLst/>
                          <a:latin typeface="Google Sans Text"/>
                        </a:rPr>
                        <a:t>Speculative Optimization</a:t>
                      </a:r>
                      <a:endParaRPr lang="en-US" sz="1100">
                        <a:effectLst/>
                        <a:latin typeface="Google Sans Text"/>
                      </a:endParaRP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a:effectLst/>
                          <a:latin typeface="Google Sans Text"/>
                        </a:rPr>
                        <a:t>Conservative:</a:t>
                      </a:r>
                      <a:r>
                        <a:rPr lang="en-US" sz="1100">
                          <a:effectLst/>
                          <a:latin typeface="Google Sans Text"/>
                        </a:rPr>
                        <a:t> Cannot make assumptions about dynamic call targets or runtime variable types.</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100" b="1" dirty="0">
                          <a:effectLst/>
                          <a:latin typeface="Google Sans Text"/>
                        </a:rPr>
                        <a:t>Aggressive:</a:t>
                      </a:r>
                      <a:r>
                        <a:rPr lang="en-US" sz="1100" dirty="0">
                          <a:effectLst/>
                          <a:latin typeface="Google Sans Text"/>
                        </a:rPr>
                        <a:t> Uses speculative optimization based on observed types, with ability to deoptimize (bail out) if assumptions fail.</a:t>
                      </a:r>
                    </a:p>
                  </a:txBody>
                  <a:tcPr marL="71568" marR="71568" marT="47712" marB="47712"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312656166"/>
                  </a:ext>
                </a:extLst>
              </a:tr>
            </a:tbl>
          </a:graphicData>
        </a:graphic>
      </p:graphicFrame>
    </p:spTree>
    <p:extLst>
      <p:ext uri="{BB962C8B-B14F-4D97-AF65-F5344CB8AC3E}">
        <p14:creationId xmlns:p14="http://schemas.microsoft.com/office/powerpoint/2010/main" val="1125516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D4BFEA-46AE-2A65-D94F-A587936D16BD}"/>
              </a:ext>
            </a:extLst>
          </p:cNvPr>
          <p:cNvSpPr>
            <a:spLocks noGrp="1"/>
          </p:cNvSpPr>
          <p:nvPr>
            <p:ph idx="1"/>
          </p:nvPr>
        </p:nvSpPr>
        <p:spPr/>
        <p:txBody>
          <a:bodyPr/>
          <a:lstStyle/>
          <a:p>
            <a:r>
              <a:rPr lang="en-US" dirty="0"/>
              <a:t>Language processors</a:t>
            </a:r>
          </a:p>
          <a:p>
            <a:pPr lvl="1"/>
            <a:r>
              <a:rPr lang="en-US" dirty="0"/>
              <a:t>software tools that </a:t>
            </a:r>
          </a:p>
          <a:p>
            <a:pPr lvl="2"/>
            <a:r>
              <a:rPr lang="en-US" dirty="0"/>
              <a:t>translate, analyze, or execute programs </a:t>
            </a:r>
          </a:p>
          <a:p>
            <a:pPr lvl="3"/>
            <a:r>
              <a:rPr lang="en-US" dirty="0"/>
              <a:t>written in </a:t>
            </a:r>
          </a:p>
          <a:p>
            <a:pPr lvl="4"/>
            <a:r>
              <a:rPr lang="en-US" dirty="0"/>
              <a:t>high-level or low-level programming languages.</a:t>
            </a:r>
          </a:p>
          <a:p>
            <a:pPr lvl="1"/>
            <a:r>
              <a:rPr lang="en-US" dirty="0"/>
              <a:t>Compilers form </a:t>
            </a:r>
          </a:p>
          <a:p>
            <a:pPr lvl="2"/>
            <a:r>
              <a:rPr lang="en-US" dirty="0"/>
              <a:t>a primary category within this family, </a:t>
            </a:r>
          </a:p>
          <a:p>
            <a:pPr lvl="3"/>
            <a:r>
              <a:rPr lang="en-US" dirty="0"/>
              <a:t>alongside interpreters, assemblers, and </a:t>
            </a:r>
          </a:p>
          <a:p>
            <a:pPr lvl="4"/>
            <a:r>
              <a:rPr lang="en-US" dirty="0"/>
              <a:t>hybrid translation pipelines.</a:t>
            </a:r>
          </a:p>
          <a:p>
            <a:pPr lvl="1"/>
            <a:r>
              <a:rPr lang="en-US" dirty="0"/>
              <a:t>Types of Language Processors</a:t>
            </a:r>
          </a:p>
          <a:p>
            <a:pPr lvl="2"/>
            <a:r>
              <a:rPr lang="en-US" dirty="0"/>
              <a:t>Compiler:</a:t>
            </a:r>
          </a:p>
          <a:p>
            <a:pPr lvl="3"/>
            <a:r>
              <a:rPr lang="en-US" dirty="0"/>
              <a:t>Translates entire high-level source code into low-level machine code or intermediate object code all at once before execution.</a:t>
            </a:r>
          </a:p>
          <a:p>
            <a:pPr lvl="2"/>
            <a:r>
              <a:rPr lang="en-US" b="1" dirty="0"/>
              <a:t>Interpreter:</a:t>
            </a:r>
            <a:r>
              <a:rPr lang="en-US" dirty="0"/>
              <a:t> </a:t>
            </a:r>
          </a:p>
          <a:p>
            <a:pPr lvl="3"/>
            <a:r>
              <a:rPr lang="en-US" dirty="0"/>
              <a:t>Translates and executes high-level source code line-by-line or instruction-by-instruction directly at runtime without producing an intermediate standalone executable binary.</a:t>
            </a:r>
          </a:p>
          <a:p>
            <a:pPr lvl="2"/>
            <a:r>
              <a:rPr lang="en-US" b="1" dirty="0"/>
              <a:t>Assembler:</a:t>
            </a:r>
            <a:r>
              <a:rPr lang="en-US" dirty="0"/>
              <a:t> </a:t>
            </a:r>
          </a:p>
          <a:p>
            <a:pPr lvl="3"/>
            <a:r>
              <a:rPr lang="en-US" dirty="0"/>
              <a:t>Converts low-level assembly language mnemonics (e.g., MOV, ADD) directly into target machine code instructions.</a:t>
            </a:r>
          </a:p>
        </p:txBody>
      </p:sp>
      <p:sp>
        <p:nvSpPr>
          <p:cNvPr id="3" name="Date Placeholder 2">
            <a:extLst>
              <a:ext uri="{FF2B5EF4-FFF2-40B4-BE49-F238E27FC236}">
                <a16:creationId xmlns:a16="http://schemas.microsoft.com/office/drawing/2014/main" id="{98F1833E-4FC2-822F-B1C4-BDB8D43EC5E4}"/>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A8E4CA77-DC4A-0F95-6D05-CBFB800DD277}"/>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3107F53A-D3E4-9C81-64E1-2005969050FB}"/>
              </a:ext>
            </a:extLst>
          </p:cNvPr>
          <p:cNvSpPr>
            <a:spLocks noGrp="1"/>
          </p:cNvSpPr>
          <p:nvPr>
            <p:ph type="sldNum" sz="quarter" idx="12"/>
          </p:nvPr>
        </p:nvSpPr>
        <p:spPr/>
        <p:txBody>
          <a:bodyPr/>
          <a:lstStyle/>
          <a:p>
            <a:fld id="{9B618960-8005-486C-9A75-10CB2AAC16F9}" type="slidenum">
              <a:rPr lang="en-US" smtClean="0"/>
              <a:t>14</a:t>
            </a:fld>
            <a:endParaRPr lang="en-US"/>
          </a:p>
        </p:txBody>
      </p:sp>
    </p:spTree>
    <p:extLst>
      <p:ext uri="{BB962C8B-B14F-4D97-AF65-F5344CB8AC3E}">
        <p14:creationId xmlns:p14="http://schemas.microsoft.com/office/powerpoint/2010/main" val="397713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EC17C2-BE90-25BA-1584-9F419AA7765F}"/>
              </a:ext>
            </a:extLst>
          </p:cNvPr>
          <p:cNvSpPr>
            <a:spLocks noGrp="1"/>
          </p:cNvSpPr>
          <p:nvPr>
            <p:ph idx="1"/>
          </p:nvPr>
        </p:nvSpPr>
        <p:spPr/>
        <p:txBody>
          <a:bodyPr>
            <a:normAutofit/>
          </a:bodyPr>
          <a:lstStyle/>
          <a:p>
            <a:pPr lvl="1"/>
            <a:r>
              <a:rPr lang="en-US" dirty="0"/>
              <a:t>Types of Language Processors	</a:t>
            </a:r>
            <a:endParaRPr lang="en-US" b="1" dirty="0"/>
          </a:p>
          <a:p>
            <a:pPr lvl="2"/>
            <a:r>
              <a:rPr lang="en-US" b="1" dirty="0"/>
              <a:t>Hybrid Translator (JIT / Bytecode):</a:t>
            </a:r>
            <a:r>
              <a:rPr lang="en-US" dirty="0"/>
              <a:t> </a:t>
            </a:r>
          </a:p>
          <a:p>
            <a:pPr lvl="3"/>
            <a:r>
              <a:rPr lang="en-US" dirty="0"/>
              <a:t>Compiles source code into portable intermediate bytecode (e.g., Java .class files), which is then interpreted or compiled to native machine code at runtime via a Just-In-Time (JIT) compiler.</a:t>
            </a:r>
          </a:p>
          <a:p>
            <a:pPr lvl="2"/>
            <a:r>
              <a:rPr lang="en-US" b="1" dirty="0"/>
              <a:t>Pre-processor:</a:t>
            </a:r>
            <a:r>
              <a:rPr lang="en-US" dirty="0"/>
              <a:t> </a:t>
            </a:r>
          </a:p>
          <a:p>
            <a:pPr lvl="3"/>
            <a:r>
              <a:rPr lang="en-US" dirty="0"/>
              <a:t>Modifies high-level source code before compilation begins by executing directives like macro expansions, conditional inclusion, and file inclusions (e.g., #include or #define in C/C++).</a:t>
            </a:r>
          </a:p>
          <a:p>
            <a:pPr lvl="3"/>
            <a:r>
              <a:rPr lang="en-US" b="1" dirty="0"/>
              <a:t>Macro expansion</a:t>
            </a:r>
            <a:r>
              <a:rPr lang="en-US" dirty="0"/>
              <a:t> </a:t>
            </a:r>
          </a:p>
          <a:p>
            <a:pPr lvl="4"/>
            <a:r>
              <a:rPr lang="en-US" dirty="0"/>
              <a:t>is the process where a language preprocessor or compiler replaces a macro name or invocation with its defined sequence of instructions before actual compilation or parsing begins.</a:t>
            </a:r>
          </a:p>
          <a:p>
            <a:r>
              <a:rPr lang="en-US" dirty="0"/>
              <a:t>How Macro Expansion Works</a:t>
            </a:r>
          </a:p>
          <a:p>
            <a:pPr lvl="1"/>
            <a:r>
              <a:rPr lang="en-US" dirty="0"/>
              <a:t>Definition: </a:t>
            </a:r>
          </a:p>
          <a:p>
            <a:pPr lvl="2"/>
            <a:r>
              <a:rPr lang="en-US" dirty="0"/>
              <a:t>A macro is declared with a identifier and a replacement text (and optional parameters).</a:t>
            </a:r>
          </a:p>
          <a:p>
            <a:pPr lvl="1"/>
            <a:r>
              <a:rPr lang="en-US" dirty="0"/>
              <a:t>Textual Substitution: </a:t>
            </a:r>
          </a:p>
          <a:p>
            <a:pPr lvl="2"/>
            <a:r>
              <a:rPr lang="en-US" dirty="0"/>
              <a:t>During the preprocessing stage, the preprocessor scans the source code. Whenever it encounters a macro identifier, it literally swaps that token with the macro's body text.</a:t>
            </a:r>
          </a:p>
          <a:p>
            <a:pPr lvl="1"/>
            <a:r>
              <a:rPr lang="en-US" dirty="0"/>
              <a:t>No Type Checking: </a:t>
            </a:r>
          </a:p>
          <a:p>
            <a:pPr lvl="2"/>
            <a:r>
              <a:rPr lang="en-US" dirty="0"/>
              <a:t>Because expansion happens purely as string/token manipulation before lexical analysis or type checking, the macro mechanism does not validate variable types or scope.</a:t>
            </a:r>
          </a:p>
        </p:txBody>
      </p:sp>
      <p:sp>
        <p:nvSpPr>
          <p:cNvPr id="3" name="Date Placeholder 2">
            <a:extLst>
              <a:ext uri="{FF2B5EF4-FFF2-40B4-BE49-F238E27FC236}">
                <a16:creationId xmlns:a16="http://schemas.microsoft.com/office/drawing/2014/main" id="{230BEC98-7CE0-0BFC-4FAB-7D568370A033}"/>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F40A0269-31DE-78E3-3F6C-B4A7FA5B40A3}"/>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FADA9956-0D4A-96CF-CFC4-430D0FC3026D}"/>
              </a:ext>
            </a:extLst>
          </p:cNvPr>
          <p:cNvSpPr>
            <a:spLocks noGrp="1"/>
          </p:cNvSpPr>
          <p:nvPr>
            <p:ph type="sldNum" sz="quarter" idx="12"/>
          </p:nvPr>
        </p:nvSpPr>
        <p:spPr/>
        <p:txBody>
          <a:bodyPr/>
          <a:lstStyle/>
          <a:p>
            <a:fld id="{9B618960-8005-486C-9A75-10CB2AAC16F9}" type="slidenum">
              <a:rPr lang="en-US" smtClean="0"/>
              <a:t>15</a:t>
            </a:fld>
            <a:endParaRPr lang="en-US"/>
          </a:p>
        </p:txBody>
      </p:sp>
    </p:spTree>
    <p:extLst>
      <p:ext uri="{BB962C8B-B14F-4D97-AF65-F5344CB8AC3E}">
        <p14:creationId xmlns:p14="http://schemas.microsoft.com/office/powerpoint/2010/main" val="3910246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9B7DBC-8AC7-6F14-4223-1D973959C458}"/>
              </a:ext>
            </a:extLst>
          </p:cNvPr>
          <p:cNvSpPr>
            <a:spLocks noGrp="1"/>
          </p:cNvSpPr>
          <p:nvPr>
            <p:ph idx="1"/>
          </p:nvPr>
        </p:nvSpPr>
        <p:spPr/>
        <p:txBody>
          <a:bodyPr/>
          <a:lstStyle/>
          <a:p>
            <a:pPr lvl="1"/>
            <a:r>
              <a:rPr lang="en-US" b="1" dirty="0"/>
              <a:t>Types of Macros</a:t>
            </a:r>
            <a:endParaRPr lang="en-US" dirty="0"/>
          </a:p>
          <a:p>
            <a:pPr lvl="2"/>
            <a:r>
              <a:rPr lang="en-US" b="1" dirty="0"/>
              <a:t>Object-like Macros:</a:t>
            </a:r>
            <a:r>
              <a:rPr lang="en-US" dirty="0"/>
              <a:t> </a:t>
            </a:r>
          </a:p>
          <a:p>
            <a:pPr lvl="3"/>
            <a:r>
              <a:rPr lang="en-US" dirty="0"/>
              <a:t>Simple identifier substitutions used primarily for constants.</a:t>
            </a:r>
          </a:p>
          <a:p>
            <a:pPr lvl="3"/>
            <a:r>
              <a:rPr lang="en-US" dirty="0"/>
              <a:t>// Preprocessor expands `int buffer[MAX_BUFFER_SIZE];` to `int buffer[1024];`</a:t>
            </a:r>
          </a:p>
          <a:p>
            <a:pPr lvl="3"/>
            <a:r>
              <a:rPr lang="en-US" dirty="0"/>
              <a:t>#define MAX_BUFFER_SIZE 1024</a:t>
            </a:r>
          </a:p>
          <a:p>
            <a:pPr lvl="2"/>
            <a:r>
              <a:rPr lang="en-US" b="1" dirty="0"/>
              <a:t>Function-like Macros:</a:t>
            </a:r>
            <a:r>
              <a:rPr lang="en-US" dirty="0"/>
              <a:t> </a:t>
            </a:r>
          </a:p>
          <a:p>
            <a:pPr lvl="3"/>
            <a:r>
              <a:rPr lang="en-US" dirty="0"/>
              <a:t>Take arguments and substitute them into the expanded expression text.</a:t>
            </a:r>
          </a:p>
          <a:p>
            <a:pPr lvl="3"/>
            <a:r>
              <a:rPr lang="en-US" dirty="0"/>
              <a:t>// Preprocessor expands `int area = SQUARE(5);` to `int area = ((5) * (5));`</a:t>
            </a:r>
          </a:p>
          <a:p>
            <a:pPr lvl="3"/>
            <a:r>
              <a:rPr lang="en-US" dirty="0"/>
              <a:t>#define SQUARE(x) ((x) * (x))</a:t>
            </a:r>
          </a:p>
          <a:p>
            <a:r>
              <a:rPr lang="en-US" b="1" dirty="0" err="1"/>
              <a:t>Decompiler</a:t>
            </a:r>
            <a:r>
              <a:rPr lang="en-US" b="1" dirty="0"/>
              <a:t> / </a:t>
            </a:r>
            <a:r>
              <a:rPr lang="en-US" b="1" dirty="0" err="1"/>
              <a:t>Transpiler</a:t>
            </a:r>
            <a:r>
              <a:rPr lang="en-US" b="1" dirty="0"/>
              <a:t>:</a:t>
            </a:r>
            <a:r>
              <a:rPr lang="en-US" dirty="0"/>
              <a:t> </a:t>
            </a:r>
          </a:p>
          <a:p>
            <a:pPr lvl="1"/>
            <a:r>
              <a:rPr lang="en-US" dirty="0"/>
              <a:t>Translates code from one representation to another </a:t>
            </a:r>
          </a:p>
          <a:p>
            <a:pPr lvl="2"/>
            <a:r>
              <a:rPr lang="en-US" dirty="0"/>
              <a:t>at a similar abstraction level, such as </a:t>
            </a:r>
          </a:p>
          <a:p>
            <a:pPr lvl="3"/>
            <a:r>
              <a:rPr lang="en-US" dirty="0"/>
              <a:t>converting machine code back into C (</a:t>
            </a:r>
            <a:r>
              <a:rPr lang="en-US" dirty="0" err="1"/>
              <a:t>Decompiler</a:t>
            </a:r>
            <a:r>
              <a:rPr lang="en-US" dirty="0"/>
              <a:t>) or </a:t>
            </a:r>
          </a:p>
          <a:p>
            <a:pPr lvl="3"/>
            <a:r>
              <a:rPr lang="en-US" dirty="0"/>
              <a:t>translating TypeScript into JavaScript (</a:t>
            </a:r>
            <a:r>
              <a:rPr lang="en-US" dirty="0" err="1"/>
              <a:t>Transpiler</a:t>
            </a:r>
            <a:r>
              <a:rPr lang="en-US" dirty="0"/>
              <a:t> / Source-to-Source Compiler).</a:t>
            </a:r>
          </a:p>
        </p:txBody>
      </p:sp>
      <p:sp>
        <p:nvSpPr>
          <p:cNvPr id="3" name="Date Placeholder 2">
            <a:extLst>
              <a:ext uri="{FF2B5EF4-FFF2-40B4-BE49-F238E27FC236}">
                <a16:creationId xmlns:a16="http://schemas.microsoft.com/office/drawing/2014/main" id="{3258E3E3-0C1B-B1AB-66C9-30C27E685758}"/>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6754D440-E238-ED5B-3427-EDDAE8146777}"/>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93E63F1B-D5FD-6F91-560C-9F44A971D7FF}"/>
              </a:ext>
            </a:extLst>
          </p:cNvPr>
          <p:cNvSpPr>
            <a:spLocks noGrp="1"/>
          </p:cNvSpPr>
          <p:nvPr>
            <p:ph type="sldNum" sz="quarter" idx="12"/>
          </p:nvPr>
        </p:nvSpPr>
        <p:spPr/>
        <p:txBody>
          <a:bodyPr/>
          <a:lstStyle/>
          <a:p>
            <a:fld id="{9B618960-8005-486C-9A75-10CB2AAC16F9}" type="slidenum">
              <a:rPr lang="en-US" smtClean="0"/>
              <a:t>16</a:t>
            </a:fld>
            <a:endParaRPr lang="en-US"/>
          </a:p>
        </p:txBody>
      </p:sp>
    </p:spTree>
    <p:extLst>
      <p:ext uri="{BB962C8B-B14F-4D97-AF65-F5344CB8AC3E}">
        <p14:creationId xmlns:p14="http://schemas.microsoft.com/office/powerpoint/2010/main" val="2423488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168198-A672-6E3D-A80F-BB9CBCB4F490}"/>
              </a:ext>
            </a:extLst>
          </p:cNvPr>
          <p:cNvSpPr>
            <a:spLocks noGrp="1"/>
          </p:cNvSpPr>
          <p:nvPr>
            <p:ph idx="1"/>
          </p:nvPr>
        </p:nvSpPr>
        <p:spPr/>
        <p:txBody>
          <a:bodyPr/>
          <a:lstStyle/>
          <a:p>
            <a:r>
              <a:rPr lang="en-US" dirty="0"/>
              <a:t>Compiler vs. Interpreter</a:t>
            </a:r>
          </a:p>
          <a:p>
            <a:pPr lvl="1"/>
            <a:endParaRPr lang="en-US" dirty="0"/>
          </a:p>
        </p:txBody>
      </p:sp>
      <p:sp>
        <p:nvSpPr>
          <p:cNvPr id="3" name="Date Placeholder 2">
            <a:extLst>
              <a:ext uri="{FF2B5EF4-FFF2-40B4-BE49-F238E27FC236}">
                <a16:creationId xmlns:a16="http://schemas.microsoft.com/office/drawing/2014/main" id="{45DE4F21-B522-C599-0EE7-4CED4E4F0B7B}"/>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3E1FCFC3-57D1-5C7E-20A0-5EE5AECD969D}"/>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8F491E3-6713-7C40-E847-836891B6AF72}"/>
              </a:ext>
            </a:extLst>
          </p:cNvPr>
          <p:cNvSpPr>
            <a:spLocks noGrp="1"/>
          </p:cNvSpPr>
          <p:nvPr>
            <p:ph type="sldNum" sz="quarter" idx="12"/>
          </p:nvPr>
        </p:nvSpPr>
        <p:spPr/>
        <p:txBody>
          <a:bodyPr/>
          <a:lstStyle/>
          <a:p>
            <a:fld id="{9B618960-8005-486C-9A75-10CB2AAC16F9}" type="slidenum">
              <a:rPr lang="en-US" smtClean="0"/>
              <a:t>17</a:t>
            </a:fld>
            <a:endParaRPr lang="en-US"/>
          </a:p>
        </p:txBody>
      </p:sp>
      <p:graphicFrame>
        <p:nvGraphicFramePr>
          <p:cNvPr id="10" name="Table 9">
            <a:extLst>
              <a:ext uri="{FF2B5EF4-FFF2-40B4-BE49-F238E27FC236}">
                <a16:creationId xmlns:a16="http://schemas.microsoft.com/office/drawing/2014/main" id="{CB7F05F9-61FE-35DE-78A1-AD2324D88070}"/>
              </a:ext>
            </a:extLst>
          </p:cNvPr>
          <p:cNvGraphicFramePr>
            <a:graphicFrameLocks noGrp="1"/>
          </p:cNvGraphicFramePr>
          <p:nvPr>
            <p:extLst>
              <p:ext uri="{D42A27DB-BD31-4B8C-83A1-F6EECF244321}">
                <p14:modId xmlns:p14="http://schemas.microsoft.com/office/powerpoint/2010/main" val="1545003942"/>
              </p:ext>
            </p:extLst>
          </p:nvPr>
        </p:nvGraphicFramePr>
        <p:xfrm>
          <a:off x="608352" y="501650"/>
          <a:ext cx="10681947" cy="5695949"/>
        </p:xfrm>
        <a:graphic>
          <a:graphicData uri="http://schemas.openxmlformats.org/drawingml/2006/table">
            <a:tbl>
              <a:tblPr/>
              <a:tblGrid>
                <a:gridCol w="3560649">
                  <a:extLst>
                    <a:ext uri="{9D8B030D-6E8A-4147-A177-3AD203B41FA5}">
                      <a16:colId xmlns:a16="http://schemas.microsoft.com/office/drawing/2014/main" val="2189578632"/>
                    </a:ext>
                  </a:extLst>
                </a:gridCol>
                <a:gridCol w="3560649">
                  <a:extLst>
                    <a:ext uri="{9D8B030D-6E8A-4147-A177-3AD203B41FA5}">
                      <a16:colId xmlns:a16="http://schemas.microsoft.com/office/drawing/2014/main" val="3983802306"/>
                    </a:ext>
                  </a:extLst>
                </a:gridCol>
                <a:gridCol w="3560649">
                  <a:extLst>
                    <a:ext uri="{9D8B030D-6E8A-4147-A177-3AD203B41FA5}">
                      <a16:colId xmlns:a16="http://schemas.microsoft.com/office/drawing/2014/main" val="3361691130"/>
                    </a:ext>
                  </a:extLst>
                </a:gridCol>
              </a:tblGrid>
              <a:tr h="495130">
                <a:tc>
                  <a:txBody>
                    <a:bodyPr/>
                    <a:lstStyle/>
                    <a:p>
                      <a:pPr>
                        <a:spcAft>
                          <a:spcPts val="2400"/>
                        </a:spcAft>
                        <a:buNone/>
                      </a:pPr>
                      <a:r>
                        <a:rPr lang="en-US" sz="1600" b="1">
                          <a:effectLst/>
                          <a:latin typeface="Google Sans Text"/>
                        </a:rPr>
                        <a:t>Feature</a:t>
                      </a:r>
                      <a:endParaRPr lang="en-US" sz="160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b="1" dirty="0">
                          <a:effectLst/>
                          <a:latin typeface="Google Sans Text"/>
                        </a:rPr>
                        <a:t>Compiler</a:t>
                      </a:r>
                      <a:endParaRPr lang="en-US" sz="1600" dirty="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b="1">
                          <a:effectLst/>
                          <a:latin typeface="Google Sans Text"/>
                        </a:rPr>
                        <a:t>Interpreter</a:t>
                      </a:r>
                      <a:endParaRPr lang="en-US" sz="160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54328486"/>
                  </a:ext>
                </a:extLst>
              </a:tr>
              <a:tr h="813707">
                <a:tc>
                  <a:txBody>
                    <a:bodyPr/>
                    <a:lstStyle/>
                    <a:p>
                      <a:pPr>
                        <a:spcAft>
                          <a:spcPts val="2400"/>
                        </a:spcAft>
                        <a:buNone/>
                      </a:pPr>
                      <a:r>
                        <a:rPr lang="en-US" sz="1600" b="1" dirty="0">
                          <a:effectLst/>
                          <a:latin typeface="Google Sans Text"/>
                        </a:rPr>
                        <a:t>Execution Model</a:t>
                      </a:r>
                      <a:endParaRPr lang="en-US" sz="1600" dirty="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Separate translation and execution phases.</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Simultaneous translation and execution.</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752848835"/>
                  </a:ext>
                </a:extLst>
              </a:tr>
              <a:tr h="1132284">
                <a:tc>
                  <a:txBody>
                    <a:bodyPr/>
                    <a:lstStyle/>
                    <a:p>
                      <a:pPr>
                        <a:spcAft>
                          <a:spcPts val="2400"/>
                        </a:spcAft>
                        <a:buNone/>
                      </a:pPr>
                      <a:r>
                        <a:rPr lang="en-US" sz="1600" b="1">
                          <a:effectLst/>
                          <a:latin typeface="Google Sans Text"/>
                        </a:rPr>
                        <a:t>Output</a:t>
                      </a:r>
                      <a:endParaRPr lang="en-US" sz="160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Standalone target binary executable (.exe, .so, or machine binary).</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No standalone binary generated; requires runtime engine.</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61538338"/>
                  </a:ext>
                </a:extLst>
              </a:tr>
              <a:tr h="813707">
                <a:tc>
                  <a:txBody>
                    <a:bodyPr/>
                    <a:lstStyle/>
                    <a:p>
                      <a:pPr>
                        <a:spcAft>
                          <a:spcPts val="2400"/>
                        </a:spcAft>
                        <a:buNone/>
                      </a:pPr>
                      <a:r>
                        <a:rPr lang="en-US" sz="1600" b="1">
                          <a:effectLst/>
                          <a:latin typeface="Google Sans Text"/>
                        </a:rPr>
                        <a:t>Execution Speed</a:t>
                      </a:r>
                      <a:endParaRPr lang="en-US" sz="160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Faster runtime execution after initial build phase.</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Slower execution due to continuous runtime translation.</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86695047"/>
                  </a:ext>
                </a:extLst>
              </a:tr>
              <a:tr h="1132284">
                <a:tc>
                  <a:txBody>
                    <a:bodyPr/>
                    <a:lstStyle/>
                    <a:p>
                      <a:pPr>
                        <a:spcAft>
                          <a:spcPts val="2400"/>
                        </a:spcAft>
                        <a:buNone/>
                      </a:pPr>
                      <a:r>
                        <a:rPr lang="en-US" sz="1600" b="1">
                          <a:effectLst/>
                          <a:latin typeface="Google Sans Text"/>
                        </a:rPr>
                        <a:t>Error Reporting</a:t>
                      </a:r>
                      <a:endParaRPr lang="en-US" sz="160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Detects all syntax/semantic errors during compile time before execution.</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Halts execution immediately at the first encountered error at runtime.</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487294516"/>
                  </a:ext>
                </a:extLst>
              </a:tr>
              <a:tr h="813707">
                <a:tc>
                  <a:txBody>
                    <a:bodyPr/>
                    <a:lstStyle/>
                    <a:p>
                      <a:pPr>
                        <a:spcAft>
                          <a:spcPts val="2400"/>
                        </a:spcAft>
                        <a:buNone/>
                      </a:pPr>
                      <a:r>
                        <a:rPr lang="en-US" sz="1600" b="1">
                          <a:effectLst/>
                          <a:latin typeface="Google Sans Text"/>
                        </a:rPr>
                        <a:t>Memory Usage</a:t>
                      </a:r>
                      <a:endParaRPr lang="en-US" sz="160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Lower runtime memory overhead (does not keep compiler in RAM).</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Higher memory footprint (requires active interpreter engine in RAM).</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23736957"/>
                  </a:ext>
                </a:extLst>
              </a:tr>
              <a:tr h="495130">
                <a:tc>
                  <a:txBody>
                    <a:bodyPr/>
                    <a:lstStyle/>
                    <a:p>
                      <a:pPr>
                        <a:spcAft>
                          <a:spcPts val="2400"/>
                        </a:spcAft>
                        <a:buNone/>
                      </a:pPr>
                      <a:r>
                        <a:rPr lang="en-US" sz="1600" b="1">
                          <a:effectLst/>
                          <a:latin typeface="Google Sans Text"/>
                        </a:rPr>
                        <a:t>Examples</a:t>
                      </a:r>
                      <a:endParaRPr lang="en-US" sz="1600">
                        <a:effectLst/>
                        <a:latin typeface="Google Sans Text"/>
                      </a:endParaRP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a:effectLst/>
                          <a:latin typeface="Google Sans Text"/>
                        </a:rPr>
                        <a:t>C, C++, Rust, Go</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sz="1600" dirty="0">
                          <a:effectLst/>
                          <a:latin typeface="Google Sans Text"/>
                        </a:rPr>
                        <a:t>Python, Ruby, PHP, Bash</a:t>
                      </a:r>
                    </a:p>
                  </a:txBody>
                  <a:tcPr marL="101351" marR="101351" marT="67567" marB="67567"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04640219"/>
                  </a:ext>
                </a:extLst>
              </a:tr>
            </a:tbl>
          </a:graphicData>
        </a:graphic>
      </p:graphicFrame>
    </p:spTree>
    <p:extLst>
      <p:ext uri="{BB962C8B-B14F-4D97-AF65-F5344CB8AC3E}">
        <p14:creationId xmlns:p14="http://schemas.microsoft.com/office/powerpoint/2010/main" val="216538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EEE0AC-2FE9-38FB-BDA0-81153051C662}"/>
              </a:ext>
            </a:extLst>
          </p:cNvPr>
          <p:cNvSpPr>
            <a:spLocks noGrp="1"/>
          </p:cNvSpPr>
          <p:nvPr>
            <p:ph idx="1"/>
          </p:nvPr>
        </p:nvSpPr>
        <p:spPr/>
        <p:txBody>
          <a:bodyPr/>
          <a:lstStyle/>
          <a:p>
            <a:r>
              <a:rPr lang="en-US" b="1" dirty="0"/>
              <a:t>Primary Functions of a Compiler in Language Processing</a:t>
            </a:r>
            <a:endParaRPr lang="en-US" dirty="0"/>
          </a:p>
          <a:p>
            <a:pPr lvl="1"/>
            <a:r>
              <a:rPr lang="en-US" b="1" dirty="0"/>
              <a:t>Syntax &amp; Semantic Validation:</a:t>
            </a:r>
            <a:r>
              <a:rPr lang="en-US" dirty="0"/>
              <a:t> </a:t>
            </a:r>
          </a:p>
          <a:p>
            <a:pPr lvl="2"/>
            <a:r>
              <a:rPr lang="en-US" dirty="0"/>
              <a:t>Verifies that source code strictly follows the formal rules (lexical, grammatical, and type constraints) of the target programming language.</a:t>
            </a:r>
          </a:p>
          <a:p>
            <a:pPr lvl="1"/>
            <a:r>
              <a:rPr lang="en-US" b="1" dirty="0"/>
              <a:t>Intermediate Representation (IR):</a:t>
            </a:r>
            <a:r>
              <a:rPr lang="en-US" dirty="0"/>
              <a:t> </a:t>
            </a:r>
          </a:p>
          <a:p>
            <a:pPr lvl="2"/>
            <a:r>
              <a:rPr lang="en-US" dirty="0"/>
              <a:t>Lowers high-level abstractions into structured, target-agnostic internal representations (such as Abstract Syntax Trees and SSA form) for multi-pass analysis.</a:t>
            </a:r>
          </a:p>
          <a:p>
            <a:pPr lvl="1"/>
            <a:r>
              <a:rPr lang="en-US" b="1" dirty="0"/>
              <a:t>Optimization:</a:t>
            </a:r>
            <a:r>
              <a:rPr lang="en-US" dirty="0"/>
              <a:t> </a:t>
            </a:r>
          </a:p>
          <a:p>
            <a:pPr lvl="2"/>
            <a:r>
              <a:rPr lang="en-US" dirty="0"/>
              <a:t>Restructures code logic to minimize execution time, lower memory consumption, and maximize target CPU instruction pipeline efficiency.</a:t>
            </a:r>
          </a:p>
          <a:p>
            <a:pPr lvl="1"/>
            <a:r>
              <a:rPr lang="en-US" b="1" dirty="0"/>
              <a:t>Code Generation:</a:t>
            </a:r>
            <a:r>
              <a:rPr lang="en-US" dirty="0"/>
              <a:t> </a:t>
            </a:r>
          </a:p>
          <a:p>
            <a:pPr lvl="2"/>
            <a:r>
              <a:rPr lang="en-US" dirty="0"/>
              <a:t>Maps abstract language constructs to specific hardware instructions, register configurations, and system call interfaces.</a:t>
            </a:r>
          </a:p>
          <a:p>
            <a:pPr lvl="1"/>
            <a:r>
              <a:rPr lang="en-US" dirty="0"/>
              <a:t>The language the compiler itself is written in is the</a:t>
            </a:r>
          </a:p>
          <a:p>
            <a:pPr lvl="2"/>
            <a:r>
              <a:rPr lang="en-US" dirty="0"/>
              <a:t>implementation language</a:t>
            </a:r>
          </a:p>
          <a:p>
            <a:endParaRPr lang="en-US" dirty="0"/>
          </a:p>
        </p:txBody>
      </p:sp>
      <p:sp>
        <p:nvSpPr>
          <p:cNvPr id="3" name="Date Placeholder 2">
            <a:extLst>
              <a:ext uri="{FF2B5EF4-FFF2-40B4-BE49-F238E27FC236}">
                <a16:creationId xmlns:a16="http://schemas.microsoft.com/office/drawing/2014/main" id="{28BBC5DD-9D56-500E-3683-968F95339597}"/>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62A742D3-5CAC-F2D6-6A49-CB7702FCA444}"/>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12C3EF2-56D4-EE22-B24C-80BC8D9F9C3D}"/>
              </a:ext>
            </a:extLst>
          </p:cNvPr>
          <p:cNvSpPr>
            <a:spLocks noGrp="1"/>
          </p:cNvSpPr>
          <p:nvPr>
            <p:ph type="sldNum" sz="quarter" idx="12"/>
          </p:nvPr>
        </p:nvSpPr>
        <p:spPr/>
        <p:txBody>
          <a:bodyPr/>
          <a:lstStyle/>
          <a:p>
            <a:fld id="{9B618960-8005-486C-9A75-10CB2AAC16F9}" type="slidenum">
              <a:rPr lang="en-US" smtClean="0"/>
              <a:t>18</a:t>
            </a:fld>
            <a:endParaRPr lang="en-US"/>
          </a:p>
        </p:txBody>
      </p:sp>
    </p:spTree>
    <p:extLst>
      <p:ext uri="{BB962C8B-B14F-4D97-AF65-F5344CB8AC3E}">
        <p14:creationId xmlns:p14="http://schemas.microsoft.com/office/powerpoint/2010/main" val="3079267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A63606-633E-D740-3B2E-7BC9CD66FAF8}"/>
              </a:ext>
            </a:extLst>
          </p:cNvPr>
          <p:cNvSpPr>
            <a:spLocks noGrp="1"/>
          </p:cNvSpPr>
          <p:nvPr>
            <p:ph idx="1"/>
          </p:nvPr>
        </p:nvSpPr>
        <p:spPr/>
        <p:txBody>
          <a:bodyPr>
            <a:normAutofit/>
          </a:bodyPr>
          <a:lstStyle/>
          <a:p>
            <a:r>
              <a:rPr lang="en-US" b="1" dirty="0"/>
              <a:t>Abstract Syntax Tree (AST)</a:t>
            </a:r>
          </a:p>
          <a:p>
            <a:pPr lvl="1"/>
            <a:r>
              <a:rPr lang="en-US" dirty="0"/>
              <a:t>a finite, labeled, deeply nested </a:t>
            </a:r>
          </a:p>
          <a:p>
            <a:pPr lvl="2"/>
            <a:r>
              <a:rPr lang="en-US" dirty="0"/>
              <a:t>tree data structure that </a:t>
            </a:r>
          </a:p>
          <a:p>
            <a:pPr lvl="3"/>
            <a:r>
              <a:rPr lang="en-US" dirty="0"/>
              <a:t>represents the structural syntax of source code in a programming language.</a:t>
            </a:r>
          </a:p>
          <a:p>
            <a:pPr lvl="1"/>
            <a:r>
              <a:rPr lang="en-US" dirty="0"/>
              <a:t>It is "abstract" because </a:t>
            </a:r>
          </a:p>
          <a:p>
            <a:pPr lvl="2"/>
            <a:r>
              <a:rPr lang="en-US" dirty="0"/>
              <a:t>it omits non-essential syntactic details </a:t>
            </a:r>
          </a:p>
          <a:p>
            <a:pPr lvl="3"/>
            <a:r>
              <a:rPr lang="en-US" dirty="0"/>
              <a:t>present in the raw source code</a:t>
            </a:r>
          </a:p>
          <a:p>
            <a:pPr lvl="4"/>
            <a:r>
              <a:rPr lang="en-US" dirty="0"/>
              <a:t>such as punctuation, semicolons, explicit grouping parentheses, and white space—focusing purely on the structural logic and operational semantics.</a:t>
            </a:r>
          </a:p>
          <a:p>
            <a:pPr lvl="1"/>
            <a:r>
              <a:rPr lang="en-US" dirty="0"/>
              <a:t>Source Code vs. Parse Tree vs. AST</a:t>
            </a:r>
          </a:p>
          <a:p>
            <a:pPr lvl="2"/>
            <a:r>
              <a:rPr lang="en-US" dirty="0"/>
              <a:t>When a compiler processes code, it moves from raw text to structural graphs:</a:t>
            </a:r>
          </a:p>
          <a:p>
            <a:pPr lvl="3"/>
            <a:r>
              <a:rPr lang="en-US" b="1" dirty="0"/>
              <a:t>Concrete Syntax Tree (Parse Tree):</a:t>
            </a:r>
            <a:r>
              <a:rPr lang="en-US" dirty="0"/>
              <a:t> Contains every literal token matched by the grammar, including syntactic noise like commas, matching braces, and operator tokens.</a:t>
            </a:r>
          </a:p>
          <a:p>
            <a:pPr lvl="3"/>
            <a:r>
              <a:rPr lang="en-US" b="1" dirty="0"/>
              <a:t>Abstract Syntax Tree (AST):</a:t>
            </a:r>
            <a:r>
              <a:rPr lang="en-US" dirty="0"/>
              <a:t> Discards structural fluff and represents only the core operations, operands, statements, and control-flow expressions as parent-child nodes.</a:t>
            </a:r>
          </a:p>
          <a:p>
            <a:pPr lvl="2"/>
            <a:endParaRPr lang="en-US" dirty="0"/>
          </a:p>
        </p:txBody>
      </p:sp>
      <p:sp>
        <p:nvSpPr>
          <p:cNvPr id="3" name="Date Placeholder 2">
            <a:extLst>
              <a:ext uri="{FF2B5EF4-FFF2-40B4-BE49-F238E27FC236}">
                <a16:creationId xmlns:a16="http://schemas.microsoft.com/office/drawing/2014/main" id="{EBB61349-C26E-833C-F18C-FCFC455328FF}"/>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AEA8DA56-F300-598B-00F9-1DEE9E95A8D5}"/>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396ECB41-08D9-DF13-1732-F8EE77998A72}"/>
              </a:ext>
            </a:extLst>
          </p:cNvPr>
          <p:cNvSpPr>
            <a:spLocks noGrp="1"/>
          </p:cNvSpPr>
          <p:nvPr>
            <p:ph type="sldNum" sz="quarter" idx="12"/>
          </p:nvPr>
        </p:nvSpPr>
        <p:spPr/>
        <p:txBody>
          <a:bodyPr/>
          <a:lstStyle/>
          <a:p>
            <a:fld id="{9B618960-8005-486C-9A75-10CB2AAC16F9}" type="slidenum">
              <a:rPr lang="en-US" smtClean="0"/>
              <a:t>19</a:t>
            </a:fld>
            <a:endParaRPr lang="en-US"/>
          </a:p>
        </p:txBody>
      </p:sp>
    </p:spTree>
    <p:extLst>
      <p:ext uri="{BB962C8B-B14F-4D97-AF65-F5344CB8AC3E}">
        <p14:creationId xmlns:p14="http://schemas.microsoft.com/office/powerpoint/2010/main" val="2751301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8587E6-75BA-DC6C-5489-EC11E1B6F1D4}"/>
              </a:ext>
            </a:extLst>
          </p:cNvPr>
          <p:cNvSpPr>
            <a:spLocks noGrp="1"/>
          </p:cNvSpPr>
          <p:nvPr>
            <p:ph idx="1"/>
          </p:nvPr>
        </p:nvSpPr>
        <p:spPr/>
        <p:txBody>
          <a:bodyPr/>
          <a:lstStyle/>
          <a:p>
            <a:r>
              <a:rPr lang="en-US" dirty="0"/>
              <a:t>Example Code:</a:t>
            </a:r>
          </a:p>
          <a:p>
            <a:endParaRPr lang="en-US" dirty="0"/>
          </a:p>
          <a:p>
            <a:endParaRPr lang="en-US" dirty="0"/>
          </a:p>
          <a:p>
            <a:endParaRPr lang="en-US" dirty="0"/>
          </a:p>
          <a:p>
            <a:r>
              <a:rPr lang="en-US" dirty="0"/>
              <a:t>Corresponding AST Representation:</a:t>
            </a:r>
          </a:p>
          <a:p>
            <a:endParaRPr lang="en-US" dirty="0"/>
          </a:p>
          <a:p>
            <a:endParaRPr lang="en-US" dirty="0"/>
          </a:p>
          <a:p>
            <a:endParaRPr lang="en-US" dirty="0"/>
          </a:p>
          <a:p>
            <a:endParaRPr lang="en-US" dirty="0"/>
          </a:p>
          <a:p>
            <a:endParaRPr lang="en-US" dirty="0"/>
          </a:p>
          <a:p>
            <a:pPr lvl="1"/>
            <a:endParaRPr lang="en-US" dirty="0"/>
          </a:p>
          <a:p>
            <a:endParaRPr lang="en-US" dirty="0"/>
          </a:p>
          <a:p>
            <a:pPr lvl="1"/>
            <a:endParaRPr lang="en-US" b="1" dirty="0"/>
          </a:p>
        </p:txBody>
      </p:sp>
      <p:sp>
        <p:nvSpPr>
          <p:cNvPr id="3" name="Date Placeholder 2">
            <a:extLst>
              <a:ext uri="{FF2B5EF4-FFF2-40B4-BE49-F238E27FC236}">
                <a16:creationId xmlns:a16="http://schemas.microsoft.com/office/drawing/2014/main" id="{47E4B023-D2FF-4E50-E8B6-3FD19DCBAB1B}"/>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98BF473F-2FBD-5366-C4A5-8F3E5B9AB682}"/>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CE002FB8-D21E-49F4-08B8-7B76757CB13B}"/>
              </a:ext>
            </a:extLst>
          </p:cNvPr>
          <p:cNvSpPr>
            <a:spLocks noGrp="1"/>
          </p:cNvSpPr>
          <p:nvPr>
            <p:ph type="sldNum" sz="quarter" idx="12"/>
          </p:nvPr>
        </p:nvSpPr>
        <p:spPr/>
        <p:txBody>
          <a:bodyPr/>
          <a:lstStyle/>
          <a:p>
            <a:fld id="{9B618960-8005-486C-9A75-10CB2AAC16F9}" type="slidenum">
              <a:rPr lang="en-US" smtClean="0"/>
              <a:t>20</a:t>
            </a:fld>
            <a:endParaRPr lang="en-US"/>
          </a:p>
        </p:txBody>
      </p:sp>
      <p:pic>
        <p:nvPicPr>
          <p:cNvPr id="7" name="Picture 6">
            <a:extLst>
              <a:ext uri="{FF2B5EF4-FFF2-40B4-BE49-F238E27FC236}">
                <a16:creationId xmlns:a16="http://schemas.microsoft.com/office/drawing/2014/main" id="{FF548EAA-3C12-16EE-FA4E-7F506912A13C}"/>
              </a:ext>
            </a:extLst>
          </p:cNvPr>
          <p:cNvPicPr>
            <a:picLocks noChangeAspect="1"/>
          </p:cNvPicPr>
          <p:nvPr/>
        </p:nvPicPr>
        <p:blipFill>
          <a:blip r:embed="rId2"/>
          <a:stretch>
            <a:fillRect/>
          </a:stretch>
        </p:blipFill>
        <p:spPr>
          <a:xfrm>
            <a:off x="3035130" y="82491"/>
            <a:ext cx="3956074" cy="1390709"/>
          </a:xfrm>
          <a:prstGeom prst="rect">
            <a:avLst/>
          </a:prstGeom>
        </p:spPr>
      </p:pic>
      <p:pic>
        <p:nvPicPr>
          <p:cNvPr id="9" name="Picture 8">
            <a:extLst>
              <a:ext uri="{FF2B5EF4-FFF2-40B4-BE49-F238E27FC236}">
                <a16:creationId xmlns:a16="http://schemas.microsoft.com/office/drawing/2014/main" id="{AAF69FD4-2C28-3709-D02E-A9165A682C7E}"/>
              </a:ext>
            </a:extLst>
          </p:cNvPr>
          <p:cNvPicPr>
            <a:picLocks noChangeAspect="1"/>
          </p:cNvPicPr>
          <p:nvPr/>
        </p:nvPicPr>
        <p:blipFill>
          <a:blip r:embed="rId3"/>
          <a:stretch>
            <a:fillRect/>
          </a:stretch>
        </p:blipFill>
        <p:spPr>
          <a:xfrm>
            <a:off x="2477839" y="3178175"/>
            <a:ext cx="4526435" cy="2524125"/>
          </a:xfrm>
          <a:prstGeom prst="rect">
            <a:avLst/>
          </a:prstGeom>
        </p:spPr>
      </p:pic>
    </p:spTree>
    <p:extLst>
      <p:ext uri="{BB962C8B-B14F-4D97-AF65-F5344CB8AC3E}">
        <p14:creationId xmlns:p14="http://schemas.microsoft.com/office/powerpoint/2010/main" val="4013768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AB9460-05C0-DAE1-5585-2588FA2E4DDC}"/>
              </a:ext>
            </a:extLst>
          </p:cNvPr>
          <p:cNvSpPr>
            <a:spLocks noGrp="1"/>
          </p:cNvSpPr>
          <p:nvPr>
            <p:ph idx="1"/>
          </p:nvPr>
        </p:nvSpPr>
        <p:spPr/>
        <p:txBody>
          <a:bodyPr>
            <a:normAutofit/>
          </a:bodyPr>
          <a:lstStyle/>
          <a:p>
            <a:r>
              <a:rPr lang="en-US" dirty="0"/>
              <a:t>Role of the AST in Compiler Pipelines</a:t>
            </a:r>
          </a:p>
          <a:p>
            <a:pPr lvl="1"/>
            <a:r>
              <a:rPr lang="en-US" dirty="0"/>
              <a:t>The AST acts as the central bridge between a language compiler's frontend (parsing) and middle/backend components:</a:t>
            </a:r>
          </a:p>
          <a:p>
            <a:pPr lvl="2"/>
            <a:r>
              <a:rPr lang="en-US" b="1" dirty="0"/>
              <a:t>Semantic Analysis:</a:t>
            </a:r>
            <a:r>
              <a:rPr lang="en-US" dirty="0"/>
              <a:t> </a:t>
            </a:r>
          </a:p>
          <a:p>
            <a:pPr lvl="3"/>
            <a:r>
              <a:rPr lang="en-US" dirty="0"/>
              <a:t>Type checkers traverse the AST nodes to ensure type compatibility, verify variable declarations within current lexical scope, and enforce language constraints.</a:t>
            </a:r>
          </a:p>
          <a:p>
            <a:pPr lvl="2"/>
            <a:r>
              <a:rPr lang="en-US" b="1" dirty="0"/>
              <a:t>Intermediate Representation (IR) Lowering:</a:t>
            </a:r>
            <a:r>
              <a:rPr lang="en-US" dirty="0"/>
              <a:t> </a:t>
            </a:r>
          </a:p>
          <a:p>
            <a:pPr lvl="3"/>
            <a:r>
              <a:rPr lang="en-US" dirty="0"/>
              <a:t>The compiler converts the fully validated AST into </a:t>
            </a:r>
          </a:p>
          <a:p>
            <a:pPr lvl="4"/>
            <a:r>
              <a:rPr lang="en-US" dirty="0"/>
              <a:t>three-address code, control flow graphs (CFGs), or SSA forms (like LLVM IR) for optimization passes.</a:t>
            </a:r>
          </a:p>
          <a:p>
            <a:pPr lvl="2"/>
            <a:r>
              <a:rPr lang="en-US" b="1" dirty="0" err="1"/>
              <a:t>Transpilation</a:t>
            </a:r>
            <a:r>
              <a:rPr lang="en-US" b="1" dirty="0"/>
              <a:t> &amp; Formatting:</a:t>
            </a:r>
            <a:r>
              <a:rPr lang="en-US" dirty="0"/>
              <a:t> </a:t>
            </a:r>
          </a:p>
          <a:p>
            <a:pPr lvl="3"/>
            <a:r>
              <a:rPr lang="en-US" dirty="0"/>
              <a:t>Code formatters (e.g., Prettier), linters (e.g., </a:t>
            </a:r>
            <a:r>
              <a:rPr lang="en-US" dirty="0" err="1"/>
              <a:t>ESLint</a:t>
            </a:r>
            <a:r>
              <a:rPr lang="en-US" dirty="0"/>
              <a:t>), and source-to-source </a:t>
            </a:r>
            <a:r>
              <a:rPr lang="en-US" dirty="0" err="1"/>
              <a:t>transpilers</a:t>
            </a:r>
            <a:r>
              <a:rPr lang="en-US" dirty="0"/>
              <a:t> </a:t>
            </a:r>
          </a:p>
          <a:p>
            <a:pPr lvl="4"/>
            <a:r>
              <a:rPr lang="en-US" dirty="0"/>
              <a:t>modify or analyze the AST before generating modified target code.</a:t>
            </a:r>
          </a:p>
          <a:p>
            <a:pPr lvl="2"/>
            <a:r>
              <a:rPr lang="en-US" b="1" dirty="0"/>
              <a:t>Refactoring Tools &amp; IDEs:</a:t>
            </a:r>
            <a:r>
              <a:rPr lang="en-US" dirty="0"/>
              <a:t> </a:t>
            </a:r>
          </a:p>
          <a:p>
            <a:pPr lvl="3"/>
            <a:r>
              <a:rPr lang="en-US" dirty="0"/>
              <a:t>Features like </a:t>
            </a:r>
          </a:p>
          <a:p>
            <a:pPr lvl="4"/>
            <a:r>
              <a:rPr lang="en-US" dirty="0"/>
              <a:t>symbol renaming, method extraction, and auto-completion rely on </a:t>
            </a:r>
          </a:p>
          <a:p>
            <a:pPr lvl="5"/>
            <a:r>
              <a:rPr lang="en-US" dirty="0"/>
              <a:t>holding and manipulating an in-memory AST of the active codebase.</a:t>
            </a:r>
          </a:p>
          <a:p>
            <a:pPr lvl="1"/>
            <a:endParaRPr lang="en-US" dirty="0"/>
          </a:p>
        </p:txBody>
      </p:sp>
      <p:sp>
        <p:nvSpPr>
          <p:cNvPr id="3" name="Date Placeholder 2">
            <a:extLst>
              <a:ext uri="{FF2B5EF4-FFF2-40B4-BE49-F238E27FC236}">
                <a16:creationId xmlns:a16="http://schemas.microsoft.com/office/drawing/2014/main" id="{8E78AA05-EF41-193B-5B14-A4F93D59B71C}"/>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8FA3904F-9E3A-CA82-2E56-8884CC529C6E}"/>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97516521-97F3-C7E2-0520-B46981648754}"/>
              </a:ext>
            </a:extLst>
          </p:cNvPr>
          <p:cNvSpPr>
            <a:spLocks noGrp="1"/>
          </p:cNvSpPr>
          <p:nvPr>
            <p:ph type="sldNum" sz="quarter" idx="12"/>
          </p:nvPr>
        </p:nvSpPr>
        <p:spPr/>
        <p:txBody>
          <a:bodyPr/>
          <a:lstStyle/>
          <a:p>
            <a:fld id="{9B618960-8005-486C-9A75-10CB2AAC16F9}" type="slidenum">
              <a:rPr lang="en-US" smtClean="0"/>
              <a:t>21</a:t>
            </a:fld>
            <a:endParaRPr lang="en-US"/>
          </a:p>
        </p:txBody>
      </p:sp>
    </p:spTree>
    <p:extLst>
      <p:ext uri="{BB962C8B-B14F-4D97-AF65-F5344CB8AC3E}">
        <p14:creationId xmlns:p14="http://schemas.microsoft.com/office/powerpoint/2010/main" val="612442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C1E4CE-A9F0-3E1E-3C82-525B38CBCB17}"/>
              </a:ext>
            </a:extLst>
          </p:cNvPr>
          <p:cNvSpPr>
            <a:spLocks noGrp="1"/>
          </p:cNvSpPr>
          <p:nvPr>
            <p:ph idx="1"/>
          </p:nvPr>
        </p:nvSpPr>
        <p:spPr/>
        <p:txBody>
          <a:bodyPr/>
          <a:lstStyle/>
          <a:p>
            <a:r>
              <a:rPr lang="en-US" b="1" dirty="0"/>
              <a:t>AST Node Structure</a:t>
            </a:r>
            <a:endParaRPr lang="en-US" dirty="0"/>
          </a:p>
          <a:p>
            <a:pPr lvl="1"/>
            <a:r>
              <a:rPr lang="en-US" dirty="0"/>
              <a:t>Every node in an AST represents a programming construct. </a:t>
            </a:r>
          </a:p>
          <a:p>
            <a:pPr lvl="1"/>
            <a:r>
              <a:rPr lang="en-US" dirty="0"/>
              <a:t>Common node categories include:</a:t>
            </a:r>
          </a:p>
          <a:p>
            <a:pPr lvl="2"/>
            <a:r>
              <a:rPr lang="en-US" b="1" dirty="0"/>
              <a:t>Statements:</a:t>
            </a:r>
            <a:r>
              <a:rPr lang="en-US" dirty="0"/>
              <a:t> </a:t>
            </a:r>
          </a:p>
          <a:p>
            <a:pPr lvl="3"/>
            <a:r>
              <a:rPr lang="en-US" dirty="0" err="1"/>
              <a:t>IfStatement</a:t>
            </a:r>
            <a:r>
              <a:rPr lang="en-US" dirty="0"/>
              <a:t>, </a:t>
            </a:r>
            <a:r>
              <a:rPr lang="en-US" dirty="0" err="1"/>
              <a:t>ForLoop</a:t>
            </a:r>
            <a:r>
              <a:rPr lang="en-US" dirty="0"/>
              <a:t>, </a:t>
            </a:r>
            <a:r>
              <a:rPr lang="en-US" dirty="0" err="1"/>
              <a:t>ReturnStatement</a:t>
            </a:r>
            <a:r>
              <a:rPr lang="en-US" dirty="0"/>
              <a:t>, </a:t>
            </a:r>
            <a:r>
              <a:rPr lang="en-US" dirty="0" err="1"/>
              <a:t>VariableDeclaration</a:t>
            </a:r>
            <a:endParaRPr lang="en-US" dirty="0"/>
          </a:p>
          <a:p>
            <a:pPr lvl="2"/>
            <a:r>
              <a:rPr lang="en-US" b="1" dirty="0"/>
              <a:t>Expressions:</a:t>
            </a:r>
            <a:r>
              <a:rPr lang="en-US" dirty="0"/>
              <a:t> </a:t>
            </a:r>
          </a:p>
          <a:p>
            <a:pPr lvl="3"/>
            <a:r>
              <a:rPr lang="en-US" dirty="0" err="1"/>
              <a:t>BinaryExpression</a:t>
            </a:r>
            <a:r>
              <a:rPr lang="en-US" dirty="0"/>
              <a:t>, </a:t>
            </a:r>
            <a:r>
              <a:rPr lang="en-US" dirty="0" err="1"/>
              <a:t>UnaryExpression</a:t>
            </a:r>
            <a:r>
              <a:rPr lang="en-US" dirty="0"/>
              <a:t>, </a:t>
            </a:r>
            <a:r>
              <a:rPr lang="en-US" dirty="0" err="1"/>
              <a:t>FunctionCall</a:t>
            </a:r>
            <a:r>
              <a:rPr lang="en-US" dirty="0"/>
              <a:t>, </a:t>
            </a:r>
            <a:r>
              <a:rPr lang="en-US" dirty="0" err="1"/>
              <a:t>AssignmentExpression</a:t>
            </a:r>
            <a:endParaRPr lang="en-US" dirty="0"/>
          </a:p>
          <a:p>
            <a:pPr lvl="2"/>
            <a:r>
              <a:rPr lang="en-US" b="1" dirty="0"/>
              <a:t>Literals &amp; Identifiers:</a:t>
            </a:r>
            <a:r>
              <a:rPr lang="en-US" dirty="0"/>
              <a:t> </a:t>
            </a:r>
          </a:p>
          <a:p>
            <a:pPr lvl="3"/>
            <a:r>
              <a:rPr lang="en-US" dirty="0" err="1"/>
              <a:t>NumericLiteral</a:t>
            </a:r>
            <a:r>
              <a:rPr lang="en-US" dirty="0"/>
              <a:t>, </a:t>
            </a:r>
            <a:r>
              <a:rPr lang="en-US" dirty="0" err="1"/>
              <a:t>StringLiteral</a:t>
            </a:r>
            <a:r>
              <a:rPr lang="en-US" dirty="0"/>
              <a:t>, Identifier</a:t>
            </a:r>
          </a:p>
          <a:p>
            <a:pPr marL="1828800" lvl="4" indent="0">
              <a:buNone/>
            </a:pPr>
            <a:endParaRPr lang="en-US" dirty="0"/>
          </a:p>
          <a:p>
            <a:endParaRPr lang="en-US" dirty="0"/>
          </a:p>
        </p:txBody>
      </p:sp>
      <p:sp>
        <p:nvSpPr>
          <p:cNvPr id="3" name="Date Placeholder 2">
            <a:extLst>
              <a:ext uri="{FF2B5EF4-FFF2-40B4-BE49-F238E27FC236}">
                <a16:creationId xmlns:a16="http://schemas.microsoft.com/office/drawing/2014/main" id="{8156988B-B966-20EB-5CEE-2BE08E383265}"/>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D90EA792-7355-B7FC-0A5E-4405453687D4}"/>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2B5065F0-40CD-F248-8D7C-5C6CBA7B4B72}"/>
              </a:ext>
            </a:extLst>
          </p:cNvPr>
          <p:cNvSpPr>
            <a:spLocks noGrp="1"/>
          </p:cNvSpPr>
          <p:nvPr>
            <p:ph type="sldNum" sz="quarter" idx="12"/>
          </p:nvPr>
        </p:nvSpPr>
        <p:spPr/>
        <p:txBody>
          <a:bodyPr/>
          <a:lstStyle/>
          <a:p>
            <a:fld id="{9B618960-8005-486C-9A75-10CB2AAC16F9}" type="slidenum">
              <a:rPr lang="en-US" smtClean="0"/>
              <a:t>22</a:t>
            </a:fld>
            <a:endParaRPr lang="en-US"/>
          </a:p>
        </p:txBody>
      </p:sp>
    </p:spTree>
    <p:extLst>
      <p:ext uri="{BB962C8B-B14F-4D97-AF65-F5344CB8AC3E}">
        <p14:creationId xmlns:p14="http://schemas.microsoft.com/office/powerpoint/2010/main" val="1228350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AE306B-DE36-8E95-4B02-1F17C400D208}"/>
              </a:ext>
            </a:extLst>
          </p:cNvPr>
          <p:cNvSpPr>
            <a:spLocks noGrp="1"/>
          </p:cNvSpPr>
          <p:nvPr>
            <p:ph idx="1"/>
          </p:nvPr>
        </p:nvSpPr>
        <p:spPr/>
        <p:txBody>
          <a:bodyPr>
            <a:normAutofit fontScale="92500" lnSpcReduction="20000"/>
          </a:bodyPr>
          <a:lstStyle/>
          <a:p>
            <a:r>
              <a:rPr lang="en-US" dirty="0"/>
              <a:t>The Structure of a Compiler</a:t>
            </a:r>
          </a:p>
          <a:p>
            <a:pPr lvl="1"/>
            <a:r>
              <a:rPr lang="en-US" dirty="0"/>
              <a:t>A modern compiler is structured as </a:t>
            </a:r>
          </a:p>
          <a:p>
            <a:pPr lvl="2"/>
            <a:r>
              <a:rPr lang="en-US" dirty="0"/>
              <a:t>a pipeline of distinct phases, </a:t>
            </a:r>
          </a:p>
          <a:p>
            <a:pPr lvl="2"/>
            <a:r>
              <a:rPr lang="en-US" dirty="0"/>
              <a:t>broadly categorized into three main sections: </a:t>
            </a:r>
          </a:p>
          <a:p>
            <a:pPr lvl="3"/>
            <a:r>
              <a:rPr lang="en-US" dirty="0"/>
              <a:t>the </a:t>
            </a:r>
            <a:r>
              <a:rPr lang="en-US" b="1" dirty="0"/>
              <a:t>Frontend</a:t>
            </a:r>
            <a:r>
              <a:rPr lang="en-US" dirty="0"/>
              <a:t> (language-dependent), </a:t>
            </a:r>
          </a:p>
          <a:p>
            <a:pPr lvl="3"/>
            <a:r>
              <a:rPr lang="en-US" dirty="0"/>
              <a:t>the </a:t>
            </a:r>
            <a:r>
              <a:rPr lang="en-US" b="1" dirty="0"/>
              <a:t>Middle-End</a:t>
            </a:r>
            <a:r>
              <a:rPr lang="en-US" dirty="0"/>
              <a:t> (target-independent optimization), and </a:t>
            </a:r>
          </a:p>
          <a:p>
            <a:pPr lvl="3"/>
            <a:r>
              <a:rPr lang="en-US" dirty="0"/>
              <a:t>the </a:t>
            </a:r>
            <a:r>
              <a:rPr lang="en-US" b="1" dirty="0"/>
              <a:t>Backend</a:t>
            </a:r>
            <a:r>
              <a:rPr lang="en-US" dirty="0"/>
              <a:t> (hardware-dependent).</a:t>
            </a:r>
          </a:p>
          <a:p>
            <a:pPr lvl="3"/>
            <a:r>
              <a:rPr lang="en-US" dirty="0"/>
              <a:t>The part of a compiler that performs the analysis of the source language text</a:t>
            </a:r>
          </a:p>
          <a:p>
            <a:pPr lvl="4"/>
            <a:r>
              <a:rPr lang="en-US" dirty="0"/>
              <a:t>is called the front-end, and the part that does the target language synthesis is the</a:t>
            </a:r>
          </a:p>
          <a:p>
            <a:pPr lvl="4"/>
            <a:r>
              <a:rPr lang="en-US" dirty="0"/>
              <a:t>back-end;</a:t>
            </a:r>
          </a:p>
          <a:p>
            <a:pPr lvl="1"/>
            <a:r>
              <a:rPr lang="en-US" dirty="0"/>
              <a:t>The Frontend (Analysis Phase)</a:t>
            </a:r>
          </a:p>
          <a:p>
            <a:pPr lvl="2"/>
            <a:r>
              <a:rPr lang="en-US" dirty="0"/>
              <a:t>The frontend reads </a:t>
            </a:r>
          </a:p>
          <a:p>
            <a:pPr lvl="3"/>
            <a:r>
              <a:rPr lang="en-US" dirty="0"/>
              <a:t>the raw source code, </a:t>
            </a:r>
          </a:p>
          <a:p>
            <a:pPr lvl="4"/>
            <a:r>
              <a:rPr lang="en-US" dirty="0"/>
              <a:t>verifies its grammatical and semantic correctness, and </a:t>
            </a:r>
          </a:p>
          <a:p>
            <a:pPr lvl="5"/>
            <a:r>
              <a:rPr lang="en-US" dirty="0"/>
              <a:t>converts it into an internal representation.</a:t>
            </a:r>
          </a:p>
          <a:p>
            <a:pPr lvl="2"/>
            <a:r>
              <a:rPr lang="en-US" b="1" dirty="0"/>
              <a:t>Lexical Analysis (Scanner):</a:t>
            </a:r>
            <a:r>
              <a:rPr lang="en-US" dirty="0"/>
              <a:t> </a:t>
            </a:r>
          </a:p>
          <a:p>
            <a:pPr lvl="3"/>
            <a:r>
              <a:rPr lang="en-US" dirty="0"/>
              <a:t>Converts the raw character stream into a sequence of meaningful tokens (keywords, identifiers, operators, literals). It strips out whitespace and comments using regular expressions and finite automata.</a:t>
            </a:r>
          </a:p>
          <a:p>
            <a:pPr lvl="2"/>
            <a:r>
              <a:rPr lang="en-US" b="1" dirty="0"/>
              <a:t>Syntax Analysis (Parser):</a:t>
            </a:r>
            <a:r>
              <a:rPr lang="en-US" dirty="0"/>
              <a:t> </a:t>
            </a:r>
          </a:p>
          <a:p>
            <a:pPr lvl="3"/>
            <a:r>
              <a:rPr lang="en-US" dirty="0"/>
              <a:t>Group tokens into a hierarchical structure called an </a:t>
            </a:r>
            <a:r>
              <a:rPr lang="en-US" b="1" dirty="0"/>
              <a:t>Abstract Syntax Tree (AST)</a:t>
            </a:r>
            <a:r>
              <a:rPr lang="en-US" dirty="0"/>
              <a:t> according to the rules of a Context-Free Grammar (often specified in BNF). It ensures the program obeys language syntax rules.</a:t>
            </a:r>
          </a:p>
          <a:p>
            <a:pPr lvl="2"/>
            <a:r>
              <a:rPr lang="en-US" b="1" dirty="0"/>
              <a:t>Semantic Analysis:</a:t>
            </a:r>
            <a:r>
              <a:rPr lang="en-US" dirty="0"/>
              <a:t> </a:t>
            </a:r>
          </a:p>
          <a:p>
            <a:pPr lvl="3"/>
            <a:r>
              <a:rPr lang="en-US" dirty="0"/>
              <a:t>Checks the AST for logical consistency and semantic rules that context-free grammars cannot enforce. Key tasks include type checking, scope verification, and checking that functions are called with valid arguments.</a:t>
            </a:r>
          </a:p>
          <a:p>
            <a:pPr lvl="5"/>
            <a:endParaRPr lang="en-US" dirty="0"/>
          </a:p>
          <a:p>
            <a:pPr lvl="2"/>
            <a:endParaRPr lang="en-US" dirty="0"/>
          </a:p>
        </p:txBody>
      </p:sp>
      <p:sp>
        <p:nvSpPr>
          <p:cNvPr id="3" name="Date Placeholder 2">
            <a:extLst>
              <a:ext uri="{FF2B5EF4-FFF2-40B4-BE49-F238E27FC236}">
                <a16:creationId xmlns:a16="http://schemas.microsoft.com/office/drawing/2014/main" id="{D31252A9-95A2-4900-A636-96A4AAC49BBA}"/>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09393A9D-2C3F-3E92-288A-75DD5D9B6A8A}"/>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69B930C5-6ABF-8639-E032-70B530D83013}"/>
              </a:ext>
            </a:extLst>
          </p:cNvPr>
          <p:cNvSpPr>
            <a:spLocks noGrp="1"/>
          </p:cNvSpPr>
          <p:nvPr>
            <p:ph type="sldNum" sz="quarter" idx="12"/>
          </p:nvPr>
        </p:nvSpPr>
        <p:spPr/>
        <p:txBody>
          <a:bodyPr/>
          <a:lstStyle/>
          <a:p>
            <a:fld id="{9B618960-8005-486C-9A75-10CB2AAC16F9}" type="slidenum">
              <a:rPr lang="en-US" smtClean="0"/>
              <a:t>23</a:t>
            </a:fld>
            <a:endParaRPr lang="en-US"/>
          </a:p>
        </p:txBody>
      </p:sp>
    </p:spTree>
    <p:extLst>
      <p:ext uri="{BB962C8B-B14F-4D97-AF65-F5344CB8AC3E}">
        <p14:creationId xmlns:p14="http://schemas.microsoft.com/office/powerpoint/2010/main" val="1674906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3AF1DEF8-A96E-E795-DC9B-765AB522E38D}"/>
              </a:ext>
            </a:extLst>
          </p:cNvPr>
          <p:cNvPicPr>
            <a:picLocks noGrp="1" noChangeAspect="1"/>
          </p:cNvPicPr>
          <p:nvPr>
            <p:ph idx="1"/>
          </p:nvPr>
        </p:nvPicPr>
        <p:blipFill>
          <a:blip r:embed="rId2"/>
          <a:stretch>
            <a:fillRect/>
          </a:stretch>
        </p:blipFill>
        <p:spPr>
          <a:xfrm>
            <a:off x="3912" y="1549172"/>
            <a:ext cx="12184175" cy="3258005"/>
          </a:xfrm>
          <a:prstGeom prst="rect">
            <a:avLst/>
          </a:prstGeom>
        </p:spPr>
      </p:pic>
      <p:sp>
        <p:nvSpPr>
          <p:cNvPr id="3" name="Date Placeholder 2">
            <a:extLst>
              <a:ext uri="{FF2B5EF4-FFF2-40B4-BE49-F238E27FC236}">
                <a16:creationId xmlns:a16="http://schemas.microsoft.com/office/drawing/2014/main" id="{E79D936E-CB8C-06ED-371F-4D02CDBE0A91}"/>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CF15318A-0D4F-2609-BCA3-97AE208BF9CE}"/>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3F740BF4-E5AB-F931-AD15-8D250BAA0B37}"/>
              </a:ext>
            </a:extLst>
          </p:cNvPr>
          <p:cNvSpPr>
            <a:spLocks noGrp="1"/>
          </p:cNvSpPr>
          <p:nvPr>
            <p:ph type="sldNum" sz="quarter" idx="12"/>
          </p:nvPr>
        </p:nvSpPr>
        <p:spPr/>
        <p:txBody>
          <a:bodyPr/>
          <a:lstStyle/>
          <a:p>
            <a:fld id="{9B618960-8005-486C-9A75-10CB2AAC16F9}" type="slidenum">
              <a:rPr lang="en-US" smtClean="0"/>
              <a:t>24</a:t>
            </a:fld>
            <a:endParaRPr lang="en-US"/>
          </a:p>
        </p:txBody>
      </p:sp>
    </p:spTree>
    <p:extLst>
      <p:ext uri="{BB962C8B-B14F-4D97-AF65-F5344CB8AC3E}">
        <p14:creationId xmlns:p14="http://schemas.microsoft.com/office/powerpoint/2010/main" val="2940905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AD5B2A-39C7-E817-6A4E-224BBBFC5514}"/>
              </a:ext>
            </a:extLst>
          </p:cNvPr>
          <p:cNvSpPr>
            <a:spLocks noGrp="1"/>
          </p:cNvSpPr>
          <p:nvPr>
            <p:ph idx="1"/>
          </p:nvPr>
        </p:nvSpPr>
        <p:spPr/>
        <p:txBody>
          <a:bodyPr/>
          <a:lstStyle/>
          <a:p>
            <a:r>
              <a:rPr lang="en-US" b="1" dirty="0"/>
              <a:t>The Middle-End (Synthesis &amp; Optimization Phase)</a:t>
            </a:r>
            <a:endParaRPr lang="en-US" dirty="0"/>
          </a:p>
          <a:p>
            <a:pPr lvl="1"/>
            <a:r>
              <a:rPr lang="en-US" dirty="0"/>
              <a:t>The middle-end decouples the input language from the hardware architecture, allowing optimizations to run independently of the target platform.</a:t>
            </a:r>
          </a:p>
          <a:p>
            <a:pPr lvl="1"/>
            <a:r>
              <a:rPr lang="en-US" b="1" dirty="0"/>
              <a:t>Intermediate Code Generation:</a:t>
            </a:r>
            <a:r>
              <a:rPr lang="en-US" dirty="0"/>
              <a:t> </a:t>
            </a:r>
          </a:p>
          <a:p>
            <a:pPr lvl="2"/>
            <a:r>
              <a:rPr lang="en-US" dirty="0"/>
              <a:t>Converts the validated AST into a target-agnostic </a:t>
            </a:r>
            <a:r>
              <a:rPr lang="en-US" b="1" dirty="0"/>
              <a:t>Intermediate Representation (IR)</a:t>
            </a:r>
            <a:r>
              <a:rPr lang="en-US" dirty="0"/>
              <a:t>, </a:t>
            </a:r>
          </a:p>
          <a:p>
            <a:pPr lvl="3"/>
            <a:r>
              <a:rPr lang="en-US" dirty="0"/>
              <a:t>such as three-address code or </a:t>
            </a:r>
          </a:p>
          <a:p>
            <a:pPr lvl="3"/>
            <a:r>
              <a:rPr lang="en-US" dirty="0"/>
              <a:t>Static Single Assignment (SSA) form (e.g., LLVM IR).</a:t>
            </a:r>
          </a:p>
          <a:p>
            <a:pPr lvl="1"/>
            <a:r>
              <a:rPr lang="en-US" b="1" dirty="0"/>
              <a:t>Machine-Independent Optimization:</a:t>
            </a:r>
            <a:r>
              <a:rPr lang="en-US" dirty="0"/>
              <a:t> </a:t>
            </a:r>
          </a:p>
          <a:p>
            <a:pPr lvl="2"/>
            <a:r>
              <a:rPr lang="en-US" dirty="0"/>
              <a:t>Analyzes and transforms the IR to make the program run faster or </a:t>
            </a:r>
          </a:p>
          <a:p>
            <a:pPr lvl="3"/>
            <a:r>
              <a:rPr lang="en-US" dirty="0"/>
              <a:t>use less memory. </a:t>
            </a:r>
          </a:p>
          <a:p>
            <a:pPr lvl="2"/>
            <a:r>
              <a:rPr lang="en-US" dirty="0"/>
              <a:t>Operations include:</a:t>
            </a:r>
          </a:p>
          <a:p>
            <a:pPr lvl="3"/>
            <a:r>
              <a:rPr lang="en-US" b="1" dirty="0"/>
              <a:t>Dead Code Elimination:</a:t>
            </a:r>
            <a:r>
              <a:rPr lang="en-US" dirty="0"/>
              <a:t> </a:t>
            </a:r>
          </a:p>
          <a:p>
            <a:pPr lvl="4"/>
            <a:r>
              <a:rPr lang="en-US" dirty="0"/>
              <a:t>Removing unused variable definitions or unreachable execution paths.</a:t>
            </a:r>
          </a:p>
          <a:p>
            <a:pPr lvl="3"/>
            <a:r>
              <a:rPr lang="en-US" b="1" dirty="0"/>
              <a:t>Constant Folding &amp; Propagation:</a:t>
            </a:r>
            <a:r>
              <a:rPr lang="en-US" dirty="0"/>
              <a:t> </a:t>
            </a:r>
          </a:p>
          <a:p>
            <a:pPr lvl="4"/>
            <a:r>
              <a:rPr lang="en-US" dirty="0"/>
              <a:t>Computing constant expressions at compile time.</a:t>
            </a:r>
          </a:p>
          <a:p>
            <a:pPr lvl="3"/>
            <a:r>
              <a:rPr lang="en-US" b="1" dirty="0"/>
              <a:t>Loop Invariant Code Motion:</a:t>
            </a:r>
            <a:r>
              <a:rPr lang="en-US" dirty="0"/>
              <a:t> </a:t>
            </a:r>
          </a:p>
          <a:p>
            <a:pPr lvl="4"/>
            <a:r>
              <a:rPr lang="en-US" dirty="0"/>
              <a:t>Hoisting calculations outside of loops if their values do not change per iteration.</a:t>
            </a:r>
          </a:p>
          <a:p>
            <a:endParaRPr lang="en-US" dirty="0"/>
          </a:p>
        </p:txBody>
      </p:sp>
      <p:sp>
        <p:nvSpPr>
          <p:cNvPr id="3" name="Date Placeholder 2">
            <a:extLst>
              <a:ext uri="{FF2B5EF4-FFF2-40B4-BE49-F238E27FC236}">
                <a16:creationId xmlns:a16="http://schemas.microsoft.com/office/drawing/2014/main" id="{6256CE0B-ABF1-77C3-525A-133B8927C119}"/>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A9E45751-927C-D4D2-DFE3-C4DB644863ED}"/>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9CFC8176-48CE-1DF9-7A3D-8F49E35A37C8}"/>
              </a:ext>
            </a:extLst>
          </p:cNvPr>
          <p:cNvSpPr>
            <a:spLocks noGrp="1"/>
          </p:cNvSpPr>
          <p:nvPr>
            <p:ph type="sldNum" sz="quarter" idx="12"/>
          </p:nvPr>
        </p:nvSpPr>
        <p:spPr/>
        <p:txBody>
          <a:bodyPr/>
          <a:lstStyle/>
          <a:p>
            <a:fld id="{9B618960-8005-486C-9A75-10CB2AAC16F9}" type="slidenum">
              <a:rPr lang="en-US" smtClean="0"/>
              <a:t>25</a:t>
            </a:fld>
            <a:endParaRPr lang="en-US"/>
          </a:p>
        </p:txBody>
      </p:sp>
    </p:spTree>
    <p:extLst>
      <p:ext uri="{BB962C8B-B14F-4D97-AF65-F5344CB8AC3E}">
        <p14:creationId xmlns:p14="http://schemas.microsoft.com/office/powerpoint/2010/main" val="4262597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57075A-1579-8D62-F426-7A29A7F41A49}"/>
              </a:ext>
            </a:extLst>
          </p:cNvPr>
          <p:cNvSpPr>
            <a:spLocks noGrp="1"/>
          </p:cNvSpPr>
          <p:nvPr>
            <p:ph idx="1"/>
          </p:nvPr>
        </p:nvSpPr>
        <p:spPr/>
        <p:txBody>
          <a:bodyPr>
            <a:normAutofit fontScale="92500" lnSpcReduction="10000"/>
          </a:bodyPr>
          <a:lstStyle/>
          <a:p>
            <a:r>
              <a:rPr lang="en-US" b="1" dirty="0"/>
              <a:t>The Backend (Generation Phase)</a:t>
            </a:r>
            <a:endParaRPr lang="en-US" dirty="0"/>
          </a:p>
          <a:p>
            <a:pPr lvl="1"/>
            <a:r>
              <a:rPr lang="en-US" dirty="0"/>
              <a:t>The backend translates the optimized IR into physical machine instructions optimized for a specific CPU architecture (x86, ARM, RISC-V).</a:t>
            </a:r>
          </a:p>
          <a:p>
            <a:pPr lvl="2"/>
            <a:r>
              <a:rPr lang="en-US" b="1" dirty="0"/>
              <a:t>Instruction Selection:</a:t>
            </a:r>
            <a:r>
              <a:rPr lang="en-US" dirty="0"/>
              <a:t> </a:t>
            </a:r>
          </a:p>
          <a:p>
            <a:pPr lvl="3"/>
            <a:r>
              <a:rPr lang="en-US" dirty="0"/>
              <a:t>Maps abstract IR operations to actual CPU machine instructions.</a:t>
            </a:r>
          </a:p>
          <a:p>
            <a:pPr lvl="2"/>
            <a:r>
              <a:rPr lang="en-US" b="1" dirty="0"/>
              <a:t>Register Allocation:</a:t>
            </a:r>
            <a:r>
              <a:rPr lang="en-US" dirty="0"/>
              <a:t> </a:t>
            </a:r>
          </a:p>
          <a:p>
            <a:pPr lvl="3"/>
            <a:r>
              <a:rPr lang="en-US" dirty="0"/>
              <a:t>Maps an arbitrary number of IR variables to a finite set of physical CPU registers using algorithms like graph coloring. </a:t>
            </a:r>
          </a:p>
          <a:p>
            <a:pPr lvl="4"/>
            <a:r>
              <a:rPr lang="en-US" dirty="0"/>
              <a:t>Spill code is inserted to store excess variables in RAM when registers run out.</a:t>
            </a:r>
          </a:p>
          <a:p>
            <a:pPr lvl="2"/>
            <a:r>
              <a:rPr lang="en-US" b="1" dirty="0"/>
              <a:t>Instruction Scheduling:</a:t>
            </a:r>
            <a:r>
              <a:rPr lang="en-US" dirty="0"/>
              <a:t> </a:t>
            </a:r>
          </a:p>
          <a:p>
            <a:pPr lvl="3"/>
            <a:r>
              <a:rPr lang="en-US" dirty="0"/>
              <a:t>Reorders assembly instructions to avoid hardware pipeline stalls and maximize CPU instruction throughput.</a:t>
            </a:r>
          </a:p>
          <a:p>
            <a:pPr lvl="2"/>
            <a:r>
              <a:rPr lang="en-US" b="1" dirty="0"/>
              <a:t>Code Emission:</a:t>
            </a:r>
            <a:r>
              <a:rPr lang="en-US" dirty="0"/>
              <a:t> </a:t>
            </a:r>
          </a:p>
          <a:p>
            <a:pPr lvl="3"/>
            <a:r>
              <a:rPr lang="en-US" dirty="0"/>
              <a:t>Outputs target binary code, relocatable object files, or assembly code.</a:t>
            </a:r>
          </a:p>
          <a:p>
            <a:r>
              <a:rPr lang="en-US" b="1" dirty="0"/>
              <a:t>Symbol Table &amp; Error Handler</a:t>
            </a:r>
            <a:endParaRPr lang="en-US" dirty="0"/>
          </a:p>
          <a:p>
            <a:pPr lvl="1"/>
            <a:r>
              <a:rPr lang="en-US" dirty="0"/>
              <a:t>Two global support components interact across almost all phases:</a:t>
            </a:r>
          </a:p>
          <a:p>
            <a:pPr lvl="2"/>
            <a:r>
              <a:rPr lang="en-US" b="1" dirty="0"/>
              <a:t>Symbol Table:</a:t>
            </a:r>
            <a:r>
              <a:rPr lang="en-US" dirty="0"/>
              <a:t> </a:t>
            </a:r>
          </a:p>
          <a:p>
            <a:pPr lvl="3"/>
            <a:r>
              <a:rPr lang="en-US" dirty="0"/>
              <a:t>A specialized data structure (hash table/tree) that stores information about identifier names, types, scope levels, memory offsets, and function signatures encountered throughout compilation.</a:t>
            </a:r>
          </a:p>
          <a:p>
            <a:pPr lvl="2"/>
            <a:r>
              <a:rPr lang="en-US" b="1" dirty="0"/>
              <a:t>Error Handler:</a:t>
            </a:r>
            <a:r>
              <a:rPr lang="en-US" dirty="0"/>
              <a:t> </a:t>
            </a:r>
          </a:p>
          <a:p>
            <a:pPr lvl="3"/>
            <a:r>
              <a:rPr lang="en-US" dirty="0"/>
              <a:t>Captures, reports, and gracefully recovers from errors encountered during scanning, parsing, semantic analysis, or code generation.</a:t>
            </a:r>
          </a:p>
          <a:p>
            <a:endParaRPr lang="en-US" dirty="0"/>
          </a:p>
          <a:p>
            <a:endParaRPr lang="en-US" dirty="0"/>
          </a:p>
        </p:txBody>
      </p:sp>
      <p:sp>
        <p:nvSpPr>
          <p:cNvPr id="3" name="Date Placeholder 2">
            <a:extLst>
              <a:ext uri="{FF2B5EF4-FFF2-40B4-BE49-F238E27FC236}">
                <a16:creationId xmlns:a16="http://schemas.microsoft.com/office/drawing/2014/main" id="{C16EB871-847E-60BD-F435-9F5AA13C269F}"/>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7BDCD269-8378-0050-A6F6-7CC0CB3335F0}"/>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5A40539B-8A6E-C707-DC1A-9484E574D65B}"/>
              </a:ext>
            </a:extLst>
          </p:cNvPr>
          <p:cNvSpPr>
            <a:spLocks noGrp="1"/>
          </p:cNvSpPr>
          <p:nvPr>
            <p:ph type="sldNum" sz="quarter" idx="12"/>
          </p:nvPr>
        </p:nvSpPr>
        <p:spPr/>
        <p:txBody>
          <a:bodyPr/>
          <a:lstStyle/>
          <a:p>
            <a:fld id="{9B618960-8005-486C-9A75-10CB2AAC16F9}" type="slidenum">
              <a:rPr lang="en-US" smtClean="0"/>
              <a:t>26</a:t>
            </a:fld>
            <a:endParaRPr lang="en-US"/>
          </a:p>
        </p:txBody>
      </p:sp>
    </p:spTree>
    <p:extLst>
      <p:ext uri="{BB962C8B-B14F-4D97-AF65-F5344CB8AC3E}">
        <p14:creationId xmlns:p14="http://schemas.microsoft.com/office/powerpoint/2010/main" val="3032104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CA439F-B997-8C75-8829-D1637F9E165F}"/>
              </a:ext>
            </a:extLst>
          </p:cNvPr>
          <p:cNvSpPr>
            <a:spLocks noGrp="1"/>
          </p:cNvSpPr>
          <p:nvPr>
            <p:ph idx="1"/>
          </p:nvPr>
        </p:nvSpPr>
        <p:spPr>
          <a:xfrm>
            <a:off x="0" y="9525"/>
            <a:ext cx="12192000" cy="6356350"/>
          </a:xfrm>
        </p:spPr>
        <p:txBody>
          <a:bodyPr/>
          <a:lstStyle/>
          <a:p>
            <a:r>
              <a:rPr lang="en-US" dirty="0"/>
              <a:t>The Structure of a Compiler (RF1)</a:t>
            </a:r>
          </a:p>
        </p:txBody>
      </p:sp>
      <p:sp>
        <p:nvSpPr>
          <p:cNvPr id="3" name="Date Placeholder 2">
            <a:extLst>
              <a:ext uri="{FF2B5EF4-FFF2-40B4-BE49-F238E27FC236}">
                <a16:creationId xmlns:a16="http://schemas.microsoft.com/office/drawing/2014/main" id="{21371F37-04D1-2B54-321B-6DF35B6DA324}"/>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2F7BBEA9-7D6C-2365-E1A3-C39C39E7FC9B}"/>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41A0274A-F0F6-CEE4-18F1-123A51D328C7}"/>
              </a:ext>
            </a:extLst>
          </p:cNvPr>
          <p:cNvSpPr>
            <a:spLocks noGrp="1"/>
          </p:cNvSpPr>
          <p:nvPr>
            <p:ph type="sldNum" sz="quarter" idx="12"/>
          </p:nvPr>
        </p:nvSpPr>
        <p:spPr/>
        <p:txBody>
          <a:bodyPr/>
          <a:lstStyle/>
          <a:p>
            <a:fld id="{9B618960-8005-486C-9A75-10CB2AAC16F9}" type="slidenum">
              <a:rPr lang="en-US" smtClean="0"/>
              <a:t>27</a:t>
            </a:fld>
            <a:endParaRPr lang="en-US"/>
          </a:p>
        </p:txBody>
      </p:sp>
      <p:pic>
        <p:nvPicPr>
          <p:cNvPr id="7" name="Picture 6" descr="Phases of a Compiler - GeeksforGeeks">
            <a:extLst>
              <a:ext uri="{FF2B5EF4-FFF2-40B4-BE49-F238E27FC236}">
                <a16:creationId xmlns:a16="http://schemas.microsoft.com/office/drawing/2014/main" id="{A08760D0-CF5F-E882-2745-575C8388DEA7}"/>
              </a:ext>
            </a:extLst>
          </p:cNvPr>
          <p:cNvPicPr>
            <a:picLocks noChangeAspect="1"/>
          </p:cNvPicPr>
          <p:nvPr/>
        </p:nvPicPr>
        <p:blipFill>
          <a:blip r:embed="rId2"/>
          <a:stretch>
            <a:fillRect/>
          </a:stretch>
        </p:blipFill>
        <p:spPr>
          <a:xfrm>
            <a:off x="1599245" y="501650"/>
            <a:ext cx="8383910" cy="5995766"/>
          </a:xfrm>
          <a:prstGeom prst="rect">
            <a:avLst/>
          </a:prstGeom>
        </p:spPr>
      </p:pic>
    </p:spTree>
    <p:extLst>
      <p:ext uri="{BB962C8B-B14F-4D97-AF65-F5344CB8AC3E}">
        <p14:creationId xmlns:p14="http://schemas.microsoft.com/office/powerpoint/2010/main" val="2720040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53A964-6915-1E1E-037F-6642D481698D}"/>
              </a:ext>
            </a:extLst>
          </p:cNvPr>
          <p:cNvSpPr>
            <a:spLocks noGrp="1"/>
          </p:cNvSpPr>
          <p:nvPr>
            <p:ph idx="1"/>
          </p:nvPr>
        </p:nvSpPr>
        <p:spPr/>
        <p:txBody>
          <a:bodyPr>
            <a:normAutofit/>
          </a:bodyPr>
          <a:lstStyle/>
          <a:p>
            <a:r>
              <a:rPr lang="en-US" dirty="0"/>
              <a:t>Types of Compilers</a:t>
            </a:r>
          </a:p>
          <a:p>
            <a:pPr lvl="1"/>
            <a:r>
              <a:rPr lang="en-US" dirty="0"/>
              <a:t>Compilers can be categorized based on </a:t>
            </a:r>
          </a:p>
          <a:p>
            <a:pPr lvl="2"/>
            <a:r>
              <a:rPr lang="en-US" dirty="0"/>
              <a:t>their architecture, execution model, build target, and execution timing.</a:t>
            </a:r>
          </a:p>
          <a:p>
            <a:pPr lvl="3"/>
            <a:r>
              <a:rPr lang="en-US" b="1" dirty="0"/>
              <a:t>By Target &amp; Output Format</a:t>
            </a:r>
          </a:p>
          <a:p>
            <a:pPr lvl="4"/>
            <a:r>
              <a:rPr lang="en-US" b="1" dirty="0"/>
              <a:t>Native Compiler:</a:t>
            </a:r>
            <a:r>
              <a:rPr lang="en-US" dirty="0"/>
              <a:t> </a:t>
            </a:r>
          </a:p>
          <a:p>
            <a:pPr lvl="5"/>
            <a:r>
              <a:rPr lang="en-US" dirty="0"/>
              <a:t>Compiles source code into machine code designed specifically for the same operating system and CPU architecture that the compiler itself runs on (e.g., compiling C code on x86-64 Linux to run on x86-64 Linux).</a:t>
            </a:r>
          </a:p>
          <a:p>
            <a:pPr lvl="4"/>
            <a:r>
              <a:rPr lang="en-US" b="1" dirty="0"/>
              <a:t>Cross Compiler:</a:t>
            </a:r>
            <a:r>
              <a:rPr lang="en-US" dirty="0"/>
              <a:t> </a:t>
            </a:r>
          </a:p>
          <a:p>
            <a:pPr lvl="5"/>
            <a:r>
              <a:rPr lang="en-US" dirty="0"/>
              <a:t>Runs on one architecture/system (the host) but generates executable binary code for a completely different target architecture (e.g., compiling code on an x86-64 workstation to run on an embedded ARM or RISC-V microcontroller).</a:t>
            </a:r>
          </a:p>
          <a:p>
            <a:pPr lvl="4"/>
            <a:r>
              <a:rPr lang="en-US" b="1" dirty="0"/>
              <a:t>Source-to-Source Compiler (</a:t>
            </a:r>
            <a:r>
              <a:rPr lang="en-US" b="1" dirty="0" err="1"/>
              <a:t>Transpiler</a:t>
            </a:r>
            <a:r>
              <a:rPr lang="en-US" b="1" dirty="0"/>
              <a:t>):</a:t>
            </a:r>
            <a:r>
              <a:rPr lang="en-US" dirty="0"/>
              <a:t> </a:t>
            </a:r>
          </a:p>
          <a:p>
            <a:pPr lvl="5"/>
            <a:r>
              <a:rPr lang="en-US" dirty="0"/>
              <a:t>Translates source code written in one high-level language into another high-level language at a similar level of abstraction (e.g., TypeScript to JavaScript, or Babel </a:t>
            </a:r>
            <a:r>
              <a:rPr lang="en-US" dirty="0" err="1"/>
              <a:t>transpiling</a:t>
            </a:r>
            <a:r>
              <a:rPr lang="en-US" dirty="0"/>
              <a:t> modern ES6+ JS to ES5).</a:t>
            </a:r>
          </a:p>
          <a:p>
            <a:pPr lvl="4"/>
            <a:r>
              <a:rPr lang="en-US" b="1" dirty="0" err="1"/>
              <a:t>Decompiler</a:t>
            </a:r>
            <a:r>
              <a:rPr lang="en-US" b="1" dirty="0"/>
              <a:t>:</a:t>
            </a:r>
            <a:r>
              <a:rPr lang="en-US" dirty="0"/>
              <a:t> </a:t>
            </a:r>
          </a:p>
          <a:p>
            <a:pPr lvl="5"/>
            <a:r>
              <a:rPr lang="en-US" dirty="0"/>
              <a:t>Reconstructs high-level source code from low-level machine code binaries or bytecodes (e.g., </a:t>
            </a:r>
            <a:r>
              <a:rPr lang="en-US" dirty="0" err="1"/>
              <a:t>Ghidra</a:t>
            </a:r>
            <a:r>
              <a:rPr lang="en-US" dirty="0"/>
              <a:t> or CFR turning Java .class files back into Java code).</a:t>
            </a:r>
          </a:p>
          <a:p>
            <a:pPr lvl="2"/>
            <a:endParaRPr lang="en-US" dirty="0"/>
          </a:p>
        </p:txBody>
      </p:sp>
      <p:sp>
        <p:nvSpPr>
          <p:cNvPr id="3" name="Date Placeholder 2">
            <a:extLst>
              <a:ext uri="{FF2B5EF4-FFF2-40B4-BE49-F238E27FC236}">
                <a16:creationId xmlns:a16="http://schemas.microsoft.com/office/drawing/2014/main" id="{36D186F0-EDCB-8D36-5B99-883CD4293A08}"/>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56CC5420-03A5-42CC-B256-40F5F99826C7}"/>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9D85195A-E7FA-0041-76B3-D0AE2300C15A}"/>
              </a:ext>
            </a:extLst>
          </p:cNvPr>
          <p:cNvSpPr>
            <a:spLocks noGrp="1"/>
          </p:cNvSpPr>
          <p:nvPr>
            <p:ph type="sldNum" sz="quarter" idx="12"/>
          </p:nvPr>
        </p:nvSpPr>
        <p:spPr/>
        <p:txBody>
          <a:bodyPr/>
          <a:lstStyle/>
          <a:p>
            <a:fld id="{9B618960-8005-486C-9A75-10CB2AAC16F9}" type="slidenum">
              <a:rPr lang="en-US" smtClean="0"/>
              <a:t>28</a:t>
            </a:fld>
            <a:endParaRPr lang="en-US"/>
          </a:p>
        </p:txBody>
      </p:sp>
    </p:spTree>
    <p:extLst>
      <p:ext uri="{BB962C8B-B14F-4D97-AF65-F5344CB8AC3E}">
        <p14:creationId xmlns:p14="http://schemas.microsoft.com/office/powerpoint/2010/main" val="2249852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B66DFF-DC7F-E4F4-F98C-DE82F63548E3}"/>
              </a:ext>
            </a:extLst>
          </p:cNvPr>
          <p:cNvSpPr>
            <a:spLocks noGrp="1"/>
          </p:cNvSpPr>
          <p:nvPr>
            <p:ph idx="1"/>
          </p:nvPr>
        </p:nvSpPr>
        <p:spPr/>
        <p:txBody>
          <a:bodyPr>
            <a:normAutofit/>
          </a:bodyPr>
          <a:lstStyle/>
          <a:p>
            <a:r>
              <a:rPr lang="en-US" dirty="0"/>
              <a:t>Types of Compilers</a:t>
            </a:r>
            <a:endParaRPr lang="en-US" b="1" dirty="0"/>
          </a:p>
          <a:p>
            <a:pPr lvl="1"/>
            <a:r>
              <a:rPr lang="en-US" b="1" dirty="0"/>
              <a:t>By Execution Timing &amp; Strategy</a:t>
            </a:r>
            <a:endParaRPr lang="en-US" dirty="0"/>
          </a:p>
          <a:p>
            <a:pPr lvl="2"/>
            <a:r>
              <a:rPr lang="en-US" b="1" dirty="0"/>
              <a:t>Ahead-Of-Time (AOT) Compiler:</a:t>
            </a:r>
            <a:r>
              <a:rPr lang="en-US" dirty="0"/>
              <a:t> </a:t>
            </a:r>
          </a:p>
          <a:p>
            <a:pPr lvl="3"/>
            <a:r>
              <a:rPr lang="en-US" dirty="0"/>
              <a:t>Translates entire source files into machine code executables before program execution begins (e.g., </a:t>
            </a:r>
            <a:r>
              <a:rPr lang="en-US" dirty="0" err="1"/>
              <a:t>gcc</a:t>
            </a:r>
            <a:r>
              <a:rPr lang="en-US" dirty="0"/>
              <a:t>, </a:t>
            </a:r>
            <a:r>
              <a:rPr lang="en-US" dirty="0" err="1"/>
              <a:t>rustc</a:t>
            </a:r>
            <a:r>
              <a:rPr lang="en-US" dirty="0"/>
              <a:t>, go).</a:t>
            </a:r>
          </a:p>
          <a:p>
            <a:pPr lvl="2"/>
            <a:r>
              <a:rPr lang="en-US" b="1" dirty="0"/>
              <a:t>Just-In-Time (JIT) Compiler:</a:t>
            </a:r>
            <a:r>
              <a:rPr lang="en-US" dirty="0"/>
              <a:t> </a:t>
            </a:r>
          </a:p>
          <a:p>
            <a:pPr lvl="3"/>
            <a:r>
              <a:rPr lang="en-US" dirty="0"/>
              <a:t>Compiles intermediate bytecode into native machine code on the fly at runtime during execution, leveraging live profiling metrics to optimize hot execution paths (e.g., Java </a:t>
            </a:r>
            <a:r>
              <a:rPr lang="en-US" dirty="0" err="1"/>
              <a:t>HotSpot</a:t>
            </a:r>
            <a:r>
              <a:rPr lang="en-US" dirty="0"/>
              <a:t> VM, V8 JavaScript engine).</a:t>
            </a:r>
          </a:p>
          <a:p>
            <a:pPr lvl="2"/>
            <a:r>
              <a:rPr lang="en-US" b="1" dirty="0"/>
              <a:t>Ahead-of-Time / JIT Hybrid Compiler:</a:t>
            </a:r>
            <a:r>
              <a:rPr lang="en-US" dirty="0"/>
              <a:t> </a:t>
            </a:r>
          </a:p>
          <a:p>
            <a:pPr lvl="3"/>
            <a:r>
              <a:rPr lang="en-US" dirty="0"/>
              <a:t>Combines pre-compilation with runtime compilation to balance startup speed and peak throughput (e.g., Android's ART, which pre-compiles apps during installation via AOT while applying JIT optimization passes during runtime).</a:t>
            </a:r>
          </a:p>
          <a:p>
            <a:pPr lvl="1"/>
            <a:r>
              <a:rPr lang="en-US" b="1" dirty="0"/>
              <a:t>By Structural Pass Architecture</a:t>
            </a:r>
            <a:endParaRPr lang="en-US" dirty="0"/>
          </a:p>
          <a:p>
            <a:pPr lvl="2"/>
            <a:r>
              <a:rPr lang="en-US" b="1" dirty="0"/>
              <a:t>Single-Pass Compiler:</a:t>
            </a:r>
            <a:r>
              <a:rPr lang="en-US" dirty="0"/>
              <a:t> </a:t>
            </a:r>
          </a:p>
          <a:p>
            <a:pPr lvl="3"/>
            <a:r>
              <a:rPr lang="en-US" dirty="0"/>
              <a:t>Scans and translates source code sequentially from top to bottom in a single pass, outputting machine code immediately. Requires fast compilation times but limits global code optimizations (e.g., early Pascal compilers).</a:t>
            </a:r>
          </a:p>
          <a:p>
            <a:pPr lvl="2"/>
            <a:r>
              <a:rPr lang="en-US" b="1" dirty="0"/>
              <a:t>Multi-Pass Compiler:</a:t>
            </a:r>
            <a:r>
              <a:rPr lang="en-US" dirty="0"/>
              <a:t> </a:t>
            </a:r>
          </a:p>
          <a:p>
            <a:pPr lvl="3"/>
            <a:r>
              <a:rPr lang="en-US" dirty="0"/>
              <a:t>Processes code across multiple distinct phases—converting source code to AST, then to Intermediate Representation (IR/SSA), performing optimization passes, and generating machine code. Allows aggressive global optimizations at the cost of compilation speed (e.g., Clang/LLVM, GCC).</a:t>
            </a:r>
          </a:p>
          <a:p>
            <a:pPr lvl="1"/>
            <a:endParaRPr lang="en-US" dirty="0"/>
          </a:p>
          <a:p>
            <a:endParaRPr lang="en-US" dirty="0"/>
          </a:p>
        </p:txBody>
      </p:sp>
      <p:sp>
        <p:nvSpPr>
          <p:cNvPr id="3" name="Date Placeholder 2">
            <a:extLst>
              <a:ext uri="{FF2B5EF4-FFF2-40B4-BE49-F238E27FC236}">
                <a16:creationId xmlns:a16="http://schemas.microsoft.com/office/drawing/2014/main" id="{B27F52CD-0DB2-E483-3591-B03B97BB7EBF}"/>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D7DD1952-A479-38B9-8DC6-7A38A80AD870}"/>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840E02DA-26A9-77D8-566A-524E7EB6A5DE}"/>
              </a:ext>
            </a:extLst>
          </p:cNvPr>
          <p:cNvSpPr>
            <a:spLocks noGrp="1"/>
          </p:cNvSpPr>
          <p:nvPr>
            <p:ph type="sldNum" sz="quarter" idx="12"/>
          </p:nvPr>
        </p:nvSpPr>
        <p:spPr/>
        <p:txBody>
          <a:bodyPr/>
          <a:lstStyle/>
          <a:p>
            <a:fld id="{9B618960-8005-486C-9A75-10CB2AAC16F9}" type="slidenum">
              <a:rPr lang="en-US" smtClean="0"/>
              <a:t>29</a:t>
            </a:fld>
            <a:endParaRPr lang="en-US"/>
          </a:p>
        </p:txBody>
      </p:sp>
    </p:spTree>
    <p:extLst>
      <p:ext uri="{BB962C8B-B14F-4D97-AF65-F5344CB8AC3E}">
        <p14:creationId xmlns:p14="http://schemas.microsoft.com/office/powerpoint/2010/main" val="2231276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7D5C75-C9D2-503E-435E-7DD0C3D840C7}"/>
              </a:ext>
            </a:extLst>
          </p:cNvPr>
          <p:cNvSpPr>
            <a:spLocks noGrp="1"/>
          </p:cNvSpPr>
          <p:nvPr>
            <p:ph idx="1"/>
          </p:nvPr>
        </p:nvSpPr>
        <p:spPr/>
        <p:txBody>
          <a:bodyPr/>
          <a:lstStyle/>
          <a:p>
            <a:r>
              <a:rPr lang="en-US" b="1" dirty="0"/>
              <a:t>Specialized Compiler Types</a:t>
            </a:r>
            <a:endParaRPr lang="en-US" dirty="0"/>
          </a:p>
          <a:p>
            <a:pPr lvl="1"/>
            <a:r>
              <a:rPr lang="en-US" b="1" dirty="0"/>
              <a:t>Parallelizing / Vectorizing Compiler:</a:t>
            </a:r>
            <a:r>
              <a:rPr lang="en-US" dirty="0"/>
              <a:t> </a:t>
            </a:r>
          </a:p>
          <a:p>
            <a:pPr lvl="2"/>
            <a:r>
              <a:rPr lang="en-US" dirty="0"/>
              <a:t>Analyzes sequential code structures (like loops) and automatically converts them to exploit parallel hardware features like SIMD instructions or multi-core threads.</a:t>
            </a:r>
          </a:p>
          <a:p>
            <a:pPr lvl="3"/>
            <a:r>
              <a:rPr lang="en-US" b="1" dirty="0"/>
              <a:t>SIMD (Single Instruction, Multiple Data)</a:t>
            </a:r>
            <a:r>
              <a:rPr lang="en-US" dirty="0"/>
              <a:t> </a:t>
            </a:r>
          </a:p>
          <a:p>
            <a:pPr lvl="4"/>
            <a:r>
              <a:rPr lang="en-US" dirty="0"/>
              <a:t>is a parallel computing execution model where a single CPU instruction operates simultaneously on multiple data elements packed into wide vector registers. </a:t>
            </a:r>
          </a:p>
          <a:p>
            <a:pPr lvl="4"/>
            <a:r>
              <a:rPr lang="en-US" dirty="0"/>
              <a:t>It forms the foundation of modern data-level parallelism in microprocessors.</a:t>
            </a:r>
          </a:p>
          <a:p>
            <a:pPr lvl="3"/>
            <a:r>
              <a:rPr lang="en-US" dirty="0"/>
              <a:t>In traditional </a:t>
            </a:r>
            <a:r>
              <a:rPr lang="en-US" b="1" dirty="0"/>
              <a:t>SISD (Single Instruction, Single Data)</a:t>
            </a:r>
            <a:r>
              <a:rPr lang="en-US" dirty="0"/>
              <a:t> processing, </a:t>
            </a:r>
          </a:p>
          <a:p>
            <a:pPr lvl="4"/>
            <a:r>
              <a:rPr lang="en-US" dirty="0"/>
              <a:t>performing an operation on four numbers requires four separate instructions executed sequentially. </a:t>
            </a:r>
          </a:p>
          <a:p>
            <a:pPr lvl="4"/>
            <a:r>
              <a:rPr lang="en-US" dirty="0"/>
              <a:t>Under </a:t>
            </a:r>
            <a:r>
              <a:rPr lang="en-US" b="1" dirty="0"/>
              <a:t>SIMD</a:t>
            </a:r>
            <a:r>
              <a:rPr lang="en-US" dirty="0"/>
              <a:t>, vector registers store multiple scalar values side-by-side, allowing one instruction to process them in parallel in a single CPU cycle.</a:t>
            </a:r>
          </a:p>
          <a:p>
            <a:pPr lvl="3"/>
            <a:r>
              <a:rPr lang="en-US" dirty="0"/>
              <a:t>SISD (Scalar Addition):</a:t>
            </a:r>
          </a:p>
          <a:p>
            <a:pPr lvl="4"/>
            <a:endParaRPr lang="en-US" dirty="0"/>
          </a:p>
          <a:p>
            <a:pPr lvl="4"/>
            <a:endParaRPr lang="en-US" dirty="0"/>
          </a:p>
          <a:p>
            <a:pPr lvl="4"/>
            <a:endParaRPr lang="en-US" dirty="0"/>
          </a:p>
          <a:p>
            <a:pPr lvl="3"/>
            <a:r>
              <a:rPr lang="en-US" dirty="0"/>
              <a:t>SIMD (Vector Addition):</a:t>
            </a:r>
          </a:p>
          <a:p>
            <a:pPr lvl="2"/>
            <a:endParaRPr lang="en-US" dirty="0"/>
          </a:p>
          <a:p>
            <a:endParaRPr lang="en-US" dirty="0"/>
          </a:p>
        </p:txBody>
      </p:sp>
      <p:sp>
        <p:nvSpPr>
          <p:cNvPr id="3" name="Date Placeholder 2">
            <a:extLst>
              <a:ext uri="{FF2B5EF4-FFF2-40B4-BE49-F238E27FC236}">
                <a16:creationId xmlns:a16="http://schemas.microsoft.com/office/drawing/2014/main" id="{1D31305A-EB39-1C7F-28F6-A089DC052CC1}"/>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2E06AD73-65EC-AD2E-0C72-64959AE4BD9C}"/>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630B305F-DDD9-C668-626B-00317C6A7AB6}"/>
              </a:ext>
            </a:extLst>
          </p:cNvPr>
          <p:cNvSpPr>
            <a:spLocks noGrp="1"/>
          </p:cNvSpPr>
          <p:nvPr>
            <p:ph type="sldNum" sz="quarter" idx="12"/>
          </p:nvPr>
        </p:nvSpPr>
        <p:spPr/>
        <p:txBody>
          <a:bodyPr/>
          <a:lstStyle/>
          <a:p>
            <a:fld id="{9B618960-8005-486C-9A75-10CB2AAC16F9}" type="slidenum">
              <a:rPr lang="en-US" smtClean="0"/>
              <a:t>30</a:t>
            </a:fld>
            <a:endParaRPr lang="en-US"/>
          </a:p>
        </p:txBody>
      </p:sp>
      <p:pic>
        <p:nvPicPr>
          <p:cNvPr id="7" name="Picture 6">
            <a:extLst>
              <a:ext uri="{FF2B5EF4-FFF2-40B4-BE49-F238E27FC236}">
                <a16:creationId xmlns:a16="http://schemas.microsoft.com/office/drawing/2014/main" id="{D904FF9D-465E-F4B4-E763-54DB448C3E83}"/>
              </a:ext>
            </a:extLst>
          </p:cNvPr>
          <p:cNvPicPr>
            <a:picLocks noChangeAspect="1"/>
          </p:cNvPicPr>
          <p:nvPr/>
        </p:nvPicPr>
        <p:blipFill>
          <a:blip r:embed="rId2"/>
          <a:stretch>
            <a:fillRect/>
          </a:stretch>
        </p:blipFill>
        <p:spPr>
          <a:xfrm>
            <a:off x="4125740" y="3817867"/>
            <a:ext cx="2467319" cy="1000265"/>
          </a:xfrm>
          <a:prstGeom prst="rect">
            <a:avLst/>
          </a:prstGeom>
        </p:spPr>
      </p:pic>
      <p:pic>
        <p:nvPicPr>
          <p:cNvPr id="9" name="Picture 8">
            <a:extLst>
              <a:ext uri="{FF2B5EF4-FFF2-40B4-BE49-F238E27FC236}">
                <a16:creationId xmlns:a16="http://schemas.microsoft.com/office/drawing/2014/main" id="{0B6B8901-833A-B249-A9DA-20601D0724C1}"/>
              </a:ext>
            </a:extLst>
          </p:cNvPr>
          <p:cNvPicPr>
            <a:picLocks noChangeAspect="1"/>
          </p:cNvPicPr>
          <p:nvPr/>
        </p:nvPicPr>
        <p:blipFill>
          <a:blip r:embed="rId3"/>
          <a:stretch>
            <a:fillRect/>
          </a:stretch>
        </p:blipFill>
        <p:spPr>
          <a:xfrm>
            <a:off x="2732738" y="5491131"/>
            <a:ext cx="6716062" cy="447737"/>
          </a:xfrm>
          <a:prstGeom prst="rect">
            <a:avLst/>
          </a:prstGeom>
        </p:spPr>
      </p:pic>
    </p:spTree>
    <p:extLst>
      <p:ext uri="{BB962C8B-B14F-4D97-AF65-F5344CB8AC3E}">
        <p14:creationId xmlns:p14="http://schemas.microsoft.com/office/powerpoint/2010/main" val="3327767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C77D17-BCFC-62EF-2539-8BFAA436EB08}"/>
              </a:ext>
            </a:extLst>
          </p:cNvPr>
          <p:cNvSpPr>
            <a:spLocks noGrp="1"/>
          </p:cNvSpPr>
          <p:nvPr>
            <p:ph idx="1"/>
          </p:nvPr>
        </p:nvSpPr>
        <p:spPr/>
        <p:txBody>
          <a:bodyPr/>
          <a:lstStyle/>
          <a:p>
            <a:r>
              <a:rPr lang="en-US" b="1" dirty="0"/>
              <a:t>Specialized Compiler Types</a:t>
            </a:r>
          </a:p>
          <a:p>
            <a:pPr lvl="1"/>
            <a:r>
              <a:rPr lang="en-US" b="1" dirty="0"/>
              <a:t>Parallelizing / Vectorizing Compiler:</a:t>
            </a:r>
            <a:r>
              <a:rPr lang="en-US" dirty="0"/>
              <a:t> </a:t>
            </a:r>
            <a:endParaRPr lang="en-US" b="1" dirty="0"/>
          </a:p>
          <a:p>
            <a:pPr lvl="2"/>
            <a:r>
              <a:rPr lang="en-US" b="1" dirty="0"/>
              <a:t>Common Applications</a:t>
            </a:r>
            <a:endParaRPr lang="en-US" dirty="0"/>
          </a:p>
          <a:p>
            <a:pPr lvl="3"/>
            <a:r>
              <a:rPr lang="en-US" b="1" dirty="0"/>
              <a:t>Digital Signal Processing (DSP) &amp; Audio:</a:t>
            </a:r>
            <a:r>
              <a:rPr lang="en-US" dirty="0"/>
              <a:t> </a:t>
            </a:r>
          </a:p>
          <a:p>
            <a:pPr lvl="4"/>
            <a:r>
              <a:rPr lang="en-US" dirty="0"/>
              <a:t>Filtering, FFT calculations, and audio codec processing.</a:t>
            </a:r>
          </a:p>
          <a:p>
            <a:pPr lvl="3"/>
            <a:r>
              <a:rPr lang="en-US" b="1" dirty="0"/>
              <a:t>Graphics &amp; Game Engines:</a:t>
            </a:r>
            <a:r>
              <a:rPr lang="en-US" dirty="0"/>
              <a:t> </a:t>
            </a:r>
          </a:p>
          <a:p>
            <a:pPr lvl="4"/>
            <a:r>
              <a:rPr lang="en-US" dirty="0"/>
              <a:t>3D vector/matrix transformations, vertex processing, and ray tracing primitives.</a:t>
            </a:r>
          </a:p>
          <a:p>
            <a:pPr lvl="3"/>
            <a:r>
              <a:rPr lang="en-US" b="1" dirty="0"/>
              <a:t>Image &amp; Video Processing:</a:t>
            </a:r>
            <a:r>
              <a:rPr lang="en-US" dirty="0"/>
              <a:t> </a:t>
            </a:r>
          </a:p>
          <a:p>
            <a:pPr lvl="4"/>
            <a:r>
              <a:rPr lang="en-US" dirty="0"/>
              <a:t>Pixel manipulation, convolution masks, and video encoding (H.264, HEVC, AV1).</a:t>
            </a:r>
          </a:p>
          <a:p>
            <a:pPr lvl="3"/>
            <a:r>
              <a:rPr lang="en-US" b="1" dirty="0"/>
              <a:t>Machine Learning &amp; Cryptography:</a:t>
            </a:r>
            <a:r>
              <a:rPr lang="en-US" dirty="0"/>
              <a:t> </a:t>
            </a:r>
          </a:p>
          <a:p>
            <a:pPr lvl="4"/>
            <a:r>
              <a:rPr lang="en-US" dirty="0"/>
              <a:t>Matrix multiplication kernels (GEMM), tensor contractions, and vectorized hash evaluations.</a:t>
            </a:r>
            <a:endParaRPr lang="en-US" b="1" dirty="0"/>
          </a:p>
          <a:p>
            <a:pPr lvl="1"/>
            <a:r>
              <a:rPr lang="en-US" b="1" dirty="0"/>
              <a:t>Incremental Compiler:</a:t>
            </a:r>
            <a:r>
              <a:rPr lang="en-US" dirty="0"/>
              <a:t> </a:t>
            </a:r>
          </a:p>
          <a:p>
            <a:pPr lvl="2"/>
            <a:r>
              <a:rPr lang="en-US" dirty="0"/>
              <a:t>Re-compiles only the specific functions, blocks, or modules that changed since the last build rather than recompiling the entire project, drastically speeding up development feedback loops (e.g., IDE language servers).</a:t>
            </a:r>
          </a:p>
          <a:p>
            <a:endParaRPr lang="en-US" dirty="0"/>
          </a:p>
        </p:txBody>
      </p:sp>
      <p:sp>
        <p:nvSpPr>
          <p:cNvPr id="3" name="Date Placeholder 2">
            <a:extLst>
              <a:ext uri="{FF2B5EF4-FFF2-40B4-BE49-F238E27FC236}">
                <a16:creationId xmlns:a16="http://schemas.microsoft.com/office/drawing/2014/main" id="{C7A64F37-7C5A-4BC7-A2D0-B31548F0A245}"/>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C696FB96-662B-25C2-A43B-5469925ADE58}"/>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1EC86996-CE31-F276-855E-0B1FD0ADB454}"/>
              </a:ext>
            </a:extLst>
          </p:cNvPr>
          <p:cNvSpPr>
            <a:spLocks noGrp="1"/>
          </p:cNvSpPr>
          <p:nvPr>
            <p:ph type="sldNum" sz="quarter" idx="12"/>
          </p:nvPr>
        </p:nvSpPr>
        <p:spPr/>
        <p:txBody>
          <a:bodyPr/>
          <a:lstStyle/>
          <a:p>
            <a:fld id="{9B618960-8005-486C-9A75-10CB2AAC16F9}" type="slidenum">
              <a:rPr lang="en-US" smtClean="0"/>
              <a:t>31</a:t>
            </a:fld>
            <a:endParaRPr lang="en-US"/>
          </a:p>
        </p:txBody>
      </p:sp>
    </p:spTree>
    <p:extLst>
      <p:ext uri="{BB962C8B-B14F-4D97-AF65-F5344CB8AC3E}">
        <p14:creationId xmlns:p14="http://schemas.microsoft.com/office/powerpoint/2010/main" val="719938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B9AD5D-50DD-7031-AE7B-C424C07DE97B}"/>
              </a:ext>
            </a:extLst>
          </p:cNvPr>
          <p:cNvSpPr>
            <a:spLocks noGrp="1"/>
          </p:cNvSpPr>
          <p:nvPr>
            <p:ph idx="1"/>
          </p:nvPr>
        </p:nvSpPr>
        <p:spPr/>
        <p:txBody>
          <a:bodyPr>
            <a:normAutofit fontScale="85000" lnSpcReduction="20000"/>
          </a:bodyPr>
          <a:lstStyle/>
          <a:p>
            <a:r>
              <a:rPr lang="en-US" dirty="0"/>
              <a:t>Compiler</a:t>
            </a:r>
          </a:p>
          <a:p>
            <a:pPr lvl="1"/>
            <a:r>
              <a:rPr lang="en-US" dirty="0"/>
              <a:t>a program or group of programs that translates one language into another</a:t>
            </a:r>
          </a:p>
          <a:p>
            <a:pPr lvl="2"/>
            <a:r>
              <a:rPr lang="en-US" dirty="0"/>
              <a:t>the source code of a high-level computer language is translated into assembly language.</a:t>
            </a:r>
          </a:p>
          <a:p>
            <a:pPr lvl="1"/>
            <a:r>
              <a:rPr lang="en-US" dirty="0"/>
              <a:t>Compilers are complex programs. </a:t>
            </a:r>
          </a:p>
          <a:p>
            <a:pPr lvl="2"/>
            <a:r>
              <a:rPr lang="en-US" dirty="0"/>
              <a:t>they're often broken into</a:t>
            </a:r>
          </a:p>
          <a:p>
            <a:pPr lvl="3"/>
            <a:r>
              <a:rPr lang="en-US" dirty="0"/>
              <a:t>several distinct chunks, called passes, </a:t>
            </a:r>
          </a:p>
          <a:p>
            <a:pPr lvl="3"/>
            <a:r>
              <a:rPr lang="en-US" dirty="0"/>
              <a:t>that communicate with one another via temporary files. </a:t>
            </a:r>
          </a:p>
          <a:p>
            <a:pPr lvl="1"/>
            <a:r>
              <a:rPr lang="en-US" dirty="0"/>
              <a:t>The passes themselves are only part of the compilation process</a:t>
            </a:r>
          </a:p>
          <a:p>
            <a:pPr lvl="1"/>
            <a:r>
              <a:rPr lang="en-US" dirty="0"/>
              <a:t>The assembler, linker, and so forth are not considered to be part of the compiler.</a:t>
            </a:r>
          </a:p>
          <a:p>
            <a:pPr lvl="2"/>
            <a:r>
              <a:rPr lang="en-US" dirty="0"/>
              <a:t>The structure of a typical four-pass compiler is shown in Figure 1.1</a:t>
            </a:r>
          </a:p>
          <a:p>
            <a:pPr lvl="1"/>
            <a:r>
              <a:rPr lang="en-US" dirty="0"/>
              <a:t>The preprocessor is the first pass.</a:t>
            </a:r>
          </a:p>
          <a:p>
            <a:pPr lvl="1"/>
            <a:r>
              <a:rPr lang="en-US" dirty="0"/>
              <a:t>Preprocessors </a:t>
            </a:r>
          </a:p>
          <a:p>
            <a:pPr lvl="2"/>
            <a:r>
              <a:rPr lang="en-US" dirty="0"/>
              <a:t>typically do macro substitutions, strip comments from </a:t>
            </a:r>
          </a:p>
          <a:p>
            <a:pPr lvl="3"/>
            <a:r>
              <a:rPr lang="en-US" dirty="0"/>
              <a:t>the source code, and handle various housekeeping tasks with which you don't want to</a:t>
            </a:r>
          </a:p>
          <a:p>
            <a:pPr lvl="4"/>
            <a:r>
              <a:rPr lang="en-US" dirty="0"/>
              <a:t>burden the compiler proper</a:t>
            </a:r>
          </a:p>
          <a:p>
            <a:pPr lvl="1"/>
            <a:r>
              <a:rPr lang="en-US" dirty="0"/>
              <a:t>The second pass is the heart of the compiler.</a:t>
            </a:r>
          </a:p>
          <a:p>
            <a:pPr lvl="2"/>
            <a:r>
              <a:rPr lang="en-US" dirty="0"/>
              <a:t>It is made up of a lexical analyzer, parser, and code generator, and it translates the source code into an</a:t>
            </a:r>
          </a:p>
          <a:p>
            <a:pPr lvl="3"/>
            <a:r>
              <a:rPr lang="en-US" dirty="0"/>
              <a:t>intermediate language that is much like assembly language.</a:t>
            </a:r>
          </a:p>
          <a:p>
            <a:pPr lvl="1"/>
            <a:r>
              <a:rPr lang="en-US" dirty="0"/>
              <a:t>The third pass is the optimizer, </a:t>
            </a:r>
          </a:p>
          <a:p>
            <a:pPr lvl="2"/>
            <a:r>
              <a:rPr lang="en-US" dirty="0"/>
              <a:t>which improves the quality of the generated intermediate code, and </a:t>
            </a:r>
          </a:p>
          <a:p>
            <a:pPr lvl="1"/>
            <a:r>
              <a:rPr lang="en-US" dirty="0"/>
              <a:t>the fourth pass,</a:t>
            </a:r>
          </a:p>
          <a:p>
            <a:pPr lvl="2"/>
            <a:r>
              <a:rPr lang="en-US" dirty="0"/>
              <a:t>the back end, </a:t>
            </a:r>
          </a:p>
          <a:p>
            <a:pPr lvl="3"/>
            <a:r>
              <a:rPr lang="en-US" dirty="0"/>
              <a:t>translates the optimized code to real assembly language or some form of binary, executable code.</a:t>
            </a:r>
          </a:p>
        </p:txBody>
      </p:sp>
      <p:sp>
        <p:nvSpPr>
          <p:cNvPr id="3" name="Date Placeholder 2">
            <a:extLst>
              <a:ext uri="{FF2B5EF4-FFF2-40B4-BE49-F238E27FC236}">
                <a16:creationId xmlns:a16="http://schemas.microsoft.com/office/drawing/2014/main" id="{2F2EBFE7-682B-DA01-35CD-FB0B6199CBE9}"/>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587193B0-19B4-CD4D-95CB-6E994CD83010}"/>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F0A3401B-1109-C538-470E-FF5987362ACD}"/>
              </a:ext>
            </a:extLst>
          </p:cNvPr>
          <p:cNvSpPr>
            <a:spLocks noGrp="1"/>
          </p:cNvSpPr>
          <p:nvPr>
            <p:ph type="sldNum" sz="quarter" idx="12"/>
          </p:nvPr>
        </p:nvSpPr>
        <p:spPr/>
        <p:txBody>
          <a:bodyPr/>
          <a:lstStyle/>
          <a:p>
            <a:fld id="{9B618960-8005-486C-9A75-10CB2AAC16F9}" type="slidenum">
              <a:rPr lang="en-US" smtClean="0"/>
              <a:t>32</a:t>
            </a:fld>
            <a:endParaRPr lang="en-US"/>
          </a:p>
        </p:txBody>
      </p:sp>
    </p:spTree>
    <p:extLst>
      <p:ext uri="{BB962C8B-B14F-4D97-AF65-F5344CB8AC3E}">
        <p14:creationId xmlns:p14="http://schemas.microsoft.com/office/powerpoint/2010/main" val="430825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8292088-0B04-54F2-6041-95B2D5B991C7}"/>
              </a:ext>
            </a:extLst>
          </p:cNvPr>
          <p:cNvPicPr>
            <a:picLocks noGrp="1" noChangeAspect="1"/>
          </p:cNvPicPr>
          <p:nvPr>
            <p:ph idx="1"/>
          </p:nvPr>
        </p:nvPicPr>
        <p:blipFill>
          <a:blip r:embed="rId2"/>
          <a:stretch>
            <a:fillRect/>
          </a:stretch>
        </p:blipFill>
        <p:spPr>
          <a:xfrm>
            <a:off x="2095500" y="9525"/>
            <a:ext cx="7556500" cy="6439935"/>
          </a:xfrm>
          <a:prstGeom prst="rect">
            <a:avLst/>
          </a:prstGeom>
        </p:spPr>
      </p:pic>
      <p:sp>
        <p:nvSpPr>
          <p:cNvPr id="3" name="Date Placeholder 2">
            <a:extLst>
              <a:ext uri="{FF2B5EF4-FFF2-40B4-BE49-F238E27FC236}">
                <a16:creationId xmlns:a16="http://schemas.microsoft.com/office/drawing/2014/main" id="{D8486784-0C01-B882-3E8E-6F7842A29AF3}"/>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33E69FB3-8DE1-7B6A-33D9-A05E502021CE}"/>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D224BDD-7C60-CF9E-0E52-C2DF4C2471AD}"/>
              </a:ext>
            </a:extLst>
          </p:cNvPr>
          <p:cNvSpPr>
            <a:spLocks noGrp="1"/>
          </p:cNvSpPr>
          <p:nvPr>
            <p:ph type="sldNum" sz="quarter" idx="12"/>
          </p:nvPr>
        </p:nvSpPr>
        <p:spPr/>
        <p:txBody>
          <a:bodyPr/>
          <a:lstStyle/>
          <a:p>
            <a:fld id="{9B618960-8005-486C-9A75-10CB2AAC16F9}" type="slidenum">
              <a:rPr lang="en-US" smtClean="0"/>
              <a:t>33</a:t>
            </a:fld>
            <a:endParaRPr lang="en-US"/>
          </a:p>
        </p:txBody>
      </p:sp>
    </p:spTree>
    <p:extLst>
      <p:ext uri="{BB962C8B-B14F-4D97-AF65-F5344CB8AC3E}">
        <p14:creationId xmlns:p14="http://schemas.microsoft.com/office/powerpoint/2010/main" val="601824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DABF6E-F7BE-67F5-621D-DD47ADCF226C}"/>
              </a:ext>
            </a:extLst>
          </p:cNvPr>
          <p:cNvSpPr>
            <a:spLocks noGrp="1"/>
          </p:cNvSpPr>
          <p:nvPr>
            <p:ph idx="1"/>
          </p:nvPr>
        </p:nvSpPr>
        <p:spPr/>
        <p:txBody>
          <a:bodyPr>
            <a:normAutofit lnSpcReduction="10000"/>
          </a:bodyPr>
          <a:lstStyle/>
          <a:p>
            <a:r>
              <a:rPr lang="en-US" dirty="0"/>
              <a:t>The Lexical Analyzer</a:t>
            </a:r>
          </a:p>
          <a:p>
            <a:pPr lvl="1"/>
            <a:r>
              <a:rPr lang="en-US" dirty="0"/>
              <a:t>Often called a scanner or tokenizer</a:t>
            </a:r>
          </a:p>
          <a:p>
            <a:pPr lvl="2"/>
            <a:r>
              <a:rPr lang="en-US" dirty="0"/>
              <a:t>translates the input into a form that's more useable by the	</a:t>
            </a:r>
          </a:p>
          <a:p>
            <a:pPr lvl="3"/>
            <a:r>
              <a:rPr lang="en-US" dirty="0"/>
              <a:t>rest of the compiler.</a:t>
            </a:r>
          </a:p>
          <a:p>
            <a:pPr lvl="3"/>
            <a:r>
              <a:rPr lang="en-US" dirty="0"/>
              <a:t>a token is an indivisible lexical unit</a:t>
            </a:r>
          </a:p>
          <a:p>
            <a:pPr lvl="4"/>
            <a:r>
              <a:rPr lang="en-US" dirty="0"/>
              <a:t>In</a:t>
            </a:r>
          </a:p>
          <a:p>
            <a:pPr lvl="4"/>
            <a:r>
              <a:rPr lang="en-US" dirty="0"/>
              <a:t>C, keywords like while or for are tokens (you can't say </a:t>
            </a:r>
            <a:r>
              <a:rPr lang="en-US" dirty="0" err="1"/>
              <a:t>wh</a:t>
            </a:r>
            <a:r>
              <a:rPr lang="en-US" dirty="0"/>
              <a:t> </a:t>
            </a:r>
            <a:r>
              <a:rPr lang="en-US" dirty="0" err="1"/>
              <a:t>ile</a:t>
            </a:r>
            <a:r>
              <a:rPr lang="en-US" dirty="0"/>
              <a:t>), </a:t>
            </a:r>
          </a:p>
          <a:p>
            <a:pPr lvl="4"/>
            <a:r>
              <a:rPr lang="en-US" dirty="0"/>
              <a:t>symbols like &gt;,&gt;=,</a:t>
            </a:r>
          </a:p>
          <a:p>
            <a:pPr lvl="4"/>
            <a:r>
              <a:rPr lang="en-US" dirty="0"/>
              <a:t>&gt;&gt;,and&gt;&gt;= are tokens, names and numbers are tokens, and so forth.</a:t>
            </a:r>
          </a:p>
          <a:p>
            <a:pPr lvl="3"/>
            <a:r>
              <a:rPr lang="en-US" dirty="0"/>
              <a:t>The original string that comprises the token is called a lexeme.</a:t>
            </a:r>
          </a:p>
          <a:p>
            <a:pPr lvl="3"/>
            <a:r>
              <a:rPr lang="en-US" dirty="0"/>
              <a:t>A lexical analyzer translates lexemes into tokens.</a:t>
            </a:r>
          </a:p>
          <a:p>
            <a:pPr lvl="3"/>
            <a:r>
              <a:rPr lang="en-US" dirty="0"/>
              <a:t>Scanner is self-contained unit.</a:t>
            </a:r>
          </a:p>
          <a:p>
            <a:pPr lvl="4"/>
            <a:r>
              <a:rPr lang="en-US" dirty="0"/>
              <a:t>interfaces with the rest of the compiler via a small number (typically one or two) of subroutines and global variables. </a:t>
            </a:r>
          </a:p>
          <a:p>
            <a:pPr lvl="4"/>
            <a:r>
              <a:rPr lang="en-US" dirty="0"/>
              <a:t>The parser calls the lexical-analyzer every time it needs a new token, and the analyzer returns that token and the associated lexeme.</a:t>
            </a:r>
          </a:p>
          <a:p>
            <a:pPr lvl="1"/>
            <a:r>
              <a:rPr lang="en-US" b="1" dirty="0"/>
              <a:t>Token, Patterns, and Lexemes</a:t>
            </a:r>
          </a:p>
          <a:p>
            <a:pPr lvl="2"/>
            <a:r>
              <a:rPr lang="en-US" dirty="0"/>
              <a:t>A </a:t>
            </a:r>
            <a:r>
              <a:rPr lang="en-US" b="1" dirty="0"/>
              <a:t>token</a:t>
            </a:r>
            <a:r>
              <a:rPr lang="en-US" dirty="0"/>
              <a:t> is a category, like a keyword or identifier</a:t>
            </a:r>
          </a:p>
          <a:p>
            <a:pPr lvl="3"/>
            <a:r>
              <a:rPr lang="en-US" dirty="0"/>
              <a:t>a token is the smallest unit of meaningful data; it may be an operator, or symbol.</a:t>
            </a:r>
          </a:p>
          <a:p>
            <a:pPr lvl="2"/>
            <a:r>
              <a:rPr lang="en-US" dirty="0"/>
              <a:t>A </a:t>
            </a:r>
            <a:r>
              <a:rPr lang="en-US" b="1" dirty="0"/>
              <a:t>pattern</a:t>
            </a:r>
            <a:r>
              <a:rPr lang="en-US" dirty="0"/>
              <a:t> defines the structure that matches a token, such as a regular expression for an identifier.</a:t>
            </a:r>
          </a:p>
          <a:p>
            <a:pPr lvl="2"/>
            <a:r>
              <a:rPr lang="en-US" dirty="0"/>
              <a:t>A </a:t>
            </a:r>
            <a:r>
              <a:rPr lang="en-US" b="1" dirty="0"/>
              <a:t>lexeme</a:t>
            </a:r>
            <a:r>
              <a:rPr lang="en-US" dirty="0"/>
              <a:t> is the actual sequence of characters in the source code that matches a token’s pattern.</a:t>
            </a:r>
          </a:p>
          <a:p>
            <a:pPr lvl="1"/>
            <a:endParaRPr lang="en-US" dirty="0"/>
          </a:p>
        </p:txBody>
      </p:sp>
      <p:sp>
        <p:nvSpPr>
          <p:cNvPr id="3" name="Date Placeholder 2">
            <a:extLst>
              <a:ext uri="{FF2B5EF4-FFF2-40B4-BE49-F238E27FC236}">
                <a16:creationId xmlns:a16="http://schemas.microsoft.com/office/drawing/2014/main" id="{E6076D0B-3BED-A679-4846-CAC186C8F481}"/>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0DC29F45-2FB7-EB99-E586-30043D294709}"/>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0165C00A-EB89-9FA5-D48C-06F6131EDBB9}"/>
              </a:ext>
            </a:extLst>
          </p:cNvPr>
          <p:cNvSpPr>
            <a:spLocks noGrp="1"/>
          </p:cNvSpPr>
          <p:nvPr>
            <p:ph type="sldNum" sz="quarter" idx="12"/>
          </p:nvPr>
        </p:nvSpPr>
        <p:spPr/>
        <p:txBody>
          <a:bodyPr/>
          <a:lstStyle/>
          <a:p>
            <a:fld id="{9B618960-8005-486C-9A75-10CB2AAC16F9}" type="slidenum">
              <a:rPr lang="en-US" smtClean="0"/>
              <a:t>34</a:t>
            </a:fld>
            <a:endParaRPr lang="en-US"/>
          </a:p>
        </p:txBody>
      </p:sp>
    </p:spTree>
    <p:extLst>
      <p:ext uri="{BB962C8B-B14F-4D97-AF65-F5344CB8AC3E}">
        <p14:creationId xmlns:p14="http://schemas.microsoft.com/office/powerpoint/2010/main" val="100530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FEC8BF-B45A-24CF-9001-46DB82BED15E}"/>
              </a:ext>
            </a:extLst>
          </p:cNvPr>
          <p:cNvSpPr>
            <a:spLocks noGrp="1"/>
          </p:cNvSpPr>
          <p:nvPr>
            <p:ph idx="1"/>
          </p:nvPr>
        </p:nvSpPr>
        <p:spPr/>
        <p:txBody>
          <a:bodyPr>
            <a:normAutofit/>
          </a:bodyPr>
          <a:lstStyle/>
          <a:p>
            <a:r>
              <a:rPr lang="en-US" b="1" dirty="0"/>
              <a:t>Token, Patterns, and Lexemes</a:t>
            </a:r>
            <a:endParaRPr lang="en-US" dirty="0"/>
          </a:p>
          <a:p>
            <a:pPr lvl="1"/>
            <a:r>
              <a:rPr lang="en-US" dirty="0"/>
              <a:t>During scanning the source code, </a:t>
            </a:r>
          </a:p>
          <a:p>
            <a:pPr lvl="2"/>
            <a:r>
              <a:rPr lang="en-US" dirty="0"/>
              <a:t>white space characters, comments, carriage return characters, preprocessor directives, macros, line feed characters, blank spaces, tabs, etc. </a:t>
            </a:r>
          </a:p>
          <a:p>
            <a:pPr lvl="3"/>
            <a:r>
              <a:rPr lang="en-US" dirty="0"/>
              <a:t>are removed.</a:t>
            </a:r>
          </a:p>
          <a:p>
            <a:pPr lvl="2"/>
            <a:r>
              <a:rPr lang="en-US" dirty="0"/>
              <a:t>if the source code contains invalid constants, incorrect spelling of keywords, etc. is taken care of by the lexical analysis phase. Regular expressions are used as a standard notation for specifying tokens of a programming language. </a:t>
            </a:r>
          </a:p>
          <a:p>
            <a:pPr lvl="1"/>
            <a:r>
              <a:rPr lang="en-US" dirty="0"/>
              <a:t>A token represents </a:t>
            </a:r>
          </a:p>
          <a:p>
            <a:pPr lvl="2"/>
            <a:r>
              <a:rPr lang="en-US" dirty="0"/>
              <a:t>a series or sequence of characters that cannot be decomposed further. </a:t>
            </a:r>
          </a:p>
          <a:p>
            <a:pPr lvl="2"/>
            <a:r>
              <a:rPr lang="en-US" dirty="0"/>
              <a:t>In languages such as C, some examples of tokens would include:</a:t>
            </a:r>
          </a:p>
          <a:p>
            <a:pPr lvl="3"/>
            <a:r>
              <a:rPr lang="en-US" dirty="0"/>
              <a:t> Keywords : Those reserved words in C like ` int `, ` char `, ` float `, ` const `, ` </a:t>
            </a:r>
            <a:r>
              <a:rPr lang="en-US" dirty="0" err="1"/>
              <a:t>goto</a:t>
            </a:r>
            <a:r>
              <a:rPr lang="en-US" dirty="0"/>
              <a:t> `, etc.</a:t>
            </a:r>
          </a:p>
          <a:p>
            <a:pPr lvl="3"/>
            <a:r>
              <a:rPr lang="en-US" dirty="0"/>
              <a:t>  Identifiers: Names of variables and user-defined functions.</a:t>
            </a:r>
          </a:p>
          <a:p>
            <a:pPr lvl="3"/>
            <a:r>
              <a:rPr lang="en-US" dirty="0"/>
              <a:t>   Operators : ` + `, ` - `, ` * `, ` / `, etc.</a:t>
            </a:r>
          </a:p>
          <a:p>
            <a:pPr lvl="3"/>
            <a:r>
              <a:rPr lang="en-US" dirty="0"/>
              <a:t>    Delimiters /Punctuators: Symbols used such as commas " , " semicolons " ; " braces ` {} `.</a:t>
            </a:r>
          </a:p>
          <a:p>
            <a:pPr lvl="3"/>
            <a:r>
              <a:rPr lang="en-US" dirty="0"/>
              <a:t>By and large, tokens may be divided into three categories:</a:t>
            </a:r>
          </a:p>
          <a:p>
            <a:pPr lvl="3"/>
            <a:r>
              <a:rPr lang="en-US" dirty="0"/>
              <a:t>    Terminal Symbols (TRM) : Keywords and operators.</a:t>
            </a:r>
          </a:p>
          <a:p>
            <a:pPr lvl="3"/>
            <a:r>
              <a:rPr lang="en-US" dirty="0"/>
              <a:t>    Literals (LIT) : Values like numbers and strings.</a:t>
            </a:r>
          </a:p>
          <a:p>
            <a:pPr lvl="3"/>
            <a:r>
              <a:rPr lang="en-US" dirty="0"/>
              <a:t>    Identifiers (IDN) : Names defined by the user. </a:t>
            </a:r>
          </a:p>
        </p:txBody>
      </p:sp>
      <p:sp>
        <p:nvSpPr>
          <p:cNvPr id="3" name="Date Placeholder 2">
            <a:extLst>
              <a:ext uri="{FF2B5EF4-FFF2-40B4-BE49-F238E27FC236}">
                <a16:creationId xmlns:a16="http://schemas.microsoft.com/office/drawing/2014/main" id="{7A659ABA-6F09-44D9-25AB-690B415E939C}"/>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745D78BD-418F-9ACD-E243-50D2883225A4}"/>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0D96378E-833E-D41F-38D7-E6725A1CD08E}"/>
              </a:ext>
            </a:extLst>
          </p:cNvPr>
          <p:cNvSpPr>
            <a:spLocks noGrp="1"/>
          </p:cNvSpPr>
          <p:nvPr>
            <p:ph type="sldNum" sz="quarter" idx="12"/>
          </p:nvPr>
        </p:nvSpPr>
        <p:spPr/>
        <p:txBody>
          <a:bodyPr/>
          <a:lstStyle/>
          <a:p>
            <a:fld id="{9B618960-8005-486C-9A75-10CB2AAC16F9}" type="slidenum">
              <a:rPr lang="en-US" smtClean="0"/>
              <a:t>35</a:t>
            </a:fld>
            <a:endParaRPr lang="en-US"/>
          </a:p>
        </p:txBody>
      </p:sp>
    </p:spTree>
    <p:extLst>
      <p:ext uri="{BB962C8B-B14F-4D97-AF65-F5344CB8AC3E}">
        <p14:creationId xmlns:p14="http://schemas.microsoft.com/office/powerpoint/2010/main" val="1587263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65D801-2BB5-675E-9D61-3F7E744FE6C8}"/>
              </a:ext>
            </a:extLst>
          </p:cNvPr>
          <p:cNvSpPr>
            <a:spLocks noGrp="1"/>
          </p:cNvSpPr>
          <p:nvPr>
            <p:ph idx="1"/>
          </p:nvPr>
        </p:nvSpPr>
        <p:spPr/>
        <p:txBody>
          <a:bodyPr/>
          <a:lstStyle/>
          <a:p>
            <a:pPr algn="just" rtl="0">
              <a:buNone/>
            </a:pPr>
            <a:r>
              <a:rPr lang="en-US" b="1" dirty="0">
                <a:effectLst/>
              </a:rPr>
              <a:t>Examples:</a:t>
            </a:r>
          </a:p>
          <a:p>
            <a:pPr algn="just" rtl="0">
              <a:buNone/>
            </a:pPr>
            <a:endParaRPr lang="en-US" b="1" dirty="0"/>
          </a:p>
          <a:p>
            <a:pPr algn="just" rtl="0">
              <a:buNone/>
            </a:pPr>
            <a:endParaRPr lang="en-US" b="1" dirty="0">
              <a:effectLst/>
            </a:endParaRPr>
          </a:p>
          <a:p>
            <a:pPr algn="just" rtl="0">
              <a:buNone/>
            </a:pPr>
            <a:endParaRPr lang="en-US" b="1" dirty="0"/>
          </a:p>
          <a:p>
            <a:pPr algn="just" rtl="0">
              <a:buNone/>
            </a:pPr>
            <a:endParaRPr lang="en-US" dirty="0">
              <a:effectLst/>
            </a:endParaRPr>
          </a:p>
          <a:p>
            <a:endParaRPr lang="en-US" dirty="0"/>
          </a:p>
        </p:txBody>
      </p:sp>
      <p:sp>
        <p:nvSpPr>
          <p:cNvPr id="3" name="Date Placeholder 2">
            <a:extLst>
              <a:ext uri="{FF2B5EF4-FFF2-40B4-BE49-F238E27FC236}">
                <a16:creationId xmlns:a16="http://schemas.microsoft.com/office/drawing/2014/main" id="{D45B8094-6784-173D-B049-CA296EFFC05C}"/>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F1B043F5-36E4-8F5B-33F6-22B9956B3F41}"/>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AAF369E2-E592-0A07-B6D7-6E76670F909D}"/>
              </a:ext>
            </a:extLst>
          </p:cNvPr>
          <p:cNvSpPr>
            <a:spLocks noGrp="1"/>
          </p:cNvSpPr>
          <p:nvPr>
            <p:ph type="sldNum" sz="quarter" idx="12"/>
          </p:nvPr>
        </p:nvSpPr>
        <p:spPr/>
        <p:txBody>
          <a:bodyPr/>
          <a:lstStyle/>
          <a:p>
            <a:fld id="{9B618960-8005-486C-9A75-10CB2AAC16F9}" type="slidenum">
              <a:rPr lang="en-US" smtClean="0"/>
              <a:t>36</a:t>
            </a:fld>
            <a:endParaRPr lang="en-US"/>
          </a:p>
        </p:txBody>
      </p:sp>
      <p:pic>
        <p:nvPicPr>
          <p:cNvPr id="9" name="Picture 8">
            <a:extLst>
              <a:ext uri="{FF2B5EF4-FFF2-40B4-BE49-F238E27FC236}">
                <a16:creationId xmlns:a16="http://schemas.microsoft.com/office/drawing/2014/main" id="{298F796E-CB73-BA11-F40C-0FFAB933B2D1}"/>
              </a:ext>
            </a:extLst>
          </p:cNvPr>
          <p:cNvPicPr>
            <a:picLocks noChangeAspect="1"/>
          </p:cNvPicPr>
          <p:nvPr/>
        </p:nvPicPr>
        <p:blipFill>
          <a:blip r:embed="rId2"/>
          <a:stretch>
            <a:fillRect/>
          </a:stretch>
        </p:blipFill>
        <p:spPr>
          <a:xfrm>
            <a:off x="0" y="501650"/>
            <a:ext cx="6145695" cy="2257740"/>
          </a:xfrm>
          <a:prstGeom prst="rect">
            <a:avLst/>
          </a:prstGeom>
        </p:spPr>
      </p:pic>
      <p:pic>
        <p:nvPicPr>
          <p:cNvPr id="13" name="Picture 12">
            <a:extLst>
              <a:ext uri="{FF2B5EF4-FFF2-40B4-BE49-F238E27FC236}">
                <a16:creationId xmlns:a16="http://schemas.microsoft.com/office/drawing/2014/main" id="{F7CD0A83-A09B-AAB6-5382-6BFD03EA82FE}"/>
              </a:ext>
            </a:extLst>
          </p:cNvPr>
          <p:cNvPicPr>
            <a:picLocks noChangeAspect="1"/>
          </p:cNvPicPr>
          <p:nvPr/>
        </p:nvPicPr>
        <p:blipFill>
          <a:blip r:embed="rId3"/>
          <a:stretch>
            <a:fillRect/>
          </a:stretch>
        </p:blipFill>
        <p:spPr>
          <a:xfrm>
            <a:off x="0" y="2688713"/>
            <a:ext cx="7150100" cy="3667637"/>
          </a:xfrm>
          <a:prstGeom prst="rect">
            <a:avLst/>
          </a:prstGeom>
        </p:spPr>
      </p:pic>
    </p:spTree>
    <p:extLst>
      <p:ext uri="{BB962C8B-B14F-4D97-AF65-F5344CB8AC3E}">
        <p14:creationId xmlns:p14="http://schemas.microsoft.com/office/powerpoint/2010/main" val="1147696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32BD6E-ACAA-EA1E-FAD8-5A16E67CBF60}"/>
              </a:ext>
            </a:extLst>
          </p:cNvPr>
          <p:cNvSpPr>
            <a:spLocks noGrp="1"/>
          </p:cNvSpPr>
          <p:nvPr>
            <p:ph idx="1"/>
          </p:nvPr>
        </p:nvSpPr>
        <p:spPr/>
        <p:txBody>
          <a:bodyPr>
            <a:normAutofit lnSpcReduction="10000"/>
          </a:bodyPr>
          <a:lstStyle/>
          <a:p>
            <a:r>
              <a:rPr lang="en-US" dirty="0"/>
              <a:t>A lexeme </a:t>
            </a:r>
          </a:p>
          <a:p>
            <a:pPr lvl="1"/>
            <a:r>
              <a:rPr lang="en-US" dirty="0"/>
              <a:t>is a sequence of source code that </a:t>
            </a:r>
          </a:p>
          <a:p>
            <a:pPr lvl="2"/>
            <a:r>
              <a:rPr lang="en-US" dirty="0"/>
              <a:t>matches one of the predefined patterns and thereby forms a valid token. For example, in the expression `</a:t>
            </a:r>
            <a:r>
              <a:rPr lang="en-US" b="1" dirty="0"/>
              <a:t>x + 5</a:t>
            </a:r>
            <a:r>
              <a:rPr lang="en-US" dirty="0"/>
              <a:t>`, both `</a:t>
            </a:r>
            <a:r>
              <a:rPr lang="en-US" b="1" dirty="0"/>
              <a:t>x</a:t>
            </a:r>
            <a:r>
              <a:rPr lang="en-US" dirty="0"/>
              <a:t>` and `</a:t>
            </a:r>
            <a:r>
              <a:rPr lang="en-US" b="1" dirty="0"/>
              <a:t>5</a:t>
            </a:r>
            <a:r>
              <a:rPr lang="en-US" dirty="0"/>
              <a:t>` are lexemes that correspond to certain tokens.</a:t>
            </a:r>
          </a:p>
          <a:p>
            <a:pPr lvl="2"/>
            <a:endParaRPr lang="en-US" dirty="0"/>
          </a:p>
          <a:p>
            <a:pPr lvl="2"/>
            <a:endParaRPr lang="en-US" dirty="0"/>
          </a:p>
          <a:p>
            <a:pPr lvl="2"/>
            <a:endParaRPr lang="en-US" dirty="0"/>
          </a:p>
          <a:p>
            <a:pPr lvl="2"/>
            <a:endParaRPr lang="en-US" dirty="0"/>
          </a:p>
          <a:p>
            <a:pPr lvl="2"/>
            <a:endParaRPr lang="en-US" dirty="0"/>
          </a:p>
          <a:p>
            <a:r>
              <a:rPr lang="en-US" dirty="0"/>
              <a:t>A pattern </a:t>
            </a:r>
          </a:p>
          <a:p>
            <a:pPr lvl="1"/>
            <a:r>
              <a:rPr lang="en-US" dirty="0"/>
              <a:t>is a rule or syntax that designates how tokens are identified in a programming language.</a:t>
            </a:r>
          </a:p>
          <a:p>
            <a:r>
              <a:rPr lang="en-US" dirty="0"/>
              <a:t>The output of Lexical Analyzer </a:t>
            </a:r>
          </a:p>
          <a:p>
            <a:pPr lvl="1"/>
            <a:r>
              <a:rPr lang="en-US" dirty="0"/>
              <a:t>serves as an input to Syntax Analyzer </a:t>
            </a:r>
          </a:p>
          <a:p>
            <a:pPr lvl="2"/>
            <a:r>
              <a:rPr lang="en-US" dirty="0"/>
              <a:t>as a sequence of tokens</a:t>
            </a:r>
          </a:p>
          <a:p>
            <a:r>
              <a:rPr lang="en-US" dirty="0"/>
              <a:t>The Lexical Analyzer </a:t>
            </a:r>
          </a:p>
          <a:p>
            <a:pPr lvl="1"/>
            <a:r>
              <a:rPr lang="en-US" dirty="0"/>
              <a:t>not only provides a series of tokens but </a:t>
            </a:r>
          </a:p>
          <a:p>
            <a:pPr lvl="2"/>
            <a:r>
              <a:rPr lang="en-US" dirty="0"/>
              <a:t>also creates a </a:t>
            </a:r>
            <a:r>
              <a:rPr lang="en-US" b="1" dirty="0"/>
              <a:t>Symbol Table </a:t>
            </a:r>
            <a:r>
              <a:rPr lang="en-US" dirty="0"/>
              <a:t>that consists of all the tokens present in the source code except Whitespaces and comments.</a:t>
            </a:r>
          </a:p>
        </p:txBody>
      </p:sp>
      <p:sp>
        <p:nvSpPr>
          <p:cNvPr id="3" name="Date Placeholder 2">
            <a:extLst>
              <a:ext uri="{FF2B5EF4-FFF2-40B4-BE49-F238E27FC236}">
                <a16:creationId xmlns:a16="http://schemas.microsoft.com/office/drawing/2014/main" id="{C1001047-0425-0452-2DE9-1A20D6424669}"/>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E1D50E12-10BD-4387-D4B1-E5A7DC4ACEF1}"/>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6CC29280-F9F2-7C36-A19C-3FAB971011D2}"/>
              </a:ext>
            </a:extLst>
          </p:cNvPr>
          <p:cNvSpPr>
            <a:spLocks noGrp="1"/>
          </p:cNvSpPr>
          <p:nvPr>
            <p:ph type="sldNum" sz="quarter" idx="12"/>
          </p:nvPr>
        </p:nvSpPr>
        <p:spPr/>
        <p:txBody>
          <a:bodyPr/>
          <a:lstStyle/>
          <a:p>
            <a:fld id="{9B618960-8005-486C-9A75-10CB2AAC16F9}" type="slidenum">
              <a:rPr lang="en-US" smtClean="0"/>
              <a:t>37</a:t>
            </a:fld>
            <a:endParaRPr lang="en-US"/>
          </a:p>
        </p:txBody>
      </p:sp>
      <p:pic>
        <p:nvPicPr>
          <p:cNvPr id="7" name="Picture 6">
            <a:extLst>
              <a:ext uri="{FF2B5EF4-FFF2-40B4-BE49-F238E27FC236}">
                <a16:creationId xmlns:a16="http://schemas.microsoft.com/office/drawing/2014/main" id="{BB70647C-4B40-4841-6BB4-C24BE95DFCC3}"/>
              </a:ext>
            </a:extLst>
          </p:cNvPr>
          <p:cNvPicPr>
            <a:picLocks noChangeAspect="1"/>
          </p:cNvPicPr>
          <p:nvPr/>
        </p:nvPicPr>
        <p:blipFill>
          <a:blip r:embed="rId2"/>
          <a:stretch>
            <a:fillRect/>
          </a:stretch>
        </p:blipFill>
        <p:spPr>
          <a:xfrm>
            <a:off x="1955321" y="1617562"/>
            <a:ext cx="6858957" cy="1438476"/>
          </a:xfrm>
          <a:prstGeom prst="rect">
            <a:avLst/>
          </a:prstGeom>
        </p:spPr>
      </p:pic>
    </p:spTree>
    <p:extLst>
      <p:ext uri="{BB962C8B-B14F-4D97-AF65-F5344CB8AC3E}">
        <p14:creationId xmlns:p14="http://schemas.microsoft.com/office/powerpoint/2010/main" val="2422786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3C893A-791F-4C4F-1DD0-13D9FBE1D1B4}"/>
              </a:ext>
            </a:extLst>
          </p:cNvPr>
          <p:cNvSpPr>
            <a:spLocks noGrp="1"/>
          </p:cNvSpPr>
          <p:nvPr>
            <p:ph idx="1"/>
          </p:nvPr>
        </p:nvSpPr>
        <p:spPr/>
        <p:txBody>
          <a:bodyPr/>
          <a:lstStyle/>
          <a:p>
            <a:r>
              <a:rPr lang="en-US" dirty="0"/>
              <a:t>Note </a:t>
            </a:r>
          </a:p>
          <a:p>
            <a:pPr lvl="1"/>
            <a:r>
              <a:rPr lang="en-US" dirty="0"/>
              <a:t>that there is not a one-to-one relationship between lexemes and tokens. A name or number token, for example, can have</a:t>
            </a:r>
          </a:p>
          <a:p>
            <a:pPr lvl="2"/>
            <a:r>
              <a:rPr lang="en-US" dirty="0"/>
              <a:t>many possible lexemes associated with it; a while token always matches a single lexeme.</a:t>
            </a:r>
          </a:p>
          <a:p>
            <a:pPr lvl="2"/>
            <a:endParaRPr lang="en-US" dirty="0"/>
          </a:p>
        </p:txBody>
      </p:sp>
      <p:sp>
        <p:nvSpPr>
          <p:cNvPr id="3" name="Date Placeholder 2">
            <a:extLst>
              <a:ext uri="{FF2B5EF4-FFF2-40B4-BE49-F238E27FC236}">
                <a16:creationId xmlns:a16="http://schemas.microsoft.com/office/drawing/2014/main" id="{DB877310-3652-8F6A-8859-FE8C12C7562A}"/>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EE175DA8-006F-2A17-9BAC-3435AF8DF201}"/>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7B7837EA-CCA1-FD38-F894-904F686C4E22}"/>
              </a:ext>
            </a:extLst>
          </p:cNvPr>
          <p:cNvSpPr>
            <a:spLocks noGrp="1"/>
          </p:cNvSpPr>
          <p:nvPr>
            <p:ph type="sldNum" sz="quarter" idx="12"/>
          </p:nvPr>
        </p:nvSpPr>
        <p:spPr/>
        <p:txBody>
          <a:bodyPr/>
          <a:lstStyle/>
          <a:p>
            <a:fld id="{9B618960-8005-486C-9A75-10CB2AAC16F9}" type="slidenum">
              <a:rPr lang="en-US" smtClean="0"/>
              <a:t>38</a:t>
            </a:fld>
            <a:endParaRPr lang="en-US"/>
          </a:p>
        </p:txBody>
      </p:sp>
    </p:spTree>
    <p:extLst>
      <p:ext uri="{BB962C8B-B14F-4D97-AF65-F5344CB8AC3E}">
        <p14:creationId xmlns:p14="http://schemas.microsoft.com/office/powerpoint/2010/main" val="2898264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BA9633-85A1-7FE8-6B68-A2745A6728F5}"/>
              </a:ext>
            </a:extLst>
          </p:cNvPr>
          <p:cNvSpPr>
            <a:spLocks noGrp="1"/>
          </p:cNvSpPr>
          <p:nvPr>
            <p:ph idx="1"/>
          </p:nvPr>
        </p:nvSpPr>
        <p:spPr/>
        <p:txBody>
          <a:bodyPr/>
          <a:lstStyle/>
          <a:p>
            <a:r>
              <a:rPr lang="en-US" dirty="0"/>
              <a:t>The Parser</a:t>
            </a:r>
          </a:p>
          <a:p>
            <a:pPr lvl="1"/>
            <a:r>
              <a:rPr lang="en-US" dirty="0"/>
              <a:t>To parse an English sentence is to break it up into its component parts in order to</a:t>
            </a:r>
          </a:p>
          <a:p>
            <a:pPr lvl="2"/>
            <a:r>
              <a:rPr lang="en-US" dirty="0"/>
              <a:t>analyze it grammatically. For example, a sentence like this:</a:t>
            </a:r>
          </a:p>
          <a:p>
            <a:pPr lvl="3"/>
            <a:r>
              <a:rPr lang="en-US" dirty="0"/>
              <a:t>Jane sees Spot run.</a:t>
            </a:r>
          </a:p>
          <a:p>
            <a:pPr lvl="4"/>
            <a:r>
              <a:rPr lang="en-US" dirty="0"/>
              <a:t>is broken up into a subject ("Jane") and a predicate ("sees Spot run").</a:t>
            </a:r>
          </a:p>
          <a:p>
            <a:pPr lvl="4"/>
            <a:r>
              <a:rPr lang="en-US" dirty="0"/>
              <a:t>The predicate is</a:t>
            </a:r>
          </a:p>
          <a:p>
            <a:pPr lvl="5"/>
            <a:r>
              <a:rPr lang="en-US" dirty="0"/>
              <a:t>in tum broken up into a verb ("sees"), a direct object ("Spot"), and a participle that</a:t>
            </a:r>
          </a:p>
          <a:p>
            <a:pPr lvl="6"/>
            <a:r>
              <a:rPr lang="en-US" dirty="0"/>
              <a:t>modifies the direct object ("run"). </a:t>
            </a:r>
          </a:p>
          <a:p>
            <a:pPr lvl="2"/>
            <a:r>
              <a:rPr lang="en-US" dirty="0"/>
              <a:t>A compiler performs this same process (of decomposing a sentence into its component parts) in the parser phase</a:t>
            </a:r>
          </a:p>
          <a:p>
            <a:pPr lvl="2"/>
            <a:r>
              <a:rPr lang="en-US" dirty="0"/>
              <a:t>A </a:t>
            </a:r>
            <a:r>
              <a:rPr lang="en-US" b="1" dirty="0"/>
              <a:t>syntax tree</a:t>
            </a:r>
            <a:r>
              <a:rPr lang="en-US" dirty="0"/>
              <a:t> is a hierarchical tree structure that represents the syntactic structure of a string or program according to a specific formal grammar. Depending on the context—computer science or linguistics—it breaks down source code or human language into structured components.</a:t>
            </a:r>
          </a:p>
          <a:p>
            <a:pPr lvl="3"/>
            <a:r>
              <a:rPr lang="en-US" b="1" dirty="0"/>
              <a:t>1. Abstract Syntax Tree (AST)</a:t>
            </a:r>
            <a:r>
              <a:rPr lang="en-US" dirty="0"/>
              <a:t> Used by compilers and interpreters to represent computer code. It strips away extra punctuation, parentheses, and syntactic clutter (like semi-colons), keeping only the core logical operations.</a:t>
            </a:r>
          </a:p>
          <a:p>
            <a:pPr lvl="3"/>
            <a:r>
              <a:rPr lang="en-US" b="1" dirty="0"/>
              <a:t>2. Concrete Syntax Tree (Parse Tree)</a:t>
            </a:r>
            <a:r>
              <a:rPr lang="en-US" dirty="0"/>
              <a:t> Represents the exact grammatical structure of the input string as defined by a formal grammar. Unlike an AST, it includes every token—such as parentheses, punctuation, and non-terminal symbols.</a:t>
            </a:r>
          </a:p>
        </p:txBody>
      </p:sp>
      <p:sp>
        <p:nvSpPr>
          <p:cNvPr id="3" name="Date Placeholder 2">
            <a:extLst>
              <a:ext uri="{FF2B5EF4-FFF2-40B4-BE49-F238E27FC236}">
                <a16:creationId xmlns:a16="http://schemas.microsoft.com/office/drawing/2014/main" id="{2A69F393-2440-6FA5-8E34-3CEDF2608E05}"/>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75A400B2-B437-CE9D-1675-E0869A253226}"/>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FFD15C6B-DDA5-841D-C161-B21BD9B07EA3}"/>
              </a:ext>
            </a:extLst>
          </p:cNvPr>
          <p:cNvSpPr>
            <a:spLocks noGrp="1"/>
          </p:cNvSpPr>
          <p:nvPr>
            <p:ph type="sldNum" sz="quarter" idx="12"/>
          </p:nvPr>
        </p:nvSpPr>
        <p:spPr/>
        <p:txBody>
          <a:bodyPr/>
          <a:lstStyle/>
          <a:p>
            <a:fld id="{9B618960-8005-486C-9A75-10CB2AAC16F9}" type="slidenum">
              <a:rPr lang="en-US" smtClean="0"/>
              <a:t>39</a:t>
            </a:fld>
            <a:endParaRPr lang="en-US"/>
          </a:p>
        </p:txBody>
      </p:sp>
    </p:spTree>
    <p:extLst>
      <p:ext uri="{BB962C8B-B14F-4D97-AF65-F5344CB8AC3E}">
        <p14:creationId xmlns:p14="http://schemas.microsoft.com/office/powerpoint/2010/main" val="341628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94E2471-725D-3230-2240-A05D12865D18}"/>
              </a:ext>
            </a:extLst>
          </p:cNvPr>
          <p:cNvPicPr>
            <a:picLocks noGrp="1" noChangeAspect="1"/>
          </p:cNvPicPr>
          <p:nvPr>
            <p:ph idx="1"/>
          </p:nvPr>
        </p:nvPicPr>
        <p:blipFill>
          <a:blip r:embed="rId2"/>
          <a:stretch>
            <a:fillRect/>
          </a:stretch>
        </p:blipFill>
        <p:spPr>
          <a:xfrm>
            <a:off x="353462" y="9524"/>
            <a:ext cx="11280662" cy="5756275"/>
          </a:xfrm>
          <a:prstGeom prst="rect">
            <a:avLst/>
          </a:prstGeom>
        </p:spPr>
      </p:pic>
      <p:sp>
        <p:nvSpPr>
          <p:cNvPr id="3" name="Date Placeholder 2">
            <a:extLst>
              <a:ext uri="{FF2B5EF4-FFF2-40B4-BE49-F238E27FC236}">
                <a16:creationId xmlns:a16="http://schemas.microsoft.com/office/drawing/2014/main" id="{F1FBF5E2-3358-3B3F-5749-28D7ACF0577C}"/>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5258E306-28D9-4B65-D286-1595F70A7075}"/>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E092B2C6-194C-AA68-D9D0-0A8CF19009B8}"/>
              </a:ext>
            </a:extLst>
          </p:cNvPr>
          <p:cNvSpPr>
            <a:spLocks noGrp="1"/>
          </p:cNvSpPr>
          <p:nvPr>
            <p:ph type="sldNum" sz="quarter" idx="12"/>
          </p:nvPr>
        </p:nvSpPr>
        <p:spPr/>
        <p:txBody>
          <a:bodyPr/>
          <a:lstStyle/>
          <a:p>
            <a:fld id="{9B618960-8005-486C-9A75-10CB2AAC16F9}" type="slidenum">
              <a:rPr lang="en-US" smtClean="0"/>
              <a:t>40</a:t>
            </a:fld>
            <a:endParaRPr lang="en-US"/>
          </a:p>
        </p:txBody>
      </p:sp>
    </p:spTree>
    <p:extLst>
      <p:ext uri="{BB962C8B-B14F-4D97-AF65-F5344CB8AC3E}">
        <p14:creationId xmlns:p14="http://schemas.microsoft.com/office/powerpoint/2010/main" val="1218549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8D80DA5-A506-D3E7-74A7-EB871DB7B7A8}"/>
              </a:ext>
            </a:extLst>
          </p:cNvPr>
          <p:cNvPicPr>
            <a:picLocks noGrp="1" noChangeAspect="1"/>
          </p:cNvPicPr>
          <p:nvPr>
            <p:ph idx="1"/>
          </p:nvPr>
        </p:nvPicPr>
        <p:blipFill>
          <a:blip r:embed="rId2"/>
          <a:stretch>
            <a:fillRect/>
          </a:stretch>
        </p:blipFill>
        <p:spPr>
          <a:xfrm>
            <a:off x="1656730" y="553671"/>
            <a:ext cx="8878539" cy="5249008"/>
          </a:xfrm>
          <a:prstGeom prst="rect">
            <a:avLst/>
          </a:prstGeom>
        </p:spPr>
      </p:pic>
      <p:sp>
        <p:nvSpPr>
          <p:cNvPr id="3" name="Date Placeholder 2">
            <a:extLst>
              <a:ext uri="{FF2B5EF4-FFF2-40B4-BE49-F238E27FC236}">
                <a16:creationId xmlns:a16="http://schemas.microsoft.com/office/drawing/2014/main" id="{F0EFDF7C-8153-8369-EC49-94B377AF8548}"/>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0C8DD67F-15FF-B5AB-A31A-E3F008F80AE2}"/>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23C05008-DA5F-DAEA-BEDB-4DB571B4DF4E}"/>
              </a:ext>
            </a:extLst>
          </p:cNvPr>
          <p:cNvSpPr>
            <a:spLocks noGrp="1"/>
          </p:cNvSpPr>
          <p:nvPr>
            <p:ph type="sldNum" sz="quarter" idx="12"/>
          </p:nvPr>
        </p:nvSpPr>
        <p:spPr/>
        <p:txBody>
          <a:bodyPr/>
          <a:lstStyle/>
          <a:p>
            <a:fld id="{9B618960-8005-486C-9A75-10CB2AAC16F9}" type="slidenum">
              <a:rPr lang="en-US" smtClean="0"/>
              <a:t>41</a:t>
            </a:fld>
            <a:endParaRPr lang="en-US"/>
          </a:p>
        </p:txBody>
      </p:sp>
    </p:spTree>
    <p:extLst>
      <p:ext uri="{BB962C8B-B14F-4D97-AF65-F5344CB8AC3E}">
        <p14:creationId xmlns:p14="http://schemas.microsoft.com/office/powerpoint/2010/main" val="37041510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F9B07A-F744-FF02-E0A8-DC2196325FD9}"/>
              </a:ext>
            </a:extLst>
          </p:cNvPr>
          <p:cNvSpPr>
            <a:spLocks noGrp="1"/>
          </p:cNvSpPr>
          <p:nvPr>
            <p:ph idx="1"/>
          </p:nvPr>
        </p:nvSpPr>
        <p:spPr/>
        <p:txBody>
          <a:bodyPr/>
          <a:lstStyle/>
          <a:p>
            <a:r>
              <a:rPr lang="en-US" dirty="0"/>
              <a:t>A sentence</a:t>
            </a:r>
          </a:p>
          <a:p>
            <a:pPr lvl="1"/>
            <a:r>
              <a:rPr lang="en-US" dirty="0"/>
              <a:t>is also a technical term, though it means the same thing as it</a:t>
            </a:r>
          </a:p>
          <a:p>
            <a:pPr lvl="2"/>
            <a:r>
              <a:rPr lang="en-US" dirty="0"/>
              <a:t>does in English. </a:t>
            </a:r>
          </a:p>
          <a:p>
            <a:pPr lvl="2"/>
            <a:r>
              <a:rPr lang="en-US" dirty="0"/>
              <a:t>It's a collection of tokens that follow a well-defined grammatical structure. </a:t>
            </a:r>
          </a:p>
          <a:p>
            <a:pPr lvl="2"/>
            <a:r>
              <a:rPr lang="en-US" dirty="0"/>
              <a:t>In the case of a compiler, the sentence is typically an entire computer program.</a:t>
            </a:r>
          </a:p>
          <a:p>
            <a:r>
              <a:rPr lang="en-US" dirty="0"/>
              <a:t>A parser </a:t>
            </a:r>
          </a:p>
          <a:p>
            <a:pPr lvl="1"/>
            <a:r>
              <a:rPr lang="en-US" dirty="0"/>
              <a:t>is a group of subroutines that </a:t>
            </a:r>
          </a:p>
          <a:p>
            <a:pPr lvl="2"/>
            <a:r>
              <a:rPr lang="en-US" dirty="0"/>
              <a:t>converts a token stream into a</a:t>
            </a:r>
          </a:p>
          <a:p>
            <a:pPr lvl="3"/>
            <a:r>
              <a:rPr lang="en-US" dirty="0"/>
              <a:t>parse tree, and a parse tree is a structural representation of the sentence being parsed.</a:t>
            </a:r>
          </a:p>
          <a:p>
            <a:pPr lvl="1"/>
            <a:r>
              <a:rPr lang="en-US" dirty="0"/>
              <a:t>the parse tree represents </a:t>
            </a:r>
          </a:p>
          <a:p>
            <a:pPr lvl="2"/>
            <a:r>
              <a:rPr lang="en-US" dirty="0"/>
              <a:t>the sentence in a hierarchical fashion,</a:t>
            </a:r>
          </a:p>
          <a:p>
            <a:pPr lvl="2"/>
            <a:r>
              <a:rPr lang="en-US" dirty="0"/>
              <a:t>moving from a general description of the sentence (at the root of the tree) down to the</a:t>
            </a:r>
          </a:p>
          <a:p>
            <a:pPr lvl="2"/>
            <a:r>
              <a:rPr lang="en-US" dirty="0"/>
              <a:t>specific sentence being parsed (the actual tokens) at the leaves.</a:t>
            </a:r>
          </a:p>
          <a:p>
            <a:pPr lvl="1"/>
            <a:r>
              <a:rPr lang="en-US" dirty="0"/>
              <a:t> some keep track of where they are in the tree,</a:t>
            </a:r>
          </a:p>
          <a:p>
            <a:pPr lvl="2"/>
            <a:r>
              <a:rPr lang="en-US" dirty="0"/>
              <a:t>without creating a physical tree</a:t>
            </a:r>
          </a:p>
        </p:txBody>
      </p:sp>
      <p:sp>
        <p:nvSpPr>
          <p:cNvPr id="3" name="Date Placeholder 2">
            <a:extLst>
              <a:ext uri="{FF2B5EF4-FFF2-40B4-BE49-F238E27FC236}">
                <a16:creationId xmlns:a16="http://schemas.microsoft.com/office/drawing/2014/main" id="{09CDFFD0-0BD8-DF06-2FF8-2AB64E340B89}"/>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C3AEF7AB-87B2-96E5-2CC7-A6E54928E194}"/>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97BA836F-B0FE-7D1D-9AAD-144B595DD839}"/>
              </a:ext>
            </a:extLst>
          </p:cNvPr>
          <p:cNvSpPr>
            <a:spLocks noGrp="1"/>
          </p:cNvSpPr>
          <p:nvPr>
            <p:ph type="sldNum" sz="quarter" idx="12"/>
          </p:nvPr>
        </p:nvSpPr>
        <p:spPr/>
        <p:txBody>
          <a:bodyPr/>
          <a:lstStyle/>
          <a:p>
            <a:fld id="{9B618960-8005-486C-9A75-10CB2AAC16F9}" type="slidenum">
              <a:rPr lang="en-US" smtClean="0"/>
              <a:t>42</a:t>
            </a:fld>
            <a:endParaRPr lang="en-US"/>
          </a:p>
        </p:txBody>
      </p:sp>
    </p:spTree>
    <p:extLst>
      <p:ext uri="{BB962C8B-B14F-4D97-AF65-F5344CB8AC3E}">
        <p14:creationId xmlns:p14="http://schemas.microsoft.com/office/powerpoint/2010/main" val="4015597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778A1B-2D6D-299E-EE42-FDAA9A223FCE}"/>
              </a:ext>
            </a:extLst>
          </p:cNvPr>
          <p:cNvSpPr>
            <a:spLocks noGrp="1"/>
          </p:cNvSpPr>
          <p:nvPr>
            <p:ph idx="1"/>
          </p:nvPr>
        </p:nvSpPr>
        <p:spPr/>
        <p:txBody>
          <a:bodyPr>
            <a:normAutofit/>
          </a:bodyPr>
          <a:lstStyle/>
          <a:p>
            <a:r>
              <a:rPr lang="en-US" dirty="0"/>
              <a:t>The Code Generator</a:t>
            </a:r>
          </a:p>
          <a:p>
            <a:pPr lvl="1"/>
            <a:r>
              <a:rPr lang="en-US" dirty="0"/>
              <a:t>Though compilers can generate object code directly, they often defer code generation to a second program.</a:t>
            </a:r>
          </a:p>
          <a:p>
            <a:pPr lvl="1"/>
            <a:r>
              <a:rPr lang="en-US" dirty="0"/>
              <a:t>Instead of generating machine language directly, they create a program in an intermediate language that is translated by the compiler's back end into actual machine language. </a:t>
            </a:r>
          </a:p>
          <a:p>
            <a:pPr lvl="1"/>
            <a:r>
              <a:rPr lang="en-US" dirty="0"/>
              <a:t>an intermediate language </a:t>
            </a:r>
          </a:p>
          <a:p>
            <a:pPr lvl="2"/>
            <a:r>
              <a:rPr lang="en-US" dirty="0"/>
              <a:t>is a sort-of super</a:t>
            </a:r>
          </a:p>
          <a:p>
            <a:pPr lvl="3"/>
            <a:r>
              <a:rPr lang="en-US" dirty="0"/>
              <a:t>assembly language that's designed for performing specific tasks (such as optimization).</a:t>
            </a:r>
          </a:p>
          <a:p>
            <a:pPr lvl="1"/>
            <a:r>
              <a:rPr lang="en-US" dirty="0"/>
              <a:t>A final use of an intermediate language is found in incremental compilers or interpreters.</a:t>
            </a:r>
          </a:p>
          <a:p>
            <a:pPr lvl="2"/>
            <a:r>
              <a:rPr lang="en-US" dirty="0"/>
              <a:t>These programs shorten the development cycle by executing intermediate code</a:t>
            </a:r>
          </a:p>
          <a:p>
            <a:pPr lvl="3"/>
            <a:r>
              <a:rPr lang="en-US" dirty="0"/>
              <a:t>directly, rather than translating it to binary first, thereby saving the time necessary for</a:t>
            </a:r>
          </a:p>
          <a:p>
            <a:pPr lvl="4"/>
            <a:r>
              <a:rPr lang="en-US" dirty="0"/>
              <a:t>assembling and linking a real program. </a:t>
            </a:r>
          </a:p>
          <a:p>
            <a:pPr lvl="2"/>
            <a:r>
              <a:rPr lang="en-US" dirty="0"/>
              <a:t>For example, an expression like x=</a:t>
            </a:r>
            <a:r>
              <a:rPr lang="en-US" dirty="0" err="1"/>
              <a:t>a+b</a:t>
            </a:r>
            <a:r>
              <a:rPr lang="en-US" dirty="0"/>
              <a:t>*</a:t>
            </a:r>
            <a:r>
              <a:rPr lang="en-US" dirty="0" err="1"/>
              <a:t>c+d</a:t>
            </a:r>
            <a:r>
              <a:rPr lang="en-US" dirty="0"/>
              <a:t> is </a:t>
            </a:r>
          </a:p>
          <a:p>
            <a:pPr lvl="3"/>
            <a:r>
              <a:rPr lang="en-US" dirty="0"/>
              <a:t>translated into something like this:</a:t>
            </a:r>
          </a:p>
          <a:p>
            <a:pPr lvl="3"/>
            <a:r>
              <a:rPr lang="en-US" dirty="0"/>
              <a:t>The t 0 and t 1 in the foregoing code are </a:t>
            </a:r>
          </a:p>
          <a:p>
            <a:pPr lvl="4"/>
            <a:r>
              <a:rPr lang="en-US" dirty="0"/>
              <a:t>temporary variables that the compiler allocates</a:t>
            </a:r>
          </a:p>
          <a:p>
            <a:pPr lvl="4"/>
            <a:r>
              <a:rPr lang="en-US" dirty="0"/>
              <a:t>to hold the result of the partially-evaluated expression.</a:t>
            </a:r>
          </a:p>
          <a:p>
            <a:pPr lvl="5"/>
            <a:r>
              <a:rPr lang="en-US" dirty="0"/>
              <a:t>These are called anonymous temporaries (often shortened to just temporaries) </a:t>
            </a:r>
          </a:p>
        </p:txBody>
      </p:sp>
      <p:sp>
        <p:nvSpPr>
          <p:cNvPr id="3" name="Date Placeholder 2">
            <a:extLst>
              <a:ext uri="{FF2B5EF4-FFF2-40B4-BE49-F238E27FC236}">
                <a16:creationId xmlns:a16="http://schemas.microsoft.com/office/drawing/2014/main" id="{BC958C73-6802-0736-65AE-CA0C4AD4DC9D}"/>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9449768F-F882-FE77-5E94-A2361AFFF759}"/>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4E38E53E-9B81-84E7-BD02-404D0F774983}"/>
              </a:ext>
            </a:extLst>
          </p:cNvPr>
          <p:cNvSpPr>
            <a:spLocks noGrp="1"/>
          </p:cNvSpPr>
          <p:nvPr>
            <p:ph type="sldNum" sz="quarter" idx="12"/>
          </p:nvPr>
        </p:nvSpPr>
        <p:spPr/>
        <p:txBody>
          <a:bodyPr/>
          <a:lstStyle/>
          <a:p>
            <a:fld id="{9B618960-8005-486C-9A75-10CB2AAC16F9}" type="slidenum">
              <a:rPr lang="en-US" smtClean="0"/>
              <a:t>43</a:t>
            </a:fld>
            <a:endParaRPr lang="en-US"/>
          </a:p>
        </p:txBody>
      </p:sp>
      <p:pic>
        <p:nvPicPr>
          <p:cNvPr id="7" name="Picture 6">
            <a:extLst>
              <a:ext uri="{FF2B5EF4-FFF2-40B4-BE49-F238E27FC236}">
                <a16:creationId xmlns:a16="http://schemas.microsoft.com/office/drawing/2014/main" id="{071F0F90-6E22-AE98-E767-20F597C94A02}"/>
              </a:ext>
            </a:extLst>
          </p:cNvPr>
          <p:cNvPicPr>
            <a:picLocks noChangeAspect="1"/>
          </p:cNvPicPr>
          <p:nvPr/>
        </p:nvPicPr>
        <p:blipFill>
          <a:blip r:embed="rId2"/>
          <a:stretch>
            <a:fillRect/>
          </a:stretch>
        </p:blipFill>
        <p:spPr>
          <a:xfrm>
            <a:off x="9934451" y="3833730"/>
            <a:ext cx="1771897" cy="1171739"/>
          </a:xfrm>
          <a:prstGeom prst="rect">
            <a:avLst/>
          </a:prstGeom>
        </p:spPr>
      </p:pic>
    </p:spTree>
    <p:extLst>
      <p:ext uri="{BB962C8B-B14F-4D97-AF65-F5344CB8AC3E}">
        <p14:creationId xmlns:p14="http://schemas.microsoft.com/office/powerpoint/2010/main" val="26783246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8C1FD-9670-7AC4-9520-08C678CC90EE}"/>
              </a:ext>
            </a:extLst>
          </p:cNvPr>
          <p:cNvSpPr>
            <a:spLocks noGrp="1"/>
          </p:cNvSpPr>
          <p:nvPr>
            <p:ph idx="1"/>
          </p:nvPr>
        </p:nvSpPr>
        <p:spPr/>
        <p:txBody>
          <a:bodyPr/>
          <a:lstStyle/>
          <a:p>
            <a:r>
              <a:rPr lang="en-US" dirty="0"/>
              <a:t>Grammars and Parse Trees</a:t>
            </a:r>
          </a:p>
          <a:p>
            <a:pPr lvl="1"/>
            <a:r>
              <a:rPr lang="en-US" dirty="0"/>
              <a:t>The most common method used to describe a programming language in a formal way</a:t>
            </a:r>
          </a:p>
          <a:p>
            <a:pPr lvl="2"/>
            <a:r>
              <a:rPr lang="en-US" dirty="0"/>
              <a:t>is also borrowed from linguistics. This method is a formal grammar, originally</a:t>
            </a:r>
          </a:p>
          <a:p>
            <a:pPr lvl="2"/>
            <a:r>
              <a:rPr lang="en-US" dirty="0"/>
              <a:t>developed by M.I.T.'s Noam Chomsky and applied to computer programs by J.W.</a:t>
            </a:r>
          </a:p>
          <a:p>
            <a:pPr lvl="2"/>
            <a:r>
              <a:rPr lang="en-US" dirty="0"/>
              <a:t>Backus for the first FORTRAN compilers.</a:t>
            </a:r>
          </a:p>
          <a:p>
            <a:pPr lvl="1"/>
            <a:r>
              <a:rPr lang="en-US" dirty="0"/>
              <a:t>Formal grammars</a:t>
            </a:r>
          </a:p>
          <a:p>
            <a:pPr lvl="2"/>
            <a:r>
              <a:rPr lang="en-US" dirty="0"/>
              <a:t>Backus-Naur Form (also called Backus-Normal Form)</a:t>
            </a:r>
          </a:p>
          <a:p>
            <a:pPr lvl="2"/>
            <a:r>
              <a:rPr lang="en-US" dirty="0"/>
              <a:t>A strict BNF representation starts with a set of tokens, called terminal symbols, and a set of definitions, called nonterminal symbols.</a:t>
            </a:r>
          </a:p>
          <a:p>
            <a:pPr lvl="2"/>
            <a:r>
              <a:rPr lang="en-US" dirty="0"/>
              <a:t>The definitions create a system in which every legal structure in the language can be represented. </a:t>
            </a:r>
          </a:p>
          <a:p>
            <a:pPr lvl="3"/>
            <a:r>
              <a:rPr lang="en-US" dirty="0"/>
              <a:t>One operator is supported, the ::= operator, translated by the phrase "is defined as" or "goes to." </a:t>
            </a:r>
          </a:p>
          <a:p>
            <a:pPr lvl="3"/>
            <a:r>
              <a:rPr lang="en-US" dirty="0"/>
              <a:t>For example, the following BNF rule might start a grammar for an English sentence:</a:t>
            </a:r>
          </a:p>
          <a:p>
            <a:pPr lvl="4"/>
            <a:r>
              <a:rPr lang="en-US" dirty="0"/>
              <a:t>sentence ::= subject predicate</a:t>
            </a:r>
          </a:p>
          <a:p>
            <a:pPr lvl="5"/>
            <a:r>
              <a:rPr lang="en-US" dirty="0"/>
              <a:t>A sentence is defined as a subject followed by a predicate. </a:t>
            </a:r>
          </a:p>
          <a:p>
            <a:pPr lvl="5"/>
            <a:r>
              <a:rPr lang="en-US" dirty="0"/>
              <a:t>“a sentence goes to a subject followed by a predicate." </a:t>
            </a:r>
          </a:p>
          <a:p>
            <a:pPr lvl="5"/>
            <a:r>
              <a:rPr lang="en-US" dirty="0"/>
              <a:t>Each rule of this type is called a production.</a:t>
            </a:r>
          </a:p>
          <a:p>
            <a:pPr lvl="5"/>
            <a:endParaRPr lang="en-US" dirty="0"/>
          </a:p>
        </p:txBody>
      </p:sp>
      <p:sp>
        <p:nvSpPr>
          <p:cNvPr id="3" name="Date Placeholder 2">
            <a:extLst>
              <a:ext uri="{FF2B5EF4-FFF2-40B4-BE49-F238E27FC236}">
                <a16:creationId xmlns:a16="http://schemas.microsoft.com/office/drawing/2014/main" id="{A6C68A3B-E5EE-41CF-CB7C-6C58288C5743}"/>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B1DE6661-AEFE-3902-FE0B-03C28183BF7D}"/>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4CDA202F-FBEC-5CEC-4DE0-18229D1C9262}"/>
              </a:ext>
            </a:extLst>
          </p:cNvPr>
          <p:cNvSpPr>
            <a:spLocks noGrp="1"/>
          </p:cNvSpPr>
          <p:nvPr>
            <p:ph type="sldNum" sz="quarter" idx="12"/>
          </p:nvPr>
        </p:nvSpPr>
        <p:spPr/>
        <p:txBody>
          <a:bodyPr/>
          <a:lstStyle/>
          <a:p>
            <a:fld id="{9B618960-8005-486C-9A75-10CB2AAC16F9}" type="slidenum">
              <a:rPr lang="en-US" smtClean="0"/>
              <a:t>44</a:t>
            </a:fld>
            <a:endParaRPr lang="en-US"/>
          </a:p>
        </p:txBody>
      </p:sp>
      <p:pic>
        <p:nvPicPr>
          <p:cNvPr id="7" name="Picture 6">
            <a:extLst>
              <a:ext uri="{FF2B5EF4-FFF2-40B4-BE49-F238E27FC236}">
                <a16:creationId xmlns:a16="http://schemas.microsoft.com/office/drawing/2014/main" id="{FDDD6992-BDAD-9042-A3FB-A11613087A66}"/>
              </a:ext>
            </a:extLst>
          </p:cNvPr>
          <p:cNvPicPr>
            <a:picLocks noChangeAspect="1"/>
          </p:cNvPicPr>
          <p:nvPr/>
        </p:nvPicPr>
        <p:blipFill>
          <a:blip r:embed="rId2"/>
          <a:stretch>
            <a:fillRect/>
          </a:stretch>
        </p:blipFill>
        <p:spPr>
          <a:xfrm>
            <a:off x="2432835" y="5419557"/>
            <a:ext cx="7015965" cy="1063793"/>
          </a:xfrm>
          <a:prstGeom prst="rect">
            <a:avLst/>
          </a:prstGeom>
        </p:spPr>
      </p:pic>
    </p:spTree>
    <p:extLst>
      <p:ext uri="{BB962C8B-B14F-4D97-AF65-F5344CB8AC3E}">
        <p14:creationId xmlns:p14="http://schemas.microsoft.com/office/powerpoint/2010/main" val="2931422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C69F6897-5A9A-894C-9CB4-AABE97C3426B}"/>
              </a:ext>
            </a:extLst>
          </p:cNvPr>
          <p:cNvPicPr>
            <a:picLocks noGrp="1" noChangeAspect="1"/>
          </p:cNvPicPr>
          <p:nvPr>
            <p:ph idx="1"/>
          </p:nvPr>
        </p:nvPicPr>
        <p:blipFill>
          <a:blip r:embed="rId2"/>
          <a:stretch>
            <a:fillRect/>
          </a:stretch>
        </p:blipFill>
        <p:spPr>
          <a:xfrm>
            <a:off x="0" y="2312379"/>
            <a:ext cx="8145012" cy="4353533"/>
          </a:xfrm>
          <a:prstGeom prst="rect">
            <a:avLst/>
          </a:prstGeom>
        </p:spPr>
      </p:pic>
      <p:sp>
        <p:nvSpPr>
          <p:cNvPr id="3" name="Date Placeholder 2">
            <a:extLst>
              <a:ext uri="{FF2B5EF4-FFF2-40B4-BE49-F238E27FC236}">
                <a16:creationId xmlns:a16="http://schemas.microsoft.com/office/drawing/2014/main" id="{5FDCE820-5049-87BE-EABC-8C0F05C7EB5B}"/>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A2F186C4-F15C-A461-B14A-9216783CDC68}"/>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5D575524-0FDA-8E4C-1AA2-C27B648A22B3}"/>
              </a:ext>
            </a:extLst>
          </p:cNvPr>
          <p:cNvSpPr>
            <a:spLocks noGrp="1"/>
          </p:cNvSpPr>
          <p:nvPr>
            <p:ph type="sldNum" sz="quarter" idx="12"/>
          </p:nvPr>
        </p:nvSpPr>
        <p:spPr/>
        <p:txBody>
          <a:bodyPr/>
          <a:lstStyle/>
          <a:p>
            <a:fld id="{9B618960-8005-486C-9A75-10CB2AAC16F9}" type="slidenum">
              <a:rPr lang="en-US" smtClean="0"/>
              <a:t>45</a:t>
            </a:fld>
            <a:endParaRPr lang="en-US"/>
          </a:p>
        </p:txBody>
      </p:sp>
      <p:pic>
        <p:nvPicPr>
          <p:cNvPr id="7" name="Picture 6">
            <a:extLst>
              <a:ext uri="{FF2B5EF4-FFF2-40B4-BE49-F238E27FC236}">
                <a16:creationId xmlns:a16="http://schemas.microsoft.com/office/drawing/2014/main" id="{98B47645-67E0-1FCA-4A0D-A5441D63FE7A}"/>
              </a:ext>
            </a:extLst>
          </p:cNvPr>
          <p:cNvPicPr>
            <a:picLocks noChangeAspect="1"/>
          </p:cNvPicPr>
          <p:nvPr/>
        </p:nvPicPr>
        <p:blipFill>
          <a:blip r:embed="rId3"/>
          <a:stretch>
            <a:fillRect/>
          </a:stretch>
        </p:blipFill>
        <p:spPr>
          <a:xfrm>
            <a:off x="0" y="1836"/>
            <a:ext cx="4820323" cy="2362530"/>
          </a:xfrm>
          <a:prstGeom prst="rect">
            <a:avLst/>
          </a:prstGeom>
        </p:spPr>
      </p:pic>
      <p:pic>
        <p:nvPicPr>
          <p:cNvPr id="9" name="Picture 8">
            <a:extLst>
              <a:ext uri="{FF2B5EF4-FFF2-40B4-BE49-F238E27FC236}">
                <a16:creationId xmlns:a16="http://schemas.microsoft.com/office/drawing/2014/main" id="{4D7FB5DE-F7F0-DABA-E96A-C7B4368C22BE}"/>
              </a:ext>
            </a:extLst>
          </p:cNvPr>
          <p:cNvPicPr>
            <a:picLocks noChangeAspect="1"/>
          </p:cNvPicPr>
          <p:nvPr/>
        </p:nvPicPr>
        <p:blipFill>
          <a:blip r:embed="rId4"/>
          <a:stretch>
            <a:fillRect/>
          </a:stretch>
        </p:blipFill>
        <p:spPr>
          <a:xfrm>
            <a:off x="4820323" y="9525"/>
            <a:ext cx="7001852" cy="2638793"/>
          </a:xfrm>
          <a:prstGeom prst="rect">
            <a:avLst/>
          </a:prstGeom>
        </p:spPr>
      </p:pic>
    </p:spTree>
    <p:extLst>
      <p:ext uri="{BB962C8B-B14F-4D97-AF65-F5344CB8AC3E}">
        <p14:creationId xmlns:p14="http://schemas.microsoft.com/office/powerpoint/2010/main" val="3521849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1E7B9A31-C89E-87CC-D4DD-C93A33BFF2ED}"/>
              </a:ext>
            </a:extLst>
          </p:cNvPr>
          <p:cNvPicPr>
            <a:picLocks noGrp="1" noChangeAspect="1"/>
          </p:cNvPicPr>
          <p:nvPr>
            <p:ph idx="1"/>
          </p:nvPr>
        </p:nvPicPr>
        <p:blipFill>
          <a:blip r:embed="rId2"/>
          <a:stretch>
            <a:fillRect/>
          </a:stretch>
        </p:blipFill>
        <p:spPr>
          <a:xfrm>
            <a:off x="439402" y="-104959"/>
            <a:ext cx="6736098" cy="3681511"/>
          </a:xfrm>
          <a:prstGeom prst="rect">
            <a:avLst/>
          </a:prstGeom>
        </p:spPr>
      </p:pic>
      <p:sp>
        <p:nvSpPr>
          <p:cNvPr id="3" name="Date Placeholder 2">
            <a:extLst>
              <a:ext uri="{FF2B5EF4-FFF2-40B4-BE49-F238E27FC236}">
                <a16:creationId xmlns:a16="http://schemas.microsoft.com/office/drawing/2014/main" id="{A4BE937D-8615-28CC-7D9A-1421888673CC}"/>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E84E53AB-B861-28B9-B3A5-D3BF42408999}"/>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E9C8B83C-692F-306A-BC48-D280ED49CDE0}"/>
              </a:ext>
            </a:extLst>
          </p:cNvPr>
          <p:cNvSpPr>
            <a:spLocks noGrp="1"/>
          </p:cNvSpPr>
          <p:nvPr>
            <p:ph type="sldNum" sz="quarter" idx="12"/>
          </p:nvPr>
        </p:nvSpPr>
        <p:spPr/>
        <p:txBody>
          <a:bodyPr/>
          <a:lstStyle/>
          <a:p>
            <a:fld id="{9B618960-8005-486C-9A75-10CB2AAC16F9}" type="slidenum">
              <a:rPr lang="en-US" smtClean="0"/>
              <a:t>46</a:t>
            </a:fld>
            <a:endParaRPr lang="en-US"/>
          </a:p>
        </p:txBody>
      </p:sp>
      <p:pic>
        <p:nvPicPr>
          <p:cNvPr id="11" name="Picture 10">
            <a:extLst>
              <a:ext uri="{FF2B5EF4-FFF2-40B4-BE49-F238E27FC236}">
                <a16:creationId xmlns:a16="http://schemas.microsoft.com/office/drawing/2014/main" id="{52E9E20A-17AD-7B06-325F-AC56A601D335}"/>
              </a:ext>
            </a:extLst>
          </p:cNvPr>
          <p:cNvPicPr>
            <a:picLocks noChangeAspect="1"/>
          </p:cNvPicPr>
          <p:nvPr/>
        </p:nvPicPr>
        <p:blipFill>
          <a:blip r:embed="rId3"/>
          <a:stretch>
            <a:fillRect/>
          </a:stretch>
        </p:blipFill>
        <p:spPr>
          <a:xfrm>
            <a:off x="439402" y="3429000"/>
            <a:ext cx="6863098" cy="3048425"/>
          </a:xfrm>
          <a:prstGeom prst="rect">
            <a:avLst/>
          </a:prstGeom>
        </p:spPr>
      </p:pic>
    </p:spTree>
    <p:extLst>
      <p:ext uri="{BB962C8B-B14F-4D97-AF65-F5344CB8AC3E}">
        <p14:creationId xmlns:p14="http://schemas.microsoft.com/office/powerpoint/2010/main" val="37575082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55D0BD1-984A-C58F-EF1E-21022E09110B}"/>
              </a:ext>
            </a:extLst>
          </p:cNvPr>
          <p:cNvPicPr>
            <a:picLocks noGrp="1" noChangeAspect="1"/>
          </p:cNvPicPr>
          <p:nvPr>
            <p:ph idx="1"/>
          </p:nvPr>
        </p:nvPicPr>
        <p:blipFill>
          <a:blip r:embed="rId2"/>
          <a:stretch>
            <a:fillRect/>
          </a:stretch>
        </p:blipFill>
        <p:spPr>
          <a:xfrm>
            <a:off x="329641" y="9525"/>
            <a:ext cx="8661689" cy="4537075"/>
          </a:xfrm>
          <a:prstGeom prst="rect">
            <a:avLst/>
          </a:prstGeom>
        </p:spPr>
      </p:pic>
      <p:sp>
        <p:nvSpPr>
          <p:cNvPr id="3" name="Date Placeholder 2">
            <a:extLst>
              <a:ext uri="{FF2B5EF4-FFF2-40B4-BE49-F238E27FC236}">
                <a16:creationId xmlns:a16="http://schemas.microsoft.com/office/drawing/2014/main" id="{87B411D5-611F-4EBC-DA63-BC42A8A62D8F}"/>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47870AED-6FEE-3D43-208D-E18B26A022C9}"/>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1B48E3A-6428-47D1-7AD6-D286032537F3}"/>
              </a:ext>
            </a:extLst>
          </p:cNvPr>
          <p:cNvSpPr>
            <a:spLocks noGrp="1"/>
          </p:cNvSpPr>
          <p:nvPr>
            <p:ph type="sldNum" sz="quarter" idx="12"/>
          </p:nvPr>
        </p:nvSpPr>
        <p:spPr/>
        <p:txBody>
          <a:bodyPr/>
          <a:lstStyle/>
          <a:p>
            <a:fld id="{9B618960-8005-486C-9A75-10CB2AAC16F9}" type="slidenum">
              <a:rPr lang="en-US" smtClean="0"/>
              <a:t>47</a:t>
            </a:fld>
            <a:endParaRPr lang="en-US"/>
          </a:p>
        </p:txBody>
      </p:sp>
    </p:spTree>
    <p:extLst>
      <p:ext uri="{BB962C8B-B14F-4D97-AF65-F5344CB8AC3E}">
        <p14:creationId xmlns:p14="http://schemas.microsoft.com/office/powerpoint/2010/main" val="32445009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1055F72-715A-B5C7-D183-F6355DF66152}"/>
              </a:ext>
            </a:extLst>
          </p:cNvPr>
          <p:cNvPicPr>
            <a:picLocks noGrp="1" noChangeAspect="1"/>
          </p:cNvPicPr>
          <p:nvPr>
            <p:ph idx="1"/>
          </p:nvPr>
        </p:nvPicPr>
        <p:blipFill>
          <a:blip r:embed="rId2"/>
          <a:stretch>
            <a:fillRect/>
          </a:stretch>
        </p:blipFill>
        <p:spPr>
          <a:xfrm>
            <a:off x="609600" y="576581"/>
            <a:ext cx="9454116" cy="4483044"/>
          </a:xfrm>
          <a:prstGeom prst="rect">
            <a:avLst/>
          </a:prstGeom>
        </p:spPr>
      </p:pic>
      <p:sp>
        <p:nvSpPr>
          <p:cNvPr id="3" name="Date Placeholder 2">
            <a:extLst>
              <a:ext uri="{FF2B5EF4-FFF2-40B4-BE49-F238E27FC236}">
                <a16:creationId xmlns:a16="http://schemas.microsoft.com/office/drawing/2014/main" id="{448EBD92-601D-2D37-AEFA-F7ACB3514F3A}"/>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C3663F65-E96E-5111-CE01-F1A0D79B83C9}"/>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64BE6D4D-FF80-997D-105C-56FA8E1D6783}"/>
              </a:ext>
            </a:extLst>
          </p:cNvPr>
          <p:cNvSpPr>
            <a:spLocks noGrp="1"/>
          </p:cNvSpPr>
          <p:nvPr>
            <p:ph type="sldNum" sz="quarter" idx="12"/>
          </p:nvPr>
        </p:nvSpPr>
        <p:spPr/>
        <p:txBody>
          <a:bodyPr/>
          <a:lstStyle/>
          <a:p>
            <a:fld id="{9B618960-8005-486C-9A75-10CB2AAC16F9}" type="slidenum">
              <a:rPr lang="en-US" smtClean="0"/>
              <a:t>48</a:t>
            </a:fld>
            <a:endParaRPr lang="en-US"/>
          </a:p>
        </p:txBody>
      </p:sp>
    </p:spTree>
    <p:extLst>
      <p:ext uri="{BB962C8B-B14F-4D97-AF65-F5344CB8AC3E}">
        <p14:creationId xmlns:p14="http://schemas.microsoft.com/office/powerpoint/2010/main" val="16975144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665A71-EC7C-B694-4694-E93395E4B465}"/>
              </a:ext>
            </a:extLst>
          </p:cNvPr>
          <p:cNvSpPr>
            <a:spLocks noGrp="1"/>
          </p:cNvSpPr>
          <p:nvPr>
            <p:ph idx="1"/>
          </p:nvPr>
        </p:nvSpPr>
        <p:spPr/>
        <p:txBody>
          <a:bodyPr/>
          <a:lstStyle/>
          <a:p>
            <a:r>
              <a:rPr lang="en-US" dirty="0"/>
              <a:t>GCC  install</a:t>
            </a:r>
          </a:p>
          <a:p>
            <a:pPr lvl="1"/>
            <a:r>
              <a:rPr lang="en-US" dirty="0"/>
              <a:t>Step 1: Install MinGW (GCC) via Command Prompt</a:t>
            </a:r>
          </a:p>
          <a:p>
            <a:pPr lvl="2"/>
            <a:r>
              <a:rPr lang="en-US" dirty="0" err="1"/>
              <a:t>winget</a:t>
            </a:r>
            <a:r>
              <a:rPr lang="en-US" dirty="0"/>
              <a:t> install MSYS2.MSYS2</a:t>
            </a:r>
          </a:p>
          <a:p>
            <a:pPr lvl="1"/>
            <a:r>
              <a:rPr lang="en-US" b="1" dirty="0"/>
              <a:t>Step 2: Install GCC using MSYS2</a:t>
            </a:r>
          </a:p>
          <a:p>
            <a:pPr lvl="2"/>
            <a:r>
              <a:rPr lang="en-US" dirty="0"/>
              <a:t>Open the </a:t>
            </a:r>
            <a:r>
              <a:rPr lang="en-US" b="1" dirty="0"/>
              <a:t>MSYS2 UCRT64</a:t>
            </a:r>
            <a:r>
              <a:rPr lang="en-US" dirty="0"/>
              <a:t> terminal from your Windows Start Menu.</a:t>
            </a:r>
          </a:p>
          <a:p>
            <a:pPr lvl="2"/>
            <a:r>
              <a:rPr lang="en-US" dirty="0"/>
              <a:t>Run this command inside the MSYS2 window:</a:t>
            </a:r>
          </a:p>
          <a:p>
            <a:pPr lvl="3"/>
            <a:r>
              <a:rPr lang="en-US" dirty="0" err="1"/>
              <a:t>pacman</a:t>
            </a:r>
            <a:r>
              <a:rPr lang="en-US" dirty="0"/>
              <a:t> -S --</a:t>
            </a:r>
            <a:r>
              <a:rPr lang="en-US" dirty="0" err="1"/>
              <a:t>noconfirm</a:t>
            </a:r>
            <a:r>
              <a:rPr lang="en-US" dirty="0"/>
              <a:t> mingw-w64-ucrt-x86_64-gcc</a:t>
            </a:r>
          </a:p>
          <a:p>
            <a:pPr lvl="1"/>
            <a:r>
              <a:rPr lang="en-US" dirty="0"/>
              <a:t>Step 3: Add GCC to Windows PATH</a:t>
            </a:r>
          </a:p>
          <a:p>
            <a:pPr lvl="2"/>
            <a:r>
              <a:rPr lang="en-US" dirty="0"/>
              <a:t>C:\msys64\ucrt64\bin</a:t>
            </a:r>
          </a:p>
          <a:p>
            <a:pPr lvl="1"/>
            <a:r>
              <a:rPr lang="en-US" dirty="0" err="1"/>
              <a:t>gcc</a:t>
            </a:r>
            <a:r>
              <a:rPr lang="en-US" dirty="0"/>
              <a:t> --version	</a:t>
            </a:r>
          </a:p>
          <a:p>
            <a:pPr lvl="1"/>
            <a:r>
              <a:rPr lang="pt-BR" dirty="0"/>
              <a:t>gcc ARecursiveDescentExpressionCompiler.c -o compiler.exe</a:t>
            </a:r>
            <a:endParaRPr lang="en-US" dirty="0"/>
          </a:p>
          <a:p>
            <a:pPr lvl="1"/>
            <a:endParaRPr lang="en-US" dirty="0"/>
          </a:p>
        </p:txBody>
      </p:sp>
      <p:sp>
        <p:nvSpPr>
          <p:cNvPr id="3" name="Date Placeholder 2">
            <a:extLst>
              <a:ext uri="{FF2B5EF4-FFF2-40B4-BE49-F238E27FC236}">
                <a16:creationId xmlns:a16="http://schemas.microsoft.com/office/drawing/2014/main" id="{D31A524E-FCF8-9BEF-A24D-C49D8B457498}"/>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36176C6E-7028-1B19-C5F6-E7AFB3645D7E}"/>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75CC3E8D-33FB-B8A5-7DAC-6B60DAE74EEA}"/>
              </a:ext>
            </a:extLst>
          </p:cNvPr>
          <p:cNvSpPr>
            <a:spLocks noGrp="1"/>
          </p:cNvSpPr>
          <p:nvPr>
            <p:ph type="sldNum" sz="quarter" idx="12"/>
          </p:nvPr>
        </p:nvSpPr>
        <p:spPr/>
        <p:txBody>
          <a:bodyPr/>
          <a:lstStyle/>
          <a:p>
            <a:fld id="{9B618960-8005-486C-9A75-10CB2AAC16F9}" type="slidenum">
              <a:rPr lang="en-US" smtClean="0"/>
              <a:t>49</a:t>
            </a:fld>
            <a:endParaRPr lang="en-US"/>
          </a:p>
        </p:txBody>
      </p:sp>
    </p:spTree>
    <p:extLst>
      <p:ext uri="{BB962C8B-B14F-4D97-AF65-F5344CB8AC3E}">
        <p14:creationId xmlns:p14="http://schemas.microsoft.com/office/powerpoint/2010/main" val="41656677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AA50C7-FC97-12C9-7E45-F6DC028BCD3F}"/>
              </a:ext>
            </a:extLst>
          </p:cNvPr>
          <p:cNvSpPr>
            <a:spLocks noGrp="1"/>
          </p:cNvSpPr>
          <p:nvPr>
            <p:ph idx="1"/>
          </p:nvPr>
        </p:nvSpPr>
        <p:spPr/>
        <p:txBody>
          <a:bodyPr/>
          <a:lstStyle/>
          <a:p>
            <a:r>
              <a:rPr lang="en-US" dirty="0"/>
              <a:t>A Recursive-Descent Expression Compiler</a:t>
            </a:r>
          </a:p>
          <a:p>
            <a:endParaRPr lang="en-US" dirty="0"/>
          </a:p>
          <a:p>
            <a:endParaRPr lang="en-US" dirty="0"/>
          </a:p>
          <a:p>
            <a:endParaRPr lang="en-US" dirty="0"/>
          </a:p>
          <a:p>
            <a:endParaRPr lang="en-US" dirty="0"/>
          </a:p>
          <a:p>
            <a:pPr lvl="1"/>
            <a:r>
              <a:rPr lang="en-US" dirty="0"/>
              <a:t>The Lexical Analyzer</a:t>
            </a:r>
          </a:p>
          <a:p>
            <a:pPr lvl="2"/>
            <a:r>
              <a:rPr lang="en-US" dirty="0"/>
              <a:t>A NUM_OR_ID</a:t>
            </a:r>
          </a:p>
          <a:p>
            <a:pPr lvl="3"/>
            <a:r>
              <a:rPr lang="en-US" dirty="0"/>
              <a:t>token is used both for numbers and identifiers; so, they are made up of a series of contiguous characters in the range ' 0' -' 9' , ' a'-' z' , or 'A'-' z' .</a:t>
            </a:r>
          </a:p>
          <a:p>
            <a:pPr lvl="2"/>
            <a:r>
              <a:rPr lang="en-US" dirty="0"/>
              <a:t>The tokens themselves are defined with the macros at the top of </a:t>
            </a:r>
            <a:r>
              <a:rPr lang="en-US" dirty="0" err="1"/>
              <a:t>lex.h</a:t>
            </a:r>
            <a:endParaRPr lang="en-US" dirty="0"/>
          </a:p>
          <a:p>
            <a:pPr lvl="3"/>
            <a:r>
              <a:rPr lang="en-US" dirty="0"/>
              <a:t>The lexical analyzer</a:t>
            </a:r>
          </a:p>
          <a:p>
            <a:pPr lvl="4"/>
            <a:r>
              <a:rPr lang="en-US" dirty="0"/>
              <a:t>translates a semicolon into a SEMI token, a series of digits into a NUM_OR_ID token</a:t>
            </a:r>
          </a:p>
        </p:txBody>
      </p:sp>
      <p:sp>
        <p:nvSpPr>
          <p:cNvPr id="3" name="Date Placeholder 2">
            <a:extLst>
              <a:ext uri="{FF2B5EF4-FFF2-40B4-BE49-F238E27FC236}">
                <a16:creationId xmlns:a16="http://schemas.microsoft.com/office/drawing/2014/main" id="{65563F28-E86C-20AA-9DBC-8999DB143328}"/>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50359FF1-96D8-8CD5-A58D-3ABC46183F98}"/>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FF09AA07-D158-A4CE-0A6B-BABFD95CDB1D}"/>
              </a:ext>
            </a:extLst>
          </p:cNvPr>
          <p:cNvSpPr>
            <a:spLocks noGrp="1"/>
          </p:cNvSpPr>
          <p:nvPr>
            <p:ph type="sldNum" sz="quarter" idx="12"/>
          </p:nvPr>
        </p:nvSpPr>
        <p:spPr/>
        <p:txBody>
          <a:bodyPr/>
          <a:lstStyle/>
          <a:p>
            <a:fld id="{9B618960-8005-486C-9A75-10CB2AAC16F9}" type="slidenum">
              <a:rPr lang="en-US" smtClean="0"/>
              <a:t>50</a:t>
            </a:fld>
            <a:endParaRPr lang="en-US"/>
          </a:p>
        </p:txBody>
      </p:sp>
      <p:pic>
        <p:nvPicPr>
          <p:cNvPr id="7" name="Picture 6">
            <a:extLst>
              <a:ext uri="{FF2B5EF4-FFF2-40B4-BE49-F238E27FC236}">
                <a16:creationId xmlns:a16="http://schemas.microsoft.com/office/drawing/2014/main" id="{50C847B0-E5A9-DCAC-A08E-EF4C3ED22971}"/>
              </a:ext>
            </a:extLst>
          </p:cNvPr>
          <p:cNvPicPr>
            <a:picLocks noChangeAspect="1"/>
          </p:cNvPicPr>
          <p:nvPr/>
        </p:nvPicPr>
        <p:blipFill>
          <a:blip r:embed="rId2"/>
          <a:stretch>
            <a:fillRect/>
          </a:stretch>
        </p:blipFill>
        <p:spPr>
          <a:xfrm>
            <a:off x="2168069" y="501650"/>
            <a:ext cx="6535062" cy="1476581"/>
          </a:xfrm>
          <a:prstGeom prst="rect">
            <a:avLst/>
          </a:prstGeom>
        </p:spPr>
      </p:pic>
    </p:spTree>
    <p:extLst>
      <p:ext uri="{BB962C8B-B14F-4D97-AF65-F5344CB8AC3E}">
        <p14:creationId xmlns:p14="http://schemas.microsoft.com/office/powerpoint/2010/main" val="30507269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6164E06-AD58-7BF0-DD8E-C442C49E6233}"/>
              </a:ext>
            </a:extLst>
          </p:cNvPr>
          <p:cNvPicPr>
            <a:picLocks noGrp="1" noChangeAspect="1"/>
          </p:cNvPicPr>
          <p:nvPr>
            <p:ph idx="1"/>
          </p:nvPr>
        </p:nvPicPr>
        <p:blipFill>
          <a:blip r:embed="rId2"/>
          <a:stretch>
            <a:fillRect/>
          </a:stretch>
        </p:blipFill>
        <p:spPr>
          <a:xfrm>
            <a:off x="1460501" y="9525"/>
            <a:ext cx="5767724" cy="6154514"/>
          </a:xfrm>
          <a:prstGeom prst="rect">
            <a:avLst/>
          </a:prstGeom>
        </p:spPr>
      </p:pic>
      <p:sp>
        <p:nvSpPr>
          <p:cNvPr id="3" name="Date Placeholder 2">
            <a:extLst>
              <a:ext uri="{FF2B5EF4-FFF2-40B4-BE49-F238E27FC236}">
                <a16:creationId xmlns:a16="http://schemas.microsoft.com/office/drawing/2014/main" id="{78CD977A-2678-BC64-ED75-EA7815CB8624}"/>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F9B6FCAF-EFB4-33A5-5B2D-B52898427514}"/>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BF318B7A-1ED5-29B0-8B99-ECCC530480BE}"/>
              </a:ext>
            </a:extLst>
          </p:cNvPr>
          <p:cNvSpPr>
            <a:spLocks noGrp="1"/>
          </p:cNvSpPr>
          <p:nvPr>
            <p:ph type="sldNum" sz="quarter" idx="12"/>
          </p:nvPr>
        </p:nvSpPr>
        <p:spPr/>
        <p:txBody>
          <a:bodyPr/>
          <a:lstStyle/>
          <a:p>
            <a:fld id="{9B618960-8005-486C-9A75-10CB2AAC16F9}" type="slidenum">
              <a:rPr lang="en-US" smtClean="0"/>
              <a:t>51</a:t>
            </a:fld>
            <a:endParaRPr lang="en-US"/>
          </a:p>
        </p:txBody>
      </p:sp>
    </p:spTree>
    <p:extLst>
      <p:ext uri="{BB962C8B-B14F-4D97-AF65-F5344CB8AC3E}">
        <p14:creationId xmlns:p14="http://schemas.microsoft.com/office/powerpoint/2010/main" val="38304901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4B2CD0-8015-F377-9216-12BEDE23F542}"/>
              </a:ext>
            </a:extLst>
          </p:cNvPr>
          <p:cNvSpPr>
            <a:spLocks noGrp="1"/>
          </p:cNvSpPr>
          <p:nvPr>
            <p:ph idx="1"/>
          </p:nvPr>
        </p:nvSpPr>
        <p:spPr/>
        <p:txBody>
          <a:bodyPr/>
          <a:lstStyle/>
          <a:p>
            <a:r>
              <a:rPr lang="en-US" dirty="0"/>
              <a:t>A Recursive-Descent Expression Compiler</a:t>
            </a:r>
          </a:p>
          <a:p>
            <a:pPr lvl="1"/>
            <a:r>
              <a:rPr lang="en-US" dirty="0"/>
              <a:t>The Lexical Analyzer</a:t>
            </a:r>
          </a:p>
          <a:p>
            <a:pPr lvl="1"/>
            <a:endParaRPr lang="en-US" dirty="0"/>
          </a:p>
          <a:p>
            <a:pPr lvl="2"/>
            <a:endParaRPr lang="en-US" dirty="0"/>
          </a:p>
        </p:txBody>
      </p:sp>
      <p:sp>
        <p:nvSpPr>
          <p:cNvPr id="3" name="Date Placeholder 2">
            <a:extLst>
              <a:ext uri="{FF2B5EF4-FFF2-40B4-BE49-F238E27FC236}">
                <a16:creationId xmlns:a16="http://schemas.microsoft.com/office/drawing/2014/main" id="{7724A304-AFFD-208D-0C4C-FB9BF0E55B2D}"/>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671BA2C5-6CA5-7AFB-8FE5-01C7EDF34AD1}"/>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D4AE80C3-2B48-EE2B-3FCB-1E0AD59B6D4D}"/>
              </a:ext>
            </a:extLst>
          </p:cNvPr>
          <p:cNvSpPr>
            <a:spLocks noGrp="1"/>
          </p:cNvSpPr>
          <p:nvPr>
            <p:ph type="sldNum" sz="quarter" idx="12"/>
          </p:nvPr>
        </p:nvSpPr>
        <p:spPr/>
        <p:txBody>
          <a:bodyPr/>
          <a:lstStyle/>
          <a:p>
            <a:fld id="{9B618960-8005-486C-9A75-10CB2AAC16F9}" type="slidenum">
              <a:rPr lang="en-US" smtClean="0"/>
              <a:t>52</a:t>
            </a:fld>
            <a:endParaRPr lang="en-US"/>
          </a:p>
        </p:txBody>
      </p:sp>
    </p:spTree>
    <p:extLst>
      <p:ext uri="{BB962C8B-B14F-4D97-AF65-F5344CB8AC3E}">
        <p14:creationId xmlns:p14="http://schemas.microsoft.com/office/powerpoint/2010/main" val="18052473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4491998-5BA5-324F-BB81-9305689FFA36}"/>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BD80F726-7A76-AA98-24D6-7EAD72AD601E}"/>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66F3FAAA-83FF-75C0-EF72-354F8F92C463}"/>
              </a:ext>
            </a:extLst>
          </p:cNvPr>
          <p:cNvSpPr>
            <a:spLocks noGrp="1"/>
          </p:cNvSpPr>
          <p:nvPr>
            <p:ph type="sldNum" sz="quarter" idx="12"/>
          </p:nvPr>
        </p:nvSpPr>
        <p:spPr/>
        <p:txBody>
          <a:bodyPr/>
          <a:lstStyle/>
          <a:p>
            <a:fld id="{9B618960-8005-486C-9A75-10CB2AAC16F9}" type="slidenum">
              <a:rPr lang="en-US" smtClean="0"/>
              <a:t>53</a:t>
            </a:fld>
            <a:endParaRPr lang="en-US"/>
          </a:p>
        </p:txBody>
      </p:sp>
      <p:sp>
        <p:nvSpPr>
          <p:cNvPr id="6" name="Content Placeholder 5">
            <a:extLst>
              <a:ext uri="{FF2B5EF4-FFF2-40B4-BE49-F238E27FC236}">
                <a16:creationId xmlns:a16="http://schemas.microsoft.com/office/drawing/2014/main" id="{C03703A2-6815-03AD-5F77-F88D08C2EF3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97642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12703F-2C62-013A-51A9-AFB6BB65534C}"/>
              </a:ext>
            </a:extLst>
          </p:cNvPr>
          <p:cNvSpPr>
            <a:spLocks noGrp="1"/>
          </p:cNvSpPr>
          <p:nvPr>
            <p:ph idx="1"/>
          </p:nvPr>
        </p:nvSpPr>
        <p:spPr/>
        <p:txBody>
          <a:bodyPr/>
          <a:lstStyle/>
          <a:p>
            <a:r>
              <a:rPr lang="en-US" dirty="0"/>
              <a:t>References</a:t>
            </a:r>
          </a:p>
          <a:p>
            <a:pPr lvl="1"/>
            <a:r>
              <a:rPr lang="en-US" dirty="0"/>
              <a:t>(RF1): </a:t>
            </a:r>
            <a:r>
              <a:rPr lang="en-US" dirty="0">
                <a:hlinkClick r:id="rId2"/>
              </a:rPr>
              <a:t>https://media.geeksforgeeks.org/wp-content/uploads/20250125122657693266/compiler-660.webp</a:t>
            </a:r>
            <a:endParaRPr lang="en-US" dirty="0"/>
          </a:p>
          <a:p>
            <a:pPr lvl="1"/>
            <a:endParaRPr lang="en-US" dirty="0"/>
          </a:p>
          <a:p>
            <a:pPr lvl="1"/>
            <a:endParaRPr lang="en-US" dirty="0"/>
          </a:p>
        </p:txBody>
      </p:sp>
      <p:sp>
        <p:nvSpPr>
          <p:cNvPr id="3" name="Date Placeholder 2">
            <a:extLst>
              <a:ext uri="{FF2B5EF4-FFF2-40B4-BE49-F238E27FC236}">
                <a16:creationId xmlns:a16="http://schemas.microsoft.com/office/drawing/2014/main" id="{29A3576E-C769-6D0B-0BC9-7642B563C1E6}"/>
              </a:ext>
            </a:extLst>
          </p:cNvPr>
          <p:cNvSpPr>
            <a:spLocks noGrp="1"/>
          </p:cNvSpPr>
          <p:nvPr>
            <p:ph type="dt" sz="half" idx="10"/>
          </p:nvPr>
        </p:nvSpPr>
        <p:spPr/>
        <p:txBody>
          <a:bodyPr/>
          <a:lstStyle/>
          <a:p>
            <a:fld id="{85217D42-CBAD-43EE-B2DB-C11CC3986ED6}" type="datetime1">
              <a:rPr lang="en-US" smtClean="0"/>
              <a:t>8/22/2026</a:t>
            </a:fld>
            <a:endParaRPr lang="en-US"/>
          </a:p>
        </p:txBody>
      </p:sp>
      <p:sp>
        <p:nvSpPr>
          <p:cNvPr id="4" name="Footer Placeholder 3">
            <a:extLst>
              <a:ext uri="{FF2B5EF4-FFF2-40B4-BE49-F238E27FC236}">
                <a16:creationId xmlns:a16="http://schemas.microsoft.com/office/drawing/2014/main" id="{25955FE3-6AED-4000-2572-61162BEF28CE}"/>
              </a:ext>
            </a:extLst>
          </p:cNvPr>
          <p:cNvSpPr>
            <a:spLocks noGrp="1"/>
          </p:cNvSpPr>
          <p:nvPr>
            <p:ph type="ftr" sz="quarter" idx="11"/>
          </p:nvPr>
        </p:nvSpPr>
        <p:spPr/>
        <p:txBody>
          <a:bodyPr/>
          <a:lstStyle/>
          <a:p>
            <a:r>
              <a:rPr lang="en-US"/>
              <a:t>Lec: Engr. Muhammad Ismail CS Dept: Sukkur IBA University Fall - 2026</a:t>
            </a:r>
            <a:endParaRPr lang="en-US" dirty="0"/>
          </a:p>
        </p:txBody>
      </p:sp>
      <p:sp>
        <p:nvSpPr>
          <p:cNvPr id="5" name="Slide Number Placeholder 4">
            <a:extLst>
              <a:ext uri="{FF2B5EF4-FFF2-40B4-BE49-F238E27FC236}">
                <a16:creationId xmlns:a16="http://schemas.microsoft.com/office/drawing/2014/main" id="{0148BB09-37BF-FB41-CD96-080E6543654F}"/>
              </a:ext>
            </a:extLst>
          </p:cNvPr>
          <p:cNvSpPr>
            <a:spLocks noGrp="1"/>
          </p:cNvSpPr>
          <p:nvPr>
            <p:ph type="sldNum" sz="quarter" idx="12"/>
          </p:nvPr>
        </p:nvSpPr>
        <p:spPr/>
        <p:txBody>
          <a:bodyPr/>
          <a:lstStyle/>
          <a:p>
            <a:fld id="{9B618960-8005-486C-9A75-10CB2AAC16F9}" type="slidenum">
              <a:rPr lang="en-US" smtClean="0"/>
              <a:t>54</a:t>
            </a:fld>
            <a:endParaRPr lang="en-US"/>
          </a:p>
        </p:txBody>
      </p:sp>
    </p:spTree>
    <p:extLst>
      <p:ext uri="{BB962C8B-B14F-4D97-AF65-F5344CB8AC3E}">
        <p14:creationId xmlns:p14="http://schemas.microsoft.com/office/powerpoint/2010/main" val="1717505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6D723FD-1D24-4C6B-BB79-87D30082C1C2}">
  <we:reference id="WA104380862" version="3.0.0.0" store="Omex" storeType="OMEX"/>
  <we:alternateReferences>
    <we:reference id="WA104380862" version="3.0.0.0" store="WA10438086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866</TotalTime>
  <Words>6822</Words>
  <Application>Microsoft Office PowerPoint</Application>
  <PresentationFormat>Widescreen</PresentationFormat>
  <Paragraphs>763</Paragraphs>
  <Slides>54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Aptos</vt:lpstr>
      <vt:lpstr>Arial</vt:lpstr>
      <vt:lpstr>Calibri</vt:lpstr>
      <vt:lpstr>Calibri Light</vt:lpstr>
      <vt:lpstr>Cambria Math</vt:lpstr>
      <vt:lpstr>Courier New</vt:lpstr>
      <vt:lpstr>Google Sans Text</vt:lpstr>
      <vt:lpstr>Office Theme</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 Laptop</dc:creator>
  <cp:lastModifiedBy>033-18-0009</cp:lastModifiedBy>
  <cp:revision>1</cp:revision>
  <dcterms:created xsi:type="dcterms:W3CDTF">2026-05-27T01:15:05Z</dcterms:created>
  <dcterms:modified xsi:type="dcterms:W3CDTF">2026-08-22T05:49:39Z</dcterms:modified>
</cp:coreProperties>
</file>