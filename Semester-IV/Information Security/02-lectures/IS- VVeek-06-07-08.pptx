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1" r:id="rId12"/>
    <p:sldId id="273" r:id="rId13"/>
    <p:sldId id="274" r:id="rId14"/>
    <p:sldId id="272" r:id="rId15"/>
    <p:sldId id="275" r:id="rId16"/>
    <p:sldId id="276" r:id="rId17"/>
    <p:sldId id="264" r:id="rId18"/>
    <p:sldId id="277" r:id="rId19"/>
    <p:sldId id="266" r:id="rId20"/>
    <p:sldId id="279" r:id="rId21"/>
    <p:sldId id="278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79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0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5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7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9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52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518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4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2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D9CED-956C-4EA6-9A91-511EBDAC87F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F7012-4EC8-4CAE-B775-945A2628E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1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9642" y="1957465"/>
            <a:ext cx="9448800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7765">
              <a:spcBef>
                <a:spcPts val="100"/>
              </a:spcBef>
            </a:pPr>
            <a:r>
              <a:rPr lang="en-US" sz="6000" b="0" spc="-110" dirty="0" smtClean="0"/>
              <a:t>   </a:t>
            </a:r>
            <a:r>
              <a:rPr sz="6000" b="0" spc="-110" dirty="0" smtClean="0">
                <a:solidFill>
                  <a:srgbClr val="FF0000"/>
                </a:solidFill>
              </a:rPr>
              <a:t>Information</a:t>
            </a:r>
            <a:r>
              <a:rPr sz="6000" b="0" spc="-270" dirty="0" smtClean="0">
                <a:solidFill>
                  <a:srgbClr val="FF0000"/>
                </a:solidFill>
              </a:rPr>
              <a:t> </a:t>
            </a:r>
            <a:r>
              <a:rPr sz="6000" b="0" spc="-150" dirty="0" smtClean="0">
                <a:solidFill>
                  <a:srgbClr val="FF0000"/>
                </a:solidFill>
              </a:rPr>
              <a:t>Securit</a:t>
            </a:r>
            <a:r>
              <a:rPr lang="en-US" sz="6000" b="0" spc="-150" dirty="0" smtClean="0">
                <a:solidFill>
                  <a:srgbClr val="FF0000"/>
                </a:solidFill>
              </a:rPr>
              <a:t>y</a:t>
            </a:r>
            <a:r>
              <a:rPr lang="en-US" sz="6000" b="0" spc="-150" dirty="0" smtClean="0"/>
              <a:t/>
            </a:r>
            <a:br>
              <a:rPr lang="en-US" sz="6000" b="0" spc="-150" dirty="0" smtClean="0"/>
            </a:br>
            <a:r>
              <a:rPr lang="en-US" sz="6000" b="0" spc="-150" dirty="0"/>
              <a:t/>
            </a:r>
            <a:br>
              <a:rPr lang="en-US" sz="6000" b="0" spc="-150" dirty="0"/>
            </a:br>
            <a:r>
              <a:rPr lang="en-US" sz="6000" b="0" spc="-150" dirty="0" smtClean="0"/>
              <a:t>             </a:t>
            </a:r>
            <a:r>
              <a:rPr lang="en-US" sz="4000" b="0" spc="-150" dirty="0" smtClean="0"/>
              <a:t>BS-CS-VI</a:t>
            </a:r>
            <a:r>
              <a:rPr lang="en-US" sz="4000" b="0" spc="-150" dirty="0"/>
              <a:t/>
            </a:r>
            <a:br>
              <a:rPr lang="en-US" sz="4000" b="0" spc="-150" dirty="0"/>
            </a:br>
            <a:r>
              <a:rPr lang="en-US" sz="4000" b="0" spc="-150" dirty="0" smtClean="0"/>
              <a:t>         </a:t>
            </a:r>
            <a:r>
              <a:rPr lang="en-US" sz="4000" b="0" spc="-150" dirty="0" smtClean="0"/>
              <a:t>VVEEK-06-07 </a:t>
            </a:r>
            <a:r>
              <a:rPr lang="en-US" sz="4000" b="0" spc="-150" dirty="0" smtClean="0"/>
              <a:t>&amp; </a:t>
            </a:r>
            <a:r>
              <a:rPr lang="en-US" sz="4000" b="0" spc="-150" dirty="0" smtClean="0"/>
              <a:t>08 </a:t>
            </a:r>
            <a:r>
              <a:rPr lang="en-US" sz="4000" b="0" spc="-150" dirty="0" smtClean="0"/>
              <a:t>Lectures</a:t>
            </a:r>
            <a:r>
              <a:rPr sz="4000" b="0" spc="-325" dirty="0" smtClean="0"/>
              <a:t> </a:t>
            </a:r>
            <a:endParaRPr sz="6000" b="0" spc="-5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11151624" y="6440608"/>
            <a:ext cx="448376" cy="1947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1425"/>
              </a:lnSpc>
            </a:pPr>
            <a:fld id="{81D60167-4931-47E6-BA6A-407CBD079E47}" type="slidenum">
              <a:rPr spc="-50" dirty="0"/>
              <a:pPr marL="153670">
                <a:lnSpc>
                  <a:spcPts val="1425"/>
                </a:lnSpc>
              </a:pPr>
              <a:t>1</a:t>
            </a:fld>
            <a:endParaRPr spc="-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437" y="31987"/>
            <a:ext cx="3689590" cy="9066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1987"/>
            <a:ext cx="1259951" cy="124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0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833" y="236337"/>
            <a:ext cx="10515600" cy="58791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Security Technology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622" y="1052892"/>
            <a:ext cx="11370972" cy="5502453"/>
          </a:xfrm>
        </p:spPr>
        <p:txBody>
          <a:bodyPr>
            <a:normAutofit/>
          </a:bodyPr>
          <a:lstStyle/>
          <a:p>
            <a:r>
              <a:rPr lang="en-US" b="1" dirty="0" smtClean="0"/>
              <a:t>Security Technology</a:t>
            </a:r>
            <a:r>
              <a:rPr lang="en-US" dirty="0" smtClean="0"/>
              <a:t> refers to the tools, systems, and mechanisms used to protect computer systems, networks, and data from unauthorized access, attacks, damage, or theft.</a:t>
            </a:r>
          </a:p>
          <a:p>
            <a:endParaRPr lang="en-US" dirty="0"/>
          </a:p>
          <a:p>
            <a:r>
              <a:rPr lang="en-US" b="1" dirty="0" smtClean="0"/>
              <a:t>NIST Standards (National Institute of Standards and Technology)</a:t>
            </a:r>
          </a:p>
          <a:p>
            <a:r>
              <a:rPr lang="en-US" sz="1800" b="1" dirty="0" smtClean="0"/>
              <a:t>NIST provides cyber security standards, guidelines, and best practices to help organizations protect information systems.</a:t>
            </a:r>
            <a:endParaRPr lang="en-US" sz="1800" dirty="0" smtClean="0"/>
          </a:p>
          <a:p>
            <a:r>
              <a:rPr lang="en-US" sz="1800" dirty="0" smtClean="0"/>
              <a:t>Developed by: National Institute of Standards and Technology (USA)-Used worldwide, not only in USA.</a:t>
            </a:r>
          </a:p>
          <a:p>
            <a:endParaRPr lang="en-US" sz="2200" dirty="0"/>
          </a:p>
          <a:p>
            <a:r>
              <a:rPr lang="en-US" sz="2200" b="1" dirty="0" smtClean="0"/>
              <a:t>ISO Standards (International Organization for Standardization)</a:t>
            </a:r>
            <a:endParaRPr lang="en-US" sz="1800" b="1" dirty="0" smtClean="0"/>
          </a:p>
          <a:p>
            <a:r>
              <a:rPr lang="en-US" sz="1800" b="1" dirty="0" smtClean="0"/>
              <a:t>ISO standards are internationally recognized frameworks that help organizations implement and manage Information Security Management Systems (ISMS).</a:t>
            </a:r>
            <a:endParaRPr lang="en-US" sz="1800" dirty="0" smtClean="0"/>
          </a:p>
          <a:p>
            <a:r>
              <a:rPr lang="en-US" sz="1800" dirty="0" smtClean="0"/>
              <a:t>The most important ISO security standard is:</a:t>
            </a:r>
          </a:p>
          <a:p>
            <a:r>
              <a:rPr lang="en-US" sz="1800" b="1" dirty="0" smtClean="0"/>
              <a:t>ISO/IEC 27001 – Information Security Management System (ISMS)</a:t>
            </a:r>
          </a:p>
          <a:p>
            <a:endParaRPr lang="en-US" sz="1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86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154" y="785612"/>
            <a:ext cx="10659012" cy="52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38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Security Technology-</a:t>
            </a:r>
            <a:r>
              <a:rPr b="1" dirty="0" smtClean="0"/>
              <a:t>Virus </a:t>
            </a:r>
            <a:r>
              <a:rPr b="1" dirty="0"/>
              <a:t>Scanners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 smtClean="0"/>
              <a:t>Software </a:t>
            </a:r>
            <a:r>
              <a:rPr dirty="0"/>
              <a:t>designed to detect, prevent, and remove malicious software.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Windows </a:t>
            </a:r>
            <a:r>
              <a:rPr dirty="0"/>
              <a:t>Defender detecting malware in downloaded files.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Protects systems automatically</a:t>
            </a:r>
          </a:p>
          <a:p>
            <a:r>
              <a:rPr dirty="0"/>
              <a:t>Real-time protection</a:t>
            </a:r>
          </a:p>
          <a:p>
            <a:endParaRPr dirty="0"/>
          </a:p>
          <a:p>
            <a:r>
              <a:rPr b="1" dirty="0"/>
              <a:t>Disadvantages:</a:t>
            </a:r>
          </a:p>
          <a:p>
            <a:r>
              <a:rPr dirty="0"/>
              <a:t>May slow system</a:t>
            </a:r>
          </a:p>
          <a:p>
            <a:r>
              <a:rPr dirty="0"/>
              <a:t>Cannot detect unknown threats</a:t>
            </a:r>
          </a:p>
        </p:txBody>
      </p:sp>
    </p:spTree>
    <p:extLst>
      <p:ext uri="{BB962C8B-B14F-4D97-AF65-F5344CB8AC3E}">
        <p14:creationId xmlns:p14="http://schemas.microsoft.com/office/powerpoint/2010/main" val="150489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Technology- </a:t>
            </a:r>
            <a:r>
              <a:rPr b="1" dirty="0" smtClean="0"/>
              <a:t>Firewalls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Security </a:t>
            </a:r>
            <a:r>
              <a:rPr dirty="0"/>
              <a:t>system that monitors and controls incoming and outgoing network traffic.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University </a:t>
            </a:r>
            <a:r>
              <a:rPr dirty="0"/>
              <a:t>firewall blocking unauthorized access.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Prevents unauthorized access</a:t>
            </a:r>
          </a:p>
          <a:p>
            <a:r>
              <a:rPr dirty="0"/>
              <a:t>Controls network traffic</a:t>
            </a:r>
          </a:p>
          <a:p>
            <a:endParaRPr dirty="0"/>
          </a:p>
          <a:p>
            <a:r>
              <a:rPr b="1" dirty="0"/>
              <a:t>Disadvantages:</a:t>
            </a:r>
          </a:p>
          <a:p>
            <a:r>
              <a:rPr dirty="0"/>
              <a:t>Requires configuration</a:t>
            </a:r>
          </a:p>
          <a:p>
            <a:r>
              <a:rPr dirty="0"/>
              <a:t>Cannot stop internal attacks</a:t>
            </a:r>
          </a:p>
        </p:txBody>
      </p:sp>
    </p:spTree>
    <p:extLst>
      <p:ext uri="{BB962C8B-B14F-4D97-AF65-F5344CB8AC3E}">
        <p14:creationId xmlns:p14="http://schemas.microsoft.com/office/powerpoint/2010/main" val="8678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307" y="365125"/>
            <a:ext cx="10748493" cy="8413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Security Technology- </a:t>
            </a:r>
            <a:r>
              <a:rPr b="1" dirty="0" smtClean="0"/>
              <a:t>IDS </a:t>
            </a:r>
            <a:r>
              <a:rPr b="1" dirty="0"/>
              <a:t>(Intrusion Detection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778544" cy="4805363"/>
          </a:xfrm>
        </p:spPr>
        <p:txBody>
          <a:bodyPr>
            <a:normAutofit lnSpcReduction="10000"/>
          </a:bodyPr>
          <a:lstStyle/>
          <a:p>
            <a:r>
              <a:rPr dirty="0" smtClean="0"/>
              <a:t>System </a:t>
            </a:r>
            <a:r>
              <a:rPr dirty="0"/>
              <a:t>that monitors network or system activities for malicious actions.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Detecting </a:t>
            </a:r>
            <a:r>
              <a:rPr dirty="0"/>
              <a:t>hacking attempts on university servers.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Early threat detection</a:t>
            </a:r>
          </a:p>
          <a:p>
            <a:r>
              <a:rPr dirty="0"/>
              <a:t>Improves security monitoring</a:t>
            </a:r>
          </a:p>
          <a:p>
            <a:endParaRPr b="1" dirty="0"/>
          </a:p>
          <a:p>
            <a:r>
              <a:rPr b="1" dirty="0"/>
              <a:t>Disadvantages:</a:t>
            </a:r>
          </a:p>
          <a:p>
            <a:r>
              <a:rPr dirty="0"/>
              <a:t>Does not prevent attacks</a:t>
            </a:r>
          </a:p>
          <a:p>
            <a:r>
              <a:rPr dirty="0"/>
              <a:t>Requires maintenance</a:t>
            </a:r>
          </a:p>
        </p:txBody>
      </p:sp>
    </p:spTree>
    <p:extLst>
      <p:ext uri="{BB962C8B-B14F-4D97-AF65-F5344CB8AC3E}">
        <p14:creationId xmlns:p14="http://schemas.microsoft.com/office/powerpoint/2010/main" val="1792711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Technology- </a:t>
            </a:r>
            <a:r>
              <a:rPr b="1" dirty="0" smtClean="0"/>
              <a:t>Digital </a:t>
            </a:r>
            <a:r>
              <a:rPr b="1" dirty="0"/>
              <a:t>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Electronic </a:t>
            </a:r>
            <a:r>
              <a:rPr dirty="0"/>
              <a:t>credentials used to verify identity online.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HTTPS </a:t>
            </a:r>
            <a:r>
              <a:rPr dirty="0"/>
              <a:t>certificate on banking websites.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Ensures secure communication</a:t>
            </a:r>
          </a:p>
          <a:p>
            <a:r>
              <a:rPr dirty="0"/>
              <a:t>Builds trust</a:t>
            </a:r>
          </a:p>
          <a:p>
            <a:endParaRPr dirty="0"/>
          </a:p>
          <a:p>
            <a:r>
              <a:rPr b="1" dirty="0"/>
              <a:t>Disadvantages:</a:t>
            </a:r>
          </a:p>
          <a:p>
            <a:r>
              <a:rPr dirty="0"/>
              <a:t>Can expire</a:t>
            </a:r>
          </a:p>
          <a:p>
            <a:r>
              <a:rPr dirty="0"/>
              <a:t>Requires management</a:t>
            </a:r>
          </a:p>
        </p:txBody>
      </p:sp>
    </p:spTree>
    <p:extLst>
      <p:ext uri="{BB962C8B-B14F-4D97-AF65-F5344CB8AC3E}">
        <p14:creationId xmlns:p14="http://schemas.microsoft.com/office/powerpoint/2010/main" val="3818584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Security Technology- </a:t>
            </a:r>
            <a:r>
              <a:rPr b="1" dirty="0" smtClean="0"/>
              <a:t>VPN </a:t>
            </a:r>
            <a:r>
              <a:rPr b="1" dirty="0"/>
              <a:t>(Virtual Private Network)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smtClean="0"/>
              <a:t>Secure </a:t>
            </a:r>
            <a:r>
              <a:rPr dirty="0"/>
              <a:t>connection over internet that protects data privacy.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Students </a:t>
            </a:r>
            <a:r>
              <a:rPr dirty="0"/>
              <a:t>accessing university network remotely.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Protects privacy</a:t>
            </a:r>
          </a:p>
          <a:p>
            <a:r>
              <a:rPr dirty="0"/>
              <a:t>Secure remote access</a:t>
            </a:r>
          </a:p>
          <a:p>
            <a:endParaRPr b="1" dirty="0"/>
          </a:p>
          <a:p>
            <a:r>
              <a:rPr b="1" dirty="0"/>
              <a:t>Disadvantages:</a:t>
            </a:r>
          </a:p>
          <a:p>
            <a:r>
              <a:rPr dirty="0"/>
              <a:t>May reduce speed</a:t>
            </a:r>
          </a:p>
          <a:p>
            <a:r>
              <a:rPr dirty="0"/>
              <a:t>Requires setup</a:t>
            </a:r>
          </a:p>
        </p:txBody>
      </p:sp>
    </p:spTree>
    <p:extLst>
      <p:ext uri="{BB962C8B-B14F-4D97-AF65-F5344CB8AC3E}">
        <p14:creationId xmlns:p14="http://schemas.microsoft.com/office/powerpoint/2010/main" val="1047699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Technology- </a:t>
            </a:r>
            <a:r>
              <a:rPr b="1" dirty="0" err="1" smtClean="0"/>
              <a:t>WiFi</a:t>
            </a:r>
            <a:r>
              <a:rPr b="1" dirty="0" smtClean="0"/>
              <a:t> </a:t>
            </a:r>
            <a:r>
              <a:rPr b="1" dirty="0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Measures </a:t>
            </a:r>
            <a:r>
              <a:rPr dirty="0"/>
              <a:t>to protect wireless networks from unauthorized access.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Using </a:t>
            </a:r>
            <a:r>
              <a:rPr dirty="0"/>
              <a:t>WPA2 password at home.</a:t>
            </a:r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Prevents unauthorized access</a:t>
            </a:r>
          </a:p>
          <a:p>
            <a:r>
              <a:rPr dirty="0"/>
              <a:t>Protects data</a:t>
            </a:r>
          </a:p>
          <a:p>
            <a:endParaRPr dirty="0"/>
          </a:p>
          <a:p>
            <a:r>
              <a:rPr b="1" dirty="0"/>
              <a:t>Disadvantages:</a:t>
            </a:r>
          </a:p>
          <a:p>
            <a:r>
              <a:rPr dirty="0"/>
              <a:t>Weak passwords can be hacked</a:t>
            </a:r>
          </a:p>
        </p:txBody>
      </p:sp>
    </p:spTree>
    <p:extLst>
      <p:ext uri="{BB962C8B-B14F-4D97-AF65-F5344CB8AC3E}">
        <p14:creationId xmlns:p14="http://schemas.microsoft.com/office/powerpoint/2010/main" val="1982367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287" y="220006"/>
            <a:ext cx="10515600" cy="841375"/>
          </a:xfrm>
        </p:spPr>
        <p:txBody>
          <a:bodyPr/>
          <a:lstStyle/>
          <a:p>
            <a:r>
              <a:rPr lang="en-US" dirty="0" smtClean="0"/>
              <a:t>Security Technology- </a:t>
            </a:r>
            <a:r>
              <a:rPr b="1" dirty="0" smtClean="0"/>
              <a:t>Computer </a:t>
            </a:r>
            <a:r>
              <a:rPr b="1" dirty="0"/>
              <a:t>Viruses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 rot="10800000" flipV="1">
            <a:off x="399244" y="1099854"/>
            <a:ext cx="11384924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software that spreads and damages systems.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virus spreads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malicious code copies itself from one system to another without the user’s knowledge.</a:t>
            </a: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Spread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attachments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USB drives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Downloading infected software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downloads (cracked software, games)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sharing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Real-Life Class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one student inserts an infected USB in a lab computer. The virus copies itself to that computer. When another student inserts their USB, it also becomes infected. Now the virus spreads to multiple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(for attacker)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Spreads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Infects many computers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Steals data silently</a:t>
            </a:r>
            <a:endParaRPr kumimoji="0" 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(for victim)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Slow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breach</a:t>
            </a:r>
          </a:p>
        </p:txBody>
      </p:sp>
    </p:spTree>
    <p:extLst>
      <p:ext uri="{BB962C8B-B14F-4D97-AF65-F5344CB8AC3E}">
        <p14:creationId xmlns:p14="http://schemas.microsoft.com/office/powerpoint/2010/main" val="143272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virus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065" y="1371600"/>
            <a:ext cx="10985679" cy="513223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W32/</a:t>
            </a:r>
            <a:r>
              <a:rPr lang="en-US" b="1" dirty="0" err="1" smtClean="0">
                <a:solidFill>
                  <a:srgbClr val="FF0000"/>
                </a:solidFill>
              </a:rPr>
              <a:t>Netsky</a:t>
            </a:r>
            <a:r>
              <a:rPr lang="en-US" b="1" dirty="0" smtClean="0">
                <a:solidFill>
                  <a:srgbClr val="FF0000"/>
                </a:solidFill>
              </a:rPr>
              <a:t>-p </a:t>
            </a:r>
            <a:r>
              <a:rPr lang="en-US" dirty="0" smtClean="0"/>
              <a:t>is an email worm that spreads through infected email attachments.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/>
          </a:p>
          <a:p>
            <a:r>
              <a:rPr lang="en-US" b="1" dirty="0" smtClean="0"/>
              <a:t>How it spreads</a:t>
            </a:r>
          </a:p>
          <a:p>
            <a:r>
              <a:rPr lang="en-US" dirty="0" smtClean="0"/>
              <a:t>Sends itself to email contacts</a:t>
            </a:r>
          </a:p>
          <a:p>
            <a:r>
              <a:rPr lang="en-US" dirty="0" smtClean="0"/>
              <a:t>User opens attachment → system infected</a:t>
            </a:r>
          </a:p>
          <a:p>
            <a:endParaRPr lang="en-US" b="1" dirty="0" smtClean="0"/>
          </a:p>
          <a:p>
            <a:r>
              <a:rPr lang="en-US" b="1" dirty="0" smtClean="0"/>
              <a:t>Real-Life Example</a:t>
            </a:r>
          </a:p>
          <a:p>
            <a:r>
              <a:rPr lang="en-US" dirty="0" smtClean="0"/>
              <a:t>A student receives email: "Important Result.pdf.exe“ Student opens it → virus spreads to all contacts.</a:t>
            </a:r>
          </a:p>
          <a:p>
            <a:endParaRPr lang="en-US" b="1" dirty="0" smtClean="0"/>
          </a:p>
          <a:p>
            <a:r>
              <a:rPr lang="en-US" b="1" dirty="0" smtClean="0"/>
              <a:t>Damage</a:t>
            </a:r>
          </a:p>
          <a:p>
            <a:r>
              <a:rPr lang="en-US" dirty="0" smtClean="0"/>
              <a:t>Slows computer</a:t>
            </a:r>
          </a:p>
          <a:p>
            <a:r>
              <a:rPr lang="en-US" dirty="0" smtClean="0"/>
              <a:t>Sends spam emails</a:t>
            </a:r>
          </a:p>
          <a:p>
            <a:r>
              <a:rPr lang="en-US" b="1" dirty="0" smtClean="0"/>
              <a:t>Prevention</a:t>
            </a:r>
          </a:p>
          <a:p>
            <a:r>
              <a:rPr lang="en-US" dirty="0" smtClean="0"/>
              <a:t>Do not open unknown attachments</a:t>
            </a:r>
          </a:p>
        </p:txBody>
      </p:sp>
    </p:spTree>
    <p:extLst>
      <p:ext uri="{BB962C8B-B14F-4D97-AF65-F5344CB8AC3E}">
        <p14:creationId xmlns:p14="http://schemas.microsoft.com/office/powerpoint/2010/main" val="4175357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virus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Troj</a:t>
            </a:r>
            <a:r>
              <a:rPr lang="en-US" b="1" dirty="0" smtClean="0">
                <a:solidFill>
                  <a:srgbClr val="FF0000"/>
                </a:solidFill>
              </a:rPr>
              <a:t>/</a:t>
            </a:r>
            <a:r>
              <a:rPr lang="en-US" b="1" dirty="0" err="1" smtClean="0">
                <a:solidFill>
                  <a:srgbClr val="FF0000"/>
                </a:solidFill>
              </a:rPr>
              <a:t>Invo</a:t>
            </a:r>
            <a:r>
              <a:rPr lang="en-US" b="1" dirty="0" smtClean="0">
                <a:solidFill>
                  <a:srgbClr val="FF0000"/>
                </a:solidFill>
              </a:rPr>
              <a:t>-zip </a:t>
            </a:r>
            <a:r>
              <a:rPr lang="en-US" dirty="0" smtClean="0"/>
              <a:t>is a Trojan virus disguised as a ZIP invoice file.</a:t>
            </a:r>
          </a:p>
          <a:p>
            <a:endParaRPr lang="en-US" b="1" dirty="0" smtClean="0"/>
          </a:p>
          <a:p>
            <a:r>
              <a:rPr lang="en-US" b="1" dirty="0" smtClean="0"/>
              <a:t>How it spreads</a:t>
            </a:r>
          </a:p>
          <a:p>
            <a:r>
              <a:rPr lang="en-US" dirty="0" smtClean="0"/>
              <a:t>Fake invoice email attachment</a:t>
            </a:r>
          </a:p>
          <a:p>
            <a:r>
              <a:rPr lang="en-US" dirty="0" smtClean="0"/>
              <a:t>User downloads and opens ZIP file</a:t>
            </a:r>
          </a:p>
          <a:p>
            <a:endParaRPr lang="en-US" b="1" dirty="0" smtClean="0"/>
          </a:p>
          <a:p>
            <a:r>
              <a:rPr lang="en-US" b="1" dirty="0" smtClean="0"/>
              <a:t>Real-Life Example</a:t>
            </a:r>
          </a:p>
          <a:p>
            <a:r>
              <a:rPr lang="en-US" dirty="0" smtClean="0"/>
              <a:t>Email: "Invoice Payment.zip“ User opens → malware installed</a:t>
            </a:r>
          </a:p>
          <a:p>
            <a:endParaRPr lang="en-US" b="1" dirty="0" smtClean="0"/>
          </a:p>
          <a:p>
            <a:r>
              <a:rPr lang="en-US" b="1" dirty="0" smtClean="0"/>
              <a:t>Damage</a:t>
            </a:r>
          </a:p>
          <a:p>
            <a:r>
              <a:rPr lang="en-US" dirty="0" smtClean="0"/>
              <a:t>Steals passwords</a:t>
            </a:r>
          </a:p>
          <a:p>
            <a:r>
              <a:rPr lang="en-US" dirty="0" smtClean="0"/>
              <a:t>Gives attacker system access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301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virus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6500"/>
            <a:ext cx="10515600" cy="545187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MacDefender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fake antivirus software targeting Mac computers.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How it spreads</a:t>
            </a:r>
          </a:p>
          <a:p>
            <a:r>
              <a:rPr lang="en-US" dirty="0" smtClean="0"/>
              <a:t>Fake popup: "Your Mac is infected!"</a:t>
            </a:r>
          </a:p>
          <a:p>
            <a:r>
              <a:rPr lang="en-US" dirty="0" smtClean="0"/>
              <a:t>User installs fake antivirus.</a:t>
            </a:r>
          </a:p>
          <a:p>
            <a:endParaRPr lang="en-US" b="1" dirty="0" smtClean="0"/>
          </a:p>
          <a:p>
            <a:r>
              <a:rPr lang="en-US" b="1" dirty="0" smtClean="0"/>
              <a:t>Real-Life Example</a:t>
            </a:r>
          </a:p>
          <a:p>
            <a:r>
              <a:rPr lang="en-US" dirty="0" smtClean="0"/>
              <a:t>Mac user downloads fake protection software → system infected.</a:t>
            </a:r>
            <a:endParaRPr lang="en-US" b="1" dirty="0" smtClean="0"/>
          </a:p>
          <a:p>
            <a:r>
              <a:rPr lang="en-US" b="1" dirty="0" smtClean="0"/>
              <a:t>Damage</a:t>
            </a:r>
          </a:p>
          <a:p>
            <a:r>
              <a:rPr lang="en-US" dirty="0" smtClean="0"/>
              <a:t>Steals credit card info</a:t>
            </a:r>
          </a:p>
          <a:p>
            <a:r>
              <a:rPr lang="en-US" dirty="0" smtClean="0"/>
              <a:t>Shows fake warnings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err="1" smtClean="0">
                <a:solidFill>
                  <a:srgbClr val="FF0000"/>
                </a:solidFill>
              </a:rPr>
              <a:t>Sobig</a:t>
            </a:r>
            <a:r>
              <a:rPr lang="en-US" b="1" dirty="0" smtClean="0">
                <a:solidFill>
                  <a:srgbClr val="FF0000"/>
                </a:solidFill>
              </a:rPr>
              <a:t> virus </a:t>
            </a:r>
            <a:r>
              <a:rPr lang="en-US" dirty="0" smtClean="0"/>
              <a:t>spreads via email and network.</a:t>
            </a:r>
          </a:p>
          <a:p>
            <a:r>
              <a:rPr lang="en-US" b="1" dirty="0" smtClean="0"/>
              <a:t>Spread Method</a:t>
            </a:r>
          </a:p>
          <a:p>
            <a:r>
              <a:rPr lang="en-US" dirty="0" smtClean="0"/>
              <a:t>Email attachments</a:t>
            </a:r>
          </a:p>
          <a:p>
            <a:r>
              <a:rPr lang="en-US" dirty="0" smtClean="0"/>
              <a:t>Network sharing</a:t>
            </a:r>
          </a:p>
        </p:txBody>
      </p:sp>
    </p:spTree>
    <p:extLst>
      <p:ext uri="{BB962C8B-B14F-4D97-AF65-F5344CB8AC3E}">
        <p14:creationId xmlns:p14="http://schemas.microsoft.com/office/powerpoint/2010/main" val="4201112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virus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160" y="1206500"/>
            <a:ext cx="10985679" cy="5132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err="1" smtClean="0">
                <a:solidFill>
                  <a:srgbClr val="FF0000"/>
                </a:solidFill>
              </a:rPr>
              <a:t>Mimail</a:t>
            </a:r>
            <a:r>
              <a:rPr lang="en-US" b="1" dirty="0" smtClean="0">
                <a:solidFill>
                  <a:srgbClr val="FF0000"/>
                </a:solidFill>
              </a:rPr>
              <a:t> virus </a:t>
            </a:r>
            <a:r>
              <a:rPr lang="en-US" dirty="0" smtClean="0"/>
              <a:t>spreads via email and steals financial information.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Spread Method</a:t>
            </a:r>
          </a:p>
          <a:p>
            <a:r>
              <a:rPr lang="en-US" dirty="0" smtClean="0"/>
              <a:t>Fake bank emails</a:t>
            </a:r>
          </a:p>
          <a:p>
            <a:r>
              <a:rPr lang="en-US" dirty="0" smtClean="0"/>
              <a:t>Phishing messages</a:t>
            </a:r>
          </a:p>
          <a:p>
            <a:endParaRPr lang="en-US" dirty="0" smtClean="0"/>
          </a:p>
          <a:p>
            <a:r>
              <a:rPr lang="en-US" b="1" dirty="0" smtClean="0"/>
              <a:t>Real-Life Example</a:t>
            </a:r>
          </a:p>
          <a:p>
            <a:r>
              <a:rPr lang="en-US" dirty="0" smtClean="0"/>
              <a:t>Fake email:</a:t>
            </a:r>
            <a:br>
              <a:rPr lang="en-US" dirty="0" smtClean="0"/>
            </a:br>
            <a:r>
              <a:rPr lang="en-US" dirty="0" smtClean="0"/>
              <a:t>"Your bank account suspended“ User clicks → malware installed.</a:t>
            </a:r>
          </a:p>
          <a:p>
            <a:endParaRPr lang="en-US" b="1" dirty="0" smtClean="0"/>
          </a:p>
          <a:p>
            <a:r>
              <a:rPr lang="en-US" b="1" dirty="0" smtClean="0"/>
              <a:t>Damage</a:t>
            </a:r>
          </a:p>
          <a:p>
            <a:r>
              <a:rPr lang="en-US" dirty="0" smtClean="0"/>
              <a:t>Steals banking info</a:t>
            </a:r>
          </a:p>
        </p:txBody>
      </p:sp>
    </p:spTree>
    <p:extLst>
      <p:ext uri="{BB962C8B-B14F-4D97-AF65-F5344CB8AC3E}">
        <p14:creationId xmlns:p14="http://schemas.microsoft.com/office/powerpoint/2010/main" val="148919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Recent virus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6102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Bagle</a:t>
            </a:r>
            <a:r>
              <a:rPr lang="en-US" b="1" dirty="0" smtClean="0">
                <a:solidFill>
                  <a:srgbClr val="FF0000"/>
                </a:solidFill>
              </a:rPr>
              <a:t> virus </a:t>
            </a:r>
            <a:r>
              <a:rPr lang="en-US" dirty="0" smtClean="0"/>
              <a:t>spreads through email attachments.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/>
              <a:t>Spread Method</a:t>
            </a:r>
          </a:p>
          <a:p>
            <a:r>
              <a:rPr lang="en-US" sz="1900" dirty="0" smtClean="0"/>
              <a:t>Email attachments</a:t>
            </a:r>
          </a:p>
          <a:p>
            <a:r>
              <a:rPr lang="en-US" sz="1900" dirty="0" smtClean="0"/>
              <a:t>Peer-to-peer sharing</a:t>
            </a:r>
          </a:p>
          <a:p>
            <a:r>
              <a:rPr lang="en-US" b="1" dirty="0" smtClean="0"/>
              <a:t>Damage</a:t>
            </a:r>
          </a:p>
          <a:p>
            <a:r>
              <a:rPr lang="en-US" sz="1900" dirty="0" smtClean="0"/>
              <a:t>Opens backdoor</a:t>
            </a:r>
          </a:p>
          <a:p>
            <a:r>
              <a:rPr lang="en-US" sz="1900" dirty="0" smtClean="0"/>
              <a:t>Allows hacker control</a:t>
            </a: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err="1" smtClean="0">
                <a:solidFill>
                  <a:srgbClr val="FF0000"/>
                </a:solidFill>
              </a:rPr>
              <a:t>Nonvirus</a:t>
            </a:r>
            <a:r>
              <a:rPr lang="en-US" b="1" dirty="0" smtClean="0">
                <a:solidFill>
                  <a:srgbClr val="FF0000"/>
                </a:solidFill>
              </a:rPr>
              <a:t> virus </a:t>
            </a:r>
            <a:r>
              <a:rPr lang="en-US" dirty="0" smtClean="0"/>
              <a:t>is malware that does not self-replicate but still damages system.</a:t>
            </a:r>
            <a:endParaRPr lang="en-US" dirty="0"/>
          </a:p>
          <a:p>
            <a:r>
              <a:rPr lang="en-US" b="1" dirty="0" smtClean="0"/>
              <a:t>Real-Life Example</a:t>
            </a:r>
          </a:p>
          <a:p>
            <a:r>
              <a:rPr lang="en-US" sz="2200" dirty="0" smtClean="0"/>
              <a:t>Fake game contains malware. User installs → attacker gets access.</a:t>
            </a:r>
          </a:p>
          <a:p>
            <a:r>
              <a:rPr lang="en-US" b="1" dirty="0" smtClean="0"/>
              <a:t>Difference</a:t>
            </a:r>
          </a:p>
          <a:p>
            <a:r>
              <a:rPr lang="en-US" sz="2200" dirty="0" smtClean="0"/>
              <a:t>Virus → spreads automatically</a:t>
            </a:r>
            <a:br>
              <a:rPr lang="en-US" sz="2200" dirty="0" smtClean="0"/>
            </a:br>
            <a:r>
              <a:rPr lang="en-US" sz="2200" dirty="0" smtClean="0"/>
              <a:t>Trojan → spreads by user action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33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Rules for Avoiding Viruses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3526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Rule 1: Do not open unknown email attachments</a:t>
            </a:r>
          </a:p>
          <a:p>
            <a:r>
              <a:rPr lang="en-US" dirty="0" smtClean="0"/>
              <a:t>Example: Unknown sender attachment → Do not open</a:t>
            </a:r>
          </a:p>
          <a:p>
            <a:endParaRPr lang="en-US" dirty="0"/>
          </a:p>
          <a:p>
            <a:r>
              <a:rPr lang="en-US" b="1" dirty="0" smtClean="0"/>
              <a:t>Rule 2: Install Antivirus</a:t>
            </a:r>
          </a:p>
          <a:p>
            <a:r>
              <a:rPr lang="en-US" dirty="0" smtClean="0"/>
              <a:t>Example: Windows Defender protection</a:t>
            </a:r>
          </a:p>
          <a:p>
            <a:endParaRPr lang="en-US" dirty="0" smtClean="0"/>
          </a:p>
          <a:p>
            <a:r>
              <a:rPr lang="en-US" b="1" dirty="0" smtClean="0"/>
              <a:t>Rule 3: Do not use unknown USB</a:t>
            </a:r>
          </a:p>
          <a:p>
            <a:r>
              <a:rPr lang="en-US" dirty="0" smtClean="0"/>
              <a:t>Example: Found USB → do not insert</a:t>
            </a:r>
          </a:p>
          <a:p>
            <a:endParaRPr lang="en-US" dirty="0" smtClean="0"/>
          </a:p>
          <a:p>
            <a:r>
              <a:rPr lang="en-US" b="1" dirty="0" smtClean="0"/>
              <a:t>Rule 4: Download software from official websites</a:t>
            </a:r>
          </a:p>
          <a:p>
            <a:r>
              <a:rPr lang="en-US" sz="1900" dirty="0" smtClean="0"/>
              <a:t>Example:</a:t>
            </a:r>
            <a:br>
              <a:rPr lang="en-US" sz="1900" dirty="0" smtClean="0"/>
            </a:br>
            <a:r>
              <a:rPr lang="en-US" sz="1900" dirty="0" smtClean="0"/>
              <a:t>Correct: microsoft.com</a:t>
            </a:r>
            <a:br>
              <a:rPr lang="en-US" sz="1900" dirty="0" smtClean="0"/>
            </a:br>
            <a:r>
              <a:rPr lang="en-US" sz="1900" dirty="0" smtClean="0"/>
              <a:t>Wrong: cracksoftware123.com</a:t>
            </a:r>
          </a:p>
          <a:p>
            <a:r>
              <a:rPr lang="en-US" b="1" dirty="0" smtClean="0"/>
              <a:t>Rule 5: Keep system updated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2519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Trojan Horse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smtClean="0"/>
              <a:t>Malware </a:t>
            </a:r>
            <a:r>
              <a:rPr dirty="0"/>
              <a:t>disguised as legitimate software.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Fake </a:t>
            </a:r>
            <a:r>
              <a:rPr dirty="0"/>
              <a:t>software installing malware</a:t>
            </a:r>
            <a:r>
              <a:rPr dirty="0" smtClean="0"/>
              <a:t>.</a:t>
            </a:r>
            <a:r>
              <a:rPr lang="en-US" b="1" dirty="0" smtClean="0"/>
              <a:t> (Class Scenario) </a:t>
            </a:r>
            <a:r>
              <a:rPr lang="en-US" dirty="0" smtClean="0"/>
              <a:t>A student downloads a “Free Exam Solution Software.exe” It looks useful → installs it → attacker gains remote access.</a:t>
            </a:r>
          </a:p>
          <a:p>
            <a:endParaRPr dirty="0"/>
          </a:p>
          <a:p>
            <a:endParaRPr dirty="0"/>
          </a:p>
          <a:p>
            <a:r>
              <a:rPr b="1" dirty="0"/>
              <a:t>Advantages:</a:t>
            </a:r>
          </a:p>
          <a:p>
            <a:r>
              <a:rPr dirty="0"/>
              <a:t>Useful for security research</a:t>
            </a:r>
          </a:p>
          <a:p>
            <a:endParaRPr dirty="0"/>
          </a:p>
          <a:p>
            <a:r>
              <a:rPr b="1" dirty="0"/>
              <a:t>Disadvantages:</a:t>
            </a:r>
          </a:p>
          <a:p>
            <a:r>
              <a:rPr dirty="0"/>
              <a:t>Steals data</a:t>
            </a:r>
          </a:p>
          <a:p>
            <a:r>
              <a:rPr dirty="0"/>
              <a:t>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66317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The Buffer Overflow Attack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</a:t>
            </a:r>
            <a:r>
              <a:rPr lang="en-US" b="1" dirty="0" smtClean="0"/>
              <a:t>Buffer Overflow</a:t>
            </a:r>
            <a:r>
              <a:rPr lang="en-US" dirty="0" smtClean="0"/>
              <a:t> occurs when a program writes more data into memory than it can hold, causing it to overwrite adjacent memory.</a:t>
            </a:r>
          </a:p>
          <a:p>
            <a:r>
              <a:rPr lang="en-US" dirty="0" smtClean="0"/>
              <a:t>This can allow attackers to execute malicious code.</a:t>
            </a:r>
          </a:p>
          <a:p>
            <a:endParaRPr lang="en-US" dirty="0"/>
          </a:p>
          <a:p>
            <a:r>
              <a:rPr lang="en-US" b="1" dirty="0" smtClean="0"/>
              <a:t>Example</a:t>
            </a:r>
          </a:p>
          <a:p>
            <a:r>
              <a:rPr lang="en-US" sz="2200" b="1" dirty="0" smtClean="0"/>
              <a:t>Imagine: </a:t>
            </a:r>
            <a:r>
              <a:rPr lang="en-US" sz="2200" dirty="0" smtClean="0"/>
              <a:t>A box can hold 10 books.</a:t>
            </a:r>
          </a:p>
          <a:p>
            <a:r>
              <a:rPr lang="en-US" sz="2200" dirty="0" smtClean="0"/>
              <a:t>If you force 20 books inside → books spill outside → damage nearby items.</a:t>
            </a:r>
          </a:p>
          <a:p>
            <a:r>
              <a:rPr lang="en-US" sz="2200" b="1" dirty="0" smtClean="0"/>
              <a:t>Similarly: </a:t>
            </a:r>
            <a:r>
              <a:rPr lang="en-US" sz="2200" dirty="0" smtClean="0"/>
              <a:t>If a program expects 20 characters but attacker sends 200 characters → memory corruption occurs.</a:t>
            </a:r>
          </a:p>
          <a:p>
            <a:r>
              <a:rPr lang="en-US" b="1" dirty="0" smtClean="0"/>
              <a:t>Why It Is Dangerous?</a:t>
            </a:r>
          </a:p>
          <a:p>
            <a:r>
              <a:rPr lang="en-US" dirty="0" smtClean="0"/>
              <a:t>Attacker can run their own code</a:t>
            </a:r>
          </a:p>
          <a:p>
            <a:r>
              <a:rPr lang="en-US" dirty="0" smtClean="0"/>
              <a:t>Can crash system</a:t>
            </a:r>
          </a:p>
          <a:p>
            <a:r>
              <a:rPr lang="en-US" dirty="0" smtClean="0"/>
              <a:t>Can gain system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28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Spyware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29965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Spyware is software that secretly monitors user activity and collects information without permission.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Tracking </a:t>
            </a:r>
            <a:r>
              <a:rPr dirty="0"/>
              <a:t>user browsing behavior.</a:t>
            </a:r>
          </a:p>
          <a:p>
            <a:endParaRPr dirty="0"/>
          </a:p>
          <a:p>
            <a:r>
              <a:rPr dirty="0"/>
              <a:t>Advantages:</a:t>
            </a:r>
          </a:p>
          <a:p>
            <a:r>
              <a:rPr dirty="0"/>
              <a:t>Used in parental control</a:t>
            </a:r>
          </a:p>
          <a:p>
            <a:endParaRPr dirty="0"/>
          </a:p>
          <a:p>
            <a:r>
              <a:rPr lang="en-US" dirty="0" smtClean="0"/>
              <a:t>Spyware is illegal if used secretly without consent. But some legal uses include:</a:t>
            </a:r>
          </a:p>
          <a:p>
            <a:r>
              <a:rPr lang="en-US" dirty="0" smtClean="0"/>
              <a:t>Parental control software</a:t>
            </a:r>
          </a:p>
          <a:p>
            <a:r>
              <a:rPr lang="en-US" dirty="0" smtClean="0"/>
              <a:t>Employee monitoring in organizations</a:t>
            </a:r>
          </a:p>
          <a:p>
            <a:r>
              <a:rPr lang="en-US" dirty="0" smtClean="0"/>
              <a:t>Law enforcement investigation tools</a:t>
            </a:r>
          </a:p>
          <a:p>
            <a:endParaRPr lang="en-US" dirty="0" smtClean="0"/>
          </a:p>
          <a:p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Parents installing monitoring software on child’s laptop.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854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How Is Spyware Delivered?</a:t>
            </a:r>
            <a:endParaRPr lang="en-US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397" y="1371600"/>
            <a:ext cx="10864403" cy="4823138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 smtClean="0"/>
              <a:t>Spyware spreads through:</a:t>
            </a:r>
          </a:p>
          <a:p>
            <a:r>
              <a:rPr lang="en-US" sz="2200" dirty="0" smtClean="0"/>
              <a:t>Free software downloads</a:t>
            </a:r>
          </a:p>
          <a:p>
            <a:r>
              <a:rPr lang="en-US" sz="2200" dirty="0" smtClean="0"/>
              <a:t>Fake updates</a:t>
            </a:r>
          </a:p>
          <a:p>
            <a:r>
              <a:rPr lang="en-US" sz="2200" dirty="0" smtClean="0"/>
              <a:t>Malicious websites</a:t>
            </a:r>
          </a:p>
          <a:p>
            <a:r>
              <a:rPr lang="en-US" sz="2200" dirty="0" smtClean="0"/>
              <a:t>Email attachments</a:t>
            </a:r>
          </a:p>
          <a:p>
            <a:r>
              <a:rPr lang="en-US" sz="2200" dirty="0" smtClean="0"/>
              <a:t>Pop-up ads</a:t>
            </a:r>
          </a:p>
          <a:p>
            <a:endParaRPr lang="en-US" sz="2200" dirty="0" smtClean="0"/>
          </a:p>
          <a:p>
            <a:r>
              <a:rPr lang="en-US" b="1" dirty="0" smtClean="0"/>
              <a:t>Obtaining Spyware Software</a:t>
            </a:r>
          </a:p>
          <a:p>
            <a:endParaRPr lang="en-US" b="1" dirty="0" smtClean="0"/>
          </a:p>
          <a:p>
            <a:r>
              <a:rPr lang="en-US" sz="2200" dirty="0" smtClean="0"/>
              <a:t>Attackers can get spyware from:</a:t>
            </a:r>
          </a:p>
          <a:p>
            <a:r>
              <a:rPr lang="en-US" sz="2200" dirty="0" smtClean="0"/>
              <a:t>Dark web markets</a:t>
            </a:r>
          </a:p>
          <a:p>
            <a:r>
              <a:rPr lang="en-US" sz="2200" dirty="0" smtClean="0"/>
              <a:t>Hacking forums</a:t>
            </a:r>
          </a:p>
          <a:p>
            <a:r>
              <a:rPr lang="en-US" sz="2200" dirty="0" smtClean="0"/>
              <a:t>Malware-as-a-Service platforms</a:t>
            </a:r>
          </a:p>
          <a:p>
            <a:r>
              <a:rPr lang="en-US" sz="2200" dirty="0" smtClean="0"/>
              <a:t>These tools are often sold like commercial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5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Forms of Malware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Ransomware</a:t>
            </a:r>
            <a:r>
              <a:rPr lang="en-US" b="1" dirty="0" smtClean="0"/>
              <a:t> : </a:t>
            </a:r>
            <a:r>
              <a:rPr lang="en-US" dirty="0" smtClean="0"/>
              <a:t>Encrypts files and demands payment.  </a:t>
            </a:r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Adware :</a:t>
            </a:r>
            <a:r>
              <a:rPr lang="en-US" dirty="0" smtClean="0"/>
              <a:t>Shows unwanted advertisements.</a:t>
            </a:r>
          </a:p>
          <a:p>
            <a:endParaRPr lang="en-US" dirty="0"/>
          </a:p>
          <a:p>
            <a:r>
              <a:rPr lang="en-US" b="1" dirty="0" smtClean="0"/>
              <a:t>Worms: </a:t>
            </a:r>
            <a:r>
              <a:rPr lang="en-US" dirty="0" smtClean="0"/>
              <a:t>Self-replicating malware that spreads over networks.</a:t>
            </a:r>
          </a:p>
          <a:p>
            <a:endParaRPr lang="en-US" dirty="0"/>
          </a:p>
          <a:p>
            <a:r>
              <a:rPr lang="en-US" b="1" dirty="0" smtClean="0"/>
              <a:t>Rootkits: </a:t>
            </a:r>
            <a:r>
              <a:rPr lang="en-US" dirty="0" smtClean="0"/>
              <a:t>Hide malicious activity from detection.</a:t>
            </a:r>
          </a:p>
          <a:p>
            <a:endParaRPr lang="en-US" dirty="0"/>
          </a:p>
          <a:p>
            <a:r>
              <a:rPr lang="en-US" b="1" dirty="0" err="1" smtClean="0"/>
              <a:t>Keyloggers</a:t>
            </a:r>
            <a:r>
              <a:rPr lang="en-US" b="1" dirty="0" smtClean="0"/>
              <a:t>: </a:t>
            </a:r>
            <a:r>
              <a:rPr lang="en-US" dirty="0" smtClean="0"/>
              <a:t>Record keystrokes to steal passwords.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277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Detecting and Eliminating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1371600"/>
            <a:ext cx="10998558" cy="5222383"/>
          </a:xfrm>
        </p:spPr>
        <p:txBody>
          <a:bodyPr>
            <a:normAutofit fontScale="70000" lnSpcReduction="20000"/>
          </a:bodyPr>
          <a:lstStyle/>
          <a:p>
            <a:r>
              <a:rPr dirty="0" smtClean="0"/>
              <a:t>Process </a:t>
            </a:r>
            <a:r>
              <a:rPr dirty="0"/>
              <a:t>of identifying and removing malicious software.</a:t>
            </a:r>
          </a:p>
          <a:p>
            <a:endParaRPr dirty="0"/>
          </a:p>
          <a:p>
            <a:r>
              <a:rPr dirty="0"/>
              <a:t>Real-Life </a:t>
            </a:r>
            <a:r>
              <a:rPr dirty="0" smtClean="0"/>
              <a:t>Example:</a:t>
            </a:r>
            <a:r>
              <a:rPr lang="en-US" dirty="0" smtClean="0"/>
              <a:t> </a:t>
            </a:r>
            <a:r>
              <a:rPr dirty="0" smtClean="0"/>
              <a:t>Using </a:t>
            </a:r>
            <a:r>
              <a:rPr dirty="0"/>
              <a:t>antivirus to clean infected system.</a:t>
            </a:r>
          </a:p>
          <a:p>
            <a:endParaRPr lang="en-US" dirty="0" smtClean="0"/>
          </a:p>
          <a:p>
            <a:r>
              <a:rPr lang="en-US" b="1" dirty="0" smtClean="0"/>
              <a:t>Detection Methods</a:t>
            </a:r>
          </a:p>
          <a:p>
            <a:r>
              <a:rPr lang="en-US" dirty="0" smtClean="0"/>
              <a:t>Antivirus software</a:t>
            </a:r>
          </a:p>
          <a:p>
            <a:r>
              <a:rPr lang="en-US" dirty="0" smtClean="0"/>
              <a:t>Anti-spyware tools</a:t>
            </a:r>
          </a:p>
          <a:p>
            <a:r>
              <a:rPr lang="en-US" dirty="0" smtClean="0"/>
              <a:t>Firewall monitoring</a:t>
            </a:r>
          </a:p>
          <a:p>
            <a:r>
              <a:rPr lang="en-US" dirty="0" smtClean="0"/>
              <a:t>IDS (Intrusion Detection System)</a:t>
            </a:r>
          </a:p>
          <a:p>
            <a:r>
              <a:rPr lang="en-US" dirty="0" smtClean="0"/>
              <a:t>Behavior analysis tools</a:t>
            </a:r>
          </a:p>
          <a:p>
            <a:endParaRPr dirty="0"/>
          </a:p>
          <a:p>
            <a:r>
              <a:rPr dirty="0"/>
              <a:t>Advantages:</a:t>
            </a:r>
          </a:p>
          <a:p>
            <a:r>
              <a:rPr dirty="0"/>
              <a:t>Improves security</a:t>
            </a:r>
          </a:p>
          <a:p>
            <a:endParaRPr dirty="0"/>
          </a:p>
          <a:p>
            <a:r>
              <a:rPr dirty="0"/>
              <a:t>Disadvantages:</a:t>
            </a:r>
          </a:p>
          <a:p>
            <a:r>
              <a:rPr dirty="0"/>
              <a:t>Requires tools and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2450" y="2305320"/>
            <a:ext cx="4507605" cy="22151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smtClean="0">
                <a:solidFill>
                  <a:schemeClr val="tx1"/>
                </a:solidFill>
              </a:rPr>
              <a:t>Elimination Methods</a:t>
            </a:r>
          </a:p>
          <a:p>
            <a:r>
              <a:rPr lang="en-US" smtClean="0">
                <a:solidFill>
                  <a:schemeClr val="tx1"/>
                </a:solidFill>
              </a:rPr>
              <a:t>Run full antivirus scan</a:t>
            </a:r>
          </a:p>
          <a:p>
            <a:r>
              <a:rPr lang="en-US" smtClean="0">
                <a:solidFill>
                  <a:schemeClr val="tx1"/>
                </a:solidFill>
              </a:rPr>
              <a:t>Update virus definitions</a:t>
            </a:r>
          </a:p>
          <a:p>
            <a:r>
              <a:rPr lang="en-US" smtClean="0">
                <a:solidFill>
                  <a:schemeClr val="tx1"/>
                </a:solidFill>
              </a:rPr>
              <a:t>Remove suspicious programs</a:t>
            </a:r>
          </a:p>
          <a:p>
            <a:r>
              <a:rPr lang="en-US" smtClean="0">
                <a:solidFill>
                  <a:schemeClr val="tx1"/>
                </a:solidFill>
              </a:rPr>
              <a:t>Restore system backup</a:t>
            </a:r>
          </a:p>
          <a:p>
            <a:r>
              <a:rPr lang="en-US" smtClean="0">
                <a:solidFill>
                  <a:schemeClr val="tx1"/>
                </a:solidFill>
              </a:rPr>
              <a:t>Format and reinstall OS (last option)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142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1168</Words>
  <Application>Microsoft Office PowerPoint</Application>
  <PresentationFormat>Widescreen</PresentationFormat>
  <Paragraphs>279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Office Theme</vt:lpstr>
      <vt:lpstr>   Information Security               BS-CS-VI          VVEEK-06-07 &amp; 08 Lectures </vt:lpstr>
      <vt:lpstr>Security Technology</vt:lpstr>
      <vt:lpstr>PowerPoint Presentation</vt:lpstr>
      <vt:lpstr>Security Technology-Virus Scanners</vt:lpstr>
      <vt:lpstr>Security Technology- Firewalls</vt:lpstr>
      <vt:lpstr>Security Technology- IDS (Intrusion Detection System)</vt:lpstr>
      <vt:lpstr>Security Technology- Digital Certificates</vt:lpstr>
      <vt:lpstr>Security Technology- VPN (Virtual Private Network)</vt:lpstr>
      <vt:lpstr>Security Technology- WiFi Security</vt:lpstr>
      <vt:lpstr>Security Technology- Computer Viruses</vt:lpstr>
      <vt:lpstr>Recent virus examples </vt:lpstr>
      <vt:lpstr>Recent virus examples </vt:lpstr>
      <vt:lpstr>Recent virus examples </vt:lpstr>
      <vt:lpstr>Recent virus examples </vt:lpstr>
      <vt:lpstr>Recent virus examples </vt:lpstr>
      <vt:lpstr>Rules for Avoiding Viruses</vt:lpstr>
      <vt:lpstr>Trojan Horse</vt:lpstr>
      <vt:lpstr>The Buffer Overflow Attack</vt:lpstr>
      <vt:lpstr>Spyware</vt:lpstr>
      <vt:lpstr>How Is Spyware Delivered?</vt:lpstr>
      <vt:lpstr>Other Forms of Malware</vt:lpstr>
      <vt:lpstr>Detecting and Eliminating Malware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Information Security               BS-CS-VI          VVEEK-07 &amp; 08 Lectures </dc:title>
  <dc:creator>PC</dc:creator>
  <cp:lastModifiedBy>PC</cp:lastModifiedBy>
  <cp:revision>20</cp:revision>
  <dcterms:created xsi:type="dcterms:W3CDTF">2026-02-26T01:17:06Z</dcterms:created>
  <dcterms:modified xsi:type="dcterms:W3CDTF">2026-02-26T03:14:33Z</dcterms:modified>
</cp:coreProperties>
</file>