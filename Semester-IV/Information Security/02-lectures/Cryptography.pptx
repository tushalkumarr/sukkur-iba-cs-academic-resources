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4" r:id="rId8"/>
    <p:sldId id="265" r:id="rId9"/>
    <p:sldId id="266" r:id="rId10"/>
    <p:sldId id="267" r:id="rId11"/>
    <p:sldId id="263" r:id="rId12"/>
    <p:sldId id="259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9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1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0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917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0500"/>
            <a:ext cx="10515600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B6E48-8290-48EB-AFEC-A3DAA713175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281" y="4903295"/>
            <a:ext cx="11114468" cy="84759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Cryptography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dirty="0">
                <a:solidFill>
                  <a:srgbClr val="FF0000"/>
                </a:solidFill>
              </a:rPr>
              <a:t>	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6" y="240606"/>
            <a:ext cx="11011433" cy="46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3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72" y="70455"/>
            <a:ext cx="10515600" cy="91757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635" y="988028"/>
            <a:ext cx="11263381" cy="5429558"/>
          </a:xfrm>
        </p:spPr>
        <p:txBody>
          <a:bodyPr/>
          <a:lstStyle/>
          <a:p>
            <a:r>
              <a:rPr lang="en-US" dirty="0"/>
              <a:t>Cryptography is the technique of </a:t>
            </a:r>
            <a:r>
              <a:rPr lang="en-US" b="1" dirty="0"/>
              <a:t>protecting information</a:t>
            </a:r>
            <a:r>
              <a:rPr lang="en-US" dirty="0"/>
              <a:t> by converting it into an unreadable form</a:t>
            </a:r>
            <a:r>
              <a:rPr lang="en-US" dirty="0" smtClean="0"/>
              <a:t>.</a:t>
            </a:r>
          </a:p>
          <a:p>
            <a:r>
              <a:rPr lang="en-US" sz="2300" b="1" dirty="0"/>
              <a:t>Cryptography</a:t>
            </a:r>
            <a:r>
              <a:rPr lang="en-US" sz="2300" dirty="0"/>
              <a:t> </a:t>
            </a:r>
            <a:r>
              <a:rPr lang="en-US" sz="2300" dirty="0">
                <a:solidFill>
                  <a:srgbClr val="FF0000"/>
                </a:solidFill>
              </a:rPr>
              <a:t>(“secret writing”): </a:t>
            </a:r>
            <a:r>
              <a:rPr lang="en-US" sz="2300" dirty="0"/>
              <a:t>Making secret messages </a:t>
            </a:r>
            <a:r>
              <a:rPr lang="en-US" sz="2300" dirty="0" smtClean="0"/>
              <a:t>- </a:t>
            </a:r>
            <a:r>
              <a:rPr lang="en-US" sz="2300" dirty="0"/>
              <a:t>Turning plaintext (an ordinary readable message) into </a:t>
            </a:r>
            <a:r>
              <a:rPr lang="en-US" sz="2300" dirty="0" err="1"/>
              <a:t>ciphertext</a:t>
            </a:r>
            <a:r>
              <a:rPr lang="en-US" sz="2300" dirty="0"/>
              <a:t> (</a:t>
            </a:r>
            <a:r>
              <a:rPr lang="en-US" sz="2300" dirty="0">
                <a:solidFill>
                  <a:srgbClr val="FF0000"/>
                </a:solidFill>
              </a:rPr>
              <a:t>secret messages that are “hard” to read</a:t>
            </a:r>
            <a:r>
              <a:rPr lang="en-US" sz="2300" dirty="0"/>
              <a:t>) </a:t>
            </a:r>
            <a:endParaRPr lang="en-US" sz="2300" dirty="0" smtClean="0"/>
          </a:p>
          <a:p>
            <a:r>
              <a:rPr lang="en-US" sz="2300" b="1" dirty="0" smtClean="0"/>
              <a:t>Cryptanalysis</a:t>
            </a:r>
            <a:r>
              <a:rPr lang="en-US" sz="2300" b="1" dirty="0"/>
              <a:t>: </a:t>
            </a:r>
            <a:r>
              <a:rPr lang="en-US" sz="2300" dirty="0"/>
              <a:t>Breaking secret messages </a:t>
            </a:r>
            <a:r>
              <a:rPr lang="en-US" sz="2300" dirty="0" smtClean="0"/>
              <a:t>- Recovering </a:t>
            </a:r>
            <a:r>
              <a:rPr lang="en-US" sz="2300" dirty="0"/>
              <a:t>the plaintext from the </a:t>
            </a:r>
            <a:r>
              <a:rPr lang="en-US" sz="2300" dirty="0" smtClean="0"/>
              <a:t>cipher text</a:t>
            </a:r>
          </a:p>
          <a:p>
            <a:r>
              <a:rPr lang="en-US" sz="2300" b="1" dirty="0" smtClean="0"/>
              <a:t>Cryptology </a:t>
            </a:r>
            <a:r>
              <a:rPr lang="en-US" sz="2300" dirty="0"/>
              <a:t>is the science which studies these both -</a:t>
            </a:r>
            <a:r>
              <a:rPr lang="en-US" sz="2300" dirty="0" smtClean="0"/>
              <a:t>The </a:t>
            </a:r>
            <a:r>
              <a:rPr lang="en-US" sz="2300" dirty="0"/>
              <a:t>point of cryptography is to send secure messages over an insecure medium (</a:t>
            </a:r>
            <a:r>
              <a:rPr lang="en-US" sz="2300" dirty="0">
                <a:solidFill>
                  <a:srgbClr val="FF0000"/>
                </a:solidFill>
              </a:rPr>
              <a:t>like the Internet</a:t>
            </a:r>
            <a:r>
              <a:rPr lang="en-US" sz="2300" dirty="0"/>
              <a:t>)</a:t>
            </a:r>
            <a:endParaRPr lang="en-US" sz="2300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46" y="4035571"/>
            <a:ext cx="6820169" cy="25455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715" y="4035571"/>
            <a:ext cx="4662154" cy="212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1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 Analogy: A Lockbox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0500"/>
            <a:ext cx="10855817" cy="47164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Imagine </a:t>
            </a:r>
            <a:r>
              <a:rPr lang="en-US" sz="2400" dirty="0"/>
              <a:t>you want to send a secret letter to a friend through a messenger.</a:t>
            </a:r>
          </a:p>
          <a:p>
            <a:r>
              <a:rPr lang="en-US" sz="2400" b="1" dirty="0"/>
              <a:t>The Key:</a:t>
            </a:r>
            <a:r>
              <a:rPr lang="en-US" sz="2400" dirty="0"/>
              <a:t> A specific number or password (e.g., "Shift by 3" or a digital code).</a:t>
            </a:r>
          </a:p>
          <a:p>
            <a:r>
              <a:rPr lang="en-US" sz="2400" b="1" dirty="0"/>
              <a:t>Encryption (Locking):</a:t>
            </a:r>
            <a:r>
              <a:rPr lang="en-US" sz="2400" dirty="0"/>
              <a:t> You put the letter in a box and use the </a:t>
            </a:r>
            <a:r>
              <a:rPr lang="en-US" sz="2400" b="1" dirty="0"/>
              <a:t>Key</a:t>
            </a:r>
            <a:r>
              <a:rPr lang="en-US" sz="2400" dirty="0"/>
              <a:t> to lock it.</a:t>
            </a:r>
          </a:p>
          <a:p>
            <a:r>
              <a:rPr lang="en-US" sz="2400" b="1" dirty="0"/>
              <a:t>Decryption (Unlocking):</a:t>
            </a:r>
            <a:r>
              <a:rPr lang="en-US" sz="2400" dirty="0"/>
              <a:t> Your friend uses the </a:t>
            </a:r>
            <a:r>
              <a:rPr lang="en-US" sz="2400" b="1" dirty="0"/>
              <a:t>same Key</a:t>
            </a:r>
            <a:r>
              <a:rPr lang="en-US" sz="2400" dirty="0"/>
              <a:t> (or a matching one) to unlock the box and read the letter.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698" y="3554569"/>
            <a:ext cx="6709894" cy="291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8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(The Locking Process)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process of converting readable data (</a:t>
            </a:r>
            <a:r>
              <a:rPr lang="en-US" b="1" dirty="0"/>
              <a:t>plaintext</a:t>
            </a:r>
            <a:r>
              <a:rPr lang="en-US" dirty="0"/>
              <a:t>) into unreadable, scrambled data (</a:t>
            </a:r>
            <a:r>
              <a:rPr lang="en-US" b="1" dirty="0" err="1"/>
              <a:t>ciphertext</a:t>
            </a:r>
            <a:r>
              <a:rPr lang="en-US" dirty="0"/>
              <a:t>).</a:t>
            </a:r>
          </a:p>
          <a:p>
            <a:r>
              <a:rPr lang="en-US" b="1" dirty="0"/>
              <a:t>Purpose:</a:t>
            </a:r>
            <a:r>
              <a:rPr lang="en-US" dirty="0"/>
              <a:t> To hide the original information.</a:t>
            </a:r>
          </a:p>
          <a:p>
            <a:r>
              <a:rPr lang="en-US" b="1" dirty="0"/>
              <a:t>What it does:</a:t>
            </a:r>
            <a:r>
              <a:rPr lang="en-US" dirty="0"/>
              <a:t> </a:t>
            </a:r>
            <a:r>
              <a:rPr lang="en-US" sz="2000" dirty="0"/>
              <a:t>Uses an algorithm (a mathematical formula) and a </a:t>
            </a:r>
            <a:r>
              <a:rPr lang="en-US" sz="2000" b="1" dirty="0"/>
              <a:t>Key</a:t>
            </a:r>
            <a:r>
              <a:rPr lang="en-US" sz="2000" dirty="0"/>
              <a:t> to scramble the data.</a:t>
            </a:r>
          </a:p>
          <a:p>
            <a:r>
              <a:rPr lang="en-US" b="1" dirty="0"/>
              <a:t>Example</a:t>
            </a:r>
            <a:r>
              <a:rPr lang="en-US" b="1" dirty="0" smtClean="0"/>
              <a:t>:</a:t>
            </a:r>
            <a:endParaRPr lang="en-US" b="1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04" y="3818731"/>
            <a:ext cx="8899169" cy="235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2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Decryption (The Unlocking Process)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reverse process—converting the scrambled </a:t>
            </a:r>
            <a:r>
              <a:rPr lang="en-US" b="1" dirty="0" err="1"/>
              <a:t>ciphertext</a:t>
            </a:r>
            <a:r>
              <a:rPr lang="en-US" dirty="0"/>
              <a:t> back into readable </a:t>
            </a:r>
            <a:r>
              <a:rPr lang="en-US" b="1" dirty="0"/>
              <a:t>plaintext</a:t>
            </a:r>
            <a:r>
              <a:rPr lang="en-US" dirty="0"/>
              <a:t>.</a:t>
            </a:r>
          </a:p>
          <a:p>
            <a:r>
              <a:rPr lang="en-US" b="1" dirty="0"/>
              <a:t>Purpose:</a:t>
            </a:r>
            <a:r>
              <a:rPr lang="en-US" dirty="0"/>
              <a:t> To recover the original information.</a:t>
            </a:r>
          </a:p>
          <a:p>
            <a:r>
              <a:rPr lang="en-US" b="1" dirty="0"/>
              <a:t>What it does:</a:t>
            </a:r>
            <a:r>
              <a:rPr lang="en-US" dirty="0"/>
              <a:t> </a:t>
            </a:r>
            <a:r>
              <a:rPr lang="en-US" sz="2000" dirty="0"/>
              <a:t>Uses the same algorithm (in reverse) and the </a:t>
            </a:r>
            <a:r>
              <a:rPr lang="en-US" sz="2000" b="1" dirty="0"/>
              <a:t>Key</a:t>
            </a:r>
            <a:r>
              <a:rPr lang="en-US" sz="2000" dirty="0"/>
              <a:t> to unscramble the data.</a:t>
            </a:r>
          </a:p>
          <a:p>
            <a:r>
              <a:rPr lang="en-US" b="1" dirty="0"/>
              <a:t>Example</a:t>
            </a:r>
            <a:r>
              <a:rPr lang="en-US" b="1" dirty="0" smtClean="0"/>
              <a:t>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514" y="4114945"/>
            <a:ext cx="7456733" cy="180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3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</a:t>
            </a:r>
            <a:r>
              <a:rPr lang="en-US" dirty="0" smtClean="0"/>
              <a:t>Encryption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Early Methods</a:t>
            </a:r>
          </a:p>
          <a:p>
            <a:r>
              <a:rPr lang="en-US" b="1" dirty="0"/>
              <a:t>1. Caesar Cipher (shift letters)</a:t>
            </a:r>
          </a:p>
          <a:p>
            <a:r>
              <a:rPr lang="en-US" sz="2400" b="1" dirty="0"/>
              <a:t>How it works: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Replace each letter in your message with a letter that is a fixed number of places </a:t>
            </a:r>
            <a:r>
              <a:rPr lang="en-US" sz="2400" i="1" dirty="0"/>
              <a:t>down</a:t>
            </a:r>
            <a:r>
              <a:rPr lang="en-US" sz="2400" dirty="0"/>
              <a:t> the alphabet.</a:t>
            </a:r>
          </a:p>
          <a:p>
            <a:r>
              <a:rPr lang="en-US" b="1" dirty="0"/>
              <a:t>Example (Shift = 3 to the right):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296" y="466725"/>
            <a:ext cx="4447504" cy="815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232" y="4139282"/>
            <a:ext cx="6709760" cy="24499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649" y="3656805"/>
            <a:ext cx="3306387" cy="4824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97322" y="59429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quote-cjk-patch"/>
              </a:rPr>
              <a:t>Problem: Easy to break — just try all 25 possible shifts (brute force).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62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Encryption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66058"/>
          </a:xfrm>
        </p:spPr>
        <p:txBody>
          <a:bodyPr/>
          <a:lstStyle/>
          <a:p>
            <a:r>
              <a:rPr lang="en-US" b="1" dirty="0"/>
              <a:t>Substitution Ciphers (more complex than Caesar)</a:t>
            </a:r>
          </a:p>
          <a:p>
            <a:r>
              <a:rPr lang="en-US" sz="2400" b="1" dirty="0"/>
              <a:t>How it works: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Randomly map each letter to another letter (not just a shift).</a:t>
            </a:r>
            <a:br>
              <a:rPr lang="en-US" sz="2400" dirty="0"/>
            </a:br>
            <a:r>
              <a:rPr lang="en-US" sz="2400" dirty="0"/>
              <a:t>Example: A→Q, B→T, C→Z, etc.</a:t>
            </a:r>
          </a:p>
          <a:p>
            <a:r>
              <a:rPr lang="en-US" sz="2400" b="1" dirty="0"/>
              <a:t>Example (random substitution):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92" y="3620976"/>
            <a:ext cx="5826684" cy="28055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34252" y="3162744"/>
            <a:ext cx="5553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quote-cjk-patch"/>
              </a:rPr>
              <a:t>Key:</a:t>
            </a:r>
            <a:r>
              <a:rPr lang="en-US" dirty="0">
                <a:solidFill>
                  <a:srgbClr val="FF0000"/>
                </a:solidFill>
                <a:latin typeface="quote-cjk-patch"/>
              </a:rPr>
              <a:t> The entire substitution table (A→Q, B→T, etc.).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0438" y="5692552"/>
            <a:ext cx="5987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quote-cjk-patch"/>
              </a:rPr>
              <a:t>Problem: Still breakable using </a:t>
            </a:r>
            <a:r>
              <a:rPr lang="en-US" b="1" dirty="0">
                <a:solidFill>
                  <a:srgbClr val="FF0000"/>
                </a:solidFill>
                <a:latin typeface="quote-cjk-patch"/>
              </a:rPr>
              <a:t>frequency analysis</a:t>
            </a:r>
            <a:r>
              <a:rPr lang="en-US" dirty="0">
                <a:solidFill>
                  <a:srgbClr val="FF0000"/>
                </a:solidFill>
                <a:latin typeface="quote-cjk-patch"/>
              </a:rPr>
              <a:t> (e.g., 'E' is most common letter in English).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18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</a:t>
            </a:r>
            <a:r>
              <a:rPr lang="en-US" dirty="0" smtClean="0"/>
              <a:t>Evolution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499"/>
            <a:ext cx="10515600" cy="4716463"/>
          </a:xfrm>
        </p:spPr>
        <p:txBody>
          <a:bodyPr/>
          <a:lstStyle/>
          <a:p>
            <a:r>
              <a:rPr lang="en-US" b="1" dirty="0" smtClean="0"/>
              <a:t>Mechanical </a:t>
            </a:r>
            <a:r>
              <a:rPr lang="en-US" b="1" dirty="0"/>
              <a:t>machines (Enigma)</a:t>
            </a:r>
          </a:p>
          <a:p>
            <a:r>
              <a:rPr lang="en-US" sz="2400" b="1" dirty="0"/>
              <a:t>What it was: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 machine with rotating rotors that changed the substitution pattern </a:t>
            </a:r>
            <a:r>
              <a:rPr lang="en-US" sz="2400" i="1" dirty="0"/>
              <a:t>every time you typed a letter</a:t>
            </a:r>
            <a:r>
              <a:rPr lang="en-US" sz="2400" dirty="0"/>
              <a:t>.</a:t>
            </a:r>
          </a:p>
          <a:p>
            <a:r>
              <a:rPr lang="en-US" b="1" dirty="0"/>
              <a:t>Example logic: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16" y="3818731"/>
            <a:ext cx="9730526" cy="26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7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Computer-based encryption</a:t>
            </a:r>
          </a:p>
          <a:p>
            <a:r>
              <a:rPr lang="en-US" sz="2400" b="1" dirty="0"/>
              <a:t>What changed: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Computers can do complex math instantly. Modern encryption uses </a:t>
            </a:r>
            <a:r>
              <a:rPr lang="en-US" sz="2400" b="1" dirty="0"/>
              <a:t>mathematical problems</a:t>
            </a:r>
            <a:r>
              <a:rPr lang="en-US" sz="2400" dirty="0"/>
              <a:t> that are easy to do but extremely hard to reverse without the key.</a:t>
            </a:r>
          </a:p>
          <a:p>
            <a:r>
              <a:rPr lang="en-US" b="1" dirty="0"/>
              <a:t>Examples</a:t>
            </a:r>
            <a:r>
              <a:rPr lang="en-US" b="1" dirty="0" smtClean="0"/>
              <a:t>:</a:t>
            </a:r>
            <a:r>
              <a:rPr lang="en-US" b="1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Advanced Encryption </a:t>
            </a:r>
            <a:r>
              <a:rPr lang="en-US" sz="1600" b="1" dirty="0" smtClean="0">
                <a:solidFill>
                  <a:srgbClr val="FF0000"/>
                </a:solidFill>
              </a:rPr>
              <a:t>Standard / </a:t>
            </a:r>
            <a:r>
              <a:rPr lang="en-US" sz="1600" b="1" dirty="0" err="1">
                <a:solidFill>
                  <a:srgbClr val="FF0000"/>
                </a:solidFill>
              </a:rPr>
              <a:t>Rivest</a:t>
            </a:r>
            <a:r>
              <a:rPr lang="en-US" sz="1600" b="1" dirty="0">
                <a:solidFill>
                  <a:srgbClr val="FF0000"/>
                </a:solidFill>
              </a:rPr>
              <a:t>–Shamir–</a:t>
            </a:r>
            <a:r>
              <a:rPr lang="en-US" sz="1600" b="1" dirty="0" err="1">
                <a:solidFill>
                  <a:srgbClr val="FF0000"/>
                </a:solidFill>
              </a:rPr>
              <a:t>Adleman</a:t>
            </a:r>
            <a:endParaRPr lang="en-US" sz="1600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60" y="3818731"/>
            <a:ext cx="9636483" cy="235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6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591" y="1521060"/>
            <a:ext cx="10484851" cy="444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1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532" y="241817"/>
            <a:ext cx="10515600" cy="917573"/>
          </a:xfrm>
        </p:spPr>
        <p:txBody>
          <a:bodyPr/>
          <a:lstStyle/>
          <a:p>
            <a:r>
              <a:rPr lang="en-US" dirty="0"/>
              <a:t>The Key (The Secret Ingredient)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531" y="1344590"/>
            <a:ext cx="11152031" cy="4716463"/>
          </a:xfrm>
        </p:spPr>
        <p:txBody>
          <a:bodyPr/>
          <a:lstStyle/>
          <a:p>
            <a:r>
              <a:rPr lang="en-US" sz="2700" dirty="0" smtClean="0"/>
              <a:t>A </a:t>
            </a:r>
            <a:r>
              <a:rPr lang="en-US" sz="2700" dirty="0"/>
              <a:t>piece of secret information (a string of letters, numbers, or bits) used by the algorithm to encrypt and decrypt.</a:t>
            </a:r>
          </a:p>
          <a:p>
            <a:r>
              <a:rPr lang="en-US" sz="2700" b="1" dirty="0"/>
              <a:t>Purpose:</a:t>
            </a:r>
            <a:r>
              <a:rPr lang="en-US" sz="2700" dirty="0"/>
              <a:t> The key determines the </a:t>
            </a:r>
            <a:r>
              <a:rPr lang="en-US" sz="2700" i="1" dirty="0"/>
              <a:t>specific</a:t>
            </a:r>
            <a:r>
              <a:rPr lang="en-US" sz="2700" dirty="0"/>
              <a:t> output of the encryption. The algorithm (e.g., AES, RSA) is public and well-known, but the </a:t>
            </a:r>
            <a:r>
              <a:rPr lang="en-US" sz="2700" b="1" dirty="0"/>
              <a:t>Key</a:t>
            </a:r>
            <a:r>
              <a:rPr lang="en-US" sz="2700" dirty="0"/>
              <a:t> is private.</a:t>
            </a:r>
          </a:p>
          <a:p>
            <a:r>
              <a:rPr lang="en-US" sz="2700" b="1" dirty="0"/>
              <a:t>Analogy:</a:t>
            </a:r>
            <a:r>
              <a:rPr lang="en-US" sz="2700" dirty="0"/>
              <a:t> The lock design (the algorithm) is the same for millions of people. But the unique shape of your key makes your lock unique.</a:t>
            </a:r>
          </a:p>
          <a:p>
            <a:r>
              <a:rPr lang="en-US" b="1" dirty="0"/>
              <a:t>Types of Keys: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749" y="4253898"/>
            <a:ext cx="8358389" cy="19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2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888" y="488640"/>
            <a:ext cx="9015211" cy="558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39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Asymmetric Encryption </a:t>
            </a:r>
            <a:r>
              <a:rPr lang="en-US" sz="3100" dirty="0"/>
              <a:t>(Public-Key Cryptography</a:t>
            </a:r>
            <a:r>
              <a:rPr lang="en-US" sz="3100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 </a:t>
            </a:r>
            <a:r>
              <a:rPr lang="en-US" b="1" dirty="0"/>
              <a:t>two different but mathematically linked keys</a:t>
            </a:r>
            <a:r>
              <a:rPr lang="en-US" dirty="0"/>
              <a:t>: a </a:t>
            </a:r>
            <a:r>
              <a:rPr lang="en-US" b="1" dirty="0"/>
              <a:t>public key</a:t>
            </a:r>
            <a:r>
              <a:rPr lang="en-US" dirty="0"/>
              <a:t> (for encryption) and a </a:t>
            </a:r>
            <a:r>
              <a:rPr lang="en-US" b="1" dirty="0"/>
              <a:t>private key</a:t>
            </a:r>
            <a:r>
              <a:rPr lang="en-US" dirty="0"/>
              <a:t> (for decryption). The public key can be shared openly; the private key must be kept secret.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Slower</a:t>
            </a:r>
            <a:r>
              <a:rPr lang="en-US" dirty="0"/>
              <a:t> than symmetric (100–1000× slower).</a:t>
            </a:r>
          </a:p>
          <a:p>
            <a:r>
              <a:rPr lang="en-US" dirty="0"/>
              <a:t>Solves the key distribution problem.</a:t>
            </a:r>
          </a:p>
          <a:p>
            <a:r>
              <a:rPr lang="en-US" dirty="0"/>
              <a:t>Enables </a:t>
            </a:r>
            <a:r>
              <a:rPr lang="en-US" b="1" dirty="0"/>
              <a:t>digital signatures</a:t>
            </a:r>
            <a:r>
              <a:rPr lang="en-US" dirty="0"/>
              <a:t> and </a:t>
            </a:r>
            <a:r>
              <a:rPr lang="en-US" b="1" dirty="0"/>
              <a:t>non-repudiation</a:t>
            </a:r>
            <a:r>
              <a:rPr lang="en-US" dirty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Examples</a:t>
            </a:r>
            <a:r>
              <a:rPr lang="en-US" b="1" dirty="0"/>
              <a:t>:</a:t>
            </a:r>
            <a:r>
              <a:rPr lang="en-US" dirty="0"/>
              <a:t> RSA, ECC, </a:t>
            </a:r>
            <a:r>
              <a:rPr lang="en-US" dirty="0" err="1"/>
              <a:t>ElGamal</a:t>
            </a:r>
            <a:r>
              <a:rPr lang="en-US" dirty="0"/>
              <a:t>, DSA.</a:t>
            </a:r>
          </a:p>
        </p:txBody>
      </p:sp>
    </p:spTree>
    <p:extLst>
      <p:ext uri="{BB962C8B-B14F-4D97-AF65-F5344CB8AC3E}">
        <p14:creationId xmlns:p14="http://schemas.microsoft.com/office/powerpoint/2010/main" val="13542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for Understanding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044" y="1395692"/>
            <a:ext cx="5697694" cy="45285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738" y="1395693"/>
            <a:ext cx="5872766" cy="468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13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39" y="743419"/>
            <a:ext cx="9738943" cy="497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3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Legitimate vs. Fraudulent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authorized, lawful use of encryption to protect data confidentiality, integrity, and privacy for legal purposes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malicious or criminal use of encryption to hide illegal activities, commit fraud, or deny access to rightful owners (e.g., ransomware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b="1" dirty="0"/>
              <a:t>Key idea:</a:t>
            </a:r>
            <a:r>
              <a:rPr lang="en-US" dirty="0"/>
              <a:t> Encryption itself is neutral — like a knife. It can be used to slice bread (legitimate) or to harm someone (fraudulent). The </a:t>
            </a:r>
            <a:r>
              <a:rPr lang="en-US" b="1" dirty="0"/>
              <a:t>intent and context</a:t>
            </a:r>
            <a:r>
              <a:rPr lang="en-US" dirty="0"/>
              <a:t> determine legitimacy.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00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081825" y="543595"/>
            <a:ext cx="9543245" cy="52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27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912" y="579549"/>
            <a:ext cx="9610189" cy="563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39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54" y="1008241"/>
            <a:ext cx="9382058" cy="471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61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 smtClean="0"/>
              <a:t>It is </a:t>
            </a:r>
            <a:r>
              <a:rPr lang="en-US" dirty="0"/>
              <a:t>a one-way mathematical function that takes any amount of data and produces a fixed-length "fingerprint" called a </a:t>
            </a:r>
            <a:r>
              <a:rPr lang="en-US" b="1" dirty="0"/>
              <a:t>hash value</a:t>
            </a:r>
            <a:r>
              <a:rPr lang="en-US" dirty="0"/>
              <a:t> or </a:t>
            </a:r>
            <a:r>
              <a:rPr lang="en-US" b="1" dirty="0"/>
              <a:t>digest</a:t>
            </a:r>
            <a:r>
              <a:rPr lang="en-US" dirty="0"/>
              <a:t>. You cannot reverse a hash to get the original data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37" y="2831339"/>
            <a:ext cx="8142399" cy="372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86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51" y="254826"/>
            <a:ext cx="6442590" cy="26754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7151" y="3508043"/>
            <a:ext cx="78335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Example:</a:t>
            </a:r>
          </a:p>
          <a:p>
            <a:r>
              <a:rPr lang="en-US" dirty="0" smtClean="0"/>
              <a:t>You </a:t>
            </a:r>
            <a:r>
              <a:rPr lang="en-US" dirty="0"/>
              <a:t>download: </a:t>
            </a:r>
            <a:r>
              <a:rPr lang="en-US" dirty="0" err="1"/>
              <a:t>Ubuntu.iso</a:t>
            </a:r>
            <a:endParaRPr lang="en-US" dirty="0"/>
          </a:p>
          <a:p>
            <a:r>
              <a:rPr lang="en-US" dirty="0"/>
              <a:t>Website shows: SHA-256: 3b3d6f...9c4a2e</a:t>
            </a:r>
          </a:p>
          <a:p>
            <a:endParaRPr lang="en-US" dirty="0"/>
          </a:p>
          <a:p>
            <a:r>
              <a:rPr lang="en-US" dirty="0"/>
              <a:t>You run hash on your downloaded file:</a:t>
            </a:r>
          </a:p>
          <a:p>
            <a:r>
              <a:rPr lang="en-US" dirty="0"/>
              <a:t>If match → File is exactly as intended (not tampered, no corruption)</a:t>
            </a:r>
          </a:p>
          <a:p>
            <a:r>
              <a:rPr lang="en-US" dirty="0"/>
              <a:t>If different → File is corrupted or </a:t>
            </a:r>
            <a:r>
              <a:rPr lang="en-US" dirty="0" smtClean="0"/>
              <a:t>infected</a:t>
            </a:r>
          </a:p>
          <a:p>
            <a:endParaRPr lang="en-US" dirty="0" smtClean="0"/>
          </a:p>
          <a:p>
            <a:r>
              <a:rPr lang="en-US" i="1" dirty="0">
                <a:solidFill>
                  <a:srgbClr val="FF0000"/>
                </a:solidFill>
              </a:rPr>
              <a:t>"Hashing tells you if something has changed. It doesn't hide the data — it fingerprints it."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40" y="1927309"/>
            <a:ext cx="5422005" cy="316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92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 (The Electronic Seal)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Digital Signature</a:t>
            </a:r>
            <a:r>
              <a:rPr lang="en-US" dirty="0"/>
              <a:t> is a cryptographic technique that uses asymmetric encryption (public/private keys) to prove that a message or document came from a specific sender and has not been altered. It provides </a:t>
            </a:r>
            <a:r>
              <a:rPr lang="en-US" b="1" dirty="0"/>
              <a:t>authenticity</a:t>
            </a:r>
            <a:r>
              <a:rPr lang="en-US" dirty="0"/>
              <a:t>, </a:t>
            </a:r>
            <a:r>
              <a:rPr lang="en-US" b="1" dirty="0"/>
              <a:t>integrity</a:t>
            </a:r>
            <a:r>
              <a:rPr lang="en-US" dirty="0"/>
              <a:t>, and </a:t>
            </a:r>
            <a:r>
              <a:rPr lang="en-US" b="1" dirty="0"/>
              <a:t>non-repudiation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50" y="3287713"/>
            <a:ext cx="8757030" cy="339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11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28" y="482555"/>
            <a:ext cx="8977044" cy="541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25" y="1358185"/>
            <a:ext cx="9467650" cy="361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3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(Proving Who You 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Authentication</a:t>
            </a:r>
            <a:r>
              <a:rPr lang="en-US" dirty="0"/>
              <a:t> is the process of verifying that someone or something is who they claim to be. It answers the question: </a:t>
            </a:r>
            <a:r>
              <a:rPr lang="en-US" i="1" dirty="0"/>
              <a:t>"Are you really you</a:t>
            </a:r>
            <a:r>
              <a:rPr lang="en-US" i="1" dirty="0" smtClean="0"/>
              <a:t>?”</a:t>
            </a:r>
            <a:endParaRPr lang="en-US" i="1" dirty="0"/>
          </a:p>
          <a:p>
            <a:endParaRPr lang="en-US" i="1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64061"/>
            <a:ext cx="10031569" cy="311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7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33" y="855238"/>
            <a:ext cx="10785218" cy="483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24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292" y="421381"/>
            <a:ext cx="7755496" cy="577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32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41" y="1429085"/>
            <a:ext cx="10225596" cy="350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81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Encryption Used in the Internet </a:t>
            </a:r>
            <a:r>
              <a:rPr lang="en-US" sz="4000" dirty="0"/>
              <a:t>(Everyday Life)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3010"/>
            <a:ext cx="10666295" cy="444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70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Private Network (VPN)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Virtual Private Network (VPN)</a:t>
            </a:r>
            <a:r>
              <a:rPr lang="en-US" dirty="0"/>
              <a:t> creates an encrypted "tunnel" between your device and a remote server, hiding your internet traffic from your ISP, hackers, and government surveillance. It makes it appear as if you are located where the VPN server is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222" y="3275526"/>
            <a:ext cx="8984087" cy="315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92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27" y="426478"/>
            <a:ext cx="8463634" cy="57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35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VPN Protocols - PPTP, L2TP, IPsec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PPTP (Point-to-Point Tunneling Protocol</a:t>
            </a:r>
            <a:r>
              <a:rPr lang="en-US" b="1" dirty="0" smtClean="0"/>
              <a:t>)</a:t>
            </a:r>
          </a:p>
          <a:p>
            <a:r>
              <a:rPr lang="en-US" sz="2000" b="1" dirty="0"/>
              <a:t>PPTP</a:t>
            </a:r>
            <a:r>
              <a:rPr lang="en-US" sz="2000" dirty="0"/>
              <a:t> is one of the oldest VPN protocols, created by Microsoft in 1995. It wraps PPP (Point-to-Point Protocol) packets in IP packets and sends them over the internet</a:t>
            </a:r>
            <a:r>
              <a:rPr lang="en-US" sz="2000" dirty="0" smtClean="0"/>
              <a:t>.</a:t>
            </a:r>
          </a:p>
          <a:p>
            <a:endParaRPr lang="en-US" b="1" dirty="0"/>
          </a:p>
          <a:p>
            <a:r>
              <a:rPr lang="en-US" b="1" dirty="0"/>
              <a:t>L2TP (Layer 2 Tunneling Protocol)</a:t>
            </a:r>
          </a:p>
          <a:p>
            <a:r>
              <a:rPr lang="en-US" sz="2000" b="1" dirty="0"/>
              <a:t>L2TP</a:t>
            </a:r>
            <a:r>
              <a:rPr lang="en-US" sz="2000" dirty="0"/>
              <a:t> is a tunneling protocol that creates a VPN connection but provides </a:t>
            </a:r>
            <a:r>
              <a:rPr lang="en-US" sz="2000" b="1" dirty="0"/>
              <a:t>no encryption by itself</a:t>
            </a:r>
            <a:r>
              <a:rPr lang="en-US" sz="2000" dirty="0"/>
              <a:t>. It is always paired with </a:t>
            </a:r>
            <a:r>
              <a:rPr lang="en-US" sz="2000" b="1" dirty="0"/>
              <a:t>IPsec</a:t>
            </a:r>
            <a:r>
              <a:rPr lang="en-US" sz="2000" dirty="0"/>
              <a:t> to add security. Together they are called </a:t>
            </a:r>
            <a:r>
              <a:rPr lang="en-US" sz="2000" b="1" dirty="0"/>
              <a:t>L2TP/IPsec</a:t>
            </a:r>
            <a:r>
              <a:rPr lang="en-US" sz="2000" dirty="0" smtClean="0"/>
              <a:t>.</a:t>
            </a:r>
          </a:p>
          <a:p>
            <a:endParaRPr lang="en-US" sz="2000" b="1" dirty="0" smtClean="0"/>
          </a:p>
          <a:p>
            <a:r>
              <a:rPr lang="en-US" b="1" dirty="0" smtClean="0"/>
              <a:t>IPsec (Internet Protocol Security) </a:t>
            </a:r>
          </a:p>
          <a:p>
            <a:r>
              <a:rPr lang="en-US" sz="2000" b="1" dirty="0" smtClean="0"/>
              <a:t>IPsec</a:t>
            </a:r>
            <a:r>
              <a:rPr lang="en-US" sz="2000" dirty="0"/>
              <a:t> is a suite of protocols that encrypts and authenticates IP packets at the </a:t>
            </a:r>
            <a:r>
              <a:rPr lang="en-US" sz="2000" b="1" dirty="0"/>
              <a:t>network layer</a:t>
            </a:r>
            <a:r>
              <a:rPr lang="en-US" sz="2000" dirty="0"/>
              <a:t> (Layer 3 of OSI model). It can operate in two modes: </a:t>
            </a:r>
            <a:r>
              <a:rPr lang="en-US" sz="2000" b="1" dirty="0"/>
              <a:t>Transport Mode</a:t>
            </a:r>
            <a:r>
              <a:rPr lang="en-US" sz="2000" dirty="0"/>
              <a:t> (encrypts only data) and </a:t>
            </a:r>
            <a:r>
              <a:rPr lang="en-US" sz="2000" b="1" dirty="0"/>
              <a:t>Tunnel Mode</a:t>
            </a:r>
            <a:r>
              <a:rPr lang="en-US" sz="2000" dirty="0"/>
              <a:t> (encrypts entire packet).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26829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68" y="430638"/>
            <a:ext cx="7982688" cy="608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4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1499</TotalTime>
  <Words>431</Words>
  <Application>Microsoft Office PowerPoint</Application>
  <PresentationFormat>Widescreen</PresentationFormat>
  <Paragraphs>90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quote-cjk-patch</vt:lpstr>
      <vt:lpstr>Times New Roman</vt:lpstr>
      <vt:lpstr>Office Theme</vt:lpstr>
      <vt:lpstr>Cryptography  </vt:lpstr>
      <vt:lpstr>Cryptography</vt:lpstr>
      <vt:lpstr>The Simple Analogy: A Lockbox</vt:lpstr>
      <vt:lpstr>Encryption (The Locking Process)</vt:lpstr>
      <vt:lpstr>Decryption (The Unlocking Process)</vt:lpstr>
      <vt:lpstr>History of Encryption  </vt:lpstr>
      <vt:lpstr>History of Encryption </vt:lpstr>
      <vt:lpstr>Modern Evolution</vt:lpstr>
      <vt:lpstr>Modern Evolution</vt:lpstr>
      <vt:lpstr>Summary</vt:lpstr>
      <vt:lpstr>The Key (The Secret Ingredient)</vt:lpstr>
      <vt:lpstr>PowerPoint Presentation</vt:lpstr>
      <vt:lpstr>Asymmetric Encryption (Public-Key Cryptography)</vt:lpstr>
      <vt:lpstr>Example for Understanding </vt:lpstr>
      <vt:lpstr>PowerPoint Presentation</vt:lpstr>
      <vt:lpstr>Legitimate vs. Fraudulent Encryption</vt:lpstr>
      <vt:lpstr>PowerPoint Presentation</vt:lpstr>
      <vt:lpstr>PowerPoint Presentation</vt:lpstr>
      <vt:lpstr>PowerPoint Presentation</vt:lpstr>
      <vt:lpstr>Hashing</vt:lpstr>
      <vt:lpstr>PowerPoint Presentation</vt:lpstr>
      <vt:lpstr>Digital Signature (The Electronic Seal)</vt:lpstr>
      <vt:lpstr>PowerPoint Presentation</vt:lpstr>
      <vt:lpstr>PowerPoint Presentation</vt:lpstr>
      <vt:lpstr>Authentication (Proving Who You Are)</vt:lpstr>
      <vt:lpstr>PowerPoint Presentation</vt:lpstr>
      <vt:lpstr>PowerPoint Presentation</vt:lpstr>
      <vt:lpstr>PowerPoint Presentation</vt:lpstr>
      <vt:lpstr>Encryption Used in the Internet (Everyday Life)</vt:lpstr>
      <vt:lpstr>Virtual Private Network (VPN)</vt:lpstr>
      <vt:lpstr>PowerPoint Presentation</vt:lpstr>
      <vt:lpstr>VPN Protocols - PPTP, L2TP, IPsec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Techniques used by   Hackers</dc:title>
  <dc:creator>PC</dc:creator>
  <cp:lastModifiedBy>PC</cp:lastModifiedBy>
  <cp:revision>59</cp:revision>
  <dcterms:created xsi:type="dcterms:W3CDTF">2026-04-02T03:53:34Z</dcterms:created>
  <dcterms:modified xsi:type="dcterms:W3CDTF">2026-04-19T07:00:18Z</dcterms:modified>
</cp:coreProperties>
</file>