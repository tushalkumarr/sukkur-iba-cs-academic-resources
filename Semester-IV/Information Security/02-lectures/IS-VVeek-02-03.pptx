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7"/>
  </p:notesMasterIdLst>
  <p:sldIdLst>
    <p:sldId id="340" r:id="rId2"/>
    <p:sldId id="341" r:id="rId3"/>
    <p:sldId id="291" r:id="rId4"/>
    <p:sldId id="288" r:id="rId5"/>
    <p:sldId id="289" r:id="rId6"/>
    <p:sldId id="287" r:id="rId7"/>
    <p:sldId id="290" r:id="rId8"/>
    <p:sldId id="293" r:id="rId9"/>
    <p:sldId id="294" r:id="rId10"/>
    <p:sldId id="296" r:id="rId11"/>
    <p:sldId id="297" r:id="rId12"/>
    <p:sldId id="299" r:id="rId13"/>
    <p:sldId id="300" r:id="rId14"/>
    <p:sldId id="301" r:id="rId15"/>
    <p:sldId id="302" r:id="rId16"/>
    <p:sldId id="303" r:id="rId17"/>
    <p:sldId id="304" r:id="rId18"/>
    <p:sldId id="305" r:id="rId19"/>
    <p:sldId id="306" r:id="rId20"/>
    <p:sldId id="307" r:id="rId21"/>
    <p:sldId id="308" r:id="rId22"/>
    <p:sldId id="342" r:id="rId23"/>
    <p:sldId id="343" r:id="rId24"/>
    <p:sldId id="344" r:id="rId25"/>
    <p:sldId id="309" r:id="rId26"/>
    <p:sldId id="310" r:id="rId27"/>
    <p:sldId id="312" r:id="rId28"/>
    <p:sldId id="313" r:id="rId29"/>
    <p:sldId id="314" r:id="rId30"/>
    <p:sldId id="315" r:id="rId31"/>
    <p:sldId id="316" r:id="rId32"/>
    <p:sldId id="317" r:id="rId33"/>
    <p:sldId id="318" r:id="rId34"/>
    <p:sldId id="319" r:id="rId35"/>
    <p:sldId id="320" r:id="rId36"/>
    <p:sldId id="321" r:id="rId37"/>
    <p:sldId id="322" r:id="rId38"/>
    <p:sldId id="323" r:id="rId39"/>
    <p:sldId id="324" r:id="rId40"/>
    <p:sldId id="325" r:id="rId41"/>
    <p:sldId id="326" r:id="rId42"/>
    <p:sldId id="327" r:id="rId43"/>
    <p:sldId id="328" r:id="rId44"/>
    <p:sldId id="329" r:id="rId45"/>
    <p:sldId id="330" r:id="rId46"/>
    <p:sldId id="331" r:id="rId47"/>
    <p:sldId id="332" r:id="rId48"/>
    <p:sldId id="333" r:id="rId49"/>
    <p:sldId id="336" r:id="rId50"/>
    <p:sldId id="345" r:id="rId51"/>
    <p:sldId id="346" r:id="rId52"/>
    <p:sldId id="347" r:id="rId53"/>
    <p:sldId id="348" r:id="rId54"/>
    <p:sldId id="337" r:id="rId55"/>
    <p:sldId id="338" r:id="rId5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714"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BDD663E-8845-4E0C-851F-F0907FF10710}" type="datetimeFigureOut">
              <a:rPr lang="en-US" smtClean="0"/>
              <a:t>1/21/2026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4181894-4B3C-4E79-AEBE-CACE4773A5B5}" type="slidenum">
              <a:rPr lang="en-US" smtClean="0"/>
              <a:t>‹#›</a:t>
            </a:fld>
            <a:endParaRPr lang="en-US"/>
          </a:p>
        </p:txBody>
      </p:sp>
    </p:spTree>
    <p:extLst>
      <p:ext uri="{BB962C8B-B14F-4D97-AF65-F5344CB8AC3E}">
        <p14:creationId xmlns:p14="http://schemas.microsoft.com/office/powerpoint/2010/main" val="1452838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4181894-4B3C-4E79-AEBE-CACE4773A5B5}" type="slidenum">
              <a:rPr lang="en-US" smtClean="0"/>
              <a:t>5</a:t>
            </a:fld>
            <a:endParaRPr lang="en-US"/>
          </a:p>
        </p:txBody>
      </p:sp>
    </p:spTree>
    <p:extLst>
      <p:ext uri="{BB962C8B-B14F-4D97-AF65-F5344CB8AC3E}">
        <p14:creationId xmlns:p14="http://schemas.microsoft.com/office/powerpoint/2010/main" val="40952369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17" name="bg object 17"/>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2" name="Holder 2"/>
          <p:cNvSpPr>
            <a:spLocks noGrp="1"/>
          </p:cNvSpPr>
          <p:nvPr>
            <p:ph type="ctrTitle"/>
          </p:nvPr>
        </p:nvSpPr>
        <p:spPr>
          <a:xfrm>
            <a:off x="383540" y="143967"/>
            <a:ext cx="4150995" cy="635000"/>
          </a:xfrm>
          <a:prstGeom prst="rect">
            <a:avLst/>
          </a:prstGeom>
        </p:spPr>
        <p:txBody>
          <a:bodyPr wrap="square" lIns="0" tIns="0" rIns="0" bIns="0">
            <a:spAutoFit/>
          </a:bodyPr>
          <a:lstStyle>
            <a:lvl1pPr>
              <a:defRPr sz="2900" b="0" i="0">
                <a:solidFill>
                  <a:srgbClr val="006633"/>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3000" b="0" i="0">
                <a:solidFill>
                  <a:srgbClr val="3366CC"/>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1/21/2026</a:t>
            </a:fld>
            <a:endParaRPr lang="en-US"/>
          </a:p>
        </p:txBody>
      </p:sp>
      <p:sp>
        <p:nvSpPr>
          <p:cNvPr id="6" name="Holder 6"/>
          <p:cNvSpPr>
            <a:spLocks noGrp="1"/>
          </p:cNvSpPr>
          <p:nvPr>
            <p:ph type="sldNum" sz="quarter" idx="7"/>
          </p:nvPr>
        </p:nvSpPr>
        <p:spPr/>
        <p:txBody>
          <a:bodyPr lIns="0" tIns="0" rIns="0" bIns="0"/>
          <a:lstStyle>
            <a:lvl1pPr>
              <a:defRPr sz="1150" b="0" i="0">
                <a:solidFill>
                  <a:schemeClr val="tx1"/>
                </a:solidFill>
                <a:latin typeface="Times New Roman"/>
                <a:cs typeface="Times New Roman"/>
              </a:defRPr>
            </a:lvl1pPr>
          </a:lstStyle>
          <a:p>
            <a:pPr marL="38100">
              <a:lnSpc>
                <a:spcPts val="135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08254" y="229361"/>
            <a:ext cx="10972800" cy="609600"/>
          </a:xfrm>
          <a:custGeom>
            <a:avLst/>
            <a:gdLst/>
            <a:ahLst/>
            <a:cxnLst/>
            <a:rect l="l" t="t" r="r" b="b"/>
            <a:pathLst>
              <a:path w="10972800" h="609600">
                <a:moveTo>
                  <a:pt x="0" y="609600"/>
                </a:moveTo>
                <a:lnTo>
                  <a:pt x="0" y="0"/>
                </a:lnTo>
                <a:lnTo>
                  <a:pt x="10972800" y="0"/>
                </a:lnTo>
              </a:path>
            </a:pathLst>
          </a:custGeom>
          <a:ln w="19812">
            <a:solidFill>
              <a:srgbClr val="3366CC"/>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900" b="0" i="0">
                <a:solidFill>
                  <a:srgbClr val="006633"/>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000" b="0" i="0">
                <a:solidFill>
                  <a:srgbClr val="3366CC"/>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1/21/2026</a:t>
            </a:fld>
            <a:endParaRPr lang="en-US"/>
          </a:p>
        </p:txBody>
      </p:sp>
      <p:sp>
        <p:nvSpPr>
          <p:cNvPr id="6" name="Holder 6"/>
          <p:cNvSpPr>
            <a:spLocks noGrp="1"/>
          </p:cNvSpPr>
          <p:nvPr>
            <p:ph type="sldNum" sz="quarter" idx="7"/>
          </p:nvPr>
        </p:nvSpPr>
        <p:spPr/>
        <p:txBody>
          <a:bodyPr lIns="0" tIns="0" rIns="0" bIns="0"/>
          <a:lstStyle>
            <a:lvl1pPr>
              <a:defRPr sz="1150" b="0" i="0">
                <a:solidFill>
                  <a:schemeClr val="tx1"/>
                </a:solidFill>
                <a:latin typeface="Times New Roman"/>
                <a:cs typeface="Times New Roman"/>
              </a:defRPr>
            </a:lvl1pPr>
          </a:lstStyle>
          <a:p>
            <a:pPr marL="38100">
              <a:lnSpc>
                <a:spcPts val="135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0" i="0">
                <a:solidFill>
                  <a:srgbClr val="006633"/>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1/21/2026</a:t>
            </a:fld>
            <a:endParaRPr lang="en-US"/>
          </a:p>
        </p:txBody>
      </p:sp>
      <p:sp>
        <p:nvSpPr>
          <p:cNvPr id="7" name="Holder 7"/>
          <p:cNvSpPr>
            <a:spLocks noGrp="1"/>
          </p:cNvSpPr>
          <p:nvPr>
            <p:ph type="sldNum" sz="quarter" idx="7"/>
          </p:nvPr>
        </p:nvSpPr>
        <p:spPr/>
        <p:txBody>
          <a:bodyPr lIns="0" tIns="0" rIns="0" bIns="0"/>
          <a:lstStyle>
            <a:lvl1pPr>
              <a:defRPr sz="1150" b="0" i="0">
                <a:solidFill>
                  <a:schemeClr val="tx1"/>
                </a:solidFill>
                <a:latin typeface="Times New Roman"/>
                <a:cs typeface="Times New Roman"/>
              </a:defRPr>
            </a:lvl1pPr>
          </a:lstStyle>
          <a:p>
            <a:pPr marL="38100">
              <a:lnSpc>
                <a:spcPts val="135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4800" y="5644894"/>
            <a:ext cx="11480800" cy="13970"/>
          </a:xfrm>
          <a:custGeom>
            <a:avLst/>
            <a:gdLst/>
            <a:ahLst/>
            <a:cxnLst/>
            <a:rect l="l" t="t" r="r" b="b"/>
            <a:pathLst>
              <a:path w="11480800" h="13970">
                <a:moveTo>
                  <a:pt x="11480292" y="0"/>
                </a:moveTo>
                <a:lnTo>
                  <a:pt x="0" y="0"/>
                </a:lnTo>
                <a:lnTo>
                  <a:pt x="0" y="13717"/>
                </a:lnTo>
                <a:lnTo>
                  <a:pt x="11480292" y="13717"/>
                </a:lnTo>
                <a:lnTo>
                  <a:pt x="11480292" y="0"/>
                </a:lnTo>
                <a:close/>
              </a:path>
            </a:pathLst>
          </a:custGeom>
          <a:solidFill>
            <a:srgbClr val="CC9900"/>
          </a:solidFill>
        </p:spPr>
        <p:txBody>
          <a:bodyPr wrap="square" lIns="0" tIns="0" rIns="0" bIns="0" rtlCol="0"/>
          <a:lstStyle/>
          <a:p>
            <a:endParaRPr/>
          </a:p>
        </p:txBody>
      </p:sp>
      <p:sp>
        <p:nvSpPr>
          <p:cNvPr id="17" name="bg object 17"/>
          <p:cNvSpPr/>
          <p:nvPr/>
        </p:nvSpPr>
        <p:spPr>
          <a:xfrm>
            <a:off x="304800" y="1581911"/>
            <a:ext cx="11480800" cy="12700"/>
          </a:xfrm>
          <a:custGeom>
            <a:avLst/>
            <a:gdLst/>
            <a:ahLst/>
            <a:cxnLst/>
            <a:rect l="l" t="t" r="r" b="b"/>
            <a:pathLst>
              <a:path w="11480800" h="12700">
                <a:moveTo>
                  <a:pt x="11480292" y="0"/>
                </a:moveTo>
                <a:lnTo>
                  <a:pt x="0" y="0"/>
                </a:lnTo>
                <a:lnTo>
                  <a:pt x="0" y="12191"/>
                </a:lnTo>
                <a:lnTo>
                  <a:pt x="11480292" y="12191"/>
                </a:lnTo>
                <a:lnTo>
                  <a:pt x="11480292" y="0"/>
                </a:lnTo>
                <a:close/>
              </a:path>
            </a:pathLst>
          </a:custGeom>
          <a:solidFill>
            <a:srgbClr val="CC99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900" b="0" i="0">
                <a:solidFill>
                  <a:srgbClr val="006633"/>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1/21/2026</a:t>
            </a:fld>
            <a:endParaRPr lang="en-US"/>
          </a:p>
        </p:txBody>
      </p:sp>
      <p:sp>
        <p:nvSpPr>
          <p:cNvPr id="5" name="Holder 5"/>
          <p:cNvSpPr>
            <a:spLocks noGrp="1"/>
          </p:cNvSpPr>
          <p:nvPr>
            <p:ph type="sldNum" sz="quarter" idx="7"/>
          </p:nvPr>
        </p:nvSpPr>
        <p:spPr/>
        <p:txBody>
          <a:bodyPr lIns="0" tIns="0" rIns="0" bIns="0"/>
          <a:lstStyle>
            <a:lvl1pPr>
              <a:defRPr sz="1150" b="0" i="0">
                <a:solidFill>
                  <a:schemeClr val="tx1"/>
                </a:solidFill>
                <a:latin typeface="Times New Roman"/>
                <a:cs typeface="Times New Roman"/>
              </a:defRPr>
            </a:lvl1pPr>
          </a:lstStyle>
          <a:p>
            <a:pPr marL="38100">
              <a:lnSpc>
                <a:spcPts val="135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17" name="bg object 17"/>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1/21/2026</a:t>
            </a:fld>
            <a:endParaRPr lang="en-US"/>
          </a:p>
        </p:txBody>
      </p:sp>
      <p:sp>
        <p:nvSpPr>
          <p:cNvPr id="4" name="Holder 4"/>
          <p:cNvSpPr>
            <a:spLocks noGrp="1"/>
          </p:cNvSpPr>
          <p:nvPr>
            <p:ph type="sldNum" sz="quarter" idx="7"/>
          </p:nvPr>
        </p:nvSpPr>
        <p:spPr/>
        <p:txBody>
          <a:bodyPr lIns="0" tIns="0" rIns="0" bIns="0"/>
          <a:lstStyle>
            <a:lvl1pPr>
              <a:defRPr sz="1150" b="0" i="0">
                <a:solidFill>
                  <a:schemeClr val="tx1"/>
                </a:solidFill>
                <a:latin typeface="Times New Roman"/>
                <a:cs typeface="Times New Roman"/>
              </a:defRPr>
            </a:lvl1pPr>
          </a:lstStyle>
          <a:p>
            <a:pPr marL="38100">
              <a:lnSpc>
                <a:spcPts val="135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936242" y="295783"/>
            <a:ext cx="7722996" cy="1306195"/>
          </a:xfrm>
          <a:prstGeom prst="rect">
            <a:avLst/>
          </a:prstGeom>
        </p:spPr>
        <p:txBody>
          <a:bodyPr wrap="square" lIns="0" tIns="0" rIns="0" bIns="0">
            <a:spAutoFit/>
          </a:bodyPr>
          <a:lstStyle>
            <a:lvl1pPr>
              <a:defRPr sz="2900" b="0" i="0">
                <a:solidFill>
                  <a:srgbClr val="006633"/>
                </a:solidFill>
                <a:latin typeface="Times New Roman"/>
                <a:cs typeface="Times New Roman"/>
              </a:defRPr>
            </a:lvl1pPr>
          </a:lstStyle>
          <a:p>
            <a:endParaRPr/>
          </a:p>
        </p:txBody>
      </p:sp>
      <p:sp>
        <p:nvSpPr>
          <p:cNvPr id="3" name="Holder 3"/>
          <p:cNvSpPr>
            <a:spLocks noGrp="1"/>
          </p:cNvSpPr>
          <p:nvPr>
            <p:ph type="body" idx="1"/>
          </p:nvPr>
        </p:nvSpPr>
        <p:spPr>
          <a:xfrm>
            <a:off x="688340" y="1530704"/>
            <a:ext cx="10175240" cy="2699385"/>
          </a:xfrm>
          <a:prstGeom prst="rect">
            <a:avLst/>
          </a:prstGeom>
        </p:spPr>
        <p:txBody>
          <a:bodyPr wrap="square" lIns="0" tIns="0" rIns="0" bIns="0">
            <a:spAutoFit/>
          </a:bodyPr>
          <a:lstStyle>
            <a:lvl1pPr>
              <a:defRPr sz="3000" b="0" i="0">
                <a:solidFill>
                  <a:srgbClr val="3366CC"/>
                </a:solidFill>
                <a:latin typeface="Arial MT"/>
                <a:cs typeface="Arial MT"/>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1/21/2026</a:t>
            </a:fld>
            <a:endParaRPr lang="en-US"/>
          </a:p>
        </p:txBody>
      </p:sp>
      <p:sp>
        <p:nvSpPr>
          <p:cNvPr id="6" name="Holder 6"/>
          <p:cNvSpPr>
            <a:spLocks noGrp="1"/>
          </p:cNvSpPr>
          <p:nvPr>
            <p:ph type="sldNum" sz="quarter" idx="7"/>
          </p:nvPr>
        </p:nvSpPr>
        <p:spPr>
          <a:xfrm>
            <a:off x="11555603" y="5640811"/>
            <a:ext cx="226059" cy="187960"/>
          </a:xfrm>
          <a:prstGeom prst="rect">
            <a:avLst/>
          </a:prstGeom>
        </p:spPr>
        <p:txBody>
          <a:bodyPr wrap="square" lIns="0" tIns="0" rIns="0" bIns="0">
            <a:spAutoFit/>
          </a:bodyPr>
          <a:lstStyle>
            <a:lvl1pPr>
              <a:defRPr sz="1150" b="0" i="0">
                <a:solidFill>
                  <a:schemeClr val="tx1"/>
                </a:solidFill>
                <a:latin typeface="Times New Roman"/>
                <a:cs typeface="Times New Roman"/>
              </a:defRPr>
            </a:lvl1pPr>
          </a:lstStyle>
          <a:p>
            <a:pPr marL="38100">
              <a:lnSpc>
                <a:spcPts val="135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hyperlink" Target="https://www.youtube.com/watch?v=rwigKjEsdTc"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4.xml"/><Relationship Id="rId4" Type="http://schemas.openxmlformats.org/officeDocument/2006/relationships/image" Target="../media/image12.jpg"/></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4.xml"/><Relationship Id="rId4" Type="http://schemas.openxmlformats.org/officeDocument/2006/relationships/image" Target="../media/image24.jpg"/></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www.alw.nih.gov/Security/FIRST/papers/%20legal/statelaw.txt"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www.microsoft.com/security/default.mspx" TargetMode="External"/><Relationship Id="rId2" Type="http://schemas.openxmlformats.org/officeDocument/2006/relationships/hyperlink" Target="http://www.cert.org/" TargetMode="External"/><Relationship Id="rId1" Type="http://schemas.openxmlformats.org/officeDocument/2006/relationships/slideLayout" Target="../slideLayouts/slideLayout2.xml"/><Relationship Id="rId5" Type="http://schemas.openxmlformats.org/officeDocument/2006/relationships/hyperlink" Target="http://www.sans.org/" TargetMode="External"/><Relationship Id="rId4" Type="http://schemas.openxmlformats.org/officeDocument/2006/relationships/hyperlink" Target="http://www.f-secure.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295400" y="1143000"/>
            <a:ext cx="9448800" cy="4321696"/>
          </a:xfrm>
          <a:prstGeom prst="rect">
            <a:avLst/>
          </a:prstGeom>
        </p:spPr>
        <p:txBody>
          <a:bodyPr vert="horz" wrap="square" lIns="0" tIns="12700" rIns="0" bIns="0" rtlCol="0">
            <a:spAutoFit/>
          </a:bodyPr>
          <a:lstStyle/>
          <a:p>
            <a:pPr marL="1167765">
              <a:spcBef>
                <a:spcPts val="100"/>
              </a:spcBef>
            </a:pPr>
            <a:r>
              <a:rPr lang="en-US" sz="6000" b="0" spc="-110" dirty="0" smtClean="0"/>
              <a:t>   </a:t>
            </a:r>
            <a:r>
              <a:rPr sz="6000" b="0" spc="-110" dirty="0" smtClean="0"/>
              <a:t>Information</a:t>
            </a:r>
            <a:r>
              <a:rPr sz="6000" b="0" spc="-270" dirty="0" smtClean="0"/>
              <a:t> </a:t>
            </a:r>
            <a:r>
              <a:rPr sz="6000" b="0" spc="-150" dirty="0" smtClean="0"/>
              <a:t>Security</a:t>
            </a:r>
            <a:r>
              <a:rPr lang="en-US" sz="6000" b="0" spc="-150" dirty="0" smtClean="0"/>
              <a:t/>
            </a:r>
            <a:br>
              <a:rPr lang="en-US" sz="6000" b="0" spc="-150" dirty="0" smtClean="0"/>
            </a:br>
            <a:r>
              <a:rPr lang="en-US" sz="6000" b="0" spc="-150" dirty="0" smtClean="0"/>
              <a:t>        Chapter 1&amp;2</a:t>
            </a:r>
            <a:br>
              <a:rPr lang="en-US" sz="6000" b="0" spc="-150" dirty="0" smtClean="0"/>
            </a:br>
            <a:r>
              <a:rPr lang="en-US" sz="6000" b="0" spc="-150" dirty="0"/>
              <a:t/>
            </a:r>
            <a:br>
              <a:rPr lang="en-US" sz="6000" b="0" spc="-150" dirty="0"/>
            </a:br>
            <a:r>
              <a:rPr lang="en-US" sz="6000" b="0" spc="-150" dirty="0" smtClean="0"/>
              <a:t>             </a:t>
            </a:r>
            <a:r>
              <a:rPr lang="en-US" sz="4000" b="0" spc="-150" dirty="0" smtClean="0"/>
              <a:t>BS-CS-VI</a:t>
            </a:r>
            <a:r>
              <a:rPr lang="en-US" sz="4000" b="0" spc="-150" dirty="0"/>
              <a:t/>
            </a:r>
            <a:br>
              <a:rPr lang="en-US" sz="4000" b="0" spc="-150" dirty="0"/>
            </a:br>
            <a:r>
              <a:rPr lang="en-US" sz="4000" b="0" spc="-150" dirty="0" smtClean="0"/>
              <a:t>           VVEEK-02 &amp; </a:t>
            </a:r>
            <a:r>
              <a:rPr lang="en-US" sz="4000" b="0" spc="-150" dirty="0" smtClean="0"/>
              <a:t>03 </a:t>
            </a:r>
            <a:r>
              <a:rPr lang="en-US" sz="4000" b="0" spc="-150" dirty="0" smtClean="0"/>
              <a:t>Lectures</a:t>
            </a:r>
            <a:r>
              <a:rPr sz="4000" b="0" spc="-325" dirty="0" smtClean="0"/>
              <a:t> </a:t>
            </a:r>
            <a:endParaRPr sz="6000" b="0" spc="-50"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53670">
              <a:lnSpc>
                <a:spcPts val="1425"/>
              </a:lnSpc>
            </a:pPr>
            <a:fld id="{81D60167-4931-47E6-BA6A-407CBD079E47}" type="slidenum">
              <a:rPr spc="-50" dirty="0"/>
              <a:pPr marL="153670">
                <a:lnSpc>
                  <a:spcPts val="1425"/>
                </a:lnSpc>
              </a:pPr>
              <a:t>1</a:t>
            </a:fld>
            <a:endParaRPr spc="-50" dirty="0"/>
          </a:p>
        </p:txBody>
      </p:sp>
    </p:spTree>
    <p:extLst>
      <p:ext uri="{BB962C8B-B14F-4D97-AF65-F5344CB8AC3E}">
        <p14:creationId xmlns:p14="http://schemas.microsoft.com/office/powerpoint/2010/main" val="30165854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10896600" cy="553998"/>
          </a:xfrm>
        </p:spPr>
        <p:txBody>
          <a:bodyPr/>
          <a:lstStyle/>
          <a:p>
            <a:r>
              <a:rPr lang="en-US" sz="3600" dirty="0"/>
              <a:t>🔐 Basic Security Terminology</a:t>
            </a:r>
          </a:p>
        </p:txBody>
      </p:sp>
      <p:sp>
        <p:nvSpPr>
          <p:cNvPr id="3" name="Text Placeholder 2"/>
          <p:cNvSpPr>
            <a:spLocks noGrp="1"/>
          </p:cNvSpPr>
          <p:nvPr>
            <p:ph type="body" idx="1"/>
          </p:nvPr>
        </p:nvSpPr>
        <p:spPr>
          <a:xfrm>
            <a:off x="606188" y="1155960"/>
            <a:ext cx="3886200" cy="1477328"/>
          </a:xfrm>
        </p:spPr>
        <p:txBody>
          <a:bodyPr/>
          <a:lstStyle/>
          <a:p>
            <a:pPr marL="457200" indent="-457200">
              <a:buFont typeface="Wingdings" panose="05000000000000000000" pitchFamily="2" charset="2"/>
              <a:buChar char="ü"/>
            </a:pPr>
            <a:r>
              <a:rPr lang="en-US" sz="2400" dirty="0" smtClean="0">
                <a:solidFill>
                  <a:srgbClr val="00B0F0"/>
                </a:solidFill>
              </a:rPr>
              <a:t>Information Security</a:t>
            </a:r>
          </a:p>
          <a:p>
            <a:pPr marL="457200" indent="-457200">
              <a:buFont typeface="Wingdings" panose="05000000000000000000" pitchFamily="2" charset="2"/>
              <a:buChar char="ü"/>
            </a:pPr>
            <a:r>
              <a:rPr lang="en-US" sz="2400" dirty="0" smtClean="0">
                <a:solidFill>
                  <a:srgbClr val="00B0F0"/>
                </a:solidFill>
              </a:rPr>
              <a:t>Confidentiality</a:t>
            </a:r>
          </a:p>
          <a:p>
            <a:pPr marL="457200" indent="-457200">
              <a:buFont typeface="Wingdings" panose="05000000000000000000" pitchFamily="2" charset="2"/>
              <a:buChar char="ü"/>
            </a:pPr>
            <a:r>
              <a:rPr lang="en-US" sz="2400" dirty="0" smtClean="0">
                <a:solidFill>
                  <a:srgbClr val="00B0F0"/>
                </a:solidFill>
              </a:rPr>
              <a:t>Integrity</a:t>
            </a:r>
          </a:p>
          <a:p>
            <a:pPr marL="457200" indent="-457200">
              <a:buFont typeface="Wingdings" panose="05000000000000000000" pitchFamily="2" charset="2"/>
              <a:buChar char="ü"/>
            </a:pPr>
            <a:r>
              <a:rPr lang="en-US" sz="2400" dirty="0" smtClean="0">
                <a:solidFill>
                  <a:srgbClr val="00B0F0"/>
                </a:solidFill>
              </a:rPr>
              <a:t>Availability</a:t>
            </a:r>
          </a:p>
        </p:txBody>
      </p:sp>
      <p:sp>
        <p:nvSpPr>
          <p:cNvPr id="5" name="Text Placeholder 2"/>
          <p:cNvSpPr txBox="1">
            <a:spLocks/>
          </p:cNvSpPr>
          <p:nvPr/>
        </p:nvSpPr>
        <p:spPr>
          <a:xfrm>
            <a:off x="583442" y="2809334"/>
            <a:ext cx="7493758" cy="3693319"/>
          </a:xfrm>
          <a:prstGeom prst="rect">
            <a:avLst/>
          </a:prstGeom>
        </p:spPr>
        <p:txBody>
          <a:bodyPr wrap="square" lIns="0" tIns="0" rIns="0" bIns="0">
            <a:spAutoFit/>
          </a:bodyPr>
          <a:lstStyle>
            <a:lvl1pPr marL="0">
              <a:defRPr sz="3000" b="0" i="0">
                <a:solidFill>
                  <a:srgbClr val="3366CC"/>
                </a:solidFill>
                <a:latin typeface="Arial MT"/>
                <a:ea typeface="+mn-ea"/>
                <a:cs typeface="Arial MT"/>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57200" indent="-457200">
              <a:buFont typeface="Wingdings" panose="05000000000000000000" pitchFamily="2" charset="2"/>
              <a:buChar char="ü"/>
            </a:pPr>
            <a:endParaRPr lang="en-US" sz="2400" dirty="0" smtClean="0">
              <a:solidFill>
                <a:srgbClr val="7030A0"/>
              </a:solidFill>
            </a:endParaRPr>
          </a:p>
          <a:p>
            <a:pPr marL="457200" indent="-457200">
              <a:buFont typeface="Wingdings" panose="05000000000000000000" pitchFamily="2" charset="2"/>
              <a:buChar char="ü"/>
            </a:pPr>
            <a:r>
              <a:rPr lang="en-US" sz="2400" dirty="0" smtClean="0">
                <a:solidFill>
                  <a:srgbClr val="7030A0"/>
                </a:solidFill>
              </a:rPr>
              <a:t>Authentication </a:t>
            </a:r>
            <a:r>
              <a:rPr lang="en-US" sz="2000" dirty="0"/>
              <a:t>Verifying the </a:t>
            </a:r>
            <a:r>
              <a:rPr lang="en-US" sz="2000" b="1" dirty="0"/>
              <a:t>identity of a user</a:t>
            </a:r>
            <a:r>
              <a:rPr lang="en-US" sz="2000" dirty="0"/>
              <a:t>.</a:t>
            </a:r>
            <a:endParaRPr lang="en-US" sz="3200" dirty="0" smtClean="0">
              <a:solidFill>
                <a:srgbClr val="7030A0"/>
              </a:solidFill>
            </a:endParaRPr>
          </a:p>
          <a:p>
            <a:pPr marL="457200" indent="-457200">
              <a:buFont typeface="Wingdings" panose="05000000000000000000" pitchFamily="2" charset="2"/>
              <a:buChar char="ü"/>
            </a:pPr>
            <a:r>
              <a:rPr lang="en-US" sz="2400" dirty="0" smtClean="0">
                <a:solidFill>
                  <a:srgbClr val="7030A0"/>
                </a:solidFill>
              </a:rPr>
              <a:t>Authorization </a:t>
            </a:r>
            <a:r>
              <a:rPr lang="en-US" sz="2000" dirty="0"/>
              <a:t>Granting </a:t>
            </a:r>
            <a:r>
              <a:rPr lang="en-US" sz="2000" b="1" dirty="0"/>
              <a:t>permission</a:t>
            </a:r>
            <a:r>
              <a:rPr lang="en-US" sz="2000" dirty="0"/>
              <a:t> to access </a:t>
            </a:r>
            <a:endParaRPr lang="en-US" sz="2000" dirty="0" smtClean="0">
              <a:solidFill>
                <a:srgbClr val="7030A0"/>
              </a:solidFill>
            </a:endParaRPr>
          </a:p>
          <a:p>
            <a:pPr marL="457200" indent="-457200">
              <a:buFont typeface="Wingdings" panose="05000000000000000000" pitchFamily="2" charset="2"/>
              <a:buChar char="ü"/>
            </a:pPr>
            <a:r>
              <a:rPr lang="en-US" sz="2400" dirty="0" smtClean="0">
                <a:solidFill>
                  <a:srgbClr val="7030A0"/>
                </a:solidFill>
              </a:rPr>
              <a:t>Malware </a:t>
            </a:r>
            <a:r>
              <a:rPr lang="en-US" sz="1800" dirty="0">
                <a:solidFill>
                  <a:srgbClr val="FF0000"/>
                </a:solidFill>
              </a:rPr>
              <a:t>Malic</a:t>
            </a:r>
            <a:r>
              <a:rPr lang="en-US" sz="2000" dirty="0">
                <a:solidFill>
                  <a:srgbClr val="FF0000"/>
                </a:solidFill>
              </a:rPr>
              <a:t>ious software designed to harm systems.</a:t>
            </a:r>
            <a:endParaRPr lang="en-US" sz="2000" dirty="0" smtClean="0">
              <a:solidFill>
                <a:srgbClr val="FF0000"/>
              </a:solidFill>
            </a:endParaRPr>
          </a:p>
          <a:p>
            <a:pPr marL="457200" indent="-457200">
              <a:buFont typeface="Wingdings" panose="05000000000000000000" pitchFamily="2" charset="2"/>
              <a:buChar char="ü"/>
            </a:pPr>
            <a:r>
              <a:rPr lang="en-US" sz="2400" dirty="0" smtClean="0">
                <a:solidFill>
                  <a:srgbClr val="7030A0"/>
                </a:solidFill>
              </a:rPr>
              <a:t>Virus </a:t>
            </a:r>
            <a:r>
              <a:rPr lang="en-US" sz="1600" dirty="0">
                <a:solidFill>
                  <a:srgbClr val="FF0000"/>
                </a:solidFill>
              </a:rPr>
              <a:t>A program that attaches itself to files and spreads when executed</a:t>
            </a:r>
            <a:r>
              <a:rPr lang="en-US" sz="1600" dirty="0" smtClean="0">
                <a:solidFill>
                  <a:srgbClr val="FF0000"/>
                </a:solidFill>
              </a:rPr>
              <a:t>.</a:t>
            </a:r>
            <a:endParaRPr lang="en-US" sz="2000" dirty="0" smtClean="0">
              <a:solidFill>
                <a:srgbClr val="7030A0"/>
              </a:solidFill>
            </a:endParaRPr>
          </a:p>
          <a:p>
            <a:pPr marL="457200" indent="-457200">
              <a:buFont typeface="Wingdings" panose="05000000000000000000" pitchFamily="2" charset="2"/>
              <a:buChar char="ü"/>
            </a:pPr>
            <a:r>
              <a:rPr lang="en-US" sz="2400" dirty="0" smtClean="0">
                <a:solidFill>
                  <a:srgbClr val="7030A0"/>
                </a:solidFill>
              </a:rPr>
              <a:t>Worm </a:t>
            </a:r>
            <a:r>
              <a:rPr lang="en-US" sz="1400" dirty="0">
                <a:solidFill>
                  <a:srgbClr val="FF0000"/>
                </a:solidFill>
              </a:rPr>
              <a:t>A self-replicating malware that spreads </a:t>
            </a:r>
            <a:r>
              <a:rPr lang="en-US" sz="1400" b="1" dirty="0">
                <a:solidFill>
                  <a:srgbClr val="FF0000"/>
                </a:solidFill>
              </a:rPr>
              <a:t>without user action</a:t>
            </a:r>
            <a:r>
              <a:rPr lang="en-US" sz="2400" dirty="0"/>
              <a:t>.</a:t>
            </a:r>
            <a:endParaRPr lang="en-US" sz="2400" dirty="0" smtClean="0">
              <a:solidFill>
                <a:srgbClr val="7030A0"/>
              </a:solidFill>
            </a:endParaRPr>
          </a:p>
          <a:p>
            <a:pPr marL="457200" indent="-457200">
              <a:buFont typeface="Wingdings" panose="05000000000000000000" pitchFamily="2" charset="2"/>
              <a:buChar char="ü"/>
            </a:pPr>
            <a:endParaRPr lang="en-US" sz="2400" dirty="0" smtClean="0">
              <a:solidFill>
                <a:srgbClr val="7030A0"/>
              </a:solidFill>
            </a:endParaRPr>
          </a:p>
          <a:p>
            <a:pPr marL="457200" indent="-457200">
              <a:buFont typeface="Wingdings" panose="05000000000000000000" pitchFamily="2" charset="2"/>
              <a:buChar char="ü"/>
            </a:pPr>
            <a:r>
              <a:rPr lang="en-US" sz="2400" dirty="0" smtClean="0">
                <a:solidFill>
                  <a:srgbClr val="002060"/>
                </a:solidFill>
              </a:rPr>
              <a:t>Encryption </a:t>
            </a:r>
            <a:r>
              <a:rPr lang="en-US" sz="1800" dirty="0">
                <a:solidFill>
                  <a:srgbClr val="FF0000"/>
                </a:solidFill>
              </a:rPr>
              <a:t>Converting data into unreadable form to protect it.</a:t>
            </a:r>
            <a:endParaRPr lang="en-US" sz="2400" dirty="0" smtClean="0">
              <a:solidFill>
                <a:srgbClr val="FF0000"/>
              </a:solidFill>
            </a:endParaRPr>
          </a:p>
          <a:p>
            <a:pPr marL="457200" indent="-457200">
              <a:buFont typeface="Wingdings" panose="05000000000000000000" pitchFamily="2" charset="2"/>
              <a:buChar char="ü"/>
            </a:pPr>
            <a:r>
              <a:rPr lang="en-US" sz="2400" dirty="0">
                <a:solidFill>
                  <a:srgbClr val="002060"/>
                </a:solidFill>
              </a:rPr>
              <a:t>Audit Trail / </a:t>
            </a:r>
            <a:r>
              <a:rPr lang="en-US" sz="2400" dirty="0" smtClean="0">
                <a:solidFill>
                  <a:srgbClr val="002060"/>
                </a:solidFill>
              </a:rPr>
              <a:t>Log </a:t>
            </a:r>
            <a:r>
              <a:rPr lang="en-US" sz="1200" dirty="0"/>
              <a:t>A record of system activities for monitoring and investigation</a:t>
            </a:r>
            <a:r>
              <a:rPr lang="en-US" sz="1200" dirty="0" smtClean="0"/>
              <a:t>.</a:t>
            </a:r>
            <a:endParaRPr lang="en-US" sz="2400" dirty="0" smtClean="0">
              <a:solidFill>
                <a:srgbClr val="002060"/>
              </a:solidFill>
            </a:endParaRPr>
          </a:p>
          <a:p>
            <a:pPr marL="457200" indent="-457200">
              <a:buFont typeface="Wingdings" panose="05000000000000000000" pitchFamily="2" charset="2"/>
              <a:buChar char="ü"/>
            </a:pPr>
            <a:r>
              <a:rPr lang="en-US" sz="2400" dirty="0" smtClean="0">
                <a:solidFill>
                  <a:srgbClr val="002060"/>
                </a:solidFill>
              </a:rPr>
              <a:t>Backup  </a:t>
            </a:r>
            <a:r>
              <a:rPr lang="en-US" sz="2000" dirty="0">
                <a:solidFill>
                  <a:srgbClr val="FF0000"/>
                </a:solidFill>
              </a:rPr>
              <a:t>A copy of data stored to prevent data loss</a:t>
            </a:r>
            <a:r>
              <a:rPr lang="en-US" sz="2400" dirty="0"/>
              <a:t>.</a:t>
            </a:r>
            <a:endParaRPr lang="en-US" sz="2400" dirty="0">
              <a:solidFill>
                <a:srgbClr val="002060"/>
              </a:solidFill>
            </a:endParaRPr>
          </a:p>
        </p:txBody>
      </p:sp>
      <p:pic>
        <p:nvPicPr>
          <p:cNvPr id="7" name="Picture 6"/>
          <p:cNvPicPr>
            <a:picLocks noChangeAspect="1"/>
          </p:cNvPicPr>
          <p:nvPr/>
        </p:nvPicPr>
        <p:blipFill>
          <a:blip r:embed="rId2"/>
          <a:stretch>
            <a:fillRect/>
          </a:stretch>
        </p:blipFill>
        <p:spPr>
          <a:xfrm>
            <a:off x="8045355" y="1155960"/>
            <a:ext cx="3962400" cy="4448748"/>
          </a:xfrm>
          <a:prstGeom prst="rect">
            <a:avLst/>
          </a:prstGeom>
        </p:spPr>
      </p:pic>
    </p:spTree>
    <p:extLst>
      <p:ext uri="{BB962C8B-B14F-4D97-AF65-F5344CB8AC3E}">
        <p14:creationId xmlns:p14="http://schemas.microsoft.com/office/powerpoint/2010/main" val="2401315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383540" y="143967"/>
            <a:ext cx="5572125" cy="635000"/>
          </a:xfrm>
          <a:prstGeom prst="rect">
            <a:avLst/>
          </a:prstGeom>
        </p:spPr>
        <p:txBody>
          <a:bodyPr vert="horz" wrap="square" lIns="0" tIns="12065" rIns="0" bIns="0" rtlCol="0">
            <a:spAutoFit/>
          </a:bodyPr>
          <a:lstStyle/>
          <a:p>
            <a:pPr marL="12700">
              <a:lnSpc>
                <a:spcPct val="100000"/>
              </a:lnSpc>
              <a:spcBef>
                <a:spcPts val="95"/>
              </a:spcBef>
            </a:pPr>
            <a:r>
              <a:rPr sz="4000" spc="-120" dirty="0"/>
              <a:t>Vulnerability,</a:t>
            </a:r>
            <a:r>
              <a:rPr sz="4000" spc="-130" dirty="0"/>
              <a:t> </a:t>
            </a:r>
            <a:r>
              <a:rPr sz="4000" dirty="0"/>
              <a:t>Threat</a:t>
            </a:r>
            <a:r>
              <a:rPr sz="4000" spc="-170" dirty="0"/>
              <a:t> </a:t>
            </a:r>
            <a:r>
              <a:rPr sz="4000" dirty="0"/>
              <a:t>&amp;</a:t>
            </a:r>
            <a:r>
              <a:rPr sz="4000" spc="-155" dirty="0"/>
              <a:t> </a:t>
            </a:r>
            <a:r>
              <a:rPr sz="4000" spc="-100" dirty="0"/>
              <a:t>Risk</a:t>
            </a:r>
            <a:endParaRPr sz="4000"/>
          </a:p>
        </p:txBody>
      </p:sp>
      <p:pic>
        <p:nvPicPr>
          <p:cNvPr id="5" name="object 5"/>
          <p:cNvPicPr/>
          <p:nvPr/>
        </p:nvPicPr>
        <p:blipFill>
          <a:blip r:embed="rId2" cstate="print"/>
          <a:stretch>
            <a:fillRect/>
          </a:stretch>
        </p:blipFill>
        <p:spPr>
          <a:xfrm>
            <a:off x="427256" y="1071372"/>
            <a:ext cx="11357835" cy="5268468"/>
          </a:xfrm>
          <a:prstGeom prst="rect">
            <a:avLst/>
          </a:prstGeom>
        </p:spPr>
      </p:pic>
      <p:sp>
        <p:nvSpPr>
          <p:cNvPr id="6" name="object 6"/>
          <p:cNvSpPr txBox="1"/>
          <p:nvPr/>
        </p:nvSpPr>
        <p:spPr>
          <a:xfrm>
            <a:off x="11562842" y="6486864"/>
            <a:ext cx="278130" cy="254000"/>
          </a:xfrm>
          <a:prstGeom prst="rect">
            <a:avLst/>
          </a:prstGeom>
        </p:spPr>
        <p:txBody>
          <a:bodyPr vert="horz" wrap="square" lIns="0" tIns="0" rIns="0" bIns="0" rtlCol="0">
            <a:spAutoFit/>
          </a:bodyPr>
          <a:lstStyle/>
          <a:p>
            <a:pPr marL="38100">
              <a:lnSpc>
                <a:spcPts val="1800"/>
              </a:lnSpc>
            </a:pPr>
            <a:fld id="{81D60167-4931-47E6-BA6A-407CBD079E47}" type="slidenum">
              <a:rPr sz="1600" spc="-25" dirty="0">
                <a:latin typeface="Times New Roman"/>
                <a:cs typeface="Times New Roman"/>
              </a:rPr>
              <a:t>3</a:t>
            </a:fld>
            <a:endParaRPr sz="160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383540" y="143967"/>
            <a:ext cx="7250430" cy="635000"/>
          </a:xfrm>
          <a:prstGeom prst="rect">
            <a:avLst/>
          </a:prstGeom>
        </p:spPr>
        <p:txBody>
          <a:bodyPr vert="horz" wrap="square" lIns="0" tIns="12065" rIns="0" bIns="0" rtlCol="0">
            <a:spAutoFit/>
          </a:bodyPr>
          <a:lstStyle/>
          <a:p>
            <a:pPr marL="12700">
              <a:lnSpc>
                <a:spcPct val="100000"/>
              </a:lnSpc>
              <a:spcBef>
                <a:spcPts val="95"/>
              </a:spcBef>
            </a:pPr>
            <a:r>
              <a:rPr sz="4000" spc="-95" dirty="0"/>
              <a:t>C.I.A.</a:t>
            </a:r>
            <a:r>
              <a:rPr sz="4000" spc="-85" dirty="0"/>
              <a:t> </a:t>
            </a:r>
            <a:r>
              <a:rPr sz="4000" spc="-100" dirty="0"/>
              <a:t>triangle</a:t>
            </a:r>
            <a:r>
              <a:rPr sz="4000" spc="-75" dirty="0"/>
              <a:t> </a:t>
            </a:r>
            <a:r>
              <a:rPr sz="4000" dirty="0"/>
              <a:t>or</a:t>
            </a:r>
            <a:r>
              <a:rPr sz="4000" spc="-75" dirty="0"/>
              <a:t> </a:t>
            </a:r>
            <a:r>
              <a:rPr sz="4000" spc="-120" dirty="0"/>
              <a:t>Security</a:t>
            </a:r>
            <a:r>
              <a:rPr sz="4000" spc="-75" dirty="0"/>
              <a:t> </a:t>
            </a:r>
            <a:r>
              <a:rPr sz="4000" spc="-40" dirty="0"/>
              <a:t>Objectives</a:t>
            </a:r>
            <a:endParaRPr sz="4000"/>
          </a:p>
        </p:txBody>
      </p:sp>
      <p:sp>
        <p:nvSpPr>
          <p:cNvPr id="6" name="object 6"/>
          <p:cNvSpPr txBox="1"/>
          <p:nvPr/>
        </p:nvSpPr>
        <p:spPr>
          <a:xfrm>
            <a:off x="5926582" y="6474386"/>
            <a:ext cx="339725" cy="196850"/>
          </a:xfrm>
          <a:prstGeom prst="rect">
            <a:avLst/>
          </a:prstGeom>
        </p:spPr>
        <p:txBody>
          <a:bodyPr vert="horz" wrap="square" lIns="0" tIns="0" rIns="0" bIns="0" rtlCol="0">
            <a:spAutoFit/>
          </a:bodyPr>
          <a:lstStyle/>
          <a:p>
            <a:pPr marL="12700">
              <a:lnSpc>
                <a:spcPts val="1375"/>
              </a:lnSpc>
            </a:pPr>
            <a:r>
              <a:rPr sz="1200" dirty="0">
                <a:latin typeface="Times New Roman"/>
                <a:cs typeface="Times New Roman"/>
              </a:rPr>
              <a:t>-</a:t>
            </a:r>
            <a:r>
              <a:rPr sz="1200" spc="-55" dirty="0">
                <a:latin typeface="Times New Roman"/>
                <a:cs typeface="Times New Roman"/>
              </a:rPr>
              <a:t> </a:t>
            </a:r>
            <a:fld id="{81D60167-4931-47E6-BA6A-407CBD079E47}" type="slidenum">
              <a:rPr sz="1200" spc="-10" dirty="0">
                <a:latin typeface="Times New Roman"/>
                <a:cs typeface="Times New Roman"/>
              </a:rPr>
              <a:t>4</a:t>
            </a:fld>
            <a:r>
              <a:rPr sz="1200" spc="-45" dirty="0">
                <a:latin typeface="Times New Roman"/>
                <a:cs typeface="Times New Roman"/>
              </a:rPr>
              <a:t> </a:t>
            </a:r>
            <a:r>
              <a:rPr sz="1200" spc="-50" dirty="0">
                <a:latin typeface="Times New Roman"/>
                <a:cs typeface="Times New Roman"/>
              </a:rPr>
              <a:t>-</a:t>
            </a:r>
            <a:endParaRPr sz="1200">
              <a:latin typeface="Times New Roman"/>
              <a:cs typeface="Times New Roman"/>
            </a:endParaRPr>
          </a:p>
        </p:txBody>
      </p:sp>
      <p:sp>
        <p:nvSpPr>
          <p:cNvPr id="5" name="object 5"/>
          <p:cNvSpPr txBox="1"/>
          <p:nvPr/>
        </p:nvSpPr>
        <p:spPr>
          <a:xfrm>
            <a:off x="383540" y="1358578"/>
            <a:ext cx="10678160" cy="3713479"/>
          </a:xfrm>
          <a:prstGeom prst="rect">
            <a:avLst/>
          </a:prstGeom>
        </p:spPr>
        <p:txBody>
          <a:bodyPr vert="horz" wrap="square" lIns="0" tIns="48895" rIns="0" bIns="0" rtlCol="0">
            <a:spAutoFit/>
          </a:bodyPr>
          <a:lstStyle/>
          <a:p>
            <a:pPr marL="354965" indent="-342265">
              <a:lnSpc>
                <a:spcPct val="100000"/>
              </a:lnSpc>
              <a:spcBef>
                <a:spcPts val="385"/>
              </a:spcBef>
              <a:buClr>
                <a:srgbClr val="003399"/>
              </a:buClr>
              <a:buSzPct val="64583"/>
              <a:buFont typeface="Wingdings"/>
              <a:buChar char=""/>
              <a:tabLst>
                <a:tab pos="354965" algn="l"/>
              </a:tabLst>
            </a:pPr>
            <a:r>
              <a:rPr sz="2400" u="sng" spc="-10" dirty="0">
                <a:solidFill>
                  <a:srgbClr val="FF6600"/>
                </a:solidFill>
                <a:uFill>
                  <a:solidFill>
                    <a:srgbClr val="FF6600"/>
                  </a:solidFill>
                </a:uFill>
                <a:latin typeface="Tahoma"/>
                <a:cs typeface="Tahoma"/>
              </a:rPr>
              <a:t>Confidentiality</a:t>
            </a:r>
            <a:endParaRPr sz="2400">
              <a:latin typeface="Tahoma"/>
              <a:cs typeface="Tahoma"/>
            </a:endParaRPr>
          </a:p>
          <a:p>
            <a:pPr marL="683260" marR="5080" lvl="1" indent="-326390">
              <a:lnSpc>
                <a:spcPts val="2380"/>
              </a:lnSpc>
              <a:spcBef>
                <a:spcPts val="560"/>
              </a:spcBef>
              <a:buClr>
                <a:srgbClr val="003399"/>
              </a:buClr>
              <a:buSzPct val="59090"/>
              <a:buFont typeface="Wingdings"/>
              <a:buChar char=""/>
              <a:tabLst>
                <a:tab pos="683260" algn="l"/>
              </a:tabLst>
            </a:pPr>
            <a:r>
              <a:rPr sz="2200" dirty="0">
                <a:latin typeface="Tahoma"/>
                <a:cs typeface="Tahoma"/>
              </a:rPr>
              <a:t>“Preserving</a:t>
            </a:r>
            <a:r>
              <a:rPr sz="2200" spc="-35" dirty="0">
                <a:latin typeface="Tahoma"/>
                <a:cs typeface="Tahoma"/>
              </a:rPr>
              <a:t> </a:t>
            </a:r>
            <a:r>
              <a:rPr sz="2200" dirty="0">
                <a:latin typeface="Tahoma"/>
                <a:cs typeface="Tahoma"/>
              </a:rPr>
              <a:t>authorized</a:t>
            </a:r>
            <a:r>
              <a:rPr sz="2200" spc="-45" dirty="0">
                <a:latin typeface="Tahoma"/>
                <a:cs typeface="Tahoma"/>
              </a:rPr>
              <a:t> </a:t>
            </a:r>
            <a:r>
              <a:rPr sz="2200" dirty="0">
                <a:latin typeface="Tahoma"/>
                <a:cs typeface="Tahoma"/>
              </a:rPr>
              <a:t>restriction</a:t>
            </a:r>
            <a:r>
              <a:rPr sz="2200" spc="-35" dirty="0">
                <a:latin typeface="Tahoma"/>
                <a:cs typeface="Tahoma"/>
              </a:rPr>
              <a:t> </a:t>
            </a:r>
            <a:r>
              <a:rPr sz="2200" dirty="0">
                <a:latin typeface="Tahoma"/>
                <a:cs typeface="Tahoma"/>
              </a:rPr>
              <a:t>on</a:t>
            </a:r>
            <a:r>
              <a:rPr sz="2200" spc="-65" dirty="0">
                <a:latin typeface="Tahoma"/>
                <a:cs typeface="Tahoma"/>
              </a:rPr>
              <a:t> </a:t>
            </a:r>
            <a:r>
              <a:rPr sz="2200" spc="-10" dirty="0">
                <a:latin typeface="Tahoma"/>
                <a:cs typeface="Tahoma"/>
              </a:rPr>
              <a:t>information</a:t>
            </a:r>
            <a:r>
              <a:rPr sz="2200" spc="-145" dirty="0">
                <a:latin typeface="Tahoma"/>
                <a:cs typeface="Tahoma"/>
              </a:rPr>
              <a:t> </a:t>
            </a:r>
            <a:r>
              <a:rPr sz="2200" u="sng" dirty="0">
                <a:solidFill>
                  <a:srgbClr val="FF6600"/>
                </a:solidFill>
                <a:uFill>
                  <a:solidFill>
                    <a:srgbClr val="FF6600"/>
                  </a:solidFill>
                </a:uFill>
                <a:latin typeface="Tahoma"/>
                <a:cs typeface="Tahoma"/>
              </a:rPr>
              <a:t>access</a:t>
            </a:r>
            <a:r>
              <a:rPr sz="2200" spc="-35" dirty="0">
                <a:solidFill>
                  <a:srgbClr val="FF6600"/>
                </a:solidFill>
                <a:latin typeface="Tahoma"/>
                <a:cs typeface="Tahoma"/>
              </a:rPr>
              <a:t> </a:t>
            </a:r>
            <a:r>
              <a:rPr sz="2200" dirty="0">
                <a:latin typeface="Tahoma"/>
                <a:cs typeface="Tahoma"/>
              </a:rPr>
              <a:t>and</a:t>
            </a:r>
            <a:r>
              <a:rPr sz="2200" spc="-70" dirty="0">
                <a:latin typeface="Tahoma"/>
                <a:cs typeface="Tahoma"/>
              </a:rPr>
              <a:t> </a:t>
            </a:r>
            <a:r>
              <a:rPr sz="2200" u="sng" dirty="0">
                <a:solidFill>
                  <a:srgbClr val="FF6600"/>
                </a:solidFill>
                <a:uFill>
                  <a:solidFill>
                    <a:srgbClr val="FF6600"/>
                  </a:solidFill>
                </a:uFill>
                <a:latin typeface="Tahoma"/>
                <a:cs typeface="Tahoma"/>
              </a:rPr>
              <a:t>disclosure</a:t>
            </a:r>
            <a:r>
              <a:rPr sz="2200" dirty="0">
                <a:latin typeface="Tahoma"/>
                <a:cs typeface="Tahoma"/>
              </a:rPr>
              <a:t>,</a:t>
            </a:r>
            <a:r>
              <a:rPr sz="2200" spc="-60" dirty="0">
                <a:latin typeface="Tahoma"/>
                <a:cs typeface="Tahoma"/>
              </a:rPr>
              <a:t> </a:t>
            </a:r>
            <a:r>
              <a:rPr sz="2200" spc="-10" dirty="0">
                <a:latin typeface="Tahoma"/>
                <a:cs typeface="Tahoma"/>
              </a:rPr>
              <a:t>including </a:t>
            </a:r>
            <a:r>
              <a:rPr sz="2200" dirty="0">
                <a:latin typeface="Tahoma"/>
                <a:cs typeface="Tahoma"/>
              </a:rPr>
              <a:t>means</a:t>
            </a:r>
            <a:r>
              <a:rPr sz="2200" spc="-40" dirty="0">
                <a:latin typeface="Tahoma"/>
                <a:cs typeface="Tahoma"/>
              </a:rPr>
              <a:t> </a:t>
            </a:r>
            <a:r>
              <a:rPr sz="2200" dirty="0">
                <a:latin typeface="Tahoma"/>
                <a:cs typeface="Tahoma"/>
              </a:rPr>
              <a:t>for</a:t>
            </a:r>
            <a:r>
              <a:rPr sz="2200" spc="-50" dirty="0">
                <a:latin typeface="Tahoma"/>
                <a:cs typeface="Tahoma"/>
              </a:rPr>
              <a:t> </a:t>
            </a:r>
            <a:r>
              <a:rPr sz="2200" dirty="0">
                <a:latin typeface="Tahoma"/>
                <a:cs typeface="Tahoma"/>
              </a:rPr>
              <a:t>protecting</a:t>
            </a:r>
            <a:r>
              <a:rPr sz="2200" spc="-25" dirty="0">
                <a:latin typeface="Tahoma"/>
                <a:cs typeface="Tahoma"/>
              </a:rPr>
              <a:t> </a:t>
            </a:r>
            <a:r>
              <a:rPr sz="2200" dirty="0">
                <a:latin typeface="Tahoma"/>
                <a:cs typeface="Tahoma"/>
              </a:rPr>
              <a:t>personal</a:t>
            </a:r>
            <a:r>
              <a:rPr sz="2200" spc="-45" dirty="0">
                <a:latin typeface="Tahoma"/>
                <a:cs typeface="Tahoma"/>
              </a:rPr>
              <a:t> </a:t>
            </a:r>
            <a:r>
              <a:rPr sz="2200" dirty="0">
                <a:latin typeface="Tahoma"/>
                <a:cs typeface="Tahoma"/>
              </a:rPr>
              <a:t>privacy</a:t>
            </a:r>
            <a:r>
              <a:rPr sz="2200" spc="-45" dirty="0">
                <a:latin typeface="Tahoma"/>
                <a:cs typeface="Tahoma"/>
              </a:rPr>
              <a:t> </a:t>
            </a:r>
            <a:r>
              <a:rPr sz="2200" dirty="0">
                <a:latin typeface="Tahoma"/>
                <a:cs typeface="Tahoma"/>
              </a:rPr>
              <a:t>and</a:t>
            </a:r>
            <a:r>
              <a:rPr sz="2200" spc="-55" dirty="0">
                <a:latin typeface="Tahoma"/>
                <a:cs typeface="Tahoma"/>
              </a:rPr>
              <a:t> </a:t>
            </a:r>
            <a:r>
              <a:rPr sz="2200" dirty="0">
                <a:latin typeface="Tahoma"/>
                <a:cs typeface="Tahoma"/>
              </a:rPr>
              <a:t>proprietary</a:t>
            </a:r>
            <a:r>
              <a:rPr sz="2200" spc="-40" dirty="0">
                <a:latin typeface="Tahoma"/>
                <a:cs typeface="Tahoma"/>
              </a:rPr>
              <a:t> </a:t>
            </a:r>
            <a:r>
              <a:rPr sz="2200" spc="-10" dirty="0">
                <a:latin typeface="Tahoma"/>
                <a:cs typeface="Tahoma"/>
              </a:rPr>
              <a:t>information.”</a:t>
            </a:r>
            <a:endParaRPr sz="2200">
              <a:latin typeface="Tahoma"/>
              <a:cs typeface="Tahoma"/>
            </a:endParaRPr>
          </a:p>
          <a:p>
            <a:pPr lvl="1">
              <a:lnSpc>
                <a:spcPct val="100000"/>
              </a:lnSpc>
              <a:spcBef>
                <a:spcPts val="765"/>
              </a:spcBef>
              <a:buClr>
                <a:srgbClr val="003399"/>
              </a:buClr>
              <a:buFont typeface="Wingdings"/>
              <a:buChar char=""/>
            </a:pPr>
            <a:endParaRPr sz="2200">
              <a:latin typeface="Tahoma"/>
              <a:cs typeface="Tahoma"/>
            </a:endParaRPr>
          </a:p>
          <a:p>
            <a:pPr marL="354965" indent="-342265">
              <a:lnSpc>
                <a:spcPct val="100000"/>
              </a:lnSpc>
              <a:buClr>
                <a:srgbClr val="003399"/>
              </a:buClr>
              <a:buSzPct val="64583"/>
              <a:buFont typeface="Wingdings"/>
              <a:buChar char=""/>
              <a:tabLst>
                <a:tab pos="354965" algn="l"/>
              </a:tabLst>
            </a:pPr>
            <a:r>
              <a:rPr sz="2400" u="sng" spc="-10" dirty="0">
                <a:solidFill>
                  <a:srgbClr val="FF6600"/>
                </a:solidFill>
                <a:uFill>
                  <a:solidFill>
                    <a:srgbClr val="FF6600"/>
                  </a:solidFill>
                </a:uFill>
                <a:latin typeface="Tahoma"/>
                <a:cs typeface="Tahoma"/>
              </a:rPr>
              <a:t>Integrity</a:t>
            </a:r>
            <a:endParaRPr sz="2400">
              <a:latin typeface="Tahoma"/>
              <a:cs typeface="Tahoma"/>
            </a:endParaRPr>
          </a:p>
          <a:p>
            <a:pPr marL="683260" marR="11430" lvl="1" indent="-326390">
              <a:lnSpc>
                <a:spcPts val="2380"/>
              </a:lnSpc>
              <a:spcBef>
                <a:spcPts val="555"/>
              </a:spcBef>
              <a:buClr>
                <a:srgbClr val="003399"/>
              </a:buClr>
              <a:buSzPct val="59090"/>
              <a:buFont typeface="Wingdings"/>
              <a:buChar char=""/>
              <a:tabLst>
                <a:tab pos="683260" algn="l"/>
              </a:tabLst>
            </a:pPr>
            <a:r>
              <a:rPr sz="2200" dirty="0">
                <a:latin typeface="Tahoma"/>
                <a:cs typeface="Tahoma"/>
              </a:rPr>
              <a:t>“Guarding</a:t>
            </a:r>
            <a:r>
              <a:rPr sz="2200" spc="-75" dirty="0">
                <a:latin typeface="Tahoma"/>
                <a:cs typeface="Tahoma"/>
              </a:rPr>
              <a:t> </a:t>
            </a:r>
            <a:r>
              <a:rPr sz="2200" dirty="0">
                <a:latin typeface="Tahoma"/>
                <a:cs typeface="Tahoma"/>
              </a:rPr>
              <a:t>against</a:t>
            </a:r>
            <a:r>
              <a:rPr sz="2200" spc="-65" dirty="0">
                <a:latin typeface="Tahoma"/>
                <a:cs typeface="Tahoma"/>
              </a:rPr>
              <a:t> </a:t>
            </a:r>
            <a:r>
              <a:rPr sz="2200" dirty="0">
                <a:latin typeface="Tahoma"/>
                <a:cs typeface="Tahoma"/>
              </a:rPr>
              <a:t>improper</a:t>
            </a:r>
            <a:r>
              <a:rPr sz="2200" spc="-60" dirty="0">
                <a:latin typeface="Tahoma"/>
                <a:cs typeface="Tahoma"/>
              </a:rPr>
              <a:t> </a:t>
            </a:r>
            <a:r>
              <a:rPr sz="2200" dirty="0">
                <a:latin typeface="Tahoma"/>
                <a:cs typeface="Tahoma"/>
              </a:rPr>
              <a:t>information</a:t>
            </a:r>
            <a:r>
              <a:rPr sz="2200" spc="-95" dirty="0">
                <a:latin typeface="Tahoma"/>
                <a:cs typeface="Tahoma"/>
              </a:rPr>
              <a:t> </a:t>
            </a:r>
            <a:r>
              <a:rPr sz="2200" u="sng" dirty="0">
                <a:solidFill>
                  <a:srgbClr val="FF6600"/>
                </a:solidFill>
                <a:uFill>
                  <a:solidFill>
                    <a:srgbClr val="FF6600"/>
                  </a:solidFill>
                </a:uFill>
                <a:latin typeface="Tahoma"/>
                <a:cs typeface="Tahoma"/>
              </a:rPr>
              <a:t>modification</a:t>
            </a:r>
            <a:r>
              <a:rPr sz="2200" spc="-60" dirty="0">
                <a:solidFill>
                  <a:srgbClr val="FF6600"/>
                </a:solidFill>
                <a:latin typeface="Tahoma"/>
                <a:cs typeface="Tahoma"/>
              </a:rPr>
              <a:t> </a:t>
            </a:r>
            <a:r>
              <a:rPr sz="2200" dirty="0">
                <a:latin typeface="Tahoma"/>
                <a:cs typeface="Tahoma"/>
              </a:rPr>
              <a:t>or</a:t>
            </a:r>
            <a:r>
              <a:rPr sz="2200" spc="-65" dirty="0">
                <a:latin typeface="Tahoma"/>
                <a:cs typeface="Tahoma"/>
              </a:rPr>
              <a:t> </a:t>
            </a:r>
            <a:r>
              <a:rPr sz="2200" u="sng" dirty="0">
                <a:solidFill>
                  <a:srgbClr val="FF6600"/>
                </a:solidFill>
                <a:uFill>
                  <a:solidFill>
                    <a:srgbClr val="FF6600"/>
                  </a:solidFill>
                </a:uFill>
                <a:latin typeface="Tahoma"/>
                <a:cs typeface="Tahoma"/>
              </a:rPr>
              <a:t>destruction</a:t>
            </a:r>
            <a:r>
              <a:rPr sz="2200" dirty="0">
                <a:latin typeface="Tahoma"/>
                <a:cs typeface="Tahoma"/>
              </a:rPr>
              <a:t>,</a:t>
            </a:r>
            <a:r>
              <a:rPr sz="2200" spc="-40" dirty="0">
                <a:latin typeface="Tahoma"/>
                <a:cs typeface="Tahoma"/>
              </a:rPr>
              <a:t> </a:t>
            </a:r>
            <a:r>
              <a:rPr sz="2200" dirty="0">
                <a:latin typeface="Tahoma"/>
                <a:cs typeface="Tahoma"/>
              </a:rPr>
              <a:t>and</a:t>
            </a:r>
            <a:r>
              <a:rPr sz="2200" spc="-80" dirty="0">
                <a:latin typeface="Tahoma"/>
                <a:cs typeface="Tahoma"/>
              </a:rPr>
              <a:t> </a:t>
            </a:r>
            <a:r>
              <a:rPr sz="2200" spc="-10" dirty="0">
                <a:latin typeface="Tahoma"/>
                <a:cs typeface="Tahoma"/>
              </a:rPr>
              <a:t>includes </a:t>
            </a:r>
            <a:r>
              <a:rPr sz="2200" dirty="0">
                <a:latin typeface="Tahoma"/>
                <a:cs typeface="Tahoma"/>
              </a:rPr>
              <a:t>ensuring</a:t>
            </a:r>
            <a:r>
              <a:rPr sz="2200" spc="-55" dirty="0">
                <a:latin typeface="Tahoma"/>
                <a:cs typeface="Tahoma"/>
              </a:rPr>
              <a:t> </a:t>
            </a:r>
            <a:r>
              <a:rPr sz="2200" dirty="0">
                <a:latin typeface="Tahoma"/>
                <a:cs typeface="Tahoma"/>
              </a:rPr>
              <a:t>information</a:t>
            </a:r>
            <a:r>
              <a:rPr sz="2200" spc="-40" dirty="0">
                <a:latin typeface="Tahoma"/>
                <a:cs typeface="Tahoma"/>
              </a:rPr>
              <a:t> </a:t>
            </a:r>
            <a:r>
              <a:rPr sz="2200" spc="-30" dirty="0">
                <a:latin typeface="Tahoma"/>
                <a:cs typeface="Tahoma"/>
              </a:rPr>
              <a:t>non-</a:t>
            </a:r>
            <a:r>
              <a:rPr sz="2200" dirty="0">
                <a:latin typeface="Tahoma"/>
                <a:cs typeface="Tahoma"/>
              </a:rPr>
              <a:t>repudiation</a:t>
            </a:r>
            <a:r>
              <a:rPr sz="2200" spc="-30" dirty="0">
                <a:latin typeface="Tahoma"/>
                <a:cs typeface="Tahoma"/>
              </a:rPr>
              <a:t> </a:t>
            </a:r>
            <a:r>
              <a:rPr sz="2200" dirty="0">
                <a:latin typeface="Tahoma"/>
                <a:cs typeface="Tahoma"/>
              </a:rPr>
              <a:t>and</a:t>
            </a:r>
            <a:r>
              <a:rPr sz="2200" spc="-65" dirty="0">
                <a:latin typeface="Tahoma"/>
                <a:cs typeface="Tahoma"/>
              </a:rPr>
              <a:t> </a:t>
            </a:r>
            <a:r>
              <a:rPr sz="2200" spc="-10" dirty="0">
                <a:latin typeface="Tahoma"/>
                <a:cs typeface="Tahoma"/>
              </a:rPr>
              <a:t>authenticity.”</a:t>
            </a:r>
            <a:endParaRPr sz="2200">
              <a:latin typeface="Tahoma"/>
              <a:cs typeface="Tahoma"/>
            </a:endParaRPr>
          </a:p>
          <a:p>
            <a:pPr lvl="1">
              <a:lnSpc>
                <a:spcPct val="100000"/>
              </a:lnSpc>
              <a:spcBef>
                <a:spcPts val="500"/>
              </a:spcBef>
              <a:buClr>
                <a:srgbClr val="003399"/>
              </a:buClr>
              <a:buFont typeface="Wingdings"/>
              <a:buChar char=""/>
            </a:pPr>
            <a:endParaRPr sz="2200">
              <a:latin typeface="Tahoma"/>
              <a:cs typeface="Tahoma"/>
            </a:endParaRPr>
          </a:p>
          <a:p>
            <a:pPr marL="354965" indent="-342265">
              <a:lnSpc>
                <a:spcPct val="100000"/>
              </a:lnSpc>
              <a:spcBef>
                <a:spcPts val="5"/>
              </a:spcBef>
              <a:buClr>
                <a:srgbClr val="003399"/>
              </a:buClr>
              <a:buSzPct val="64583"/>
              <a:buFont typeface="Wingdings"/>
              <a:buChar char=""/>
              <a:tabLst>
                <a:tab pos="354965" algn="l"/>
              </a:tabLst>
            </a:pPr>
            <a:r>
              <a:rPr sz="2400" u="sng" spc="-10" dirty="0">
                <a:solidFill>
                  <a:srgbClr val="FF6600"/>
                </a:solidFill>
                <a:uFill>
                  <a:solidFill>
                    <a:srgbClr val="FF6600"/>
                  </a:solidFill>
                </a:uFill>
                <a:latin typeface="Tahoma"/>
                <a:cs typeface="Tahoma"/>
              </a:rPr>
              <a:t>Availability</a:t>
            </a:r>
            <a:endParaRPr sz="2400">
              <a:latin typeface="Tahoma"/>
              <a:cs typeface="Tahoma"/>
            </a:endParaRPr>
          </a:p>
          <a:p>
            <a:pPr marL="682625" lvl="1" indent="-325755">
              <a:lnSpc>
                <a:spcPct val="100000"/>
              </a:lnSpc>
              <a:spcBef>
                <a:spcPts val="259"/>
              </a:spcBef>
              <a:buClr>
                <a:srgbClr val="003399"/>
              </a:buClr>
              <a:buSzPct val="59090"/>
              <a:buFont typeface="Wingdings"/>
              <a:buChar char=""/>
              <a:tabLst>
                <a:tab pos="682625" algn="l"/>
              </a:tabLst>
            </a:pPr>
            <a:r>
              <a:rPr sz="2200" dirty="0">
                <a:latin typeface="Tahoma"/>
                <a:cs typeface="Tahoma"/>
              </a:rPr>
              <a:t>“Ensuring</a:t>
            </a:r>
            <a:r>
              <a:rPr sz="2200" spc="-45" dirty="0">
                <a:latin typeface="Tahoma"/>
                <a:cs typeface="Tahoma"/>
              </a:rPr>
              <a:t> </a:t>
            </a:r>
            <a:r>
              <a:rPr sz="2200" u="sng" dirty="0">
                <a:solidFill>
                  <a:srgbClr val="FF6600"/>
                </a:solidFill>
                <a:uFill>
                  <a:solidFill>
                    <a:srgbClr val="FF6600"/>
                  </a:solidFill>
                </a:uFill>
                <a:latin typeface="Tahoma"/>
                <a:cs typeface="Tahoma"/>
              </a:rPr>
              <a:t>timely</a:t>
            </a:r>
            <a:r>
              <a:rPr sz="2200" spc="-15" dirty="0">
                <a:solidFill>
                  <a:srgbClr val="FF6600"/>
                </a:solidFill>
                <a:latin typeface="Tahoma"/>
                <a:cs typeface="Tahoma"/>
              </a:rPr>
              <a:t> </a:t>
            </a:r>
            <a:r>
              <a:rPr sz="2200" dirty="0">
                <a:latin typeface="Tahoma"/>
                <a:cs typeface="Tahoma"/>
              </a:rPr>
              <a:t>and</a:t>
            </a:r>
            <a:r>
              <a:rPr sz="2200" spc="-40" dirty="0">
                <a:latin typeface="Tahoma"/>
                <a:cs typeface="Tahoma"/>
              </a:rPr>
              <a:t> </a:t>
            </a:r>
            <a:r>
              <a:rPr sz="2200" u="sng" dirty="0">
                <a:solidFill>
                  <a:srgbClr val="FF6600"/>
                </a:solidFill>
                <a:uFill>
                  <a:solidFill>
                    <a:srgbClr val="FF6600"/>
                  </a:solidFill>
                </a:uFill>
                <a:latin typeface="Tahoma"/>
                <a:cs typeface="Tahoma"/>
              </a:rPr>
              <a:t>reliable</a:t>
            </a:r>
            <a:r>
              <a:rPr sz="2200" spc="-30" dirty="0">
                <a:solidFill>
                  <a:srgbClr val="FF6600"/>
                </a:solidFill>
                <a:latin typeface="Tahoma"/>
                <a:cs typeface="Tahoma"/>
              </a:rPr>
              <a:t> </a:t>
            </a:r>
            <a:r>
              <a:rPr sz="2200" dirty="0">
                <a:latin typeface="Tahoma"/>
                <a:cs typeface="Tahoma"/>
              </a:rPr>
              <a:t>access</a:t>
            </a:r>
            <a:r>
              <a:rPr sz="2200" spc="-15" dirty="0">
                <a:latin typeface="Tahoma"/>
                <a:cs typeface="Tahoma"/>
              </a:rPr>
              <a:t> </a:t>
            </a:r>
            <a:r>
              <a:rPr sz="2200" dirty="0">
                <a:latin typeface="Tahoma"/>
                <a:cs typeface="Tahoma"/>
              </a:rPr>
              <a:t>and</a:t>
            </a:r>
            <a:r>
              <a:rPr sz="2200" spc="-45" dirty="0">
                <a:latin typeface="Tahoma"/>
                <a:cs typeface="Tahoma"/>
              </a:rPr>
              <a:t> </a:t>
            </a:r>
            <a:r>
              <a:rPr sz="2200" dirty="0">
                <a:latin typeface="Tahoma"/>
                <a:cs typeface="Tahoma"/>
              </a:rPr>
              <a:t>use</a:t>
            </a:r>
            <a:r>
              <a:rPr sz="2200" spc="-20" dirty="0">
                <a:latin typeface="Tahoma"/>
                <a:cs typeface="Tahoma"/>
              </a:rPr>
              <a:t> </a:t>
            </a:r>
            <a:r>
              <a:rPr sz="2200" dirty="0">
                <a:latin typeface="Tahoma"/>
                <a:cs typeface="Tahoma"/>
              </a:rPr>
              <a:t>of</a:t>
            </a:r>
            <a:r>
              <a:rPr sz="2200" spc="-30" dirty="0">
                <a:latin typeface="Tahoma"/>
                <a:cs typeface="Tahoma"/>
              </a:rPr>
              <a:t> </a:t>
            </a:r>
            <a:r>
              <a:rPr sz="2200" spc="-10" dirty="0">
                <a:latin typeface="Tahoma"/>
                <a:cs typeface="Tahoma"/>
              </a:rPr>
              <a:t>information.”</a:t>
            </a:r>
            <a:endParaRPr sz="2200">
              <a:latin typeface="Tahoma"/>
              <a:cs typeface="Tahom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383540" y="143967"/>
            <a:ext cx="3124835" cy="635000"/>
          </a:xfrm>
          <a:prstGeom prst="rect">
            <a:avLst/>
          </a:prstGeom>
        </p:spPr>
        <p:txBody>
          <a:bodyPr vert="horz" wrap="square" lIns="0" tIns="12065" rIns="0" bIns="0" rtlCol="0">
            <a:spAutoFit/>
          </a:bodyPr>
          <a:lstStyle/>
          <a:p>
            <a:pPr marL="12700">
              <a:lnSpc>
                <a:spcPct val="100000"/>
              </a:lnSpc>
              <a:spcBef>
                <a:spcPts val="95"/>
              </a:spcBef>
            </a:pPr>
            <a:r>
              <a:rPr sz="4000" spc="-70" dirty="0"/>
              <a:t>Attacks</a:t>
            </a:r>
            <a:r>
              <a:rPr sz="4000" spc="-45" dirty="0"/>
              <a:t> </a:t>
            </a:r>
            <a:r>
              <a:rPr sz="4000" dirty="0"/>
              <a:t>on</a:t>
            </a:r>
            <a:r>
              <a:rPr sz="4000" spc="-30" dirty="0"/>
              <a:t> </a:t>
            </a:r>
            <a:r>
              <a:rPr sz="4000" spc="-40" dirty="0"/>
              <a:t>CIA</a:t>
            </a:r>
            <a:endParaRPr sz="4000"/>
          </a:p>
        </p:txBody>
      </p:sp>
      <p:pic>
        <p:nvPicPr>
          <p:cNvPr id="5" name="object 5"/>
          <p:cNvPicPr/>
          <p:nvPr/>
        </p:nvPicPr>
        <p:blipFill>
          <a:blip r:embed="rId3" cstate="print"/>
          <a:stretch>
            <a:fillRect/>
          </a:stretch>
        </p:blipFill>
        <p:spPr>
          <a:xfrm>
            <a:off x="380509" y="1106424"/>
            <a:ext cx="11157694" cy="4456176"/>
          </a:xfrm>
          <a:prstGeom prst="rect">
            <a:avLst/>
          </a:prstGeom>
        </p:spPr>
      </p:pic>
      <p:sp>
        <p:nvSpPr>
          <p:cNvPr id="6" name="object 6"/>
          <p:cNvSpPr txBox="1"/>
          <p:nvPr/>
        </p:nvSpPr>
        <p:spPr>
          <a:xfrm>
            <a:off x="11562842" y="6486864"/>
            <a:ext cx="278130" cy="254000"/>
          </a:xfrm>
          <a:prstGeom prst="rect">
            <a:avLst/>
          </a:prstGeom>
        </p:spPr>
        <p:txBody>
          <a:bodyPr vert="horz" wrap="square" lIns="0" tIns="0" rIns="0" bIns="0" rtlCol="0">
            <a:spAutoFit/>
          </a:bodyPr>
          <a:lstStyle/>
          <a:p>
            <a:pPr marL="38100">
              <a:lnSpc>
                <a:spcPts val="1800"/>
              </a:lnSpc>
            </a:pPr>
            <a:fld id="{81D60167-4931-47E6-BA6A-407CBD079E47}" type="slidenum">
              <a:rPr sz="1600" spc="-25" dirty="0">
                <a:latin typeface="Times New Roman"/>
                <a:cs typeface="Times New Roman"/>
              </a:rPr>
              <a:t>5</a:t>
            </a:fld>
            <a:endParaRPr sz="1600">
              <a:latin typeface="Times New Roman"/>
              <a:cs typeface="Times New Roman"/>
            </a:endParaRPr>
          </a:p>
        </p:txBody>
      </p:sp>
      <p:sp>
        <p:nvSpPr>
          <p:cNvPr id="7" name="TextBox 6"/>
          <p:cNvSpPr txBox="1"/>
          <p:nvPr/>
        </p:nvSpPr>
        <p:spPr>
          <a:xfrm>
            <a:off x="549156" y="5491735"/>
            <a:ext cx="10820400" cy="430887"/>
          </a:xfrm>
          <a:prstGeom prst="rect">
            <a:avLst/>
          </a:prstGeom>
          <a:noFill/>
        </p:spPr>
        <p:txBody>
          <a:bodyPr wrap="square" rtlCol="0">
            <a:spAutoFit/>
          </a:bodyPr>
          <a:lstStyle/>
          <a:p>
            <a:r>
              <a:rPr lang="en-US" sz="1100" b="1" dirty="0" smtClean="0"/>
              <a:t>Spyware and Malware</a:t>
            </a:r>
            <a:r>
              <a:rPr lang="en-US" sz="1100" dirty="0" smtClean="0"/>
              <a:t> are both types of malicious software that can harm computers, networks, and user data. Malware is broad term for any software designed to </a:t>
            </a:r>
            <a:r>
              <a:rPr lang="en-US" sz="1100" b="1" dirty="0" smtClean="0"/>
              <a:t>damage, disrupt, or gain unauthorized access</a:t>
            </a:r>
            <a:r>
              <a:rPr lang="en-US" sz="1100" dirty="0" smtClean="0"/>
              <a:t> to systems.</a:t>
            </a:r>
          </a:p>
        </p:txBody>
      </p:sp>
      <p:sp>
        <p:nvSpPr>
          <p:cNvPr id="13" name="Rectangle 6"/>
          <p:cNvSpPr>
            <a:spLocks noChangeArrowheads="1"/>
          </p:cNvSpPr>
          <p:nvPr/>
        </p:nvSpPr>
        <p:spPr bwMode="auto">
          <a:xfrm>
            <a:off x="533400" y="5851757"/>
            <a:ext cx="1082040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latin typeface="Arial" panose="020B0604020202020204" pitchFamily="34" charset="0"/>
              </a:rPr>
              <a:t>Spyware is a type of </a:t>
            </a:r>
            <a:r>
              <a:rPr kumimoji="0" lang="en-US" altLang="en-US" sz="1200" b="1" i="0" u="none" strike="noStrike" cap="none" normalizeH="0" baseline="0" dirty="0" smtClean="0">
                <a:ln>
                  <a:noFill/>
                </a:ln>
                <a:solidFill>
                  <a:schemeClr val="tx1"/>
                </a:solidFill>
                <a:effectLst/>
                <a:latin typeface="Arial" panose="020B0604020202020204" pitchFamily="34" charset="0"/>
              </a:rPr>
              <a:t>malware</a:t>
            </a:r>
            <a:r>
              <a:rPr kumimoji="0" lang="en-US" altLang="en-US" sz="1200" b="0" i="0" u="none" strike="noStrike" cap="none" normalizeH="0" baseline="0" dirty="0" smtClean="0">
                <a:ln>
                  <a:noFill/>
                </a:ln>
                <a:solidFill>
                  <a:schemeClr val="tx1"/>
                </a:solidFill>
                <a:effectLst/>
                <a:latin typeface="Arial" panose="020B0604020202020204" pitchFamily="34" charset="0"/>
              </a:rPr>
              <a:t> that secretly gathers information about a user’s activities without their knowledge. It can track </a:t>
            </a:r>
            <a:r>
              <a:rPr kumimoji="0" lang="en-US" altLang="en-US" sz="1200" b="1" i="0" u="none" strike="noStrike" cap="none" normalizeH="0" baseline="0" dirty="0" smtClean="0">
                <a:ln>
                  <a:noFill/>
                </a:ln>
                <a:solidFill>
                  <a:schemeClr val="tx1"/>
                </a:solidFill>
                <a:effectLst/>
                <a:latin typeface="Arial" panose="020B0604020202020204" pitchFamily="34" charset="0"/>
              </a:rPr>
              <a:t>keystrokes, browsing history, login credentials, and personal data</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p:txBody>
      </p:sp>
      <p:sp>
        <p:nvSpPr>
          <p:cNvPr id="14" name="TextBox 13"/>
          <p:cNvSpPr txBox="1"/>
          <p:nvPr/>
        </p:nvSpPr>
        <p:spPr>
          <a:xfrm>
            <a:off x="6400800" y="143967"/>
            <a:ext cx="5638800" cy="600164"/>
          </a:xfrm>
          <a:prstGeom prst="rect">
            <a:avLst/>
          </a:prstGeom>
          <a:noFill/>
        </p:spPr>
        <p:txBody>
          <a:bodyPr wrap="square" rtlCol="0">
            <a:spAutoFit/>
          </a:bodyPr>
          <a:lstStyle/>
          <a:p>
            <a:r>
              <a:rPr lang="en-US" sz="1100" b="1" dirty="0" err="1" smtClean="0"/>
              <a:t>DoS</a:t>
            </a:r>
            <a:r>
              <a:rPr lang="en-US" sz="1100" b="1" dirty="0" smtClean="0"/>
              <a:t> (Denial of Service)</a:t>
            </a:r>
            <a:r>
              <a:rPr lang="en-US" sz="1100" dirty="0" smtClean="0"/>
              <a:t> attacks overwhelm a system with excessive requests from a single source, while </a:t>
            </a:r>
            <a:r>
              <a:rPr lang="en-US" sz="1100" b="1" dirty="0" err="1" smtClean="0"/>
              <a:t>DDoS</a:t>
            </a:r>
            <a:r>
              <a:rPr lang="en-US" sz="1100" b="1" dirty="0" smtClean="0"/>
              <a:t> (Distributed Denial of Service)</a:t>
            </a:r>
            <a:r>
              <a:rPr lang="en-US" sz="1100" dirty="0" smtClean="0"/>
              <a:t> attacks originate from multiple compromised devices, making them harder to mitigate.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sz="4000" spc="-30" dirty="0"/>
              <a:t>CIA</a:t>
            </a:r>
            <a:r>
              <a:rPr sz="4000" spc="-165" dirty="0"/>
              <a:t> </a:t>
            </a:r>
            <a:r>
              <a:rPr sz="4000" dirty="0"/>
              <a:t>TRIAD</a:t>
            </a:r>
            <a:r>
              <a:rPr sz="4000" spc="-165" dirty="0"/>
              <a:t> </a:t>
            </a:r>
            <a:r>
              <a:rPr sz="4000" spc="-95" dirty="0"/>
              <a:t>(Video)</a:t>
            </a:r>
            <a:endParaRPr sz="4000"/>
          </a:p>
        </p:txBody>
      </p:sp>
      <p:sp>
        <p:nvSpPr>
          <p:cNvPr id="4" name="object 4"/>
          <p:cNvSpPr txBox="1"/>
          <p:nvPr/>
        </p:nvSpPr>
        <p:spPr>
          <a:xfrm>
            <a:off x="5926582" y="6474386"/>
            <a:ext cx="339725" cy="196850"/>
          </a:xfrm>
          <a:prstGeom prst="rect">
            <a:avLst/>
          </a:prstGeom>
        </p:spPr>
        <p:txBody>
          <a:bodyPr vert="horz" wrap="square" lIns="0" tIns="0" rIns="0" bIns="0" rtlCol="0">
            <a:spAutoFit/>
          </a:bodyPr>
          <a:lstStyle/>
          <a:p>
            <a:pPr marL="12700">
              <a:lnSpc>
                <a:spcPts val="1375"/>
              </a:lnSpc>
            </a:pPr>
            <a:r>
              <a:rPr sz="1200" dirty="0">
                <a:latin typeface="Times New Roman"/>
                <a:cs typeface="Times New Roman"/>
              </a:rPr>
              <a:t>-</a:t>
            </a:r>
            <a:r>
              <a:rPr sz="1200" spc="-55" dirty="0">
                <a:latin typeface="Times New Roman"/>
                <a:cs typeface="Times New Roman"/>
              </a:rPr>
              <a:t> </a:t>
            </a:r>
            <a:fld id="{81D60167-4931-47E6-BA6A-407CBD079E47}" type="slidenum">
              <a:rPr sz="1200" spc="-10" dirty="0">
                <a:latin typeface="Times New Roman"/>
                <a:cs typeface="Times New Roman"/>
              </a:rPr>
              <a:t>6</a:t>
            </a:fld>
            <a:r>
              <a:rPr sz="1200" spc="-45" dirty="0">
                <a:latin typeface="Times New Roman"/>
                <a:cs typeface="Times New Roman"/>
              </a:rPr>
              <a:t> </a:t>
            </a:r>
            <a:r>
              <a:rPr sz="1200" spc="-50" dirty="0">
                <a:latin typeface="Times New Roman"/>
                <a:cs typeface="Times New Roman"/>
              </a:rPr>
              <a:t>-</a:t>
            </a:r>
            <a:endParaRPr sz="1200">
              <a:latin typeface="Times New Roman"/>
              <a:cs typeface="Times New Roman"/>
            </a:endParaRPr>
          </a:p>
        </p:txBody>
      </p:sp>
      <p:sp>
        <p:nvSpPr>
          <p:cNvPr id="3" name="object 3"/>
          <p:cNvSpPr txBox="1"/>
          <p:nvPr/>
        </p:nvSpPr>
        <p:spPr>
          <a:xfrm>
            <a:off x="757451" y="3247965"/>
            <a:ext cx="6628765" cy="391160"/>
          </a:xfrm>
          <a:prstGeom prst="rect">
            <a:avLst/>
          </a:prstGeom>
        </p:spPr>
        <p:txBody>
          <a:bodyPr vert="horz" wrap="square" lIns="0" tIns="12700" rIns="0" bIns="0" rtlCol="0">
            <a:spAutoFit/>
          </a:bodyPr>
          <a:lstStyle/>
          <a:p>
            <a:pPr marL="12700">
              <a:lnSpc>
                <a:spcPct val="100000"/>
              </a:lnSpc>
              <a:spcBef>
                <a:spcPts val="100"/>
              </a:spcBef>
            </a:pPr>
            <a:r>
              <a:rPr sz="2400" u="sng" spc="-10" dirty="0">
                <a:solidFill>
                  <a:srgbClr val="996600"/>
                </a:solidFill>
                <a:uFill>
                  <a:solidFill>
                    <a:srgbClr val="996600"/>
                  </a:solidFill>
                </a:uFill>
                <a:latin typeface="Tahoma"/>
                <a:cs typeface="Tahoma"/>
                <a:hlinkClick r:id="rId2"/>
              </a:rPr>
              <a:t>https://www.youtube.com/watch?v=rwigKjEsdTc</a:t>
            </a:r>
            <a:endParaRPr sz="2400" dirty="0">
              <a:latin typeface="Tahoma"/>
              <a:cs typeface="Tahoma"/>
            </a:endParaRPr>
          </a:p>
        </p:txBody>
      </p:sp>
      <p:sp>
        <p:nvSpPr>
          <p:cNvPr id="5" name="Rectangle 4"/>
          <p:cNvSpPr/>
          <p:nvPr/>
        </p:nvSpPr>
        <p:spPr>
          <a:xfrm>
            <a:off x="762000" y="1828800"/>
            <a:ext cx="10972800" cy="369332"/>
          </a:xfrm>
          <a:prstGeom prst="rect">
            <a:avLst/>
          </a:prstGeom>
        </p:spPr>
        <p:txBody>
          <a:bodyPr wrap="square">
            <a:spAutoFit/>
          </a:bodyPr>
          <a:lstStyle/>
          <a:p>
            <a:r>
              <a:rPr lang="en-US" b="1" dirty="0" smtClean="0">
                <a:solidFill>
                  <a:srgbClr val="002060"/>
                </a:solidFill>
                <a:latin typeface="Times New Roman" panose="02020603050405020304" pitchFamily="18" charset="0"/>
                <a:cs typeface="Times New Roman" panose="02020603050405020304" pitchFamily="18" charset="0"/>
              </a:rPr>
              <a:t>https://www.youtube.com/watch?v=inWWhr5tnEA&amp;list=PLEiEAq2VkUUJfPOj5nRounXvf3n17PCft</a:t>
            </a:r>
            <a:endParaRPr lang="en-US" b="1"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383540" y="143967"/>
            <a:ext cx="4039235" cy="635000"/>
          </a:xfrm>
          <a:prstGeom prst="rect">
            <a:avLst/>
          </a:prstGeom>
        </p:spPr>
        <p:txBody>
          <a:bodyPr vert="horz" wrap="square" lIns="0" tIns="12065" rIns="0" bIns="0" rtlCol="0">
            <a:spAutoFit/>
          </a:bodyPr>
          <a:lstStyle/>
          <a:p>
            <a:pPr marL="12700">
              <a:lnSpc>
                <a:spcPct val="100000"/>
              </a:lnSpc>
              <a:spcBef>
                <a:spcPts val="95"/>
              </a:spcBef>
            </a:pPr>
            <a:r>
              <a:rPr sz="4000" spc="-55" dirty="0"/>
              <a:t>Steps</a:t>
            </a:r>
            <a:r>
              <a:rPr sz="4000" spc="-110" dirty="0"/>
              <a:t> </a:t>
            </a:r>
            <a:r>
              <a:rPr sz="4000" dirty="0"/>
              <a:t>to</a:t>
            </a:r>
            <a:r>
              <a:rPr sz="4000" spc="-130" dirty="0"/>
              <a:t> </a:t>
            </a:r>
            <a:r>
              <a:rPr sz="4000" spc="-70" dirty="0"/>
              <a:t>Fix</a:t>
            </a:r>
            <a:r>
              <a:rPr sz="4000" spc="-114" dirty="0"/>
              <a:t> </a:t>
            </a:r>
            <a:r>
              <a:rPr sz="4000" dirty="0"/>
              <a:t>a</a:t>
            </a:r>
            <a:r>
              <a:rPr sz="4000" spc="-110" dirty="0"/>
              <a:t> </a:t>
            </a:r>
            <a:r>
              <a:rPr sz="4000" spc="-65" dirty="0"/>
              <a:t>Crime</a:t>
            </a:r>
            <a:endParaRPr sz="4000"/>
          </a:p>
        </p:txBody>
      </p:sp>
      <p:pic>
        <p:nvPicPr>
          <p:cNvPr id="5" name="object 5"/>
          <p:cNvPicPr/>
          <p:nvPr/>
        </p:nvPicPr>
        <p:blipFill>
          <a:blip r:embed="rId2" cstate="print"/>
          <a:stretch>
            <a:fillRect/>
          </a:stretch>
        </p:blipFill>
        <p:spPr>
          <a:xfrm>
            <a:off x="304800" y="1219200"/>
            <a:ext cx="11480292" cy="48950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60325" marR="5080">
              <a:lnSpc>
                <a:spcPct val="100000"/>
              </a:lnSpc>
              <a:spcBef>
                <a:spcPts val="100"/>
              </a:spcBef>
              <a:tabLst>
                <a:tab pos="1275080" algn="l"/>
                <a:tab pos="5426710" algn="l"/>
                <a:tab pos="6523990" algn="l"/>
              </a:tabLst>
            </a:pPr>
            <a:r>
              <a:rPr sz="4200" spc="-25" dirty="0">
                <a:solidFill>
                  <a:srgbClr val="FF0000"/>
                </a:solidFill>
                <a:latin typeface="Arial MT"/>
                <a:cs typeface="Arial MT"/>
              </a:rPr>
              <a:t>How</a:t>
            </a:r>
            <a:r>
              <a:rPr sz="4200" dirty="0">
                <a:solidFill>
                  <a:srgbClr val="FF0000"/>
                </a:solidFill>
                <a:latin typeface="Arial MT"/>
                <a:cs typeface="Arial MT"/>
              </a:rPr>
              <a:t>	Seriously</a:t>
            </a:r>
            <a:r>
              <a:rPr sz="4200" spc="-175" dirty="0">
                <a:solidFill>
                  <a:srgbClr val="FF0000"/>
                </a:solidFill>
                <a:latin typeface="Arial MT"/>
                <a:cs typeface="Arial MT"/>
              </a:rPr>
              <a:t> </a:t>
            </a:r>
            <a:r>
              <a:rPr sz="4200" spc="-10" dirty="0">
                <a:solidFill>
                  <a:srgbClr val="FF0000"/>
                </a:solidFill>
                <a:latin typeface="Arial MT"/>
                <a:cs typeface="Arial MT"/>
              </a:rPr>
              <a:t>Should</a:t>
            </a:r>
            <a:r>
              <a:rPr sz="4200" dirty="0">
                <a:solidFill>
                  <a:srgbClr val="FF0000"/>
                </a:solidFill>
                <a:latin typeface="Arial MT"/>
                <a:cs typeface="Arial MT"/>
              </a:rPr>
              <a:t>	</a:t>
            </a:r>
            <a:r>
              <a:rPr sz="4200" spc="-25" dirty="0">
                <a:solidFill>
                  <a:srgbClr val="FF0000"/>
                </a:solidFill>
                <a:latin typeface="Arial MT"/>
                <a:cs typeface="Arial MT"/>
              </a:rPr>
              <a:t>You</a:t>
            </a:r>
            <a:r>
              <a:rPr sz="4200" dirty="0">
                <a:solidFill>
                  <a:srgbClr val="FF0000"/>
                </a:solidFill>
                <a:latin typeface="Arial MT"/>
                <a:cs typeface="Arial MT"/>
              </a:rPr>
              <a:t>	</a:t>
            </a:r>
            <a:r>
              <a:rPr sz="4200" spc="-20" dirty="0">
                <a:solidFill>
                  <a:srgbClr val="FF0000"/>
                </a:solidFill>
                <a:latin typeface="Arial MT"/>
                <a:cs typeface="Arial MT"/>
              </a:rPr>
              <a:t>Take </a:t>
            </a:r>
            <a:r>
              <a:rPr sz="4200" dirty="0">
                <a:solidFill>
                  <a:srgbClr val="FF0000"/>
                </a:solidFill>
                <a:latin typeface="Arial MT"/>
                <a:cs typeface="Arial MT"/>
              </a:rPr>
              <a:t>Threats</a:t>
            </a:r>
            <a:r>
              <a:rPr sz="4200" spc="-40" dirty="0">
                <a:solidFill>
                  <a:srgbClr val="FF0000"/>
                </a:solidFill>
                <a:latin typeface="Arial MT"/>
                <a:cs typeface="Arial MT"/>
              </a:rPr>
              <a:t> </a:t>
            </a:r>
            <a:r>
              <a:rPr sz="4200" dirty="0">
                <a:solidFill>
                  <a:srgbClr val="FF0000"/>
                </a:solidFill>
                <a:latin typeface="Arial MT"/>
                <a:cs typeface="Arial MT"/>
              </a:rPr>
              <a:t>to</a:t>
            </a:r>
            <a:r>
              <a:rPr sz="4200" spc="-5" dirty="0">
                <a:solidFill>
                  <a:srgbClr val="FF0000"/>
                </a:solidFill>
                <a:latin typeface="Arial MT"/>
                <a:cs typeface="Arial MT"/>
              </a:rPr>
              <a:t> </a:t>
            </a:r>
            <a:r>
              <a:rPr sz="4200" dirty="0">
                <a:solidFill>
                  <a:srgbClr val="FF0000"/>
                </a:solidFill>
                <a:latin typeface="Arial MT"/>
                <a:cs typeface="Arial MT"/>
              </a:rPr>
              <a:t>Network</a:t>
            </a:r>
            <a:r>
              <a:rPr sz="4200" spc="-5" dirty="0">
                <a:solidFill>
                  <a:srgbClr val="FF0000"/>
                </a:solidFill>
                <a:latin typeface="Arial MT"/>
                <a:cs typeface="Arial MT"/>
              </a:rPr>
              <a:t> </a:t>
            </a:r>
            <a:r>
              <a:rPr sz="4200" spc="-10" dirty="0">
                <a:solidFill>
                  <a:srgbClr val="FF0000"/>
                </a:solidFill>
                <a:latin typeface="Arial MT"/>
                <a:cs typeface="Arial MT"/>
              </a:rPr>
              <a:t>Security</a:t>
            </a:r>
            <a:r>
              <a:rPr sz="4200" spc="-10" dirty="0">
                <a:solidFill>
                  <a:srgbClr val="0A0405"/>
                </a:solidFill>
                <a:latin typeface="Arial MT"/>
                <a:cs typeface="Arial MT"/>
              </a:rPr>
              <a:t>?</a:t>
            </a:r>
            <a:endParaRPr sz="4200" dirty="0">
              <a:latin typeface="Arial MT"/>
              <a:cs typeface="Arial MT"/>
            </a:endParaRPr>
          </a:p>
        </p:txBody>
      </p:sp>
      <p:sp>
        <p:nvSpPr>
          <p:cNvPr id="3" name="object 3"/>
          <p:cNvSpPr txBox="1"/>
          <p:nvPr/>
        </p:nvSpPr>
        <p:spPr>
          <a:xfrm>
            <a:off x="688340" y="2171827"/>
            <a:ext cx="6320155" cy="3338829"/>
          </a:xfrm>
          <a:prstGeom prst="rect">
            <a:avLst/>
          </a:prstGeom>
        </p:spPr>
        <p:txBody>
          <a:bodyPr vert="horz" wrap="square" lIns="0" tIns="12700" rIns="0" bIns="0" rtlCol="0">
            <a:spAutoFit/>
          </a:bodyPr>
          <a:lstStyle/>
          <a:p>
            <a:pPr marL="354965" indent="-342265">
              <a:lnSpc>
                <a:spcPct val="100000"/>
              </a:lnSpc>
              <a:spcBef>
                <a:spcPts val="100"/>
              </a:spcBef>
              <a:buSzPct val="65000"/>
              <a:buFont typeface="Wingdings"/>
              <a:buChar char=""/>
              <a:tabLst>
                <a:tab pos="354965" algn="l"/>
              </a:tabLst>
            </a:pPr>
            <a:r>
              <a:rPr sz="3000" dirty="0">
                <a:solidFill>
                  <a:srgbClr val="3366CC"/>
                </a:solidFill>
                <a:latin typeface="Arial MT"/>
                <a:cs typeface="Arial MT"/>
              </a:rPr>
              <a:t>Which</a:t>
            </a:r>
            <a:r>
              <a:rPr sz="3000" spc="-15" dirty="0">
                <a:solidFill>
                  <a:srgbClr val="3366CC"/>
                </a:solidFill>
                <a:latin typeface="Arial MT"/>
                <a:cs typeface="Arial MT"/>
              </a:rPr>
              <a:t> </a:t>
            </a:r>
            <a:r>
              <a:rPr sz="3000" dirty="0">
                <a:solidFill>
                  <a:srgbClr val="3366CC"/>
                </a:solidFill>
                <a:latin typeface="Arial MT"/>
                <a:cs typeface="Arial MT"/>
              </a:rPr>
              <a:t>group</a:t>
            </a:r>
            <a:r>
              <a:rPr sz="3000" spc="-20" dirty="0">
                <a:solidFill>
                  <a:srgbClr val="3366CC"/>
                </a:solidFill>
                <a:latin typeface="Arial MT"/>
                <a:cs typeface="Arial MT"/>
              </a:rPr>
              <a:t> </a:t>
            </a:r>
            <a:r>
              <a:rPr sz="3000" dirty="0">
                <a:solidFill>
                  <a:srgbClr val="3366CC"/>
                </a:solidFill>
                <a:latin typeface="Arial MT"/>
                <a:cs typeface="Arial MT"/>
              </a:rPr>
              <a:t>do</a:t>
            </a:r>
            <a:r>
              <a:rPr sz="3000" spc="-10" dirty="0">
                <a:solidFill>
                  <a:srgbClr val="3366CC"/>
                </a:solidFill>
                <a:latin typeface="Arial MT"/>
                <a:cs typeface="Arial MT"/>
              </a:rPr>
              <a:t> </a:t>
            </a:r>
            <a:r>
              <a:rPr sz="3000" dirty="0">
                <a:solidFill>
                  <a:srgbClr val="3366CC"/>
                </a:solidFill>
                <a:latin typeface="Arial MT"/>
                <a:cs typeface="Arial MT"/>
              </a:rPr>
              <a:t>you</a:t>
            </a:r>
            <a:r>
              <a:rPr sz="3000" spc="-10" dirty="0">
                <a:solidFill>
                  <a:srgbClr val="3366CC"/>
                </a:solidFill>
                <a:latin typeface="Arial MT"/>
                <a:cs typeface="Arial MT"/>
              </a:rPr>
              <a:t> </a:t>
            </a:r>
            <a:r>
              <a:rPr sz="3000" dirty="0">
                <a:solidFill>
                  <a:srgbClr val="3366CC"/>
                </a:solidFill>
                <a:latin typeface="Arial MT"/>
                <a:cs typeface="Arial MT"/>
              </a:rPr>
              <a:t>belong</a:t>
            </a:r>
            <a:r>
              <a:rPr sz="3000" spc="-45" dirty="0">
                <a:solidFill>
                  <a:srgbClr val="3366CC"/>
                </a:solidFill>
                <a:latin typeface="Arial MT"/>
                <a:cs typeface="Arial MT"/>
              </a:rPr>
              <a:t> </a:t>
            </a:r>
            <a:r>
              <a:rPr sz="3000" spc="-25" dirty="0">
                <a:solidFill>
                  <a:srgbClr val="3366CC"/>
                </a:solidFill>
                <a:latin typeface="Arial MT"/>
                <a:cs typeface="Arial MT"/>
              </a:rPr>
              <a:t>to?</a:t>
            </a:r>
            <a:endParaRPr sz="3000">
              <a:latin typeface="Arial MT"/>
              <a:cs typeface="Arial MT"/>
            </a:endParaRPr>
          </a:p>
          <a:p>
            <a:pPr>
              <a:lnSpc>
                <a:spcPct val="100000"/>
              </a:lnSpc>
              <a:spcBef>
                <a:spcPts val="1510"/>
              </a:spcBef>
              <a:buClr>
                <a:srgbClr val="3366CC"/>
              </a:buClr>
              <a:buFont typeface="Wingdings"/>
              <a:buChar char=""/>
            </a:pPr>
            <a:endParaRPr sz="3000">
              <a:latin typeface="Arial MT"/>
              <a:cs typeface="Arial MT"/>
            </a:endParaRPr>
          </a:p>
          <a:p>
            <a:pPr marL="683260" lvl="1" indent="-326390">
              <a:lnSpc>
                <a:spcPct val="100000"/>
              </a:lnSpc>
              <a:buClr>
                <a:srgbClr val="3333CC"/>
              </a:buClr>
              <a:buSzPct val="59615"/>
              <a:buFont typeface="Wingdings"/>
              <a:buChar char=""/>
              <a:tabLst>
                <a:tab pos="683260" algn="l"/>
              </a:tabLst>
            </a:pPr>
            <a:r>
              <a:rPr sz="2600" dirty="0">
                <a:solidFill>
                  <a:srgbClr val="3366CC"/>
                </a:solidFill>
                <a:latin typeface="Arial MT"/>
                <a:cs typeface="Arial MT"/>
              </a:rPr>
              <a:t>“No</a:t>
            </a:r>
            <a:r>
              <a:rPr sz="2600" spc="-30" dirty="0">
                <a:solidFill>
                  <a:srgbClr val="3366CC"/>
                </a:solidFill>
                <a:latin typeface="Arial MT"/>
                <a:cs typeface="Arial MT"/>
              </a:rPr>
              <a:t> </a:t>
            </a:r>
            <a:r>
              <a:rPr sz="2600" dirty="0">
                <a:solidFill>
                  <a:srgbClr val="3366CC"/>
                </a:solidFill>
                <a:latin typeface="Arial MT"/>
                <a:cs typeface="Arial MT"/>
              </a:rPr>
              <a:t>one</a:t>
            </a:r>
            <a:r>
              <a:rPr sz="2600" spc="-10" dirty="0">
                <a:solidFill>
                  <a:srgbClr val="3366CC"/>
                </a:solidFill>
                <a:latin typeface="Arial MT"/>
                <a:cs typeface="Arial MT"/>
              </a:rPr>
              <a:t> </a:t>
            </a:r>
            <a:r>
              <a:rPr sz="2600" dirty="0">
                <a:solidFill>
                  <a:srgbClr val="3366CC"/>
                </a:solidFill>
                <a:latin typeface="Arial MT"/>
                <a:cs typeface="Arial MT"/>
              </a:rPr>
              <a:t>is</a:t>
            </a:r>
            <a:r>
              <a:rPr sz="2600" spc="-15" dirty="0">
                <a:solidFill>
                  <a:srgbClr val="3366CC"/>
                </a:solidFill>
                <a:latin typeface="Arial MT"/>
                <a:cs typeface="Arial MT"/>
              </a:rPr>
              <a:t> </a:t>
            </a:r>
            <a:r>
              <a:rPr sz="2600" dirty="0">
                <a:solidFill>
                  <a:srgbClr val="3366CC"/>
                </a:solidFill>
                <a:latin typeface="Arial MT"/>
                <a:cs typeface="Arial MT"/>
              </a:rPr>
              <a:t>coming</a:t>
            </a:r>
            <a:r>
              <a:rPr sz="2600" spc="-40" dirty="0">
                <a:solidFill>
                  <a:srgbClr val="3366CC"/>
                </a:solidFill>
                <a:latin typeface="Arial MT"/>
                <a:cs typeface="Arial MT"/>
              </a:rPr>
              <a:t> </a:t>
            </a:r>
            <a:r>
              <a:rPr sz="2600" dirty="0">
                <a:solidFill>
                  <a:srgbClr val="3366CC"/>
                </a:solidFill>
                <a:latin typeface="Arial MT"/>
                <a:cs typeface="Arial MT"/>
              </a:rPr>
              <a:t>after</a:t>
            </a:r>
            <a:r>
              <a:rPr sz="2600" spc="-15" dirty="0">
                <a:solidFill>
                  <a:srgbClr val="3366CC"/>
                </a:solidFill>
                <a:latin typeface="Arial MT"/>
                <a:cs typeface="Arial MT"/>
              </a:rPr>
              <a:t> </a:t>
            </a:r>
            <a:r>
              <a:rPr sz="2600" dirty="0">
                <a:solidFill>
                  <a:srgbClr val="3366CC"/>
                </a:solidFill>
                <a:latin typeface="Arial MT"/>
                <a:cs typeface="Arial MT"/>
              </a:rPr>
              <a:t>my</a:t>
            </a:r>
            <a:r>
              <a:rPr sz="2600" spc="-25" dirty="0">
                <a:solidFill>
                  <a:srgbClr val="3366CC"/>
                </a:solidFill>
                <a:latin typeface="Arial MT"/>
                <a:cs typeface="Arial MT"/>
              </a:rPr>
              <a:t> </a:t>
            </a:r>
            <a:r>
              <a:rPr sz="2600" spc="-10" dirty="0">
                <a:solidFill>
                  <a:srgbClr val="3366CC"/>
                </a:solidFill>
                <a:latin typeface="Arial MT"/>
                <a:cs typeface="Arial MT"/>
              </a:rPr>
              <a:t>computer.”</a:t>
            </a:r>
            <a:endParaRPr sz="2600">
              <a:latin typeface="Arial MT"/>
              <a:cs typeface="Arial MT"/>
            </a:endParaRPr>
          </a:p>
          <a:p>
            <a:pPr lvl="1">
              <a:lnSpc>
                <a:spcPct val="100000"/>
              </a:lnSpc>
              <a:spcBef>
                <a:spcPts val="800"/>
              </a:spcBef>
              <a:buClr>
                <a:srgbClr val="3333CC"/>
              </a:buClr>
              <a:buFont typeface="Wingdings"/>
              <a:buChar char=""/>
            </a:pPr>
            <a:endParaRPr sz="2600">
              <a:latin typeface="Arial MT"/>
              <a:cs typeface="Arial MT"/>
            </a:endParaRPr>
          </a:p>
          <a:p>
            <a:pPr marL="683260" lvl="1" indent="-326390">
              <a:lnSpc>
                <a:spcPct val="100000"/>
              </a:lnSpc>
              <a:spcBef>
                <a:spcPts val="5"/>
              </a:spcBef>
              <a:buClr>
                <a:srgbClr val="3333CC"/>
              </a:buClr>
              <a:buSzPct val="59615"/>
              <a:buFont typeface="Wingdings"/>
              <a:buChar char=""/>
              <a:tabLst>
                <a:tab pos="683260" algn="l"/>
              </a:tabLst>
            </a:pPr>
            <a:r>
              <a:rPr sz="2600" dirty="0">
                <a:solidFill>
                  <a:srgbClr val="3366CC"/>
                </a:solidFill>
                <a:latin typeface="Arial MT"/>
                <a:cs typeface="Arial MT"/>
              </a:rPr>
              <a:t>“The</a:t>
            </a:r>
            <a:r>
              <a:rPr sz="2600" spc="-15" dirty="0">
                <a:solidFill>
                  <a:srgbClr val="3366CC"/>
                </a:solidFill>
                <a:latin typeface="Arial MT"/>
                <a:cs typeface="Arial MT"/>
              </a:rPr>
              <a:t> </a:t>
            </a:r>
            <a:r>
              <a:rPr sz="2600" dirty="0">
                <a:solidFill>
                  <a:srgbClr val="3366CC"/>
                </a:solidFill>
                <a:latin typeface="Arial MT"/>
                <a:cs typeface="Arial MT"/>
              </a:rPr>
              <a:t>sky</a:t>
            </a:r>
            <a:r>
              <a:rPr sz="2600" spc="-10" dirty="0">
                <a:solidFill>
                  <a:srgbClr val="3366CC"/>
                </a:solidFill>
                <a:latin typeface="Arial MT"/>
                <a:cs typeface="Arial MT"/>
              </a:rPr>
              <a:t> </a:t>
            </a:r>
            <a:r>
              <a:rPr sz="2600" dirty="0">
                <a:solidFill>
                  <a:srgbClr val="3366CC"/>
                </a:solidFill>
                <a:latin typeface="Arial MT"/>
                <a:cs typeface="Arial MT"/>
              </a:rPr>
              <a:t>is</a:t>
            </a:r>
            <a:r>
              <a:rPr sz="2600" spc="-15" dirty="0">
                <a:solidFill>
                  <a:srgbClr val="3366CC"/>
                </a:solidFill>
                <a:latin typeface="Arial MT"/>
                <a:cs typeface="Arial MT"/>
              </a:rPr>
              <a:t> </a:t>
            </a:r>
            <a:r>
              <a:rPr sz="2600" spc="-10" dirty="0">
                <a:solidFill>
                  <a:srgbClr val="3366CC"/>
                </a:solidFill>
                <a:latin typeface="Arial MT"/>
                <a:cs typeface="Arial MT"/>
              </a:rPr>
              <a:t>falling!”</a:t>
            </a:r>
            <a:endParaRPr sz="2600">
              <a:latin typeface="Arial MT"/>
              <a:cs typeface="Arial MT"/>
            </a:endParaRPr>
          </a:p>
          <a:p>
            <a:pPr lvl="1">
              <a:lnSpc>
                <a:spcPct val="100000"/>
              </a:lnSpc>
              <a:spcBef>
                <a:spcPts val="1380"/>
              </a:spcBef>
              <a:buClr>
                <a:srgbClr val="3333CC"/>
              </a:buClr>
              <a:buFont typeface="Wingdings"/>
              <a:buChar char=""/>
            </a:pPr>
            <a:endParaRPr sz="2600">
              <a:latin typeface="Arial MT"/>
              <a:cs typeface="Arial MT"/>
            </a:endParaRPr>
          </a:p>
          <a:p>
            <a:pPr marL="683260" lvl="1" indent="-326390">
              <a:lnSpc>
                <a:spcPct val="100000"/>
              </a:lnSpc>
              <a:buClr>
                <a:srgbClr val="3333CC"/>
              </a:buClr>
              <a:buSzPct val="59615"/>
              <a:buFont typeface="Wingdings"/>
              <a:buChar char=""/>
              <a:tabLst>
                <a:tab pos="683260" algn="l"/>
              </a:tabLst>
            </a:pPr>
            <a:r>
              <a:rPr sz="2600" dirty="0">
                <a:solidFill>
                  <a:srgbClr val="3366CC"/>
                </a:solidFill>
                <a:latin typeface="Arial MT"/>
                <a:cs typeface="Arial MT"/>
              </a:rPr>
              <a:t>Middle</a:t>
            </a:r>
            <a:r>
              <a:rPr sz="2600" spc="-30" dirty="0">
                <a:solidFill>
                  <a:srgbClr val="3366CC"/>
                </a:solidFill>
                <a:latin typeface="Arial MT"/>
                <a:cs typeface="Arial MT"/>
              </a:rPr>
              <a:t> </a:t>
            </a:r>
            <a:r>
              <a:rPr sz="2600" spc="-10" dirty="0">
                <a:solidFill>
                  <a:srgbClr val="3366CC"/>
                </a:solidFill>
                <a:latin typeface="Arial MT"/>
                <a:cs typeface="Arial MT"/>
              </a:rPr>
              <a:t>ground.</a:t>
            </a:r>
            <a:endParaRPr sz="2600">
              <a:latin typeface="Arial MT"/>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383540" y="143967"/>
            <a:ext cx="2804795" cy="635000"/>
          </a:xfrm>
          <a:prstGeom prst="rect">
            <a:avLst/>
          </a:prstGeom>
        </p:spPr>
        <p:txBody>
          <a:bodyPr vert="horz" wrap="square" lIns="0" tIns="12065" rIns="0" bIns="0" rtlCol="0">
            <a:spAutoFit/>
          </a:bodyPr>
          <a:lstStyle/>
          <a:p>
            <a:pPr marL="12700">
              <a:lnSpc>
                <a:spcPct val="100000"/>
              </a:lnSpc>
              <a:spcBef>
                <a:spcPts val="95"/>
              </a:spcBef>
            </a:pPr>
            <a:r>
              <a:rPr sz="4000" spc="-95" dirty="0"/>
              <a:t>Cyber</a:t>
            </a:r>
            <a:r>
              <a:rPr sz="4000" spc="-140" dirty="0"/>
              <a:t> </a:t>
            </a:r>
            <a:r>
              <a:rPr sz="4000" spc="-70" dirty="0"/>
              <a:t>Attacks</a:t>
            </a:r>
            <a:endParaRPr sz="4000"/>
          </a:p>
        </p:txBody>
      </p:sp>
      <p:pic>
        <p:nvPicPr>
          <p:cNvPr id="5" name="object 5"/>
          <p:cNvPicPr/>
          <p:nvPr/>
        </p:nvPicPr>
        <p:blipFill>
          <a:blip r:embed="rId2" cstate="print"/>
          <a:stretch>
            <a:fillRect/>
          </a:stretch>
        </p:blipFill>
        <p:spPr>
          <a:xfrm>
            <a:off x="922019" y="1071372"/>
            <a:ext cx="9290304" cy="4262628"/>
          </a:xfrm>
          <a:prstGeom prst="rect">
            <a:avLst/>
          </a:prstGeom>
        </p:spPr>
      </p:pic>
      <p:sp>
        <p:nvSpPr>
          <p:cNvPr id="7" name="Rectangle 1"/>
          <p:cNvSpPr txBox="1">
            <a:spLocks noChangeArrowheads="1"/>
          </p:cNvSpPr>
          <p:nvPr/>
        </p:nvSpPr>
        <p:spPr bwMode="auto">
          <a:xfrm>
            <a:off x="1142999" y="5608085"/>
            <a:ext cx="9069323"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defRPr sz="2900" b="0" i="0">
                <a:solidFill>
                  <a:srgbClr val="006633"/>
                </a:solidFill>
                <a:latin typeface="Times New Roman"/>
                <a:ea typeface="+mj-ea"/>
                <a:cs typeface="Times New Roman"/>
              </a:defRPr>
            </a:lvl1pPr>
          </a:lstStyle>
          <a:p>
            <a:pPr algn="l" rtl="0" eaLnBrk="0" fontAlgn="base" hangingPunct="0">
              <a:spcBef>
                <a:spcPct val="0"/>
              </a:spcBef>
              <a:spcAft>
                <a:spcPct val="0"/>
              </a:spcAft>
            </a:pPr>
            <a:r>
              <a:rPr lang="en-US" altLang="en-US" sz="1100" b="1" dirty="0" smtClean="0">
                <a:solidFill>
                  <a:schemeClr val="tx1"/>
                </a:solidFill>
                <a:latin typeface="Arial" panose="020B0604020202020204" pitchFamily="34" charset="0"/>
              </a:rPr>
              <a:t>1.Phishing</a:t>
            </a:r>
            <a:r>
              <a:rPr lang="en-US" altLang="en-US" sz="1100" dirty="0" smtClean="0">
                <a:solidFill>
                  <a:schemeClr val="tx1"/>
                </a:solidFill>
                <a:latin typeface="Arial" panose="020B0604020202020204" pitchFamily="34" charset="0"/>
              </a:rPr>
              <a:t> – Fraudulent attempts to steal sensitive information via fake emails or websites. </a:t>
            </a:r>
            <a:r>
              <a:rPr lang="en-US" altLang="en-US" sz="1100" i="1" dirty="0" smtClean="0">
                <a:solidFill>
                  <a:schemeClr val="tx1"/>
                </a:solidFill>
                <a:latin typeface="Arial" panose="020B0604020202020204" pitchFamily="34" charset="0"/>
              </a:rPr>
              <a:t>(e.g., Spear Phishing, Email Scams)</a:t>
            </a:r>
            <a:endParaRPr lang="en-US" altLang="en-US" sz="1100" dirty="0" smtClean="0">
              <a:solidFill>
                <a:schemeClr val="tx1"/>
              </a:solidFill>
              <a:latin typeface="Arial" panose="020B0604020202020204" pitchFamily="34" charset="0"/>
            </a:endParaRPr>
          </a:p>
          <a:p>
            <a:pPr algn="l" rtl="0" eaLnBrk="0" fontAlgn="base" hangingPunct="0">
              <a:spcBef>
                <a:spcPct val="0"/>
              </a:spcBef>
              <a:spcAft>
                <a:spcPct val="0"/>
              </a:spcAft>
            </a:pPr>
            <a:r>
              <a:rPr lang="en-US" altLang="en-US" sz="1100" b="1" dirty="0" smtClean="0">
                <a:solidFill>
                  <a:schemeClr val="tx1"/>
                </a:solidFill>
                <a:latin typeface="Arial" panose="020B0604020202020204" pitchFamily="34" charset="0"/>
              </a:rPr>
              <a:t>2.Password Attack</a:t>
            </a:r>
            <a:r>
              <a:rPr lang="en-US" altLang="en-US" sz="1100" dirty="0" smtClean="0">
                <a:solidFill>
                  <a:schemeClr val="tx1"/>
                </a:solidFill>
                <a:latin typeface="Arial" panose="020B0604020202020204" pitchFamily="34" charset="0"/>
              </a:rPr>
              <a:t> – Unauthorized access attempts using stolen or guessed passwords. </a:t>
            </a:r>
            <a:r>
              <a:rPr lang="en-US" altLang="en-US" sz="1100" i="1" dirty="0" smtClean="0">
                <a:solidFill>
                  <a:schemeClr val="tx1"/>
                </a:solidFill>
                <a:latin typeface="Arial" panose="020B0604020202020204" pitchFamily="34" charset="0"/>
              </a:rPr>
              <a:t>(e.g., Brute Force, Credential Stuffing)</a:t>
            </a:r>
            <a:endParaRPr lang="en-US" altLang="en-US" sz="1100" dirty="0" smtClean="0">
              <a:solidFill>
                <a:schemeClr val="tx1"/>
              </a:solidFill>
              <a:latin typeface="Arial" panose="020B0604020202020204" pitchFamily="34" charset="0"/>
            </a:endParaRPr>
          </a:p>
          <a:p>
            <a:pPr algn="l" rtl="0" eaLnBrk="0" fontAlgn="base" hangingPunct="0">
              <a:spcBef>
                <a:spcPct val="0"/>
              </a:spcBef>
              <a:spcAft>
                <a:spcPct val="0"/>
              </a:spcAft>
            </a:pPr>
            <a:r>
              <a:rPr lang="en-US" altLang="en-US" sz="1100" b="1" dirty="0" smtClean="0">
                <a:solidFill>
                  <a:schemeClr val="tx1"/>
                </a:solidFill>
                <a:latin typeface="Arial" panose="020B0604020202020204" pitchFamily="34" charset="0"/>
              </a:rPr>
              <a:t>3.Malvertising &amp; Rogue Software</a:t>
            </a:r>
            <a:r>
              <a:rPr lang="en-US" altLang="en-US" sz="1100" dirty="0" smtClean="0">
                <a:solidFill>
                  <a:schemeClr val="tx1"/>
                </a:solidFill>
                <a:latin typeface="Arial" panose="020B0604020202020204" pitchFamily="34" charset="0"/>
              </a:rPr>
              <a:t> – Fake ads or software that deliver malware. </a:t>
            </a:r>
            <a:r>
              <a:rPr lang="en-US" altLang="en-US" sz="1100" i="1" dirty="0" smtClean="0">
                <a:solidFill>
                  <a:schemeClr val="tx1"/>
                </a:solidFill>
                <a:latin typeface="Arial" panose="020B0604020202020204" pitchFamily="34" charset="0"/>
              </a:rPr>
              <a:t>(e.g., Fake Antivirus, Pop-up Scams)</a:t>
            </a:r>
            <a:endParaRPr lang="en-US" altLang="en-US" sz="1100" dirty="0" smtClean="0">
              <a:solidFill>
                <a:schemeClr val="tx1"/>
              </a:solidFill>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36242" y="1020902"/>
            <a:ext cx="1257300" cy="470534"/>
          </a:xfrm>
          <a:prstGeom prst="rect">
            <a:avLst/>
          </a:prstGeom>
        </p:spPr>
        <p:txBody>
          <a:bodyPr vert="horz" wrap="square" lIns="0" tIns="14604" rIns="0" bIns="0" rtlCol="0">
            <a:spAutoFit/>
          </a:bodyPr>
          <a:lstStyle/>
          <a:p>
            <a:pPr marL="12700">
              <a:lnSpc>
                <a:spcPct val="100000"/>
              </a:lnSpc>
              <a:spcBef>
                <a:spcPts val="114"/>
              </a:spcBef>
            </a:pPr>
            <a:r>
              <a:rPr spc="-85" dirty="0"/>
              <a:t>Malware</a:t>
            </a:r>
          </a:p>
        </p:txBody>
      </p:sp>
      <p:pic>
        <p:nvPicPr>
          <p:cNvPr id="3" name="object 3"/>
          <p:cNvPicPr/>
          <p:nvPr/>
        </p:nvPicPr>
        <p:blipFill>
          <a:blip r:embed="rId2" cstate="print"/>
          <a:stretch>
            <a:fillRect/>
          </a:stretch>
        </p:blipFill>
        <p:spPr>
          <a:xfrm>
            <a:off x="914400" y="1752600"/>
            <a:ext cx="7342632" cy="3459560"/>
          </a:xfrm>
          <a:prstGeom prst="rect">
            <a:avLst/>
          </a:prstGeom>
        </p:spPr>
      </p:pic>
      <p:sp>
        <p:nvSpPr>
          <p:cNvPr id="5" name="Rectangle 4"/>
          <p:cNvSpPr/>
          <p:nvPr/>
        </p:nvSpPr>
        <p:spPr>
          <a:xfrm>
            <a:off x="457200" y="5845098"/>
            <a:ext cx="10591800" cy="369332"/>
          </a:xfrm>
          <a:prstGeom prst="rect">
            <a:avLst/>
          </a:prstGeom>
        </p:spPr>
        <p:txBody>
          <a:bodyPr wrap="square">
            <a:spAutoFit/>
          </a:bodyPr>
          <a:lstStyle/>
          <a:p>
            <a:r>
              <a:rPr lang="en-US" b="1" dirty="0" smtClean="0"/>
              <a:t>Key Difference:</a:t>
            </a:r>
            <a:r>
              <a:rPr lang="en-US" dirty="0" smtClean="0"/>
              <a:t> Trojans require user action to execute, while worms spread autonomously. </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771568727"/>
              </p:ext>
            </p:extLst>
          </p:nvPr>
        </p:nvGraphicFramePr>
        <p:xfrm>
          <a:off x="6400800" y="2265280"/>
          <a:ext cx="5638800" cy="365760"/>
        </p:xfrm>
        <a:graphic>
          <a:graphicData uri="http://schemas.openxmlformats.org/drawingml/2006/table">
            <a:tbl>
              <a:tblPr/>
              <a:tblGrid>
                <a:gridCol w="5638800">
                  <a:extLst>
                    <a:ext uri="{9D8B030D-6E8A-4147-A177-3AD203B41FA5}">
                      <a16:colId xmlns:a16="http://schemas.microsoft.com/office/drawing/2014/main" xmlns="" val="3543604782"/>
                    </a:ext>
                  </a:extLst>
                </a:gridCol>
              </a:tblGrid>
              <a:tr h="0">
                <a:tc>
                  <a:txBody>
                    <a:bodyPr/>
                    <a:lstStyle/>
                    <a:p>
                      <a:r>
                        <a:rPr lang="en-US" sz="1400" dirty="0"/>
                        <a:t>Malicious software disguised as legitimate to trick users into installing it</a:t>
                      </a:r>
                      <a:r>
                        <a:rPr lang="en-US" dirty="0"/>
                        <a:t>.</a:t>
                      </a:r>
                    </a:p>
                  </a:txBody>
                  <a:tcPr anchor="ctr">
                    <a:lnL>
                      <a:noFill/>
                    </a:lnL>
                    <a:lnR>
                      <a:noFill/>
                    </a:lnR>
                    <a:lnT>
                      <a:noFill/>
                    </a:lnT>
                    <a:lnB>
                      <a:noFill/>
                    </a:lnB>
                  </a:tcPr>
                </a:tc>
                <a:extLst>
                  <a:ext uri="{0D108BD9-81ED-4DB2-BD59-A6C34878D82A}">
                    <a16:rowId xmlns:a16="http://schemas.microsoft.com/office/drawing/2014/main" xmlns="" val="839943854"/>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104890064"/>
              </p:ext>
            </p:extLst>
          </p:nvPr>
        </p:nvGraphicFramePr>
        <p:xfrm>
          <a:off x="6584014" y="3512377"/>
          <a:ext cx="5105400" cy="365760"/>
        </p:xfrm>
        <a:graphic>
          <a:graphicData uri="http://schemas.openxmlformats.org/drawingml/2006/table">
            <a:tbl>
              <a:tblPr/>
              <a:tblGrid>
                <a:gridCol w="5105400">
                  <a:extLst>
                    <a:ext uri="{9D8B030D-6E8A-4147-A177-3AD203B41FA5}">
                      <a16:colId xmlns:a16="http://schemas.microsoft.com/office/drawing/2014/main" xmlns="" val="1063520221"/>
                    </a:ext>
                  </a:extLst>
                </a:gridCol>
              </a:tblGrid>
              <a:tr h="0">
                <a:tc>
                  <a:txBody>
                    <a:bodyPr/>
                    <a:lstStyle/>
                    <a:p>
                      <a:r>
                        <a:rPr lang="en-US" sz="1200" dirty="0"/>
                        <a:t>Malicious software disguised as legitimate to trick users into installing it</a:t>
                      </a:r>
                      <a:r>
                        <a:rPr lang="en-US" dirty="0" smtClean="0"/>
                        <a:t>. </a:t>
                      </a:r>
                      <a:endParaRPr lang="en-US" dirty="0"/>
                    </a:p>
                  </a:txBody>
                  <a:tcPr anchor="ctr">
                    <a:lnL>
                      <a:noFill/>
                    </a:lnL>
                    <a:lnR>
                      <a:noFill/>
                    </a:lnR>
                    <a:lnT>
                      <a:noFill/>
                    </a:lnT>
                    <a:lnB>
                      <a:noFill/>
                    </a:lnB>
                  </a:tcPr>
                </a:tc>
                <a:extLst>
                  <a:ext uri="{0D108BD9-81ED-4DB2-BD59-A6C34878D82A}">
                    <a16:rowId xmlns:a16="http://schemas.microsoft.com/office/drawing/2014/main" xmlns="" val="663724979"/>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4800" y="5644894"/>
            <a:ext cx="11480800" cy="13970"/>
          </a:xfrm>
          <a:custGeom>
            <a:avLst/>
            <a:gdLst/>
            <a:ahLst/>
            <a:cxnLst/>
            <a:rect l="l" t="t" r="r" b="b"/>
            <a:pathLst>
              <a:path w="11480800" h="13970">
                <a:moveTo>
                  <a:pt x="11480292" y="0"/>
                </a:moveTo>
                <a:lnTo>
                  <a:pt x="0" y="0"/>
                </a:lnTo>
                <a:lnTo>
                  <a:pt x="0" y="13717"/>
                </a:lnTo>
                <a:lnTo>
                  <a:pt x="11480292" y="13717"/>
                </a:lnTo>
                <a:lnTo>
                  <a:pt x="11480292" y="0"/>
                </a:lnTo>
                <a:close/>
              </a:path>
            </a:pathLst>
          </a:custGeom>
          <a:solidFill>
            <a:srgbClr val="CC9900"/>
          </a:solidFill>
        </p:spPr>
        <p:txBody>
          <a:bodyPr wrap="square" lIns="0" tIns="0" rIns="0" bIns="0" rtlCol="0"/>
          <a:lstStyle/>
          <a:p>
            <a:endParaRPr/>
          </a:p>
        </p:txBody>
      </p:sp>
      <p:grpSp>
        <p:nvGrpSpPr>
          <p:cNvPr id="3" name="object 3"/>
          <p:cNvGrpSpPr/>
          <p:nvPr/>
        </p:nvGrpSpPr>
        <p:grpSpPr>
          <a:xfrm>
            <a:off x="0" y="82296"/>
            <a:ext cx="12033885" cy="6637020"/>
            <a:chOff x="0" y="82296"/>
            <a:chExt cx="12033885" cy="6637020"/>
          </a:xfrm>
        </p:grpSpPr>
        <p:sp>
          <p:nvSpPr>
            <p:cNvPr id="4" name="object 4"/>
            <p:cNvSpPr/>
            <p:nvPr/>
          </p:nvSpPr>
          <p:spPr>
            <a:xfrm>
              <a:off x="304800" y="1581912"/>
              <a:ext cx="11480800" cy="12700"/>
            </a:xfrm>
            <a:custGeom>
              <a:avLst/>
              <a:gdLst/>
              <a:ahLst/>
              <a:cxnLst/>
              <a:rect l="l" t="t" r="r" b="b"/>
              <a:pathLst>
                <a:path w="11480800" h="12700">
                  <a:moveTo>
                    <a:pt x="11480292" y="0"/>
                  </a:moveTo>
                  <a:lnTo>
                    <a:pt x="0" y="0"/>
                  </a:lnTo>
                  <a:lnTo>
                    <a:pt x="0" y="12191"/>
                  </a:lnTo>
                  <a:lnTo>
                    <a:pt x="11480292" y="12191"/>
                  </a:lnTo>
                  <a:lnTo>
                    <a:pt x="11480292" y="0"/>
                  </a:lnTo>
                  <a:close/>
                </a:path>
              </a:pathLst>
            </a:custGeom>
            <a:solidFill>
              <a:srgbClr val="CC9900"/>
            </a:solidFill>
          </p:spPr>
          <p:txBody>
            <a:bodyPr wrap="square" lIns="0" tIns="0" rIns="0" bIns="0" rtlCol="0"/>
            <a:lstStyle/>
            <a:p>
              <a:endParaRPr/>
            </a:p>
          </p:txBody>
        </p:sp>
        <p:pic>
          <p:nvPicPr>
            <p:cNvPr id="5" name="object 5"/>
            <p:cNvPicPr/>
            <p:nvPr/>
          </p:nvPicPr>
          <p:blipFill>
            <a:blip r:embed="rId2" cstate="print"/>
            <a:stretch>
              <a:fillRect/>
            </a:stretch>
          </p:blipFill>
          <p:spPr>
            <a:xfrm>
              <a:off x="0" y="82296"/>
              <a:ext cx="12033504" cy="6637020"/>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4800" y="5644894"/>
            <a:ext cx="11480800" cy="13970"/>
          </a:xfrm>
          <a:custGeom>
            <a:avLst/>
            <a:gdLst/>
            <a:ahLst/>
            <a:cxnLst/>
            <a:rect l="l" t="t" r="r" b="b"/>
            <a:pathLst>
              <a:path w="11480800" h="13970">
                <a:moveTo>
                  <a:pt x="11480292" y="0"/>
                </a:moveTo>
                <a:lnTo>
                  <a:pt x="0" y="0"/>
                </a:lnTo>
                <a:lnTo>
                  <a:pt x="0" y="13717"/>
                </a:lnTo>
                <a:lnTo>
                  <a:pt x="11480292" y="13717"/>
                </a:lnTo>
                <a:lnTo>
                  <a:pt x="11480292" y="0"/>
                </a:lnTo>
                <a:close/>
              </a:path>
            </a:pathLst>
          </a:custGeom>
          <a:solidFill>
            <a:srgbClr val="CC9900"/>
          </a:solidFill>
        </p:spPr>
        <p:txBody>
          <a:bodyPr wrap="square" lIns="0" tIns="0" rIns="0" bIns="0" rtlCol="0"/>
          <a:lstStyle/>
          <a:p>
            <a:endParaRPr/>
          </a:p>
        </p:txBody>
      </p:sp>
      <p:sp>
        <p:nvSpPr>
          <p:cNvPr id="3" name="object 3"/>
          <p:cNvSpPr/>
          <p:nvPr/>
        </p:nvSpPr>
        <p:spPr>
          <a:xfrm>
            <a:off x="304800" y="1581911"/>
            <a:ext cx="11480800" cy="12700"/>
          </a:xfrm>
          <a:custGeom>
            <a:avLst/>
            <a:gdLst/>
            <a:ahLst/>
            <a:cxnLst/>
            <a:rect l="l" t="t" r="r" b="b"/>
            <a:pathLst>
              <a:path w="11480800" h="12700">
                <a:moveTo>
                  <a:pt x="11480292" y="0"/>
                </a:moveTo>
                <a:lnTo>
                  <a:pt x="0" y="0"/>
                </a:lnTo>
                <a:lnTo>
                  <a:pt x="0" y="12191"/>
                </a:lnTo>
                <a:lnTo>
                  <a:pt x="11480292" y="12191"/>
                </a:lnTo>
                <a:lnTo>
                  <a:pt x="11480292" y="0"/>
                </a:lnTo>
                <a:close/>
              </a:path>
            </a:pathLst>
          </a:custGeom>
          <a:solidFill>
            <a:srgbClr val="CC9900"/>
          </a:solidFill>
        </p:spPr>
        <p:txBody>
          <a:bodyPr wrap="square" lIns="0" tIns="0" rIns="0" bIns="0" rtlCol="0"/>
          <a:lstStyle/>
          <a:p>
            <a:endParaRPr/>
          </a:p>
        </p:txBody>
      </p:sp>
      <p:pic>
        <p:nvPicPr>
          <p:cNvPr id="4" name="object 4"/>
          <p:cNvPicPr/>
          <p:nvPr/>
        </p:nvPicPr>
        <p:blipFill>
          <a:blip r:embed="rId2" cstate="print"/>
          <a:stretch>
            <a:fillRect/>
          </a:stretch>
        </p:blipFill>
        <p:spPr>
          <a:xfrm>
            <a:off x="1214627" y="2141220"/>
            <a:ext cx="10204704" cy="292760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39724" rIns="0" bIns="0" rtlCol="0">
            <a:spAutoFit/>
          </a:bodyPr>
          <a:lstStyle/>
          <a:p>
            <a:pPr marL="12700">
              <a:lnSpc>
                <a:spcPct val="100000"/>
              </a:lnSpc>
              <a:spcBef>
                <a:spcPts val="114"/>
              </a:spcBef>
            </a:pPr>
            <a:r>
              <a:rPr dirty="0"/>
              <a:t>How</a:t>
            </a:r>
            <a:r>
              <a:rPr spc="-130" dirty="0"/>
              <a:t> </a:t>
            </a:r>
            <a:r>
              <a:rPr spc="-90" dirty="0"/>
              <a:t>Malware</a:t>
            </a:r>
          </a:p>
        </p:txBody>
      </p:sp>
      <p:pic>
        <p:nvPicPr>
          <p:cNvPr id="3" name="object 3"/>
          <p:cNvPicPr/>
          <p:nvPr/>
        </p:nvPicPr>
        <p:blipFill>
          <a:blip r:embed="rId2" cstate="print"/>
          <a:stretch>
            <a:fillRect/>
          </a:stretch>
        </p:blipFill>
        <p:spPr>
          <a:xfrm>
            <a:off x="2773679" y="1903475"/>
            <a:ext cx="6573011" cy="3502152"/>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5"/>
              </a:lnSpc>
            </a:pPr>
            <a:r>
              <a:rPr spc="-25" dirty="0"/>
              <a:t>37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36242" y="1020902"/>
            <a:ext cx="2016125" cy="470534"/>
          </a:xfrm>
          <a:prstGeom prst="rect">
            <a:avLst/>
          </a:prstGeom>
        </p:spPr>
        <p:txBody>
          <a:bodyPr vert="horz" wrap="square" lIns="0" tIns="14604" rIns="0" bIns="0" rtlCol="0">
            <a:spAutoFit/>
          </a:bodyPr>
          <a:lstStyle/>
          <a:p>
            <a:pPr marL="12700">
              <a:lnSpc>
                <a:spcPct val="100000"/>
              </a:lnSpc>
              <a:spcBef>
                <a:spcPts val="114"/>
              </a:spcBef>
            </a:pPr>
            <a:r>
              <a:rPr dirty="0"/>
              <a:t>How</a:t>
            </a:r>
            <a:r>
              <a:rPr spc="-65" dirty="0"/>
              <a:t> </a:t>
            </a:r>
            <a:r>
              <a:rPr dirty="0"/>
              <a:t>to</a:t>
            </a:r>
            <a:r>
              <a:rPr spc="-40" dirty="0"/>
              <a:t> </a:t>
            </a:r>
            <a:r>
              <a:rPr spc="-30" dirty="0"/>
              <a:t>Stop?</a:t>
            </a:r>
          </a:p>
        </p:txBody>
      </p:sp>
      <p:grpSp>
        <p:nvGrpSpPr>
          <p:cNvPr id="3" name="object 3"/>
          <p:cNvGrpSpPr/>
          <p:nvPr/>
        </p:nvGrpSpPr>
        <p:grpSpPr>
          <a:xfrm>
            <a:off x="1219200" y="1828800"/>
            <a:ext cx="9677400" cy="4572000"/>
            <a:chOff x="2002535" y="1740407"/>
            <a:chExt cx="8235950" cy="3874135"/>
          </a:xfrm>
        </p:grpSpPr>
        <p:pic>
          <p:nvPicPr>
            <p:cNvPr id="4" name="object 4"/>
            <p:cNvPicPr/>
            <p:nvPr/>
          </p:nvPicPr>
          <p:blipFill>
            <a:blip r:embed="rId2" cstate="print"/>
            <a:stretch>
              <a:fillRect/>
            </a:stretch>
          </p:blipFill>
          <p:spPr>
            <a:xfrm>
              <a:off x="2002535" y="1740407"/>
              <a:ext cx="1937004" cy="3774948"/>
            </a:xfrm>
            <a:prstGeom prst="rect">
              <a:avLst/>
            </a:prstGeom>
          </p:spPr>
        </p:pic>
        <p:pic>
          <p:nvPicPr>
            <p:cNvPr id="5" name="object 5"/>
            <p:cNvPicPr/>
            <p:nvPr/>
          </p:nvPicPr>
          <p:blipFill>
            <a:blip r:embed="rId3" cstate="print"/>
            <a:stretch>
              <a:fillRect/>
            </a:stretch>
          </p:blipFill>
          <p:spPr>
            <a:xfrm>
              <a:off x="2002535" y="1740407"/>
              <a:ext cx="4959096" cy="3874008"/>
            </a:xfrm>
            <a:prstGeom prst="rect">
              <a:avLst/>
            </a:prstGeom>
          </p:spPr>
        </p:pic>
        <p:pic>
          <p:nvPicPr>
            <p:cNvPr id="6" name="object 6"/>
            <p:cNvPicPr/>
            <p:nvPr/>
          </p:nvPicPr>
          <p:blipFill>
            <a:blip r:embed="rId4" cstate="print"/>
            <a:stretch>
              <a:fillRect/>
            </a:stretch>
          </p:blipFill>
          <p:spPr>
            <a:xfrm>
              <a:off x="2002535" y="1740407"/>
              <a:ext cx="8235695" cy="3874008"/>
            </a:xfrm>
            <a:prstGeom prst="rect">
              <a:avLst/>
            </a:prstGeom>
          </p:spPr>
        </p:pic>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355"/>
              </a:lnSpc>
            </a:pPr>
            <a:r>
              <a:rPr spc="-25" dirty="0"/>
              <a:t>38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36242" y="1020902"/>
            <a:ext cx="2299335" cy="470534"/>
          </a:xfrm>
          <a:prstGeom prst="rect">
            <a:avLst/>
          </a:prstGeom>
        </p:spPr>
        <p:txBody>
          <a:bodyPr vert="horz" wrap="square" lIns="0" tIns="14604" rIns="0" bIns="0" rtlCol="0">
            <a:spAutoFit/>
          </a:bodyPr>
          <a:lstStyle/>
          <a:p>
            <a:pPr marL="12700">
              <a:lnSpc>
                <a:spcPct val="100000"/>
              </a:lnSpc>
              <a:spcBef>
                <a:spcPts val="114"/>
              </a:spcBef>
            </a:pPr>
            <a:r>
              <a:rPr spc="-55" dirty="0"/>
              <a:t>Phishing</a:t>
            </a:r>
            <a:r>
              <a:rPr spc="-105" dirty="0"/>
              <a:t> </a:t>
            </a:r>
            <a:r>
              <a:rPr spc="-20" dirty="0"/>
              <a:t>Attack</a:t>
            </a:r>
          </a:p>
        </p:txBody>
      </p:sp>
      <p:grpSp>
        <p:nvGrpSpPr>
          <p:cNvPr id="3" name="object 3"/>
          <p:cNvGrpSpPr/>
          <p:nvPr/>
        </p:nvGrpSpPr>
        <p:grpSpPr>
          <a:xfrm>
            <a:off x="762000" y="1921764"/>
            <a:ext cx="10820400" cy="3180715"/>
            <a:chOff x="2036064" y="1921764"/>
            <a:chExt cx="8046720" cy="3180715"/>
          </a:xfrm>
        </p:grpSpPr>
        <p:pic>
          <p:nvPicPr>
            <p:cNvPr id="4" name="object 4"/>
            <p:cNvPicPr/>
            <p:nvPr/>
          </p:nvPicPr>
          <p:blipFill>
            <a:blip r:embed="rId2" cstate="print"/>
            <a:stretch>
              <a:fillRect/>
            </a:stretch>
          </p:blipFill>
          <p:spPr>
            <a:xfrm>
              <a:off x="2036064" y="2095500"/>
              <a:ext cx="4533899" cy="2601468"/>
            </a:xfrm>
            <a:prstGeom prst="rect">
              <a:avLst/>
            </a:prstGeom>
          </p:spPr>
        </p:pic>
        <p:pic>
          <p:nvPicPr>
            <p:cNvPr id="5" name="object 5"/>
            <p:cNvPicPr/>
            <p:nvPr/>
          </p:nvPicPr>
          <p:blipFill>
            <a:blip r:embed="rId3" cstate="print"/>
            <a:stretch>
              <a:fillRect/>
            </a:stretch>
          </p:blipFill>
          <p:spPr>
            <a:xfrm>
              <a:off x="2036064" y="1921764"/>
              <a:ext cx="8046720" cy="3180588"/>
            </a:xfrm>
            <a:prstGeom prst="rect">
              <a:avLst/>
            </a:prstGeom>
          </p:spPr>
        </p:pic>
      </p:grpSp>
      <p:sp>
        <p:nvSpPr>
          <p:cNvPr id="7" name="Rectangle 6"/>
          <p:cNvSpPr/>
          <p:nvPr/>
        </p:nvSpPr>
        <p:spPr>
          <a:xfrm>
            <a:off x="381000" y="5943600"/>
            <a:ext cx="11582400" cy="369332"/>
          </a:xfrm>
          <a:prstGeom prst="rect">
            <a:avLst/>
          </a:prstGeom>
        </p:spPr>
        <p:txBody>
          <a:bodyPr wrap="square">
            <a:spAutoFit/>
          </a:bodyPr>
          <a:lstStyle/>
          <a:p>
            <a:r>
              <a:rPr lang="en-US" b="1" dirty="0" smtClean="0">
                <a:solidFill>
                  <a:srgbClr val="00B0F0"/>
                </a:solidFill>
              </a:rPr>
              <a:t>https://www.youtube.com/watch?v=XBkzBrXlle0&amp;list=PLEiEAq2VkUUJfPOj5nRounXvf3n17PCft&amp;index=3</a:t>
            </a:r>
            <a:endParaRPr lang="en-US" b="1" dirty="0">
              <a:solidFill>
                <a:srgbClr val="00B0F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39724" rIns="0" bIns="0" rtlCol="0">
            <a:spAutoFit/>
          </a:bodyPr>
          <a:lstStyle/>
          <a:p>
            <a:pPr marL="12700">
              <a:lnSpc>
                <a:spcPct val="100000"/>
              </a:lnSpc>
              <a:spcBef>
                <a:spcPts val="114"/>
              </a:spcBef>
            </a:pPr>
            <a:r>
              <a:rPr spc="-30" dirty="0"/>
              <a:t>What</a:t>
            </a:r>
            <a:r>
              <a:rPr spc="-155" dirty="0"/>
              <a:t> </a:t>
            </a:r>
            <a:r>
              <a:rPr spc="-30" dirty="0"/>
              <a:t>is</a:t>
            </a:r>
            <a:r>
              <a:rPr spc="-150" dirty="0"/>
              <a:t> </a:t>
            </a:r>
            <a:r>
              <a:rPr spc="-50" dirty="0"/>
              <a:t>Phishing</a:t>
            </a:r>
            <a:r>
              <a:rPr spc="-130" dirty="0"/>
              <a:t> </a:t>
            </a:r>
            <a:r>
              <a:rPr spc="-20" dirty="0"/>
              <a:t>used</a:t>
            </a:r>
            <a:r>
              <a:rPr spc="-155" dirty="0"/>
              <a:t> </a:t>
            </a:r>
            <a:r>
              <a:rPr spc="-20" dirty="0"/>
              <a:t>for?</a:t>
            </a:r>
          </a:p>
        </p:txBody>
      </p:sp>
      <p:pic>
        <p:nvPicPr>
          <p:cNvPr id="3" name="object 3"/>
          <p:cNvPicPr/>
          <p:nvPr/>
        </p:nvPicPr>
        <p:blipFill>
          <a:blip r:embed="rId2" cstate="print"/>
          <a:stretch>
            <a:fillRect/>
          </a:stretch>
        </p:blipFill>
        <p:spPr>
          <a:xfrm>
            <a:off x="1066800" y="1821179"/>
            <a:ext cx="9829800" cy="3665221"/>
          </a:xfrm>
          <a:prstGeom prst="rect">
            <a:avLst/>
          </a:prstGeom>
        </p:spPr>
      </p:pic>
      <p:sp>
        <p:nvSpPr>
          <p:cNvPr id="4" name="object 4"/>
          <p:cNvSpPr txBox="1"/>
          <p:nvPr/>
        </p:nvSpPr>
        <p:spPr>
          <a:xfrm>
            <a:off x="10088626" y="5640811"/>
            <a:ext cx="162560" cy="187960"/>
          </a:xfrm>
          <a:prstGeom prst="rect">
            <a:avLst/>
          </a:prstGeom>
        </p:spPr>
        <p:txBody>
          <a:bodyPr vert="horz" wrap="square" lIns="0" tIns="0" rIns="0" bIns="0" rtlCol="0">
            <a:spAutoFit/>
          </a:bodyPr>
          <a:lstStyle/>
          <a:p>
            <a:pPr marL="12700">
              <a:lnSpc>
                <a:spcPts val="1355"/>
              </a:lnSpc>
            </a:pPr>
            <a:r>
              <a:rPr sz="1150" spc="-25" dirty="0">
                <a:latin typeface="Times New Roman"/>
                <a:cs typeface="Times New Roman"/>
              </a:rPr>
              <a:t>40</a:t>
            </a:r>
            <a:endParaRPr sz="1150">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36242" y="1020902"/>
            <a:ext cx="2888615" cy="470534"/>
          </a:xfrm>
          <a:prstGeom prst="rect">
            <a:avLst/>
          </a:prstGeom>
        </p:spPr>
        <p:txBody>
          <a:bodyPr vert="horz" wrap="square" lIns="0" tIns="14604" rIns="0" bIns="0" rtlCol="0">
            <a:spAutoFit/>
          </a:bodyPr>
          <a:lstStyle/>
          <a:p>
            <a:pPr marL="12700">
              <a:lnSpc>
                <a:spcPct val="100000"/>
              </a:lnSpc>
              <a:spcBef>
                <a:spcPts val="114"/>
              </a:spcBef>
            </a:pPr>
            <a:r>
              <a:rPr spc="-55" dirty="0"/>
              <a:t>Phishing</a:t>
            </a:r>
            <a:r>
              <a:rPr spc="-105" dirty="0"/>
              <a:t> </a:t>
            </a:r>
            <a:r>
              <a:rPr spc="-55" dirty="0"/>
              <a:t>Awareness</a:t>
            </a:r>
          </a:p>
        </p:txBody>
      </p:sp>
      <p:grpSp>
        <p:nvGrpSpPr>
          <p:cNvPr id="3" name="object 3"/>
          <p:cNvGrpSpPr/>
          <p:nvPr/>
        </p:nvGrpSpPr>
        <p:grpSpPr>
          <a:xfrm>
            <a:off x="2010155" y="1821179"/>
            <a:ext cx="8100059" cy="3610610"/>
            <a:chOff x="2010155" y="1821179"/>
            <a:chExt cx="8100059" cy="3610610"/>
          </a:xfrm>
        </p:grpSpPr>
        <p:pic>
          <p:nvPicPr>
            <p:cNvPr id="4" name="object 4"/>
            <p:cNvPicPr/>
            <p:nvPr/>
          </p:nvPicPr>
          <p:blipFill>
            <a:blip r:embed="rId2" cstate="print"/>
            <a:stretch>
              <a:fillRect/>
            </a:stretch>
          </p:blipFill>
          <p:spPr>
            <a:xfrm>
              <a:off x="5085588" y="1821179"/>
              <a:ext cx="5024627" cy="3610355"/>
            </a:xfrm>
            <a:prstGeom prst="rect">
              <a:avLst/>
            </a:prstGeom>
          </p:spPr>
        </p:pic>
        <p:pic>
          <p:nvPicPr>
            <p:cNvPr id="5" name="object 5"/>
            <p:cNvPicPr/>
            <p:nvPr/>
          </p:nvPicPr>
          <p:blipFill>
            <a:blip r:embed="rId3" cstate="print"/>
            <a:stretch>
              <a:fillRect/>
            </a:stretch>
          </p:blipFill>
          <p:spPr>
            <a:xfrm>
              <a:off x="2010155" y="1821179"/>
              <a:ext cx="8100059" cy="3610355"/>
            </a:xfrm>
            <a:prstGeom prst="rect">
              <a:avLst/>
            </a:prstGeom>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39724" rIns="0" bIns="0" rtlCol="0">
            <a:spAutoFit/>
          </a:bodyPr>
          <a:lstStyle/>
          <a:p>
            <a:pPr marL="12700">
              <a:lnSpc>
                <a:spcPct val="100000"/>
              </a:lnSpc>
              <a:spcBef>
                <a:spcPts val="114"/>
              </a:spcBef>
            </a:pPr>
            <a:r>
              <a:rPr spc="-45" dirty="0"/>
              <a:t>Password</a:t>
            </a:r>
            <a:r>
              <a:rPr spc="-135" dirty="0"/>
              <a:t> </a:t>
            </a:r>
            <a:r>
              <a:rPr spc="-30" dirty="0"/>
              <a:t>Attacks</a:t>
            </a:r>
          </a:p>
        </p:txBody>
      </p:sp>
      <p:grpSp>
        <p:nvGrpSpPr>
          <p:cNvPr id="3" name="object 3"/>
          <p:cNvGrpSpPr/>
          <p:nvPr/>
        </p:nvGrpSpPr>
        <p:grpSpPr>
          <a:xfrm>
            <a:off x="1975104" y="1821179"/>
            <a:ext cx="8263255" cy="3325495"/>
            <a:chOff x="1975104" y="1821179"/>
            <a:chExt cx="8263255" cy="3325495"/>
          </a:xfrm>
        </p:grpSpPr>
        <p:pic>
          <p:nvPicPr>
            <p:cNvPr id="4" name="object 4"/>
            <p:cNvPicPr/>
            <p:nvPr/>
          </p:nvPicPr>
          <p:blipFill>
            <a:blip r:embed="rId2" cstate="print"/>
            <a:stretch>
              <a:fillRect/>
            </a:stretch>
          </p:blipFill>
          <p:spPr>
            <a:xfrm>
              <a:off x="1975104" y="2377439"/>
              <a:ext cx="3197351" cy="2421636"/>
            </a:xfrm>
            <a:prstGeom prst="rect">
              <a:avLst/>
            </a:prstGeom>
          </p:spPr>
        </p:pic>
        <p:pic>
          <p:nvPicPr>
            <p:cNvPr id="5" name="object 5"/>
            <p:cNvPicPr/>
            <p:nvPr/>
          </p:nvPicPr>
          <p:blipFill>
            <a:blip r:embed="rId3" cstate="print"/>
            <a:stretch>
              <a:fillRect/>
            </a:stretch>
          </p:blipFill>
          <p:spPr>
            <a:xfrm>
              <a:off x="1975104" y="1821179"/>
              <a:ext cx="8263128" cy="3325367"/>
            </a:xfrm>
            <a:prstGeom prst="rect">
              <a:avLst/>
            </a:prstGeom>
          </p:spPr>
        </p:pic>
      </p:gr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355"/>
              </a:lnSpc>
            </a:pPr>
            <a:r>
              <a:rPr spc="-25" dirty="0"/>
              <a:t>42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39724" rIns="0" bIns="0" rtlCol="0">
            <a:spAutoFit/>
          </a:bodyPr>
          <a:lstStyle/>
          <a:p>
            <a:pPr marL="12700">
              <a:lnSpc>
                <a:spcPct val="100000"/>
              </a:lnSpc>
              <a:spcBef>
                <a:spcPts val="114"/>
              </a:spcBef>
            </a:pPr>
            <a:r>
              <a:rPr spc="-70" dirty="0"/>
              <a:t>Types</a:t>
            </a:r>
            <a:r>
              <a:rPr spc="-140" dirty="0"/>
              <a:t> </a:t>
            </a:r>
            <a:r>
              <a:rPr dirty="0"/>
              <a:t>of</a:t>
            </a:r>
            <a:r>
              <a:rPr spc="-40" dirty="0"/>
              <a:t> Password</a:t>
            </a:r>
            <a:r>
              <a:rPr spc="-90" dirty="0"/>
              <a:t> </a:t>
            </a:r>
            <a:r>
              <a:rPr spc="-20" dirty="0"/>
              <a:t>Attacks</a:t>
            </a:r>
          </a:p>
        </p:txBody>
      </p:sp>
      <p:pic>
        <p:nvPicPr>
          <p:cNvPr id="3" name="object 3"/>
          <p:cNvPicPr/>
          <p:nvPr/>
        </p:nvPicPr>
        <p:blipFill>
          <a:blip r:embed="rId2" cstate="print"/>
          <a:stretch>
            <a:fillRect/>
          </a:stretch>
        </p:blipFill>
        <p:spPr>
          <a:xfrm>
            <a:off x="1753044" y="1752600"/>
            <a:ext cx="9067356" cy="3291341"/>
          </a:xfrm>
          <a:prstGeom prst="rect">
            <a:avLst/>
          </a:prstGeom>
        </p:spPr>
      </p:pic>
      <p:sp>
        <p:nvSpPr>
          <p:cNvPr id="5" name="Rectangle 4"/>
          <p:cNvSpPr/>
          <p:nvPr/>
        </p:nvSpPr>
        <p:spPr>
          <a:xfrm>
            <a:off x="457200" y="5043941"/>
            <a:ext cx="10744200" cy="1569660"/>
          </a:xfrm>
          <a:prstGeom prst="rect">
            <a:avLst/>
          </a:prstGeom>
        </p:spPr>
        <p:txBody>
          <a:bodyPr wrap="square">
            <a:spAutoFit/>
          </a:bodyPr>
          <a:lstStyle/>
          <a:p>
            <a:r>
              <a:rPr lang="en-US" sz="1200" dirty="0" smtClean="0"/>
              <a:t>A </a:t>
            </a:r>
            <a:r>
              <a:rPr lang="en-US" sz="1200" b="1" dirty="0" smtClean="0"/>
              <a:t>Brute Force Attack</a:t>
            </a:r>
            <a:r>
              <a:rPr lang="en-US" sz="1200" dirty="0" smtClean="0"/>
              <a:t> is a hacking method where attackers systematically try all possible passwords or encryption keys until they find the correct one.</a:t>
            </a:r>
          </a:p>
          <a:p>
            <a:endParaRPr lang="en-US" sz="1200" b="1" dirty="0" smtClean="0"/>
          </a:p>
          <a:p>
            <a:r>
              <a:rPr lang="en-US" sz="1200" b="1" dirty="0" smtClean="0"/>
              <a:t>How It Works:</a:t>
            </a:r>
            <a:endParaRPr lang="en-US" sz="1200" dirty="0" smtClean="0"/>
          </a:p>
          <a:p>
            <a:pPr>
              <a:buFont typeface="Arial" panose="020B0604020202020204" pitchFamily="34" charset="0"/>
              <a:buChar char="•"/>
            </a:pPr>
            <a:r>
              <a:rPr lang="en-US" sz="1200" dirty="0" smtClean="0"/>
              <a:t>Repeated login attempts using </a:t>
            </a:r>
            <a:r>
              <a:rPr lang="en-US" sz="1200" b="1" dirty="0" smtClean="0"/>
              <a:t>trial-and-error</a:t>
            </a:r>
            <a:r>
              <a:rPr lang="en-US" sz="1200" dirty="0" smtClean="0"/>
              <a:t>.</a:t>
            </a:r>
          </a:p>
          <a:p>
            <a:pPr>
              <a:buFont typeface="Arial" panose="020B0604020202020204" pitchFamily="34" charset="0"/>
              <a:buChar char="•"/>
            </a:pPr>
            <a:r>
              <a:rPr lang="en-US" sz="1200" dirty="0" smtClean="0"/>
              <a:t>Automated tools generate and test </a:t>
            </a:r>
            <a:r>
              <a:rPr lang="en-US" sz="1200" b="1" dirty="0" smtClean="0"/>
              <a:t>millions of combinations</a:t>
            </a:r>
            <a:r>
              <a:rPr lang="en-US" sz="1200" dirty="0" smtClean="0"/>
              <a:t>.</a:t>
            </a:r>
          </a:p>
          <a:p>
            <a:pPr>
              <a:buFont typeface="Arial" panose="020B0604020202020204" pitchFamily="34" charset="0"/>
              <a:buChar char="•"/>
            </a:pPr>
            <a:r>
              <a:rPr lang="en-US" sz="1200" dirty="0" smtClean="0"/>
              <a:t>Targets weak passwords and unprotected systems.</a:t>
            </a:r>
          </a:p>
          <a:p>
            <a:r>
              <a:rPr lang="en-US" sz="1200" dirty="0" smtClean="0"/>
              <a:t>🔹 </a:t>
            </a:r>
            <a:r>
              <a:rPr lang="en-US" sz="1200" b="1" dirty="0" smtClean="0"/>
              <a:t>Examples:</a:t>
            </a:r>
            <a:endParaRPr lang="en-US" sz="1200" dirty="0" smtClean="0"/>
          </a:p>
          <a:p>
            <a:pPr>
              <a:buFont typeface="Arial" panose="020B0604020202020204" pitchFamily="34" charset="0"/>
              <a:buChar char="•"/>
            </a:pPr>
            <a:r>
              <a:rPr lang="en-US" sz="1200" b="1" dirty="0" smtClean="0"/>
              <a:t>Dictionary Attack</a:t>
            </a:r>
            <a:r>
              <a:rPr lang="en-US" sz="1200" dirty="0" smtClean="0"/>
              <a:t> – Using a list of common passwords.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4800" y="5644894"/>
            <a:ext cx="11480800" cy="13970"/>
          </a:xfrm>
          <a:custGeom>
            <a:avLst/>
            <a:gdLst/>
            <a:ahLst/>
            <a:cxnLst/>
            <a:rect l="l" t="t" r="r" b="b"/>
            <a:pathLst>
              <a:path w="11480800" h="13970">
                <a:moveTo>
                  <a:pt x="11480292" y="0"/>
                </a:moveTo>
                <a:lnTo>
                  <a:pt x="0" y="0"/>
                </a:lnTo>
                <a:lnTo>
                  <a:pt x="0" y="13717"/>
                </a:lnTo>
                <a:lnTo>
                  <a:pt x="11480292" y="13717"/>
                </a:lnTo>
                <a:lnTo>
                  <a:pt x="11480292" y="0"/>
                </a:lnTo>
                <a:close/>
              </a:path>
            </a:pathLst>
          </a:custGeom>
          <a:solidFill>
            <a:srgbClr val="CC9900"/>
          </a:solidFill>
        </p:spPr>
        <p:txBody>
          <a:bodyPr wrap="square" lIns="0" tIns="0" rIns="0" bIns="0" rtlCol="0"/>
          <a:lstStyle/>
          <a:p>
            <a:endParaRPr/>
          </a:p>
        </p:txBody>
      </p:sp>
      <p:grpSp>
        <p:nvGrpSpPr>
          <p:cNvPr id="3" name="object 3"/>
          <p:cNvGrpSpPr/>
          <p:nvPr/>
        </p:nvGrpSpPr>
        <p:grpSpPr>
          <a:xfrm>
            <a:off x="114300" y="405384"/>
            <a:ext cx="11671300" cy="5963920"/>
            <a:chOff x="114300" y="405384"/>
            <a:chExt cx="11671300" cy="5963920"/>
          </a:xfrm>
        </p:grpSpPr>
        <p:sp>
          <p:nvSpPr>
            <p:cNvPr id="4" name="object 4"/>
            <p:cNvSpPr/>
            <p:nvPr/>
          </p:nvSpPr>
          <p:spPr>
            <a:xfrm>
              <a:off x="304800" y="1581911"/>
              <a:ext cx="11480800" cy="12700"/>
            </a:xfrm>
            <a:custGeom>
              <a:avLst/>
              <a:gdLst/>
              <a:ahLst/>
              <a:cxnLst/>
              <a:rect l="l" t="t" r="r" b="b"/>
              <a:pathLst>
                <a:path w="11480800" h="12700">
                  <a:moveTo>
                    <a:pt x="11480292" y="0"/>
                  </a:moveTo>
                  <a:lnTo>
                    <a:pt x="0" y="0"/>
                  </a:lnTo>
                  <a:lnTo>
                    <a:pt x="0" y="12191"/>
                  </a:lnTo>
                  <a:lnTo>
                    <a:pt x="11480292" y="12191"/>
                  </a:lnTo>
                  <a:lnTo>
                    <a:pt x="11480292" y="0"/>
                  </a:lnTo>
                  <a:close/>
                </a:path>
              </a:pathLst>
            </a:custGeom>
            <a:solidFill>
              <a:srgbClr val="CC9900"/>
            </a:solidFill>
          </p:spPr>
          <p:txBody>
            <a:bodyPr wrap="square" lIns="0" tIns="0" rIns="0" bIns="0" rtlCol="0"/>
            <a:lstStyle/>
            <a:p>
              <a:endParaRPr/>
            </a:p>
          </p:txBody>
        </p:sp>
        <p:pic>
          <p:nvPicPr>
            <p:cNvPr id="5" name="object 5"/>
            <p:cNvPicPr/>
            <p:nvPr/>
          </p:nvPicPr>
          <p:blipFill>
            <a:blip r:embed="rId2" cstate="print"/>
            <a:stretch>
              <a:fillRect/>
            </a:stretch>
          </p:blipFill>
          <p:spPr>
            <a:xfrm>
              <a:off x="114300" y="405384"/>
              <a:ext cx="11641836" cy="5963412"/>
            </a:xfrm>
            <a:prstGeom prst="rect">
              <a:avLst/>
            </a:prstGeom>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39724" rIns="0" bIns="0" rtlCol="0">
            <a:spAutoFit/>
          </a:bodyPr>
          <a:lstStyle/>
          <a:p>
            <a:pPr marL="12700">
              <a:lnSpc>
                <a:spcPct val="100000"/>
              </a:lnSpc>
              <a:spcBef>
                <a:spcPts val="114"/>
              </a:spcBef>
            </a:pPr>
            <a:r>
              <a:rPr spc="-10" dirty="0"/>
              <a:t>Stop</a:t>
            </a:r>
            <a:r>
              <a:rPr spc="-150" dirty="0"/>
              <a:t> </a:t>
            </a:r>
            <a:r>
              <a:rPr spc="-40" dirty="0"/>
              <a:t>Password</a:t>
            </a:r>
            <a:r>
              <a:rPr spc="-140" dirty="0"/>
              <a:t> </a:t>
            </a:r>
            <a:r>
              <a:rPr spc="-25" dirty="0"/>
              <a:t>Attacks</a:t>
            </a:r>
          </a:p>
        </p:txBody>
      </p:sp>
      <p:grpSp>
        <p:nvGrpSpPr>
          <p:cNvPr id="3" name="object 3"/>
          <p:cNvGrpSpPr/>
          <p:nvPr/>
        </p:nvGrpSpPr>
        <p:grpSpPr>
          <a:xfrm>
            <a:off x="1880616" y="1682495"/>
            <a:ext cx="8357870" cy="3909060"/>
            <a:chOff x="1880616" y="1682495"/>
            <a:chExt cx="8357870" cy="3909060"/>
          </a:xfrm>
        </p:grpSpPr>
        <p:pic>
          <p:nvPicPr>
            <p:cNvPr id="4" name="object 4"/>
            <p:cNvPicPr/>
            <p:nvPr/>
          </p:nvPicPr>
          <p:blipFill>
            <a:blip r:embed="rId2" cstate="print"/>
            <a:stretch>
              <a:fillRect/>
            </a:stretch>
          </p:blipFill>
          <p:spPr>
            <a:xfrm>
              <a:off x="1969008" y="1682495"/>
              <a:ext cx="1959864" cy="3831336"/>
            </a:xfrm>
            <a:prstGeom prst="rect">
              <a:avLst/>
            </a:prstGeom>
          </p:spPr>
        </p:pic>
        <p:pic>
          <p:nvPicPr>
            <p:cNvPr id="5" name="object 5"/>
            <p:cNvPicPr/>
            <p:nvPr/>
          </p:nvPicPr>
          <p:blipFill>
            <a:blip r:embed="rId3" cstate="print"/>
            <a:stretch>
              <a:fillRect/>
            </a:stretch>
          </p:blipFill>
          <p:spPr>
            <a:xfrm>
              <a:off x="1880616" y="1682495"/>
              <a:ext cx="5091684" cy="3909060"/>
            </a:xfrm>
            <a:prstGeom prst="rect">
              <a:avLst/>
            </a:prstGeom>
          </p:spPr>
        </p:pic>
        <p:pic>
          <p:nvPicPr>
            <p:cNvPr id="6" name="object 6"/>
            <p:cNvPicPr/>
            <p:nvPr/>
          </p:nvPicPr>
          <p:blipFill>
            <a:blip r:embed="rId4" cstate="print"/>
            <a:stretch>
              <a:fillRect/>
            </a:stretch>
          </p:blipFill>
          <p:spPr>
            <a:xfrm>
              <a:off x="1880616" y="1682495"/>
              <a:ext cx="8357616" cy="3909060"/>
            </a:xfrm>
            <a:prstGeom prst="rect">
              <a:avLst/>
            </a:prstGeom>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3048000" cy="553998"/>
          </a:xfrm>
        </p:spPr>
        <p:txBody>
          <a:bodyPr/>
          <a:lstStyle/>
          <a:p>
            <a:r>
              <a:rPr lang="en-US" sz="3600" b="1" dirty="0" smtClean="0">
                <a:solidFill>
                  <a:srgbClr val="FF0000"/>
                </a:solidFill>
              </a:rPr>
              <a:t>Class Activity </a:t>
            </a:r>
            <a:endParaRPr lang="en-US" sz="3600" b="1" dirty="0">
              <a:solidFill>
                <a:srgbClr val="FF0000"/>
              </a:solidFill>
            </a:endParaRPr>
          </a:p>
        </p:txBody>
      </p:sp>
      <p:pic>
        <p:nvPicPr>
          <p:cNvPr id="3" name="Picture 2"/>
          <p:cNvPicPr>
            <a:picLocks noChangeAspect="1"/>
          </p:cNvPicPr>
          <p:nvPr/>
        </p:nvPicPr>
        <p:blipFill>
          <a:blip r:embed="rId2"/>
          <a:stretch>
            <a:fillRect/>
          </a:stretch>
        </p:blipFill>
        <p:spPr>
          <a:xfrm>
            <a:off x="304800" y="1219200"/>
            <a:ext cx="11582400" cy="5105400"/>
          </a:xfrm>
          <a:prstGeom prst="rect">
            <a:avLst/>
          </a:prstGeom>
        </p:spPr>
      </p:pic>
    </p:spTree>
    <p:extLst>
      <p:ext uri="{BB962C8B-B14F-4D97-AF65-F5344CB8AC3E}">
        <p14:creationId xmlns:p14="http://schemas.microsoft.com/office/powerpoint/2010/main" val="37898968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442" y="304800"/>
            <a:ext cx="7722996" cy="553998"/>
          </a:xfrm>
        </p:spPr>
        <p:txBody>
          <a:bodyPr/>
          <a:lstStyle/>
          <a:p>
            <a:r>
              <a:rPr lang="en-US" sz="3600" dirty="0" smtClean="0"/>
              <a:t>Solution </a:t>
            </a:r>
            <a:endParaRPr lang="en-US" sz="3600" dirty="0"/>
          </a:p>
        </p:txBody>
      </p:sp>
      <p:pic>
        <p:nvPicPr>
          <p:cNvPr id="3" name="Picture 2"/>
          <p:cNvPicPr>
            <a:picLocks noChangeAspect="1"/>
          </p:cNvPicPr>
          <p:nvPr/>
        </p:nvPicPr>
        <p:blipFill>
          <a:blip r:embed="rId2"/>
          <a:stretch>
            <a:fillRect/>
          </a:stretch>
        </p:blipFill>
        <p:spPr>
          <a:xfrm>
            <a:off x="228600" y="1066800"/>
            <a:ext cx="11734800" cy="5410200"/>
          </a:xfrm>
          <a:prstGeom prst="rect">
            <a:avLst/>
          </a:prstGeom>
        </p:spPr>
      </p:pic>
    </p:spTree>
    <p:extLst>
      <p:ext uri="{BB962C8B-B14F-4D97-AF65-F5344CB8AC3E}">
        <p14:creationId xmlns:p14="http://schemas.microsoft.com/office/powerpoint/2010/main" val="25833347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04800" y="1066800"/>
            <a:ext cx="11506200" cy="4724400"/>
          </a:xfrm>
          <a:prstGeom prst="rect">
            <a:avLst/>
          </a:prstGeom>
        </p:spPr>
      </p:pic>
    </p:spTree>
    <p:extLst>
      <p:ext uri="{BB962C8B-B14F-4D97-AF65-F5344CB8AC3E}">
        <p14:creationId xmlns:p14="http://schemas.microsoft.com/office/powerpoint/2010/main" val="23855936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39724" rIns="0" bIns="0" rtlCol="0">
            <a:spAutoFit/>
          </a:bodyPr>
          <a:lstStyle/>
          <a:p>
            <a:pPr marL="12700">
              <a:lnSpc>
                <a:spcPct val="100000"/>
              </a:lnSpc>
              <a:spcBef>
                <a:spcPts val="114"/>
              </a:spcBef>
            </a:pPr>
            <a:r>
              <a:rPr spc="-20" dirty="0"/>
              <a:t>Distributed</a:t>
            </a:r>
            <a:r>
              <a:rPr spc="-55" dirty="0"/>
              <a:t> </a:t>
            </a:r>
            <a:r>
              <a:rPr spc="-50" dirty="0"/>
              <a:t>Denial</a:t>
            </a:r>
            <a:r>
              <a:rPr spc="-95" dirty="0"/>
              <a:t> </a:t>
            </a:r>
            <a:r>
              <a:rPr dirty="0"/>
              <a:t>of</a:t>
            </a:r>
            <a:r>
              <a:rPr spc="-5" dirty="0"/>
              <a:t> </a:t>
            </a:r>
            <a:r>
              <a:rPr spc="-90" dirty="0"/>
              <a:t>Services</a:t>
            </a:r>
            <a:r>
              <a:rPr spc="-140" dirty="0"/>
              <a:t> </a:t>
            </a:r>
            <a:r>
              <a:rPr spc="-10" dirty="0"/>
              <a:t>(DDoS)</a:t>
            </a:r>
          </a:p>
        </p:txBody>
      </p:sp>
      <p:grpSp>
        <p:nvGrpSpPr>
          <p:cNvPr id="3" name="object 3"/>
          <p:cNvGrpSpPr/>
          <p:nvPr/>
        </p:nvGrpSpPr>
        <p:grpSpPr>
          <a:xfrm>
            <a:off x="2002535" y="1901951"/>
            <a:ext cx="8153400" cy="3266440"/>
            <a:chOff x="2002535" y="1901951"/>
            <a:chExt cx="8153400" cy="3266440"/>
          </a:xfrm>
        </p:grpSpPr>
        <p:pic>
          <p:nvPicPr>
            <p:cNvPr id="4" name="object 4"/>
            <p:cNvPicPr/>
            <p:nvPr/>
          </p:nvPicPr>
          <p:blipFill>
            <a:blip r:embed="rId2" cstate="print"/>
            <a:stretch>
              <a:fillRect/>
            </a:stretch>
          </p:blipFill>
          <p:spPr>
            <a:xfrm>
              <a:off x="2002535" y="2279903"/>
              <a:ext cx="2350008" cy="2558796"/>
            </a:xfrm>
            <a:prstGeom prst="rect">
              <a:avLst/>
            </a:prstGeom>
          </p:spPr>
        </p:pic>
        <p:pic>
          <p:nvPicPr>
            <p:cNvPr id="5" name="object 5"/>
            <p:cNvPicPr/>
            <p:nvPr/>
          </p:nvPicPr>
          <p:blipFill>
            <a:blip r:embed="rId3" cstate="print"/>
            <a:stretch>
              <a:fillRect/>
            </a:stretch>
          </p:blipFill>
          <p:spPr>
            <a:xfrm>
              <a:off x="2002535" y="1901951"/>
              <a:ext cx="8153400" cy="3265932"/>
            </a:xfrm>
            <a:prstGeom prst="rect">
              <a:avLst/>
            </a:prstGeom>
          </p:spPr>
        </p:pic>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1335893" y="6448755"/>
            <a:ext cx="168910"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3366CC"/>
                </a:solidFill>
                <a:latin typeface="Times New Roman"/>
                <a:cs typeface="Times New Roman"/>
              </a:rPr>
              <a:t>55</a:t>
            </a:r>
            <a:endParaRPr sz="1200">
              <a:latin typeface="Times New Roman"/>
              <a:cs typeface="Times New Roman"/>
            </a:endParaRPr>
          </a:p>
        </p:txBody>
      </p:sp>
      <p:sp>
        <p:nvSpPr>
          <p:cNvPr id="5" name="object 5"/>
          <p:cNvSpPr txBox="1">
            <a:spLocks noGrp="1"/>
          </p:cNvSpPr>
          <p:nvPr>
            <p:ph type="title"/>
          </p:nvPr>
        </p:nvSpPr>
        <p:spPr>
          <a:xfrm>
            <a:off x="688340" y="295783"/>
            <a:ext cx="5953760" cy="665480"/>
          </a:xfrm>
          <a:prstGeom prst="rect">
            <a:avLst/>
          </a:prstGeom>
        </p:spPr>
        <p:txBody>
          <a:bodyPr vert="horz" wrap="square" lIns="0" tIns="12700" rIns="0" bIns="0" rtlCol="0">
            <a:spAutoFit/>
          </a:bodyPr>
          <a:lstStyle/>
          <a:p>
            <a:pPr marL="12700">
              <a:lnSpc>
                <a:spcPct val="100000"/>
              </a:lnSpc>
              <a:spcBef>
                <a:spcPts val="100"/>
              </a:spcBef>
              <a:tabLst>
                <a:tab pos="1673860" algn="l"/>
              </a:tabLst>
            </a:pPr>
            <a:r>
              <a:rPr sz="4200" spc="-10" dirty="0">
                <a:solidFill>
                  <a:srgbClr val="0A0405"/>
                </a:solidFill>
                <a:latin typeface="Arial MT"/>
                <a:cs typeface="Arial MT"/>
              </a:rPr>
              <a:t>Denial</a:t>
            </a:r>
            <a:r>
              <a:rPr sz="4200" dirty="0">
                <a:solidFill>
                  <a:srgbClr val="0A0405"/>
                </a:solidFill>
                <a:latin typeface="Arial MT"/>
                <a:cs typeface="Arial MT"/>
              </a:rPr>
              <a:t>	of</a:t>
            </a:r>
            <a:r>
              <a:rPr sz="4200" spc="-114" dirty="0">
                <a:solidFill>
                  <a:srgbClr val="0A0405"/>
                </a:solidFill>
                <a:latin typeface="Arial MT"/>
                <a:cs typeface="Arial MT"/>
              </a:rPr>
              <a:t> </a:t>
            </a:r>
            <a:r>
              <a:rPr sz="4200" dirty="0">
                <a:solidFill>
                  <a:srgbClr val="0A0405"/>
                </a:solidFill>
                <a:latin typeface="Arial MT"/>
                <a:cs typeface="Arial MT"/>
              </a:rPr>
              <a:t>Service</a:t>
            </a:r>
            <a:r>
              <a:rPr sz="4200" spc="-90" dirty="0">
                <a:solidFill>
                  <a:srgbClr val="0A0405"/>
                </a:solidFill>
                <a:latin typeface="Arial MT"/>
                <a:cs typeface="Arial MT"/>
              </a:rPr>
              <a:t> </a:t>
            </a:r>
            <a:r>
              <a:rPr sz="4200" spc="-10" dirty="0">
                <a:solidFill>
                  <a:srgbClr val="0A0405"/>
                </a:solidFill>
                <a:latin typeface="Arial MT"/>
                <a:cs typeface="Arial MT"/>
              </a:rPr>
              <a:t>Attacks</a:t>
            </a:r>
            <a:endParaRPr sz="4200">
              <a:latin typeface="Arial MT"/>
              <a:cs typeface="Arial MT"/>
            </a:endParaRPr>
          </a:p>
        </p:txBody>
      </p:sp>
      <p:sp>
        <p:nvSpPr>
          <p:cNvPr id="6" name="object 6"/>
          <p:cNvSpPr txBox="1"/>
          <p:nvPr/>
        </p:nvSpPr>
        <p:spPr>
          <a:xfrm>
            <a:off x="2060194" y="1622501"/>
            <a:ext cx="4196715" cy="1855470"/>
          </a:xfrm>
          <a:prstGeom prst="rect">
            <a:avLst/>
          </a:prstGeom>
        </p:spPr>
        <p:txBody>
          <a:bodyPr vert="horz" wrap="square" lIns="0" tIns="12700" rIns="0" bIns="0" rtlCol="0">
            <a:spAutoFit/>
          </a:bodyPr>
          <a:lstStyle/>
          <a:p>
            <a:pPr marL="355600" marR="5080" indent="-342900">
              <a:lnSpc>
                <a:spcPct val="100000"/>
              </a:lnSpc>
              <a:spcBef>
                <a:spcPts val="100"/>
              </a:spcBef>
              <a:buSzPct val="65000"/>
              <a:buFont typeface="Wingdings"/>
              <a:buChar char=""/>
              <a:tabLst>
                <a:tab pos="355600" algn="l"/>
              </a:tabLst>
            </a:pPr>
            <a:r>
              <a:rPr sz="3000" dirty="0">
                <a:solidFill>
                  <a:srgbClr val="3366CC"/>
                </a:solidFill>
                <a:latin typeface="Arial MT"/>
                <a:cs typeface="Arial MT"/>
              </a:rPr>
              <a:t>The</a:t>
            </a:r>
            <a:r>
              <a:rPr sz="3000" spc="-20" dirty="0">
                <a:solidFill>
                  <a:srgbClr val="3366CC"/>
                </a:solidFill>
                <a:latin typeface="Arial MT"/>
                <a:cs typeface="Arial MT"/>
              </a:rPr>
              <a:t> </a:t>
            </a:r>
            <a:r>
              <a:rPr sz="3000" dirty="0">
                <a:solidFill>
                  <a:srgbClr val="3366CC"/>
                </a:solidFill>
                <a:latin typeface="Arial MT"/>
                <a:cs typeface="Arial MT"/>
              </a:rPr>
              <a:t>attacker</a:t>
            </a:r>
            <a:r>
              <a:rPr sz="3000" spc="-15" dirty="0">
                <a:solidFill>
                  <a:srgbClr val="3366CC"/>
                </a:solidFill>
                <a:latin typeface="Arial MT"/>
                <a:cs typeface="Arial MT"/>
              </a:rPr>
              <a:t> </a:t>
            </a:r>
            <a:r>
              <a:rPr sz="3000" dirty="0">
                <a:solidFill>
                  <a:srgbClr val="3366CC"/>
                </a:solidFill>
                <a:latin typeface="Arial MT"/>
                <a:cs typeface="Arial MT"/>
              </a:rPr>
              <a:t>does</a:t>
            </a:r>
            <a:r>
              <a:rPr sz="3000" spc="-35" dirty="0">
                <a:solidFill>
                  <a:srgbClr val="3366CC"/>
                </a:solidFill>
                <a:latin typeface="Arial MT"/>
                <a:cs typeface="Arial MT"/>
              </a:rPr>
              <a:t> </a:t>
            </a:r>
            <a:r>
              <a:rPr sz="3000" spc="-25" dirty="0">
                <a:solidFill>
                  <a:srgbClr val="3366CC"/>
                </a:solidFill>
                <a:latin typeface="Arial MT"/>
                <a:cs typeface="Arial MT"/>
              </a:rPr>
              <a:t>not </a:t>
            </a:r>
            <a:r>
              <a:rPr sz="3000" dirty="0">
                <a:solidFill>
                  <a:srgbClr val="3366CC"/>
                </a:solidFill>
                <a:latin typeface="Arial MT"/>
                <a:cs typeface="Arial MT"/>
              </a:rPr>
              <a:t>intrude</a:t>
            </a:r>
            <a:r>
              <a:rPr sz="3000" spc="-50" dirty="0">
                <a:solidFill>
                  <a:srgbClr val="3366CC"/>
                </a:solidFill>
                <a:latin typeface="Arial MT"/>
                <a:cs typeface="Arial MT"/>
              </a:rPr>
              <a:t> </a:t>
            </a:r>
            <a:r>
              <a:rPr sz="3000" dirty="0">
                <a:solidFill>
                  <a:srgbClr val="3366CC"/>
                </a:solidFill>
                <a:latin typeface="Arial MT"/>
                <a:cs typeface="Arial MT"/>
              </a:rPr>
              <a:t>into</a:t>
            </a:r>
            <a:r>
              <a:rPr sz="3000" spc="-25" dirty="0">
                <a:solidFill>
                  <a:srgbClr val="3366CC"/>
                </a:solidFill>
                <a:latin typeface="Arial MT"/>
                <a:cs typeface="Arial MT"/>
              </a:rPr>
              <a:t> </a:t>
            </a:r>
            <a:r>
              <a:rPr sz="3000" dirty="0">
                <a:solidFill>
                  <a:srgbClr val="3366CC"/>
                </a:solidFill>
                <a:latin typeface="Arial MT"/>
                <a:cs typeface="Arial MT"/>
              </a:rPr>
              <a:t>the</a:t>
            </a:r>
            <a:r>
              <a:rPr sz="3000" spc="-25" dirty="0">
                <a:solidFill>
                  <a:srgbClr val="3366CC"/>
                </a:solidFill>
                <a:latin typeface="Arial MT"/>
                <a:cs typeface="Arial MT"/>
              </a:rPr>
              <a:t> </a:t>
            </a:r>
            <a:r>
              <a:rPr sz="3000" spc="-10" dirty="0">
                <a:solidFill>
                  <a:srgbClr val="3366CC"/>
                </a:solidFill>
                <a:latin typeface="Arial MT"/>
                <a:cs typeface="Arial MT"/>
              </a:rPr>
              <a:t>system </a:t>
            </a:r>
            <a:r>
              <a:rPr sz="3000" dirty="0">
                <a:solidFill>
                  <a:srgbClr val="3366CC"/>
                </a:solidFill>
                <a:latin typeface="Arial MT"/>
                <a:cs typeface="Arial MT"/>
              </a:rPr>
              <a:t>but</a:t>
            </a:r>
            <a:r>
              <a:rPr sz="3000" spc="-10" dirty="0">
                <a:solidFill>
                  <a:srgbClr val="3366CC"/>
                </a:solidFill>
                <a:latin typeface="Arial MT"/>
                <a:cs typeface="Arial MT"/>
              </a:rPr>
              <a:t> </a:t>
            </a:r>
            <a:r>
              <a:rPr sz="3000" dirty="0">
                <a:solidFill>
                  <a:srgbClr val="3366CC"/>
                </a:solidFill>
                <a:latin typeface="Arial MT"/>
                <a:cs typeface="Arial MT"/>
              </a:rPr>
              <a:t>just blocks</a:t>
            </a:r>
            <a:r>
              <a:rPr sz="3000" spc="-20" dirty="0">
                <a:solidFill>
                  <a:srgbClr val="3366CC"/>
                </a:solidFill>
                <a:latin typeface="Arial MT"/>
                <a:cs typeface="Arial MT"/>
              </a:rPr>
              <a:t> </a:t>
            </a:r>
            <a:r>
              <a:rPr sz="3000" spc="-10" dirty="0">
                <a:solidFill>
                  <a:srgbClr val="3366CC"/>
                </a:solidFill>
                <a:latin typeface="Arial MT"/>
                <a:cs typeface="Arial MT"/>
              </a:rPr>
              <a:t>access </a:t>
            </a:r>
            <a:r>
              <a:rPr sz="3000" dirty="0">
                <a:solidFill>
                  <a:srgbClr val="3366CC"/>
                </a:solidFill>
                <a:latin typeface="Arial MT"/>
                <a:cs typeface="Arial MT"/>
              </a:rPr>
              <a:t>by</a:t>
            </a:r>
            <a:r>
              <a:rPr sz="3000" spc="-35" dirty="0">
                <a:solidFill>
                  <a:srgbClr val="3366CC"/>
                </a:solidFill>
                <a:latin typeface="Arial MT"/>
                <a:cs typeface="Arial MT"/>
              </a:rPr>
              <a:t> </a:t>
            </a:r>
            <a:r>
              <a:rPr sz="3000" dirty="0">
                <a:solidFill>
                  <a:srgbClr val="3366CC"/>
                </a:solidFill>
                <a:latin typeface="Arial MT"/>
                <a:cs typeface="Arial MT"/>
              </a:rPr>
              <a:t>authorized</a:t>
            </a:r>
            <a:r>
              <a:rPr sz="3000" spc="-35" dirty="0">
                <a:solidFill>
                  <a:srgbClr val="3366CC"/>
                </a:solidFill>
                <a:latin typeface="Arial MT"/>
                <a:cs typeface="Arial MT"/>
              </a:rPr>
              <a:t> </a:t>
            </a:r>
            <a:r>
              <a:rPr sz="3000" spc="-10" dirty="0">
                <a:solidFill>
                  <a:srgbClr val="3366CC"/>
                </a:solidFill>
                <a:latin typeface="Arial MT"/>
                <a:cs typeface="Arial MT"/>
              </a:rPr>
              <a:t>users.</a:t>
            </a:r>
            <a:endParaRPr sz="3000">
              <a:latin typeface="Arial MT"/>
              <a:cs typeface="Arial MT"/>
            </a:endParaRPr>
          </a:p>
        </p:txBody>
      </p:sp>
      <p:pic>
        <p:nvPicPr>
          <p:cNvPr id="7" name="object 7"/>
          <p:cNvPicPr/>
          <p:nvPr/>
        </p:nvPicPr>
        <p:blipFill>
          <a:blip r:embed="rId2" cstate="print"/>
          <a:stretch>
            <a:fillRect/>
          </a:stretch>
        </p:blipFill>
        <p:spPr>
          <a:xfrm>
            <a:off x="6858000" y="2110739"/>
            <a:ext cx="2895600" cy="28956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39724" rIns="0" bIns="0" rtlCol="0">
            <a:spAutoFit/>
          </a:bodyPr>
          <a:lstStyle/>
          <a:p>
            <a:pPr marL="12700">
              <a:lnSpc>
                <a:spcPct val="100000"/>
              </a:lnSpc>
              <a:spcBef>
                <a:spcPts val="114"/>
              </a:spcBef>
            </a:pPr>
            <a:r>
              <a:rPr spc="-25" dirty="0"/>
              <a:t>Prevention</a:t>
            </a:r>
          </a:p>
        </p:txBody>
      </p:sp>
      <p:pic>
        <p:nvPicPr>
          <p:cNvPr id="3" name="object 3"/>
          <p:cNvPicPr/>
          <p:nvPr/>
        </p:nvPicPr>
        <p:blipFill>
          <a:blip r:embed="rId2" cstate="print"/>
          <a:stretch>
            <a:fillRect/>
          </a:stretch>
        </p:blipFill>
        <p:spPr>
          <a:xfrm>
            <a:off x="304800" y="2013204"/>
            <a:ext cx="11658600" cy="4387596"/>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5"/>
              </a:lnSpc>
            </a:pPr>
            <a:r>
              <a:rPr spc="-25" dirty="0"/>
              <a:t>47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36242" y="1020902"/>
            <a:ext cx="2673350" cy="470534"/>
          </a:xfrm>
          <a:prstGeom prst="rect">
            <a:avLst/>
          </a:prstGeom>
        </p:spPr>
        <p:txBody>
          <a:bodyPr vert="horz" wrap="square" lIns="0" tIns="14604" rIns="0" bIns="0" rtlCol="0">
            <a:spAutoFit/>
          </a:bodyPr>
          <a:lstStyle/>
          <a:p>
            <a:pPr marL="12700">
              <a:lnSpc>
                <a:spcPct val="100000"/>
              </a:lnSpc>
              <a:spcBef>
                <a:spcPts val="114"/>
              </a:spcBef>
            </a:pPr>
            <a:r>
              <a:rPr spc="-65" dirty="0"/>
              <a:t>Man</a:t>
            </a:r>
            <a:r>
              <a:rPr spc="-135" dirty="0"/>
              <a:t> </a:t>
            </a:r>
            <a:r>
              <a:rPr dirty="0"/>
              <a:t>in</a:t>
            </a:r>
            <a:r>
              <a:rPr spc="-125" dirty="0"/>
              <a:t> </a:t>
            </a:r>
            <a:r>
              <a:rPr dirty="0"/>
              <a:t>the</a:t>
            </a:r>
            <a:r>
              <a:rPr spc="-85" dirty="0"/>
              <a:t> </a:t>
            </a:r>
            <a:r>
              <a:rPr spc="-40" dirty="0"/>
              <a:t>Middle</a:t>
            </a:r>
          </a:p>
        </p:txBody>
      </p:sp>
      <p:pic>
        <p:nvPicPr>
          <p:cNvPr id="3" name="object 3"/>
          <p:cNvPicPr/>
          <p:nvPr/>
        </p:nvPicPr>
        <p:blipFill>
          <a:blip r:embed="rId2" cstate="print"/>
          <a:stretch>
            <a:fillRect/>
          </a:stretch>
        </p:blipFill>
        <p:spPr>
          <a:xfrm>
            <a:off x="2825495" y="1821179"/>
            <a:ext cx="6467856" cy="3450336"/>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5"/>
              </a:lnSpc>
            </a:pPr>
            <a:r>
              <a:rPr spc="-25" dirty="0"/>
              <a:t>48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36242" y="1020902"/>
            <a:ext cx="2194560" cy="470534"/>
          </a:xfrm>
          <a:prstGeom prst="rect">
            <a:avLst/>
          </a:prstGeom>
        </p:spPr>
        <p:txBody>
          <a:bodyPr vert="horz" wrap="square" lIns="0" tIns="14604" rIns="0" bIns="0" rtlCol="0">
            <a:spAutoFit/>
          </a:bodyPr>
          <a:lstStyle/>
          <a:p>
            <a:pPr marL="12700">
              <a:lnSpc>
                <a:spcPct val="100000"/>
              </a:lnSpc>
              <a:spcBef>
                <a:spcPts val="114"/>
              </a:spcBef>
            </a:pPr>
            <a:r>
              <a:rPr spc="-25" dirty="0"/>
              <a:t>Prevent</a:t>
            </a:r>
            <a:r>
              <a:rPr spc="-120" dirty="0"/>
              <a:t> </a:t>
            </a:r>
            <a:r>
              <a:rPr spc="-20" dirty="0"/>
              <a:t>MITM</a:t>
            </a:r>
          </a:p>
        </p:txBody>
      </p:sp>
      <p:grpSp>
        <p:nvGrpSpPr>
          <p:cNvPr id="3" name="object 3"/>
          <p:cNvGrpSpPr/>
          <p:nvPr/>
        </p:nvGrpSpPr>
        <p:grpSpPr>
          <a:xfrm>
            <a:off x="228600" y="2098548"/>
            <a:ext cx="11734800" cy="4226052"/>
            <a:chOff x="1880616" y="2098548"/>
            <a:chExt cx="8357870" cy="3194685"/>
          </a:xfrm>
        </p:grpSpPr>
        <p:pic>
          <p:nvPicPr>
            <p:cNvPr id="4" name="object 4"/>
            <p:cNvPicPr/>
            <p:nvPr/>
          </p:nvPicPr>
          <p:blipFill>
            <a:blip r:embed="rId2" cstate="print"/>
            <a:stretch>
              <a:fillRect/>
            </a:stretch>
          </p:blipFill>
          <p:spPr>
            <a:xfrm>
              <a:off x="4671060" y="2269236"/>
              <a:ext cx="5544312" cy="2921508"/>
            </a:xfrm>
            <a:prstGeom prst="rect">
              <a:avLst/>
            </a:prstGeom>
          </p:spPr>
        </p:pic>
        <p:pic>
          <p:nvPicPr>
            <p:cNvPr id="5" name="object 5"/>
            <p:cNvPicPr/>
            <p:nvPr/>
          </p:nvPicPr>
          <p:blipFill>
            <a:blip r:embed="rId3" cstate="print"/>
            <a:stretch>
              <a:fillRect/>
            </a:stretch>
          </p:blipFill>
          <p:spPr>
            <a:xfrm>
              <a:off x="1880616" y="2098548"/>
              <a:ext cx="8357616" cy="3194304"/>
            </a:xfrm>
            <a:prstGeom prst="rect">
              <a:avLst/>
            </a:prstGeom>
          </p:spPr>
        </p:pic>
      </p:gr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355"/>
              </a:lnSpc>
            </a:pPr>
            <a:r>
              <a:rPr spc="-25" dirty="0"/>
              <a:t>49</a:t>
            </a:r>
          </a:p>
        </p:txBody>
      </p:sp>
      <p:sp>
        <p:nvSpPr>
          <p:cNvPr id="7" name="Rectangle 6"/>
          <p:cNvSpPr/>
          <p:nvPr/>
        </p:nvSpPr>
        <p:spPr>
          <a:xfrm>
            <a:off x="4130802" y="1899904"/>
            <a:ext cx="3249608" cy="369332"/>
          </a:xfrm>
          <a:prstGeom prst="rect">
            <a:avLst/>
          </a:prstGeom>
        </p:spPr>
        <p:txBody>
          <a:bodyPr wrap="none">
            <a:spAutoFit/>
          </a:bodyPr>
          <a:lstStyle/>
          <a:p>
            <a:r>
              <a:rPr lang="en-US" dirty="0" smtClean="0"/>
              <a:t>Wireless Application Protocol)</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36242" y="1020902"/>
            <a:ext cx="2898775" cy="470534"/>
          </a:xfrm>
          <a:prstGeom prst="rect">
            <a:avLst/>
          </a:prstGeom>
        </p:spPr>
        <p:txBody>
          <a:bodyPr vert="horz" wrap="square" lIns="0" tIns="14604" rIns="0" bIns="0" rtlCol="0">
            <a:spAutoFit/>
          </a:bodyPr>
          <a:lstStyle/>
          <a:p>
            <a:pPr marL="12700">
              <a:lnSpc>
                <a:spcPct val="100000"/>
              </a:lnSpc>
              <a:spcBef>
                <a:spcPts val="114"/>
              </a:spcBef>
            </a:pPr>
            <a:r>
              <a:rPr spc="-70" dirty="0"/>
              <a:t>Drive-</a:t>
            </a:r>
            <a:r>
              <a:rPr spc="-20" dirty="0"/>
              <a:t>by</a:t>
            </a:r>
            <a:r>
              <a:rPr spc="-105" dirty="0"/>
              <a:t> </a:t>
            </a:r>
            <a:r>
              <a:rPr spc="-10" dirty="0"/>
              <a:t>Download</a:t>
            </a:r>
          </a:p>
        </p:txBody>
      </p:sp>
      <p:pic>
        <p:nvPicPr>
          <p:cNvPr id="3" name="object 3"/>
          <p:cNvPicPr/>
          <p:nvPr/>
        </p:nvPicPr>
        <p:blipFill>
          <a:blip r:embed="rId2" cstate="print"/>
          <a:stretch>
            <a:fillRect/>
          </a:stretch>
        </p:blipFill>
        <p:spPr>
          <a:xfrm>
            <a:off x="1880616" y="2092451"/>
            <a:ext cx="8388096" cy="3169920"/>
          </a:xfrm>
          <a:prstGeom prst="rect">
            <a:avLst/>
          </a:prstGeom>
        </p:spPr>
      </p:pic>
      <p:sp>
        <p:nvSpPr>
          <p:cNvPr id="4" name="object 4"/>
          <p:cNvSpPr txBox="1"/>
          <p:nvPr/>
        </p:nvSpPr>
        <p:spPr>
          <a:xfrm>
            <a:off x="10088626" y="5640811"/>
            <a:ext cx="162560" cy="187960"/>
          </a:xfrm>
          <a:prstGeom prst="rect">
            <a:avLst/>
          </a:prstGeom>
        </p:spPr>
        <p:txBody>
          <a:bodyPr vert="horz" wrap="square" lIns="0" tIns="0" rIns="0" bIns="0" rtlCol="0">
            <a:spAutoFit/>
          </a:bodyPr>
          <a:lstStyle/>
          <a:p>
            <a:pPr marL="12700">
              <a:lnSpc>
                <a:spcPts val="1355"/>
              </a:lnSpc>
            </a:pPr>
            <a:r>
              <a:rPr sz="1150" spc="-25" dirty="0">
                <a:latin typeface="Times New Roman"/>
                <a:cs typeface="Times New Roman"/>
              </a:rPr>
              <a:t>50</a:t>
            </a:r>
            <a:endParaRPr sz="1150">
              <a:latin typeface="Times New Roman"/>
              <a:cs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36242" y="1020902"/>
            <a:ext cx="1981200" cy="470534"/>
          </a:xfrm>
          <a:prstGeom prst="rect">
            <a:avLst/>
          </a:prstGeom>
        </p:spPr>
        <p:txBody>
          <a:bodyPr vert="horz" wrap="square" lIns="0" tIns="14604" rIns="0" bIns="0" rtlCol="0">
            <a:spAutoFit/>
          </a:bodyPr>
          <a:lstStyle/>
          <a:p>
            <a:pPr marL="12700">
              <a:lnSpc>
                <a:spcPct val="100000"/>
              </a:lnSpc>
              <a:spcBef>
                <a:spcPts val="114"/>
              </a:spcBef>
            </a:pPr>
            <a:r>
              <a:rPr dirty="0"/>
              <a:t>How</a:t>
            </a:r>
            <a:r>
              <a:rPr spc="-114" dirty="0"/>
              <a:t> </a:t>
            </a:r>
            <a:r>
              <a:rPr dirty="0"/>
              <a:t>it</a:t>
            </a:r>
            <a:r>
              <a:rPr spc="-145" dirty="0"/>
              <a:t> </a:t>
            </a:r>
            <a:r>
              <a:rPr spc="-55" dirty="0"/>
              <a:t>work?</a:t>
            </a:r>
          </a:p>
        </p:txBody>
      </p:sp>
      <p:pic>
        <p:nvPicPr>
          <p:cNvPr id="3" name="object 3"/>
          <p:cNvPicPr/>
          <p:nvPr/>
        </p:nvPicPr>
        <p:blipFill>
          <a:blip r:embed="rId2" cstate="print"/>
          <a:stretch>
            <a:fillRect/>
          </a:stretch>
        </p:blipFill>
        <p:spPr>
          <a:xfrm>
            <a:off x="1880616" y="1921764"/>
            <a:ext cx="8255508" cy="3214116"/>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5"/>
              </a:lnSpc>
            </a:pPr>
            <a:r>
              <a:rPr spc="-25" dirty="0"/>
              <a:t>51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39724" rIns="0" bIns="0" rtlCol="0">
            <a:spAutoFit/>
          </a:bodyPr>
          <a:lstStyle/>
          <a:p>
            <a:pPr marL="12700">
              <a:lnSpc>
                <a:spcPct val="100000"/>
              </a:lnSpc>
              <a:spcBef>
                <a:spcPts val="114"/>
              </a:spcBef>
            </a:pPr>
            <a:r>
              <a:rPr spc="-70" dirty="0"/>
              <a:t>Malvertising</a:t>
            </a:r>
          </a:p>
        </p:txBody>
      </p:sp>
      <p:pic>
        <p:nvPicPr>
          <p:cNvPr id="3" name="object 3"/>
          <p:cNvPicPr/>
          <p:nvPr/>
        </p:nvPicPr>
        <p:blipFill>
          <a:blip r:embed="rId2" cstate="print"/>
          <a:stretch>
            <a:fillRect/>
          </a:stretch>
        </p:blipFill>
        <p:spPr>
          <a:xfrm>
            <a:off x="1920239" y="1840992"/>
            <a:ext cx="8257031" cy="3619500"/>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5"/>
              </a:lnSpc>
            </a:pPr>
            <a:r>
              <a:rPr spc="-25" dirty="0"/>
              <a:t>52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39724" rIns="0" bIns="0" rtlCol="0">
            <a:spAutoFit/>
          </a:bodyPr>
          <a:lstStyle/>
          <a:p>
            <a:pPr marL="12700">
              <a:lnSpc>
                <a:spcPct val="100000"/>
              </a:lnSpc>
              <a:spcBef>
                <a:spcPts val="114"/>
              </a:spcBef>
            </a:pPr>
            <a:r>
              <a:rPr spc="-25" dirty="0"/>
              <a:t>Prevention</a:t>
            </a:r>
          </a:p>
        </p:txBody>
      </p:sp>
      <p:pic>
        <p:nvPicPr>
          <p:cNvPr id="3" name="object 3"/>
          <p:cNvPicPr/>
          <p:nvPr/>
        </p:nvPicPr>
        <p:blipFill>
          <a:blip r:embed="rId2" cstate="print"/>
          <a:stretch>
            <a:fillRect/>
          </a:stretch>
        </p:blipFill>
        <p:spPr>
          <a:xfrm>
            <a:off x="2241804" y="1946148"/>
            <a:ext cx="7539228" cy="3525012"/>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5"/>
              </a:lnSpc>
            </a:pPr>
            <a:r>
              <a:rPr spc="-25" dirty="0"/>
              <a:t>53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39724" rIns="0" bIns="0" rtlCol="0">
            <a:spAutoFit/>
          </a:bodyPr>
          <a:lstStyle/>
          <a:p>
            <a:pPr marL="12700">
              <a:lnSpc>
                <a:spcPct val="100000"/>
              </a:lnSpc>
              <a:spcBef>
                <a:spcPts val="114"/>
              </a:spcBef>
            </a:pPr>
            <a:r>
              <a:rPr spc="-70" dirty="0"/>
              <a:t>Rogue</a:t>
            </a:r>
            <a:r>
              <a:rPr spc="-135" dirty="0"/>
              <a:t> </a:t>
            </a:r>
            <a:r>
              <a:rPr spc="-50" dirty="0"/>
              <a:t>Software</a:t>
            </a:r>
          </a:p>
        </p:txBody>
      </p:sp>
      <p:pic>
        <p:nvPicPr>
          <p:cNvPr id="3" name="object 3"/>
          <p:cNvPicPr/>
          <p:nvPr/>
        </p:nvPicPr>
        <p:blipFill>
          <a:blip r:embed="rId2" cstate="print"/>
          <a:stretch>
            <a:fillRect/>
          </a:stretch>
        </p:blipFill>
        <p:spPr>
          <a:xfrm>
            <a:off x="685800" y="2200654"/>
            <a:ext cx="10439400" cy="3361945"/>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5"/>
              </a:lnSpc>
            </a:pPr>
            <a:r>
              <a:rPr spc="-25" dirty="0"/>
              <a:t>54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39724" rIns="0" bIns="0" rtlCol="0">
            <a:spAutoFit/>
          </a:bodyPr>
          <a:lstStyle/>
          <a:p>
            <a:pPr marL="12700">
              <a:lnSpc>
                <a:spcPct val="100000"/>
              </a:lnSpc>
              <a:spcBef>
                <a:spcPts val="114"/>
              </a:spcBef>
            </a:pPr>
            <a:r>
              <a:rPr spc="-25" dirty="0"/>
              <a:t>Propagation</a:t>
            </a:r>
          </a:p>
        </p:txBody>
      </p:sp>
      <p:pic>
        <p:nvPicPr>
          <p:cNvPr id="3" name="object 3"/>
          <p:cNvPicPr/>
          <p:nvPr/>
        </p:nvPicPr>
        <p:blipFill>
          <a:blip r:embed="rId2" cstate="print"/>
          <a:stretch>
            <a:fillRect/>
          </a:stretch>
        </p:blipFill>
        <p:spPr>
          <a:xfrm>
            <a:off x="762000" y="1921764"/>
            <a:ext cx="10664190" cy="3486912"/>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5"/>
              </a:lnSpc>
            </a:pPr>
            <a:r>
              <a:rPr spc="-25" dirty="0"/>
              <a:t>55</a:t>
            </a:r>
          </a:p>
        </p:txBody>
      </p:sp>
      <p:sp>
        <p:nvSpPr>
          <p:cNvPr id="5" name="Rectangle 4"/>
          <p:cNvSpPr/>
          <p:nvPr/>
        </p:nvSpPr>
        <p:spPr>
          <a:xfrm>
            <a:off x="529590" y="5728462"/>
            <a:ext cx="10896600" cy="954107"/>
          </a:xfrm>
          <a:prstGeom prst="rect">
            <a:avLst/>
          </a:prstGeom>
        </p:spPr>
        <p:txBody>
          <a:bodyPr wrap="square">
            <a:spAutoFit/>
          </a:bodyPr>
          <a:lstStyle/>
          <a:p>
            <a:r>
              <a:rPr lang="en-US" sz="1400" b="1" dirty="0" smtClean="0"/>
              <a:t>Propagation</a:t>
            </a:r>
            <a:r>
              <a:rPr lang="en-US" sz="1400" dirty="0" smtClean="0"/>
              <a:t> refers to the process of spreading, transmitting, or distributing something, depending on the context.</a:t>
            </a:r>
          </a:p>
          <a:p>
            <a:r>
              <a:rPr lang="en-US" sz="1400" dirty="0" smtClean="0"/>
              <a:t>🔹 </a:t>
            </a:r>
            <a:r>
              <a:rPr lang="en-US" sz="1400" b="1" dirty="0" smtClean="0"/>
              <a:t>Common Uses of Propagation:</a:t>
            </a:r>
            <a:endParaRPr lang="en-US" sz="1400" dirty="0" smtClean="0"/>
          </a:p>
          <a:p>
            <a:pPr>
              <a:buFont typeface="+mj-lt"/>
              <a:buAutoNum type="arabicPeriod"/>
            </a:pPr>
            <a:r>
              <a:rPr lang="en-US" sz="1400" b="1" dirty="0" smtClean="0"/>
              <a:t>Network &amp; Malware Propagation</a:t>
            </a:r>
            <a:r>
              <a:rPr lang="en-US" sz="1400" dirty="0" smtClean="0"/>
              <a:t> – The way viruses, worms, and malware spread across systems. </a:t>
            </a:r>
            <a:r>
              <a:rPr lang="en-US" sz="1400" i="1" dirty="0" smtClean="0"/>
              <a:t>(e.g., Email Worms, USB Infections)</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39724" rIns="0" bIns="0" rtlCol="0">
            <a:spAutoFit/>
          </a:bodyPr>
          <a:lstStyle/>
          <a:p>
            <a:pPr marL="12700">
              <a:lnSpc>
                <a:spcPct val="100000"/>
              </a:lnSpc>
              <a:spcBef>
                <a:spcPts val="114"/>
              </a:spcBef>
            </a:pPr>
            <a:r>
              <a:rPr spc="-25" dirty="0"/>
              <a:t>Prevention</a:t>
            </a:r>
          </a:p>
        </p:txBody>
      </p:sp>
      <p:pic>
        <p:nvPicPr>
          <p:cNvPr id="3" name="object 3"/>
          <p:cNvPicPr/>
          <p:nvPr/>
        </p:nvPicPr>
        <p:blipFill>
          <a:blip r:embed="rId2" cstate="print"/>
          <a:stretch>
            <a:fillRect/>
          </a:stretch>
        </p:blipFill>
        <p:spPr>
          <a:xfrm>
            <a:off x="1066800" y="1821179"/>
            <a:ext cx="10363200" cy="36195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1335893" y="6448755"/>
            <a:ext cx="168910"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3366CC"/>
                </a:solidFill>
                <a:latin typeface="Times New Roman"/>
                <a:cs typeface="Times New Roman"/>
              </a:rPr>
              <a:t>67</a:t>
            </a:r>
            <a:endParaRPr sz="1200">
              <a:latin typeface="Times New Roman"/>
              <a:cs typeface="Times New Roman"/>
            </a:endParaRPr>
          </a:p>
        </p:txBody>
      </p:sp>
      <p:sp>
        <p:nvSpPr>
          <p:cNvPr id="5" name="object 5"/>
          <p:cNvSpPr txBox="1">
            <a:spLocks noGrp="1"/>
          </p:cNvSpPr>
          <p:nvPr>
            <p:ph type="title"/>
          </p:nvPr>
        </p:nvSpPr>
        <p:spPr>
          <a:xfrm>
            <a:off x="688340" y="295783"/>
            <a:ext cx="3019425" cy="665480"/>
          </a:xfrm>
          <a:prstGeom prst="rect">
            <a:avLst/>
          </a:prstGeom>
        </p:spPr>
        <p:txBody>
          <a:bodyPr vert="horz" wrap="square" lIns="0" tIns="12700" rIns="0" bIns="0" rtlCol="0">
            <a:spAutoFit/>
          </a:bodyPr>
          <a:lstStyle/>
          <a:p>
            <a:pPr marL="12700">
              <a:lnSpc>
                <a:spcPct val="100000"/>
              </a:lnSpc>
              <a:spcBef>
                <a:spcPts val="100"/>
              </a:spcBef>
              <a:tabLst>
                <a:tab pos="1257300" algn="l"/>
              </a:tabLst>
            </a:pPr>
            <a:r>
              <a:rPr sz="4200" spc="-25" dirty="0">
                <a:solidFill>
                  <a:srgbClr val="0A0405"/>
                </a:solidFill>
                <a:latin typeface="Arial MT"/>
                <a:cs typeface="Arial MT"/>
              </a:rPr>
              <a:t>Web</a:t>
            </a:r>
            <a:r>
              <a:rPr sz="4200" dirty="0">
                <a:solidFill>
                  <a:srgbClr val="0A0405"/>
                </a:solidFill>
                <a:latin typeface="Arial MT"/>
                <a:cs typeface="Arial MT"/>
              </a:rPr>
              <a:t>	</a:t>
            </a:r>
            <a:r>
              <a:rPr sz="4200" spc="-10" dirty="0">
                <a:solidFill>
                  <a:srgbClr val="0A0405"/>
                </a:solidFill>
                <a:latin typeface="Arial MT"/>
                <a:cs typeface="Arial MT"/>
              </a:rPr>
              <a:t>Attacks</a:t>
            </a:r>
            <a:endParaRPr sz="4200">
              <a:latin typeface="Arial MT"/>
              <a:cs typeface="Arial MT"/>
            </a:endParaRPr>
          </a:p>
        </p:txBody>
      </p:sp>
      <p:sp>
        <p:nvSpPr>
          <p:cNvPr id="6" name="object 6"/>
          <p:cNvSpPr txBox="1"/>
          <p:nvPr/>
        </p:nvSpPr>
        <p:spPr>
          <a:xfrm>
            <a:off x="2060194" y="1622501"/>
            <a:ext cx="4475480" cy="2312670"/>
          </a:xfrm>
          <a:prstGeom prst="rect">
            <a:avLst/>
          </a:prstGeom>
        </p:spPr>
        <p:txBody>
          <a:bodyPr vert="horz" wrap="square" lIns="0" tIns="12700" rIns="0" bIns="0" rtlCol="0">
            <a:spAutoFit/>
          </a:bodyPr>
          <a:lstStyle/>
          <a:p>
            <a:pPr marL="355600" marR="5080" indent="-342900">
              <a:lnSpc>
                <a:spcPct val="100000"/>
              </a:lnSpc>
              <a:spcBef>
                <a:spcPts val="100"/>
              </a:spcBef>
              <a:buSzPct val="65000"/>
              <a:buFont typeface="Wingdings"/>
              <a:buChar char=""/>
              <a:tabLst>
                <a:tab pos="355600" algn="l"/>
              </a:tabLst>
            </a:pPr>
            <a:r>
              <a:rPr sz="3000" dirty="0">
                <a:solidFill>
                  <a:srgbClr val="3366CC"/>
                </a:solidFill>
                <a:latin typeface="Arial MT"/>
                <a:cs typeface="Arial MT"/>
              </a:rPr>
              <a:t>The</a:t>
            </a:r>
            <a:r>
              <a:rPr sz="3000" spc="-30" dirty="0">
                <a:solidFill>
                  <a:srgbClr val="3366CC"/>
                </a:solidFill>
                <a:latin typeface="Arial MT"/>
                <a:cs typeface="Arial MT"/>
              </a:rPr>
              <a:t> </a:t>
            </a:r>
            <a:r>
              <a:rPr sz="3000" dirty="0">
                <a:solidFill>
                  <a:srgbClr val="3366CC"/>
                </a:solidFill>
                <a:latin typeface="Arial MT"/>
                <a:cs typeface="Arial MT"/>
              </a:rPr>
              <a:t>attacker</a:t>
            </a:r>
            <a:r>
              <a:rPr sz="3000" spc="-25" dirty="0">
                <a:solidFill>
                  <a:srgbClr val="3366CC"/>
                </a:solidFill>
                <a:latin typeface="Arial MT"/>
                <a:cs typeface="Arial MT"/>
              </a:rPr>
              <a:t> </a:t>
            </a:r>
            <a:r>
              <a:rPr sz="3000" dirty="0">
                <a:solidFill>
                  <a:srgbClr val="3366CC"/>
                </a:solidFill>
                <a:latin typeface="Arial MT"/>
                <a:cs typeface="Arial MT"/>
              </a:rPr>
              <a:t>attempts</a:t>
            </a:r>
            <a:r>
              <a:rPr sz="3000" spc="-25" dirty="0">
                <a:solidFill>
                  <a:srgbClr val="3366CC"/>
                </a:solidFill>
                <a:latin typeface="Arial MT"/>
                <a:cs typeface="Arial MT"/>
              </a:rPr>
              <a:t> to </a:t>
            </a:r>
            <a:r>
              <a:rPr sz="3000" dirty="0">
                <a:solidFill>
                  <a:srgbClr val="3366CC"/>
                </a:solidFill>
                <a:latin typeface="Arial MT"/>
                <a:cs typeface="Arial MT"/>
              </a:rPr>
              <a:t>breach</a:t>
            </a:r>
            <a:r>
              <a:rPr sz="3000" spc="-40" dirty="0">
                <a:solidFill>
                  <a:srgbClr val="3366CC"/>
                </a:solidFill>
                <a:latin typeface="Arial MT"/>
                <a:cs typeface="Arial MT"/>
              </a:rPr>
              <a:t> </a:t>
            </a:r>
            <a:r>
              <a:rPr sz="3000" dirty="0">
                <a:solidFill>
                  <a:srgbClr val="3366CC"/>
                </a:solidFill>
                <a:latin typeface="Arial MT"/>
                <a:cs typeface="Arial MT"/>
              </a:rPr>
              <a:t>a</a:t>
            </a:r>
            <a:r>
              <a:rPr sz="3000" spc="-10" dirty="0">
                <a:solidFill>
                  <a:srgbClr val="3366CC"/>
                </a:solidFill>
                <a:latin typeface="Arial MT"/>
                <a:cs typeface="Arial MT"/>
              </a:rPr>
              <a:t> </a:t>
            </a:r>
            <a:r>
              <a:rPr sz="3000" spc="-25" dirty="0">
                <a:solidFill>
                  <a:srgbClr val="3366CC"/>
                </a:solidFill>
                <a:latin typeface="Arial MT"/>
                <a:cs typeface="Arial MT"/>
              </a:rPr>
              <a:t>web </a:t>
            </a:r>
            <a:r>
              <a:rPr sz="3000" dirty="0">
                <a:solidFill>
                  <a:srgbClr val="3366CC"/>
                </a:solidFill>
                <a:latin typeface="Arial MT"/>
                <a:cs typeface="Arial MT"/>
              </a:rPr>
              <a:t>application.</a:t>
            </a:r>
            <a:r>
              <a:rPr sz="3000" spc="-90" dirty="0">
                <a:solidFill>
                  <a:srgbClr val="3366CC"/>
                </a:solidFill>
                <a:latin typeface="Arial MT"/>
                <a:cs typeface="Arial MT"/>
              </a:rPr>
              <a:t> </a:t>
            </a:r>
            <a:r>
              <a:rPr sz="3000" spc="-10" dirty="0">
                <a:solidFill>
                  <a:srgbClr val="3366CC"/>
                </a:solidFill>
                <a:latin typeface="Arial MT"/>
                <a:cs typeface="Arial MT"/>
              </a:rPr>
              <a:t>Common </a:t>
            </a:r>
            <a:r>
              <a:rPr sz="3000" dirty="0">
                <a:solidFill>
                  <a:srgbClr val="3366CC"/>
                </a:solidFill>
                <a:latin typeface="Arial MT"/>
                <a:cs typeface="Arial MT"/>
              </a:rPr>
              <a:t>attacks</a:t>
            </a:r>
            <a:r>
              <a:rPr sz="3000" spc="-25" dirty="0">
                <a:solidFill>
                  <a:srgbClr val="3366CC"/>
                </a:solidFill>
                <a:latin typeface="Arial MT"/>
                <a:cs typeface="Arial MT"/>
              </a:rPr>
              <a:t> </a:t>
            </a:r>
            <a:r>
              <a:rPr sz="3000" dirty="0">
                <a:solidFill>
                  <a:srgbClr val="3366CC"/>
                </a:solidFill>
                <a:latin typeface="Arial MT"/>
                <a:cs typeface="Arial MT"/>
              </a:rPr>
              <a:t>of</a:t>
            </a:r>
            <a:r>
              <a:rPr sz="3000" spc="-5" dirty="0">
                <a:solidFill>
                  <a:srgbClr val="3366CC"/>
                </a:solidFill>
                <a:latin typeface="Arial MT"/>
                <a:cs typeface="Arial MT"/>
              </a:rPr>
              <a:t> </a:t>
            </a:r>
            <a:r>
              <a:rPr sz="3000" dirty="0">
                <a:solidFill>
                  <a:srgbClr val="3366CC"/>
                </a:solidFill>
                <a:latin typeface="Arial MT"/>
                <a:cs typeface="Arial MT"/>
              </a:rPr>
              <a:t>this</a:t>
            </a:r>
            <a:r>
              <a:rPr sz="3000" spc="-20" dirty="0">
                <a:solidFill>
                  <a:srgbClr val="3366CC"/>
                </a:solidFill>
                <a:latin typeface="Arial MT"/>
                <a:cs typeface="Arial MT"/>
              </a:rPr>
              <a:t> </a:t>
            </a:r>
            <a:r>
              <a:rPr sz="3000" dirty="0">
                <a:solidFill>
                  <a:srgbClr val="3366CC"/>
                </a:solidFill>
                <a:latin typeface="Arial MT"/>
                <a:cs typeface="Arial MT"/>
              </a:rPr>
              <a:t>type</a:t>
            </a:r>
            <a:r>
              <a:rPr sz="3000" spc="-20" dirty="0">
                <a:solidFill>
                  <a:srgbClr val="3366CC"/>
                </a:solidFill>
                <a:latin typeface="Arial MT"/>
                <a:cs typeface="Arial MT"/>
              </a:rPr>
              <a:t> </a:t>
            </a:r>
            <a:r>
              <a:rPr sz="3000" spc="-25" dirty="0">
                <a:solidFill>
                  <a:srgbClr val="3366CC"/>
                </a:solidFill>
                <a:latin typeface="Arial MT"/>
                <a:cs typeface="Arial MT"/>
              </a:rPr>
              <a:t>are </a:t>
            </a:r>
            <a:r>
              <a:rPr sz="3000" dirty="0">
                <a:solidFill>
                  <a:srgbClr val="3366CC"/>
                </a:solidFill>
                <a:latin typeface="Arial MT"/>
                <a:cs typeface="Arial MT"/>
              </a:rPr>
              <a:t>SQL </a:t>
            </a:r>
            <a:r>
              <a:rPr sz="3000" spc="-10" dirty="0">
                <a:solidFill>
                  <a:srgbClr val="3366CC"/>
                </a:solidFill>
                <a:latin typeface="Arial MT"/>
                <a:cs typeface="Arial MT"/>
              </a:rPr>
              <a:t>injection</a:t>
            </a:r>
            <a:endParaRPr sz="3000">
              <a:latin typeface="Arial MT"/>
              <a:cs typeface="Arial MT"/>
            </a:endParaRPr>
          </a:p>
        </p:txBody>
      </p:sp>
      <p:pic>
        <p:nvPicPr>
          <p:cNvPr id="7" name="object 7"/>
          <p:cNvPicPr/>
          <p:nvPr/>
        </p:nvPicPr>
        <p:blipFill>
          <a:blip r:embed="rId2" cstate="print"/>
          <a:stretch>
            <a:fillRect/>
          </a:stretch>
        </p:blipFill>
        <p:spPr>
          <a:xfrm>
            <a:off x="6858000" y="2110739"/>
            <a:ext cx="2895600" cy="28956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52043" y="219456"/>
            <a:ext cx="11687810" cy="5591810"/>
            <a:chOff x="352043" y="219456"/>
            <a:chExt cx="11687810" cy="5591810"/>
          </a:xfrm>
        </p:grpSpPr>
        <p:sp>
          <p:nvSpPr>
            <p:cNvPr id="3" name="object 3"/>
            <p:cNvSpPr/>
            <p:nvPr/>
          </p:nvSpPr>
          <p:spPr>
            <a:xfrm>
              <a:off x="508253" y="229362"/>
              <a:ext cx="10972800" cy="609600"/>
            </a:xfrm>
            <a:custGeom>
              <a:avLst/>
              <a:gdLst/>
              <a:ahLst/>
              <a:cxnLst/>
              <a:rect l="l" t="t" r="r" b="b"/>
              <a:pathLst>
                <a:path w="10972800" h="609600">
                  <a:moveTo>
                    <a:pt x="0" y="609600"/>
                  </a:moveTo>
                  <a:lnTo>
                    <a:pt x="0" y="0"/>
                  </a:lnTo>
                  <a:lnTo>
                    <a:pt x="10972800" y="0"/>
                  </a:lnTo>
                </a:path>
              </a:pathLst>
            </a:custGeom>
            <a:ln w="19812">
              <a:solidFill>
                <a:srgbClr val="3366CC"/>
              </a:solidFill>
            </a:ln>
          </p:spPr>
          <p:txBody>
            <a:bodyPr wrap="square" lIns="0" tIns="0" rIns="0" bIns="0" rtlCol="0"/>
            <a:lstStyle/>
            <a:p>
              <a:endParaRPr/>
            </a:p>
          </p:txBody>
        </p:sp>
        <p:pic>
          <p:nvPicPr>
            <p:cNvPr id="4" name="object 4"/>
            <p:cNvPicPr/>
            <p:nvPr/>
          </p:nvPicPr>
          <p:blipFill>
            <a:blip r:embed="rId2" cstate="print"/>
            <a:stretch>
              <a:fillRect/>
            </a:stretch>
          </p:blipFill>
          <p:spPr>
            <a:xfrm>
              <a:off x="352043" y="524256"/>
              <a:ext cx="11687556" cy="5286756"/>
            </a:xfrm>
            <a:prstGeom prst="rect">
              <a:avLst/>
            </a:prstGeom>
          </p:spPr>
        </p:pic>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295783"/>
            <a:ext cx="4237355" cy="665480"/>
          </a:xfrm>
          <a:prstGeom prst="rect">
            <a:avLst/>
          </a:prstGeom>
        </p:spPr>
        <p:txBody>
          <a:bodyPr vert="horz" wrap="square" lIns="0" tIns="12700" rIns="0" bIns="0" rtlCol="0">
            <a:spAutoFit/>
          </a:bodyPr>
          <a:lstStyle/>
          <a:p>
            <a:pPr marL="12700">
              <a:lnSpc>
                <a:spcPct val="100000"/>
              </a:lnSpc>
              <a:spcBef>
                <a:spcPts val="100"/>
              </a:spcBef>
              <a:tabLst>
                <a:tab pos="2057400" algn="l"/>
              </a:tabLst>
            </a:pPr>
            <a:r>
              <a:rPr sz="4200" spc="-10" dirty="0">
                <a:solidFill>
                  <a:srgbClr val="0A0405"/>
                </a:solidFill>
                <a:latin typeface="Arial MT"/>
                <a:cs typeface="Arial MT"/>
              </a:rPr>
              <a:t>Session</a:t>
            </a:r>
            <a:r>
              <a:rPr sz="4200" dirty="0">
                <a:solidFill>
                  <a:srgbClr val="0A0405"/>
                </a:solidFill>
                <a:latin typeface="Arial MT"/>
                <a:cs typeface="Arial MT"/>
              </a:rPr>
              <a:t>	</a:t>
            </a:r>
            <a:r>
              <a:rPr sz="4200" spc="-10" dirty="0">
                <a:solidFill>
                  <a:srgbClr val="0A0405"/>
                </a:solidFill>
                <a:latin typeface="Arial MT"/>
                <a:cs typeface="Arial MT"/>
              </a:rPr>
              <a:t>Hijacking</a:t>
            </a:r>
            <a:endParaRPr sz="4200">
              <a:latin typeface="Arial MT"/>
              <a:cs typeface="Arial MT"/>
            </a:endParaRPr>
          </a:p>
        </p:txBody>
      </p:sp>
      <p:sp>
        <p:nvSpPr>
          <p:cNvPr id="3" name="object 3"/>
          <p:cNvSpPr txBox="1"/>
          <p:nvPr/>
        </p:nvSpPr>
        <p:spPr>
          <a:xfrm>
            <a:off x="2060194" y="1622501"/>
            <a:ext cx="4431030" cy="1855470"/>
          </a:xfrm>
          <a:prstGeom prst="rect">
            <a:avLst/>
          </a:prstGeom>
        </p:spPr>
        <p:txBody>
          <a:bodyPr vert="horz" wrap="square" lIns="0" tIns="12700" rIns="0" bIns="0" rtlCol="0">
            <a:spAutoFit/>
          </a:bodyPr>
          <a:lstStyle/>
          <a:p>
            <a:pPr marL="355600" marR="5080" indent="-342900">
              <a:lnSpc>
                <a:spcPct val="100000"/>
              </a:lnSpc>
              <a:spcBef>
                <a:spcPts val="100"/>
              </a:spcBef>
              <a:buSzPct val="65000"/>
              <a:buFont typeface="Wingdings"/>
              <a:buChar char=""/>
              <a:tabLst>
                <a:tab pos="355600" algn="l"/>
              </a:tabLst>
            </a:pPr>
            <a:r>
              <a:rPr sz="3000" dirty="0">
                <a:solidFill>
                  <a:srgbClr val="3366CC"/>
                </a:solidFill>
                <a:latin typeface="Arial MT"/>
                <a:cs typeface="Arial MT"/>
              </a:rPr>
              <a:t>This</a:t>
            </a:r>
            <a:r>
              <a:rPr sz="3000" spc="-10" dirty="0">
                <a:solidFill>
                  <a:srgbClr val="3366CC"/>
                </a:solidFill>
                <a:latin typeface="Arial MT"/>
                <a:cs typeface="Arial MT"/>
              </a:rPr>
              <a:t> </a:t>
            </a:r>
            <a:r>
              <a:rPr sz="3000" dirty="0">
                <a:solidFill>
                  <a:srgbClr val="3366CC"/>
                </a:solidFill>
                <a:latin typeface="Arial MT"/>
                <a:cs typeface="Arial MT"/>
              </a:rPr>
              <a:t>is a</a:t>
            </a:r>
            <a:r>
              <a:rPr sz="3000" spc="-15" dirty="0">
                <a:solidFill>
                  <a:srgbClr val="3366CC"/>
                </a:solidFill>
                <a:latin typeface="Arial MT"/>
                <a:cs typeface="Arial MT"/>
              </a:rPr>
              <a:t> </a:t>
            </a:r>
            <a:r>
              <a:rPr sz="3000" dirty="0">
                <a:solidFill>
                  <a:srgbClr val="3366CC"/>
                </a:solidFill>
                <a:latin typeface="Arial MT"/>
                <a:cs typeface="Arial MT"/>
              </a:rPr>
              <a:t>complex</a:t>
            </a:r>
            <a:r>
              <a:rPr sz="3000" spc="-25" dirty="0">
                <a:solidFill>
                  <a:srgbClr val="3366CC"/>
                </a:solidFill>
                <a:latin typeface="Arial MT"/>
                <a:cs typeface="Arial MT"/>
              </a:rPr>
              <a:t> </a:t>
            </a:r>
            <a:r>
              <a:rPr sz="3000" spc="-10" dirty="0">
                <a:solidFill>
                  <a:srgbClr val="3366CC"/>
                </a:solidFill>
                <a:latin typeface="Arial MT"/>
                <a:cs typeface="Arial MT"/>
              </a:rPr>
              <a:t>attack </a:t>
            </a:r>
            <a:r>
              <a:rPr sz="3000" dirty="0">
                <a:solidFill>
                  <a:srgbClr val="3366CC"/>
                </a:solidFill>
                <a:latin typeface="Arial MT"/>
                <a:cs typeface="Arial MT"/>
              </a:rPr>
              <a:t>that</a:t>
            </a:r>
            <a:r>
              <a:rPr sz="3000" spc="-15" dirty="0">
                <a:solidFill>
                  <a:srgbClr val="3366CC"/>
                </a:solidFill>
                <a:latin typeface="Arial MT"/>
                <a:cs typeface="Arial MT"/>
              </a:rPr>
              <a:t> </a:t>
            </a:r>
            <a:r>
              <a:rPr sz="3000" dirty="0">
                <a:solidFill>
                  <a:srgbClr val="3366CC"/>
                </a:solidFill>
                <a:latin typeface="Arial MT"/>
                <a:cs typeface="Arial MT"/>
              </a:rPr>
              <a:t>involves</a:t>
            </a:r>
            <a:r>
              <a:rPr sz="3000" spc="-20" dirty="0">
                <a:solidFill>
                  <a:srgbClr val="3366CC"/>
                </a:solidFill>
                <a:latin typeface="Arial MT"/>
                <a:cs typeface="Arial MT"/>
              </a:rPr>
              <a:t> </a:t>
            </a:r>
            <a:r>
              <a:rPr sz="3000" spc="-10" dirty="0">
                <a:solidFill>
                  <a:srgbClr val="3366CC"/>
                </a:solidFill>
                <a:latin typeface="Arial MT"/>
                <a:cs typeface="Arial MT"/>
              </a:rPr>
              <a:t>actually </a:t>
            </a:r>
            <a:r>
              <a:rPr sz="3000" dirty="0">
                <a:solidFill>
                  <a:srgbClr val="3366CC"/>
                </a:solidFill>
                <a:latin typeface="Arial MT"/>
                <a:cs typeface="Arial MT"/>
              </a:rPr>
              <a:t>taking</a:t>
            </a:r>
            <a:r>
              <a:rPr sz="3000" spc="-35" dirty="0">
                <a:solidFill>
                  <a:srgbClr val="3366CC"/>
                </a:solidFill>
                <a:latin typeface="Arial MT"/>
                <a:cs typeface="Arial MT"/>
              </a:rPr>
              <a:t> </a:t>
            </a:r>
            <a:r>
              <a:rPr sz="3000" dirty="0">
                <a:solidFill>
                  <a:srgbClr val="3366CC"/>
                </a:solidFill>
                <a:latin typeface="Arial MT"/>
                <a:cs typeface="Arial MT"/>
              </a:rPr>
              <a:t>over</a:t>
            </a:r>
            <a:r>
              <a:rPr sz="3000" spc="-10" dirty="0">
                <a:solidFill>
                  <a:srgbClr val="3366CC"/>
                </a:solidFill>
                <a:latin typeface="Arial MT"/>
                <a:cs typeface="Arial MT"/>
              </a:rPr>
              <a:t> </a:t>
            </a:r>
            <a:r>
              <a:rPr sz="3000" spc="-25" dirty="0">
                <a:solidFill>
                  <a:srgbClr val="3366CC"/>
                </a:solidFill>
                <a:latin typeface="Arial MT"/>
                <a:cs typeface="Arial MT"/>
              </a:rPr>
              <a:t>an </a:t>
            </a:r>
            <a:r>
              <a:rPr sz="3000" dirty="0">
                <a:solidFill>
                  <a:srgbClr val="3366CC"/>
                </a:solidFill>
                <a:latin typeface="Arial MT"/>
                <a:cs typeface="Arial MT"/>
              </a:rPr>
              <a:t>authenticated</a:t>
            </a:r>
            <a:r>
              <a:rPr sz="3000" spc="-60" dirty="0">
                <a:solidFill>
                  <a:srgbClr val="3366CC"/>
                </a:solidFill>
                <a:latin typeface="Arial MT"/>
                <a:cs typeface="Arial MT"/>
              </a:rPr>
              <a:t> </a:t>
            </a:r>
            <a:r>
              <a:rPr sz="3000" spc="-10" dirty="0">
                <a:solidFill>
                  <a:srgbClr val="3366CC"/>
                </a:solidFill>
                <a:latin typeface="Arial MT"/>
                <a:cs typeface="Arial MT"/>
              </a:rPr>
              <a:t>session.</a:t>
            </a:r>
            <a:endParaRPr sz="3000">
              <a:latin typeface="Arial MT"/>
              <a:cs typeface="Arial MT"/>
            </a:endParaRPr>
          </a:p>
        </p:txBody>
      </p:sp>
      <p:pic>
        <p:nvPicPr>
          <p:cNvPr id="4" name="object 4"/>
          <p:cNvPicPr/>
          <p:nvPr/>
        </p:nvPicPr>
        <p:blipFill>
          <a:blip r:embed="rId2" cstate="print"/>
          <a:stretch>
            <a:fillRect/>
          </a:stretch>
        </p:blipFill>
        <p:spPr>
          <a:xfrm>
            <a:off x="6858000" y="2110739"/>
            <a:ext cx="2895600" cy="2895600"/>
          </a:xfrm>
          <a:prstGeom prst="rect">
            <a:avLst/>
          </a:prstGeom>
        </p:spPr>
      </p:pic>
      <p:sp>
        <p:nvSpPr>
          <p:cNvPr id="5" name="object 5"/>
          <p:cNvSpPr txBox="1"/>
          <p:nvPr/>
        </p:nvSpPr>
        <p:spPr>
          <a:xfrm>
            <a:off x="11310493" y="6469814"/>
            <a:ext cx="232410" cy="196850"/>
          </a:xfrm>
          <a:prstGeom prst="rect">
            <a:avLst/>
          </a:prstGeom>
        </p:spPr>
        <p:txBody>
          <a:bodyPr vert="horz" wrap="square" lIns="0" tIns="0" rIns="0" bIns="0" rtlCol="0">
            <a:spAutoFit/>
          </a:bodyPr>
          <a:lstStyle/>
          <a:p>
            <a:pPr marL="38100">
              <a:lnSpc>
                <a:spcPts val="1375"/>
              </a:lnSpc>
            </a:pPr>
            <a:fld id="{81D60167-4931-47E6-BA6A-407CBD079E47}" type="slidenum">
              <a:rPr sz="1200" spc="-25" dirty="0">
                <a:solidFill>
                  <a:srgbClr val="3366CC"/>
                </a:solidFill>
                <a:latin typeface="Times New Roman"/>
                <a:cs typeface="Times New Roman"/>
              </a:rPr>
              <a:t>39</a:t>
            </a:fld>
            <a:endParaRPr sz="1200">
              <a:latin typeface="Times New Roman"/>
              <a:cs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295783"/>
            <a:ext cx="3643629" cy="665480"/>
          </a:xfrm>
          <a:prstGeom prst="rect">
            <a:avLst/>
          </a:prstGeom>
        </p:spPr>
        <p:txBody>
          <a:bodyPr vert="horz" wrap="square" lIns="0" tIns="12700" rIns="0" bIns="0" rtlCol="0">
            <a:spAutoFit/>
          </a:bodyPr>
          <a:lstStyle/>
          <a:p>
            <a:pPr marL="12700">
              <a:lnSpc>
                <a:spcPct val="100000"/>
              </a:lnSpc>
              <a:spcBef>
                <a:spcPts val="100"/>
              </a:spcBef>
            </a:pPr>
            <a:r>
              <a:rPr sz="4200" dirty="0">
                <a:solidFill>
                  <a:srgbClr val="0A0405"/>
                </a:solidFill>
                <a:latin typeface="Arial MT"/>
                <a:cs typeface="Arial MT"/>
              </a:rPr>
              <a:t>DNS</a:t>
            </a:r>
            <a:r>
              <a:rPr sz="4200" spc="-90" dirty="0">
                <a:solidFill>
                  <a:srgbClr val="0A0405"/>
                </a:solidFill>
                <a:latin typeface="Arial MT"/>
                <a:cs typeface="Arial MT"/>
              </a:rPr>
              <a:t> </a:t>
            </a:r>
            <a:r>
              <a:rPr sz="4200" spc="-10" dirty="0">
                <a:solidFill>
                  <a:srgbClr val="0A0405"/>
                </a:solidFill>
                <a:latin typeface="Arial MT"/>
                <a:cs typeface="Arial MT"/>
              </a:rPr>
              <a:t>Poisoning</a:t>
            </a:r>
            <a:endParaRPr sz="4200">
              <a:latin typeface="Arial MT"/>
              <a:cs typeface="Arial MT"/>
            </a:endParaRPr>
          </a:p>
        </p:txBody>
      </p:sp>
      <p:sp>
        <p:nvSpPr>
          <p:cNvPr id="3" name="object 3"/>
          <p:cNvSpPr txBox="1"/>
          <p:nvPr/>
        </p:nvSpPr>
        <p:spPr>
          <a:xfrm>
            <a:off x="2060194" y="1622501"/>
            <a:ext cx="4304030" cy="2769870"/>
          </a:xfrm>
          <a:prstGeom prst="rect">
            <a:avLst/>
          </a:prstGeom>
        </p:spPr>
        <p:txBody>
          <a:bodyPr vert="horz" wrap="square" lIns="0" tIns="12700" rIns="0" bIns="0" rtlCol="0">
            <a:spAutoFit/>
          </a:bodyPr>
          <a:lstStyle/>
          <a:p>
            <a:pPr marL="355600" marR="5080" indent="-342900">
              <a:lnSpc>
                <a:spcPct val="100000"/>
              </a:lnSpc>
              <a:spcBef>
                <a:spcPts val="100"/>
              </a:spcBef>
              <a:buSzPct val="65000"/>
              <a:buFont typeface="Wingdings"/>
              <a:buChar char=""/>
              <a:tabLst>
                <a:tab pos="355600" algn="l"/>
              </a:tabLst>
            </a:pPr>
            <a:r>
              <a:rPr sz="3000" dirty="0">
                <a:solidFill>
                  <a:srgbClr val="3366CC"/>
                </a:solidFill>
                <a:latin typeface="Arial MT"/>
                <a:cs typeface="Arial MT"/>
              </a:rPr>
              <a:t>This involves</a:t>
            </a:r>
            <a:r>
              <a:rPr sz="3000" spc="-30" dirty="0">
                <a:solidFill>
                  <a:srgbClr val="3366CC"/>
                </a:solidFill>
                <a:latin typeface="Arial MT"/>
                <a:cs typeface="Arial MT"/>
              </a:rPr>
              <a:t> </a:t>
            </a:r>
            <a:r>
              <a:rPr sz="3000" spc="-10" dirty="0">
                <a:solidFill>
                  <a:srgbClr val="3366CC"/>
                </a:solidFill>
                <a:latin typeface="Arial MT"/>
                <a:cs typeface="Arial MT"/>
              </a:rPr>
              <a:t>altering </a:t>
            </a:r>
            <a:r>
              <a:rPr sz="3000" dirty="0">
                <a:solidFill>
                  <a:srgbClr val="3366CC"/>
                </a:solidFill>
                <a:latin typeface="Arial MT"/>
                <a:cs typeface="Arial MT"/>
              </a:rPr>
              <a:t>DNS</a:t>
            </a:r>
            <a:r>
              <a:rPr sz="3000" spc="-15" dirty="0">
                <a:solidFill>
                  <a:srgbClr val="3366CC"/>
                </a:solidFill>
                <a:latin typeface="Arial MT"/>
                <a:cs typeface="Arial MT"/>
              </a:rPr>
              <a:t> </a:t>
            </a:r>
            <a:r>
              <a:rPr sz="3000" dirty="0">
                <a:solidFill>
                  <a:srgbClr val="3366CC"/>
                </a:solidFill>
                <a:latin typeface="Arial MT"/>
                <a:cs typeface="Arial MT"/>
              </a:rPr>
              <a:t>records</a:t>
            </a:r>
            <a:r>
              <a:rPr sz="3000" spc="-15" dirty="0">
                <a:solidFill>
                  <a:srgbClr val="3366CC"/>
                </a:solidFill>
                <a:latin typeface="Arial MT"/>
                <a:cs typeface="Arial MT"/>
              </a:rPr>
              <a:t> </a:t>
            </a:r>
            <a:r>
              <a:rPr sz="3000" dirty="0">
                <a:solidFill>
                  <a:srgbClr val="3366CC"/>
                </a:solidFill>
                <a:latin typeface="Arial MT"/>
                <a:cs typeface="Arial MT"/>
              </a:rPr>
              <a:t>on a</a:t>
            </a:r>
            <a:r>
              <a:rPr sz="3000" spc="-15" dirty="0">
                <a:solidFill>
                  <a:srgbClr val="3366CC"/>
                </a:solidFill>
                <a:latin typeface="Arial MT"/>
                <a:cs typeface="Arial MT"/>
              </a:rPr>
              <a:t> </a:t>
            </a:r>
            <a:r>
              <a:rPr sz="3000" spc="-25" dirty="0">
                <a:solidFill>
                  <a:srgbClr val="3366CC"/>
                </a:solidFill>
                <a:latin typeface="Arial MT"/>
                <a:cs typeface="Arial MT"/>
              </a:rPr>
              <a:t>DNS </a:t>
            </a:r>
            <a:r>
              <a:rPr sz="3000" dirty="0">
                <a:solidFill>
                  <a:srgbClr val="3366CC"/>
                </a:solidFill>
                <a:latin typeface="Arial MT"/>
                <a:cs typeface="Arial MT"/>
              </a:rPr>
              <a:t>server</a:t>
            </a:r>
            <a:r>
              <a:rPr sz="3000" spc="-15" dirty="0">
                <a:solidFill>
                  <a:srgbClr val="3366CC"/>
                </a:solidFill>
                <a:latin typeface="Arial MT"/>
                <a:cs typeface="Arial MT"/>
              </a:rPr>
              <a:t> </a:t>
            </a:r>
            <a:r>
              <a:rPr sz="3000" dirty="0">
                <a:solidFill>
                  <a:srgbClr val="3366CC"/>
                </a:solidFill>
                <a:latin typeface="Arial MT"/>
                <a:cs typeface="Arial MT"/>
              </a:rPr>
              <a:t>to redirect</a:t>
            </a:r>
            <a:r>
              <a:rPr sz="3000" spc="-15" dirty="0">
                <a:solidFill>
                  <a:srgbClr val="3366CC"/>
                </a:solidFill>
                <a:latin typeface="Arial MT"/>
                <a:cs typeface="Arial MT"/>
              </a:rPr>
              <a:t> </a:t>
            </a:r>
            <a:r>
              <a:rPr sz="3000" spc="-10" dirty="0">
                <a:solidFill>
                  <a:srgbClr val="3366CC"/>
                </a:solidFill>
                <a:latin typeface="Arial MT"/>
                <a:cs typeface="Arial MT"/>
              </a:rPr>
              <a:t>client </a:t>
            </a:r>
            <a:r>
              <a:rPr sz="3000" dirty="0">
                <a:solidFill>
                  <a:srgbClr val="3366CC"/>
                </a:solidFill>
                <a:latin typeface="Arial MT"/>
                <a:cs typeface="Arial MT"/>
              </a:rPr>
              <a:t>traffic</a:t>
            </a:r>
            <a:r>
              <a:rPr sz="3000" spc="-25" dirty="0">
                <a:solidFill>
                  <a:srgbClr val="3366CC"/>
                </a:solidFill>
                <a:latin typeface="Arial MT"/>
                <a:cs typeface="Arial MT"/>
              </a:rPr>
              <a:t> </a:t>
            </a:r>
            <a:r>
              <a:rPr sz="3000" dirty="0">
                <a:solidFill>
                  <a:srgbClr val="3366CC"/>
                </a:solidFill>
                <a:latin typeface="Arial MT"/>
                <a:cs typeface="Arial MT"/>
              </a:rPr>
              <a:t>to</a:t>
            </a:r>
            <a:r>
              <a:rPr sz="3000" spc="-40" dirty="0">
                <a:solidFill>
                  <a:srgbClr val="3366CC"/>
                </a:solidFill>
                <a:latin typeface="Arial MT"/>
                <a:cs typeface="Arial MT"/>
              </a:rPr>
              <a:t> </a:t>
            </a:r>
            <a:r>
              <a:rPr sz="3000" spc="-10" dirty="0">
                <a:solidFill>
                  <a:srgbClr val="3366CC"/>
                </a:solidFill>
                <a:latin typeface="Arial MT"/>
                <a:cs typeface="Arial MT"/>
              </a:rPr>
              <a:t>malicious </a:t>
            </a:r>
            <a:r>
              <a:rPr sz="3000" dirty="0">
                <a:solidFill>
                  <a:srgbClr val="3366CC"/>
                </a:solidFill>
                <a:latin typeface="Arial MT"/>
                <a:cs typeface="Arial MT"/>
              </a:rPr>
              <a:t>websites,</a:t>
            </a:r>
            <a:r>
              <a:rPr sz="3000" spc="-75" dirty="0">
                <a:solidFill>
                  <a:srgbClr val="3366CC"/>
                </a:solidFill>
                <a:latin typeface="Arial MT"/>
                <a:cs typeface="Arial MT"/>
              </a:rPr>
              <a:t> </a:t>
            </a:r>
            <a:r>
              <a:rPr sz="3000" dirty="0">
                <a:solidFill>
                  <a:srgbClr val="3366CC"/>
                </a:solidFill>
                <a:latin typeface="Arial MT"/>
                <a:cs typeface="Arial MT"/>
              </a:rPr>
              <a:t>usually</a:t>
            </a:r>
            <a:r>
              <a:rPr sz="3000" spc="-70" dirty="0">
                <a:solidFill>
                  <a:srgbClr val="3366CC"/>
                </a:solidFill>
                <a:latin typeface="Arial MT"/>
                <a:cs typeface="Arial MT"/>
              </a:rPr>
              <a:t> </a:t>
            </a:r>
            <a:r>
              <a:rPr sz="3000" spc="-25" dirty="0">
                <a:solidFill>
                  <a:srgbClr val="3366CC"/>
                </a:solidFill>
                <a:latin typeface="Arial MT"/>
                <a:cs typeface="Arial MT"/>
              </a:rPr>
              <a:t>for </a:t>
            </a:r>
            <a:r>
              <a:rPr sz="3000" dirty="0">
                <a:solidFill>
                  <a:srgbClr val="3366CC"/>
                </a:solidFill>
                <a:latin typeface="Arial MT"/>
                <a:cs typeface="Arial MT"/>
              </a:rPr>
              <a:t>identity</a:t>
            </a:r>
            <a:r>
              <a:rPr sz="3000" spc="-20" dirty="0">
                <a:solidFill>
                  <a:srgbClr val="3366CC"/>
                </a:solidFill>
                <a:latin typeface="Arial MT"/>
                <a:cs typeface="Arial MT"/>
              </a:rPr>
              <a:t> </a:t>
            </a:r>
            <a:r>
              <a:rPr sz="3000" spc="-10" dirty="0">
                <a:solidFill>
                  <a:srgbClr val="3366CC"/>
                </a:solidFill>
                <a:latin typeface="Arial MT"/>
                <a:cs typeface="Arial MT"/>
              </a:rPr>
              <a:t>theft.</a:t>
            </a:r>
            <a:endParaRPr sz="3000">
              <a:latin typeface="Arial MT"/>
              <a:cs typeface="Arial MT"/>
            </a:endParaRPr>
          </a:p>
        </p:txBody>
      </p:sp>
      <p:pic>
        <p:nvPicPr>
          <p:cNvPr id="4" name="object 4"/>
          <p:cNvPicPr/>
          <p:nvPr/>
        </p:nvPicPr>
        <p:blipFill>
          <a:blip r:embed="rId2" cstate="print"/>
          <a:stretch>
            <a:fillRect/>
          </a:stretch>
        </p:blipFill>
        <p:spPr>
          <a:xfrm>
            <a:off x="6858000" y="2110739"/>
            <a:ext cx="2895600" cy="2895600"/>
          </a:xfrm>
          <a:prstGeom prst="rect">
            <a:avLst/>
          </a:prstGeom>
        </p:spPr>
      </p:pic>
      <p:sp>
        <p:nvSpPr>
          <p:cNvPr id="5" name="object 5"/>
          <p:cNvSpPr txBox="1"/>
          <p:nvPr/>
        </p:nvSpPr>
        <p:spPr>
          <a:xfrm>
            <a:off x="11310493" y="6469814"/>
            <a:ext cx="232410" cy="196850"/>
          </a:xfrm>
          <a:prstGeom prst="rect">
            <a:avLst/>
          </a:prstGeom>
        </p:spPr>
        <p:txBody>
          <a:bodyPr vert="horz" wrap="square" lIns="0" tIns="0" rIns="0" bIns="0" rtlCol="0">
            <a:spAutoFit/>
          </a:bodyPr>
          <a:lstStyle/>
          <a:p>
            <a:pPr marL="38100">
              <a:lnSpc>
                <a:spcPts val="1375"/>
              </a:lnSpc>
            </a:pPr>
            <a:fld id="{81D60167-4931-47E6-BA6A-407CBD079E47}" type="slidenum">
              <a:rPr sz="1200" spc="-25" dirty="0">
                <a:solidFill>
                  <a:srgbClr val="3366CC"/>
                </a:solidFill>
                <a:latin typeface="Times New Roman"/>
                <a:cs typeface="Times New Roman"/>
              </a:rPr>
              <a:t>40</a:t>
            </a:fld>
            <a:endParaRPr sz="1200">
              <a:latin typeface="Times New Roman"/>
              <a:cs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4800" y="5644894"/>
            <a:ext cx="11480800" cy="13970"/>
          </a:xfrm>
          <a:custGeom>
            <a:avLst/>
            <a:gdLst/>
            <a:ahLst/>
            <a:cxnLst/>
            <a:rect l="l" t="t" r="r" b="b"/>
            <a:pathLst>
              <a:path w="11480800" h="13970">
                <a:moveTo>
                  <a:pt x="11480292" y="0"/>
                </a:moveTo>
                <a:lnTo>
                  <a:pt x="0" y="0"/>
                </a:lnTo>
                <a:lnTo>
                  <a:pt x="0" y="13717"/>
                </a:lnTo>
                <a:lnTo>
                  <a:pt x="11480292" y="13717"/>
                </a:lnTo>
                <a:lnTo>
                  <a:pt x="11480292" y="0"/>
                </a:lnTo>
                <a:close/>
              </a:path>
            </a:pathLst>
          </a:custGeom>
          <a:solidFill>
            <a:srgbClr val="CC9900"/>
          </a:solidFill>
        </p:spPr>
        <p:txBody>
          <a:bodyPr wrap="square" lIns="0" tIns="0" rIns="0" bIns="0" rtlCol="0"/>
          <a:lstStyle/>
          <a:p>
            <a:endParaRPr/>
          </a:p>
        </p:txBody>
      </p:sp>
      <p:sp>
        <p:nvSpPr>
          <p:cNvPr id="3" name="object 3"/>
          <p:cNvSpPr/>
          <p:nvPr/>
        </p:nvSpPr>
        <p:spPr>
          <a:xfrm>
            <a:off x="304800" y="1581911"/>
            <a:ext cx="11480800" cy="12700"/>
          </a:xfrm>
          <a:custGeom>
            <a:avLst/>
            <a:gdLst/>
            <a:ahLst/>
            <a:cxnLst/>
            <a:rect l="l" t="t" r="r" b="b"/>
            <a:pathLst>
              <a:path w="11480800" h="12700">
                <a:moveTo>
                  <a:pt x="11480292" y="0"/>
                </a:moveTo>
                <a:lnTo>
                  <a:pt x="0" y="0"/>
                </a:lnTo>
                <a:lnTo>
                  <a:pt x="0" y="12191"/>
                </a:lnTo>
                <a:lnTo>
                  <a:pt x="11480292" y="12191"/>
                </a:lnTo>
                <a:lnTo>
                  <a:pt x="11480292" y="0"/>
                </a:lnTo>
                <a:close/>
              </a:path>
            </a:pathLst>
          </a:custGeom>
          <a:solidFill>
            <a:srgbClr val="CC9900"/>
          </a:solidFill>
        </p:spPr>
        <p:txBody>
          <a:bodyPr wrap="square" lIns="0" tIns="0" rIns="0" bIns="0" rtlCol="0"/>
          <a:lstStyle/>
          <a:p>
            <a:endParaRPr/>
          </a:p>
        </p:txBody>
      </p:sp>
      <p:sp>
        <p:nvSpPr>
          <p:cNvPr id="4" name="object 4"/>
          <p:cNvSpPr txBox="1">
            <a:spLocks noGrp="1"/>
          </p:cNvSpPr>
          <p:nvPr>
            <p:ph type="title"/>
          </p:nvPr>
        </p:nvSpPr>
        <p:spPr>
          <a:xfrm>
            <a:off x="1936242" y="1020902"/>
            <a:ext cx="1991360" cy="470534"/>
          </a:xfrm>
          <a:prstGeom prst="rect">
            <a:avLst/>
          </a:prstGeom>
        </p:spPr>
        <p:txBody>
          <a:bodyPr vert="horz" wrap="square" lIns="0" tIns="14604" rIns="0" bIns="0" rtlCol="0">
            <a:spAutoFit/>
          </a:bodyPr>
          <a:lstStyle/>
          <a:p>
            <a:pPr marL="12700">
              <a:lnSpc>
                <a:spcPct val="100000"/>
              </a:lnSpc>
              <a:spcBef>
                <a:spcPts val="114"/>
              </a:spcBef>
            </a:pPr>
            <a:r>
              <a:rPr spc="-70" dirty="0"/>
              <a:t>Cyber</a:t>
            </a:r>
            <a:r>
              <a:rPr spc="-145" dirty="0"/>
              <a:t> </a:t>
            </a:r>
            <a:r>
              <a:rPr spc="-60" dirty="0"/>
              <a:t>Crime?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355"/>
              </a:lnSpc>
            </a:pPr>
            <a:r>
              <a:rPr spc="-25" dirty="0"/>
              <a:t>58</a:t>
            </a:r>
          </a:p>
        </p:txBody>
      </p:sp>
      <p:sp>
        <p:nvSpPr>
          <p:cNvPr id="5" name="object 5"/>
          <p:cNvSpPr txBox="1"/>
          <p:nvPr/>
        </p:nvSpPr>
        <p:spPr>
          <a:xfrm>
            <a:off x="2011172" y="2615269"/>
            <a:ext cx="8103870" cy="1297940"/>
          </a:xfrm>
          <a:prstGeom prst="rect">
            <a:avLst/>
          </a:prstGeom>
        </p:spPr>
        <p:txBody>
          <a:bodyPr vert="horz" wrap="square" lIns="0" tIns="62865" rIns="0" bIns="0" rtlCol="0">
            <a:spAutoFit/>
          </a:bodyPr>
          <a:lstStyle/>
          <a:p>
            <a:pPr algn="ctr">
              <a:lnSpc>
                <a:spcPct val="100000"/>
              </a:lnSpc>
              <a:spcBef>
                <a:spcPts val="495"/>
              </a:spcBef>
            </a:pPr>
            <a:r>
              <a:rPr sz="2600" spc="-20" dirty="0">
                <a:latin typeface="Tahoma"/>
                <a:cs typeface="Tahoma"/>
              </a:rPr>
              <a:t>????</a:t>
            </a:r>
            <a:endParaRPr sz="2600">
              <a:latin typeface="Tahoma"/>
              <a:cs typeface="Tahoma"/>
            </a:endParaRPr>
          </a:p>
          <a:p>
            <a:pPr marL="12700" marR="5080" algn="ctr">
              <a:lnSpc>
                <a:spcPct val="102400"/>
              </a:lnSpc>
              <a:spcBef>
                <a:spcPts val="229"/>
              </a:spcBef>
              <a:tabLst>
                <a:tab pos="6819265" algn="l"/>
              </a:tabLst>
            </a:pPr>
            <a:r>
              <a:rPr sz="1700" dirty="0">
                <a:latin typeface="Tahoma"/>
                <a:cs typeface="Tahoma"/>
              </a:rPr>
              <a:t>Cybercrime,</a:t>
            </a:r>
            <a:r>
              <a:rPr sz="1700" spc="105" dirty="0">
                <a:latin typeface="Tahoma"/>
                <a:cs typeface="Tahoma"/>
              </a:rPr>
              <a:t> </a:t>
            </a:r>
            <a:r>
              <a:rPr sz="1700" dirty="0">
                <a:latin typeface="Tahoma"/>
                <a:cs typeface="Tahoma"/>
              </a:rPr>
              <a:t>or</a:t>
            </a:r>
            <a:r>
              <a:rPr sz="1700" spc="110" dirty="0">
                <a:latin typeface="Tahoma"/>
                <a:cs typeface="Tahoma"/>
              </a:rPr>
              <a:t> </a:t>
            </a:r>
            <a:r>
              <a:rPr sz="1700" dirty="0">
                <a:solidFill>
                  <a:srgbClr val="FF0000"/>
                </a:solidFill>
                <a:latin typeface="Tahoma"/>
                <a:cs typeface="Tahoma"/>
              </a:rPr>
              <a:t>computer-oriented</a:t>
            </a:r>
            <a:r>
              <a:rPr sz="1700" spc="45" dirty="0">
                <a:solidFill>
                  <a:srgbClr val="FF0000"/>
                </a:solidFill>
                <a:latin typeface="Tahoma"/>
                <a:cs typeface="Tahoma"/>
              </a:rPr>
              <a:t> </a:t>
            </a:r>
            <a:r>
              <a:rPr sz="1700" dirty="0">
                <a:solidFill>
                  <a:srgbClr val="FF0000"/>
                </a:solidFill>
                <a:latin typeface="Tahoma"/>
                <a:cs typeface="Tahoma"/>
              </a:rPr>
              <a:t>crime</a:t>
            </a:r>
            <a:r>
              <a:rPr sz="1700" dirty="0">
                <a:latin typeface="Tahoma"/>
                <a:cs typeface="Tahoma"/>
              </a:rPr>
              <a:t>,</a:t>
            </a:r>
            <a:r>
              <a:rPr sz="1700" spc="85" dirty="0">
                <a:latin typeface="Tahoma"/>
                <a:cs typeface="Tahoma"/>
              </a:rPr>
              <a:t> </a:t>
            </a:r>
            <a:r>
              <a:rPr sz="1700" dirty="0">
                <a:latin typeface="Tahoma"/>
                <a:cs typeface="Tahoma"/>
              </a:rPr>
              <a:t>is</a:t>
            </a:r>
            <a:r>
              <a:rPr sz="1700" spc="65" dirty="0">
                <a:latin typeface="Tahoma"/>
                <a:cs typeface="Tahoma"/>
              </a:rPr>
              <a:t> </a:t>
            </a:r>
            <a:r>
              <a:rPr sz="1700" dirty="0">
                <a:latin typeface="Tahoma"/>
                <a:cs typeface="Tahoma"/>
              </a:rPr>
              <a:t>a</a:t>
            </a:r>
            <a:r>
              <a:rPr sz="1700" spc="80" dirty="0">
                <a:latin typeface="Tahoma"/>
                <a:cs typeface="Tahoma"/>
              </a:rPr>
              <a:t> </a:t>
            </a:r>
            <a:r>
              <a:rPr sz="1700" dirty="0">
                <a:latin typeface="Tahoma"/>
                <a:cs typeface="Tahoma"/>
              </a:rPr>
              <a:t>crime</a:t>
            </a:r>
            <a:r>
              <a:rPr sz="1700" spc="85" dirty="0">
                <a:latin typeface="Tahoma"/>
                <a:cs typeface="Tahoma"/>
              </a:rPr>
              <a:t> </a:t>
            </a:r>
            <a:r>
              <a:rPr sz="1700" dirty="0">
                <a:latin typeface="Tahoma"/>
                <a:cs typeface="Tahoma"/>
              </a:rPr>
              <a:t>that</a:t>
            </a:r>
            <a:r>
              <a:rPr sz="1700" spc="85" dirty="0">
                <a:latin typeface="Tahoma"/>
                <a:cs typeface="Tahoma"/>
              </a:rPr>
              <a:t> </a:t>
            </a:r>
            <a:r>
              <a:rPr sz="1700" dirty="0">
                <a:solidFill>
                  <a:srgbClr val="FF0000"/>
                </a:solidFill>
                <a:latin typeface="Tahoma"/>
                <a:cs typeface="Tahoma"/>
              </a:rPr>
              <a:t>involves</a:t>
            </a:r>
            <a:r>
              <a:rPr sz="1700" spc="60" dirty="0">
                <a:solidFill>
                  <a:srgbClr val="FF0000"/>
                </a:solidFill>
                <a:latin typeface="Tahoma"/>
                <a:cs typeface="Tahoma"/>
              </a:rPr>
              <a:t> </a:t>
            </a:r>
            <a:r>
              <a:rPr sz="1700" dirty="0">
                <a:solidFill>
                  <a:srgbClr val="FF0000"/>
                </a:solidFill>
                <a:latin typeface="Tahoma"/>
                <a:cs typeface="Tahoma"/>
              </a:rPr>
              <a:t>a</a:t>
            </a:r>
            <a:r>
              <a:rPr sz="1700" spc="90" dirty="0">
                <a:solidFill>
                  <a:srgbClr val="FF0000"/>
                </a:solidFill>
                <a:latin typeface="Tahoma"/>
                <a:cs typeface="Tahoma"/>
              </a:rPr>
              <a:t> </a:t>
            </a:r>
            <a:r>
              <a:rPr sz="1700" dirty="0">
                <a:solidFill>
                  <a:srgbClr val="FF0000"/>
                </a:solidFill>
                <a:latin typeface="Tahoma"/>
                <a:cs typeface="Tahoma"/>
              </a:rPr>
              <a:t>computer</a:t>
            </a:r>
            <a:r>
              <a:rPr sz="1700" spc="110" dirty="0">
                <a:solidFill>
                  <a:srgbClr val="FF0000"/>
                </a:solidFill>
                <a:latin typeface="Tahoma"/>
                <a:cs typeface="Tahoma"/>
              </a:rPr>
              <a:t> </a:t>
            </a:r>
            <a:r>
              <a:rPr sz="1700" dirty="0">
                <a:latin typeface="Tahoma"/>
                <a:cs typeface="Tahoma"/>
              </a:rPr>
              <a:t>and</a:t>
            </a:r>
            <a:r>
              <a:rPr sz="1700" spc="85" dirty="0">
                <a:latin typeface="Tahoma"/>
                <a:cs typeface="Tahoma"/>
              </a:rPr>
              <a:t> </a:t>
            </a:r>
            <a:r>
              <a:rPr sz="1700" spc="-50" dirty="0">
                <a:latin typeface="Tahoma"/>
                <a:cs typeface="Tahoma"/>
              </a:rPr>
              <a:t>a </a:t>
            </a:r>
            <a:r>
              <a:rPr sz="1700" dirty="0">
                <a:latin typeface="Tahoma"/>
                <a:cs typeface="Tahoma"/>
              </a:rPr>
              <a:t>network.</a:t>
            </a:r>
            <a:r>
              <a:rPr sz="1700" spc="70" dirty="0">
                <a:latin typeface="Tahoma"/>
                <a:cs typeface="Tahoma"/>
              </a:rPr>
              <a:t> </a:t>
            </a:r>
            <a:r>
              <a:rPr sz="1700" dirty="0">
                <a:latin typeface="Tahoma"/>
                <a:cs typeface="Tahoma"/>
              </a:rPr>
              <a:t>The</a:t>
            </a:r>
            <a:r>
              <a:rPr sz="1700" spc="40" dirty="0">
                <a:latin typeface="Tahoma"/>
                <a:cs typeface="Tahoma"/>
              </a:rPr>
              <a:t> </a:t>
            </a:r>
            <a:r>
              <a:rPr sz="1700" dirty="0">
                <a:latin typeface="Tahoma"/>
                <a:cs typeface="Tahoma"/>
              </a:rPr>
              <a:t>computer</a:t>
            </a:r>
            <a:r>
              <a:rPr sz="1700" spc="75" dirty="0">
                <a:latin typeface="Tahoma"/>
                <a:cs typeface="Tahoma"/>
              </a:rPr>
              <a:t> </a:t>
            </a:r>
            <a:r>
              <a:rPr sz="1700" dirty="0">
                <a:latin typeface="Tahoma"/>
                <a:cs typeface="Tahoma"/>
              </a:rPr>
              <a:t>may</a:t>
            </a:r>
            <a:r>
              <a:rPr sz="1700" spc="100" dirty="0">
                <a:latin typeface="Tahoma"/>
                <a:cs typeface="Tahoma"/>
              </a:rPr>
              <a:t> </a:t>
            </a:r>
            <a:r>
              <a:rPr sz="1700" dirty="0">
                <a:latin typeface="Tahoma"/>
                <a:cs typeface="Tahoma"/>
              </a:rPr>
              <a:t>have</a:t>
            </a:r>
            <a:r>
              <a:rPr sz="1700" spc="65" dirty="0">
                <a:latin typeface="Tahoma"/>
                <a:cs typeface="Tahoma"/>
              </a:rPr>
              <a:t> </a:t>
            </a:r>
            <a:r>
              <a:rPr sz="1700" dirty="0">
                <a:latin typeface="Tahoma"/>
                <a:cs typeface="Tahoma"/>
              </a:rPr>
              <a:t>been</a:t>
            </a:r>
            <a:r>
              <a:rPr sz="1700" spc="85" dirty="0">
                <a:latin typeface="Tahoma"/>
                <a:cs typeface="Tahoma"/>
              </a:rPr>
              <a:t> </a:t>
            </a:r>
            <a:r>
              <a:rPr sz="1700" dirty="0">
                <a:latin typeface="Tahoma"/>
                <a:cs typeface="Tahoma"/>
              </a:rPr>
              <a:t>used</a:t>
            </a:r>
            <a:r>
              <a:rPr sz="1700" spc="70" dirty="0">
                <a:latin typeface="Tahoma"/>
                <a:cs typeface="Tahoma"/>
              </a:rPr>
              <a:t> </a:t>
            </a:r>
            <a:r>
              <a:rPr sz="1700" dirty="0">
                <a:latin typeface="Tahoma"/>
                <a:cs typeface="Tahoma"/>
              </a:rPr>
              <a:t>source</a:t>
            </a:r>
            <a:r>
              <a:rPr sz="1700" spc="85" dirty="0">
                <a:latin typeface="Tahoma"/>
                <a:cs typeface="Tahoma"/>
              </a:rPr>
              <a:t> </a:t>
            </a:r>
            <a:r>
              <a:rPr sz="1700" dirty="0">
                <a:latin typeface="Tahoma"/>
                <a:cs typeface="Tahoma"/>
              </a:rPr>
              <a:t>of</a:t>
            </a:r>
            <a:r>
              <a:rPr sz="1700" spc="60" dirty="0">
                <a:latin typeface="Tahoma"/>
                <a:cs typeface="Tahoma"/>
              </a:rPr>
              <a:t> </a:t>
            </a:r>
            <a:r>
              <a:rPr sz="1700" dirty="0">
                <a:latin typeface="Tahoma"/>
                <a:cs typeface="Tahoma"/>
              </a:rPr>
              <a:t>a</a:t>
            </a:r>
            <a:r>
              <a:rPr sz="1700" spc="70" dirty="0">
                <a:latin typeface="Tahoma"/>
                <a:cs typeface="Tahoma"/>
              </a:rPr>
              <a:t> </a:t>
            </a:r>
            <a:r>
              <a:rPr sz="1700" dirty="0">
                <a:latin typeface="Tahoma"/>
                <a:cs typeface="Tahoma"/>
              </a:rPr>
              <a:t>crime,</a:t>
            </a:r>
            <a:r>
              <a:rPr sz="1700" spc="60" dirty="0">
                <a:latin typeface="Tahoma"/>
                <a:cs typeface="Tahoma"/>
              </a:rPr>
              <a:t> </a:t>
            </a:r>
            <a:r>
              <a:rPr sz="1700" dirty="0">
                <a:latin typeface="Tahoma"/>
                <a:cs typeface="Tahoma"/>
              </a:rPr>
              <a:t>or</a:t>
            </a:r>
            <a:r>
              <a:rPr sz="1700" spc="90" dirty="0">
                <a:latin typeface="Tahoma"/>
                <a:cs typeface="Tahoma"/>
              </a:rPr>
              <a:t> </a:t>
            </a:r>
            <a:r>
              <a:rPr sz="1700" spc="-25" dirty="0">
                <a:latin typeface="Tahoma"/>
                <a:cs typeface="Tahoma"/>
              </a:rPr>
              <a:t>it</a:t>
            </a:r>
            <a:r>
              <a:rPr sz="1700" dirty="0">
                <a:latin typeface="Tahoma"/>
                <a:cs typeface="Tahoma"/>
              </a:rPr>
              <a:t>	may</a:t>
            </a:r>
            <a:r>
              <a:rPr sz="1700" spc="70" dirty="0">
                <a:latin typeface="Tahoma"/>
                <a:cs typeface="Tahoma"/>
              </a:rPr>
              <a:t> </a:t>
            </a:r>
            <a:r>
              <a:rPr sz="1700" dirty="0">
                <a:latin typeface="Tahoma"/>
                <a:cs typeface="Tahoma"/>
              </a:rPr>
              <a:t>be</a:t>
            </a:r>
            <a:r>
              <a:rPr sz="1700" spc="45" dirty="0">
                <a:latin typeface="Tahoma"/>
                <a:cs typeface="Tahoma"/>
              </a:rPr>
              <a:t> </a:t>
            </a:r>
            <a:r>
              <a:rPr sz="1700" spc="-25" dirty="0">
                <a:latin typeface="Tahoma"/>
                <a:cs typeface="Tahoma"/>
              </a:rPr>
              <a:t>the </a:t>
            </a:r>
            <a:r>
              <a:rPr sz="1700" spc="-10" dirty="0">
                <a:latin typeface="Tahoma"/>
                <a:cs typeface="Tahoma"/>
              </a:rPr>
              <a:t>target.</a:t>
            </a:r>
            <a:endParaRPr sz="1700">
              <a:latin typeface="Tahoma"/>
              <a:cs typeface="Tahom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4800" y="5644894"/>
            <a:ext cx="11480800" cy="13970"/>
          </a:xfrm>
          <a:custGeom>
            <a:avLst/>
            <a:gdLst/>
            <a:ahLst/>
            <a:cxnLst/>
            <a:rect l="l" t="t" r="r" b="b"/>
            <a:pathLst>
              <a:path w="11480800" h="13970">
                <a:moveTo>
                  <a:pt x="11480292" y="0"/>
                </a:moveTo>
                <a:lnTo>
                  <a:pt x="0" y="0"/>
                </a:lnTo>
                <a:lnTo>
                  <a:pt x="0" y="13717"/>
                </a:lnTo>
                <a:lnTo>
                  <a:pt x="11480292" y="13717"/>
                </a:lnTo>
                <a:lnTo>
                  <a:pt x="11480292" y="0"/>
                </a:lnTo>
                <a:close/>
              </a:path>
            </a:pathLst>
          </a:custGeom>
          <a:solidFill>
            <a:srgbClr val="CC9900"/>
          </a:solidFill>
        </p:spPr>
        <p:txBody>
          <a:bodyPr wrap="square" lIns="0" tIns="0" rIns="0" bIns="0" rtlCol="0"/>
          <a:lstStyle/>
          <a:p>
            <a:endParaRPr/>
          </a:p>
        </p:txBody>
      </p:sp>
      <p:sp>
        <p:nvSpPr>
          <p:cNvPr id="3" name="object 3"/>
          <p:cNvSpPr/>
          <p:nvPr/>
        </p:nvSpPr>
        <p:spPr>
          <a:xfrm>
            <a:off x="304800" y="1581911"/>
            <a:ext cx="11480800" cy="12700"/>
          </a:xfrm>
          <a:custGeom>
            <a:avLst/>
            <a:gdLst/>
            <a:ahLst/>
            <a:cxnLst/>
            <a:rect l="l" t="t" r="r" b="b"/>
            <a:pathLst>
              <a:path w="11480800" h="12700">
                <a:moveTo>
                  <a:pt x="11480292" y="0"/>
                </a:moveTo>
                <a:lnTo>
                  <a:pt x="0" y="0"/>
                </a:lnTo>
                <a:lnTo>
                  <a:pt x="0" y="12191"/>
                </a:lnTo>
                <a:lnTo>
                  <a:pt x="11480292" y="12191"/>
                </a:lnTo>
                <a:lnTo>
                  <a:pt x="11480292" y="0"/>
                </a:lnTo>
                <a:close/>
              </a:path>
            </a:pathLst>
          </a:custGeom>
          <a:solidFill>
            <a:srgbClr val="CC9900"/>
          </a:solidFill>
        </p:spPr>
        <p:txBody>
          <a:bodyPr wrap="square" lIns="0" tIns="0" rIns="0" bIns="0" rtlCol="0"/>
          <a:lstStyle/>
          <a:p>
            <a:endParaRPr/>
          </a:p>
        </p:txBody>
      </p:sp>
      <p:sp>
        <p:nvSpPr>
          <p:cNvPr id="4" name="object 4"/>
          <p:cNvSpPr txBox="1">
            <a:spLocks noGrp="1"/>
          </p:cNvSpPr>
          <p:nvPr>
            <p:ph type="title"/>
          </p:nvPr>
        </p:nvSpPr>
        <p:spPr>
          <a:xfrm>
            <a:off x="1936242" y="1020902"/>
            <a:ext cx="4372610" cy="470534"/>
          </a:xfrm>
          <a:prstGeom prst="rect">
            <a:avLst/>
          </a:prstGeom>
        </p:spPr>
        <p:txBody>
          <a:bodyPr vert="horz" wrap="square" lIns="0" tIns="14604" rIns="0" bIns="0" rtlCol="0">
            <a:spAutoFit/>
          </a:bodyPr>
          <a:lstStyle/>
          <a:p>
            <a:pPr marL="12700">
              <a:lnSpc>
                <a:spcPct val="100000"/>
              </a:lnSpc>
              <a:spcBef>
                <a:spcPts val="114"/>
              </a:spcBef>
            </a:pPr>
            <a:r>
              <a:rPr spc="-75" dirty="0"/>
              <a:t>Classification</a:t>
            </a:r>
            <a:r>
              <a:rPr spc="-140" dirty="0"/>
              <a:t> </a:t>
            </a:r>
            <a:r>
              <a:rPr dirty="0"/>
              <a:t>of</a:t>
            </a:r>
            <a:r>
              <a:rPr spc="5" dirty="0"/>
              <a:t> </a:t>
            </a:r>
            <a:r>
              <a:rPr spc="-75" dirty="0"/>
              <a:t>Cyber</a:t>
            </a:r>
            <a:r>
              <a:rPr spc="-80" dirty="0"/>
              <a:t> </a:t>
            </a:r>
            <a:r>
              <a:rPr spc="-10" dirty="0"/>
              <a:t>Crimes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355"/>
              </a:lnSpc>
            </a:pPr>
            <a:r>
              <a:rPr spc="-25" dirty="0"/>
              <a:t>59</a:t>
            </a:r>
          </a:p>
        </p:txBody>
      </p:sp>
      <p:sp>
        <p:nvSpPr>
          <p:cNvPr id="5" name="object 5"/>
          <p:cNvSpPr txBox="1"/>
          <p:nvPr/>
        </p:nvSpPr>
        <p:spPr>
          <a:xfrm>
            <a:off x="1934717" y="1642415"/>
            <a:ext cx="8885683" cy="4054956"/>
          </a:xfrm>
          <a:prstGeom prst="rect">
            <a:avLst/>
          </a:prstGeom>
        </p:spPr>
        <p:txBody>
          <a:bodyPr vert="horz" wrap="square" lIns="0" tIns="50800" rIns="0" bIns="0" rtlCol="0">
            <a:spAutoFit/>
          </a:bodyPr>
          <a:lstStyle/>
          <a:p>
            <a:pPr marL="262255" indent="-249554">
              <a:lnSpc>
                <a:spcPct val="100000"/>
              </a:lnSpc>
              <a:spcBef>
                <a:spcPts val="400"/>
              </a:spcBef>
              <a:buClr>
                <a:srgbClr val="CC9900"/>
              </a:buClr>
              <a:buSzPct val="62068"/>
              <a:buFont typeface="Times New Roman"/>
              <a:buChar char="■"/>
              <a:tabLst>
                <a:tab pos="262255" algn="l"/>
              </a:tabLst>
            </a:pPr>
            <a:r>
              <a:rPr sz="1600" dirty="0">
                <a:latin typeface="Tahoma"/>
                <a:cs typeface="Tahoma"/>
              </a:rPr>
              <a:t>Insider</a:t>
            </a:r>
            <a:r>
              <a:rPr sz="1600" spc="-110" dirty="0">
                <a:latin typeface="Tahoma"/>
                <a:cs typeface="Tahoma"/>
              </a:rPr>
              <a:t> </a:t>
            </a:r>
            <a:r>
              <a:rPr sz="1600" spc="-10" dirty="0">
                <a:latin typeface="Tahoma"/>
                <a:cs typeface="Tahoma"/>
              </a:rPr>
              <a:t>Attack:</a:t>
            </a:r>
            <a:endParaRPr sz="1600" dirty="0">
              <a:latin typeface="Tahoma"/>
              <a:cs typeface="Tahoma"/>
            </a:endParaRPr>
          </a:p>
          <a:p>
            <a:pPr marL="501650" lvl="1" indent="-239395">
              <a:lnSpc>
                <a:spcPct val="100000"/>
              </a:lnSpc>
              <a:spcBef>
                <a:spcPts val="300"/>
              </a:spcBef>
              <a:buClr>
                <a:srgbClr val="3A802E"/>
              </a:buClr>
              <a:buSzPct val="58620"/>
              <a:buFont typeface="Segoe UI Symbol"/>
              <a:buChar char="❑"/>
              <a:tabLst>
                <a:tab pos="501650" algn="l"/>
              </a:tabLst>
            </a:pPr>
            <a:r>
              <a:rPr sz="1600" dirty="0">
                <a:latin typeface="Tahoma"/>
                <a:cs typeface="Tahoma"/>
              </a:rPr>
              <a:t>Person</a:t>
            </a:r>
            <a:r>
              <a:rPr sz="1600" spc="-85" dirty="0">
                <a:latin typeface="Tahoma"/>
                <a:cs typeface="Tahoma"/>
              </a:rPr>
              <a:t> </a:t>
            </a:r>
            <a:r>
              <a:rPr sz="1600" dirty="0">
                <a:latin typeface="Tahoma"/>
                <a:cs typeface="Tahoma"/>
              </a:rPr>
              <a:t>with</a:t>
            </a:r>
            <a:r>
              <a:rPr sz="1600" spc="-40" dirty="0">
                <a:latin typeface="Tahoma"/>
                <a:cs typeface="Tahoma"/>
              </a:rPr>
              <a:t> </a:t>
            </a:r>
            <a:r>
              <a:rPr sz="1600" spc="-10" dirty="0">
                <a:solidFill>
                  <a:srgbClr val="FF0000"/>
                </a:solidFill>
                <a:latin typeface="Tahoma"/>
                <a:cs typeface="Tahoma"/>
              </a:rPr>
              <a:t>authorized</a:t>
            </a:r>
            <a:r>
              <a:rPr sz="1600" spc="-50" dirty="0">
                <a:solidFill>
                  <a:srgbClr val="FF0000"/>
                </a:solidFill>
                <a:latin typeface="Tahoma"/>
                <a:cs typeface="Tahoma"/>
              </a:rPr>
              <a:t> </a:t>
            </a:r>
            <a:r>
              <a:rPr sz="1600" dirty="0">
                <a:latin typeface="Tahoma"/>
                <a:cs typeface="Tahoma"/>
              </a:rPr>
              <a:t>system</a:t>
            </a:r>
            <a:r>
              <a:rPr sz="1600" spc="-60" dirty="0">
                <a:latin typeface="Tahoma"/>
                <a:cs typeface="Tahoma"/>
              </a:rPr>
              <a:t> </a:t>
            </a:r>
            <a:r>
              <a:rPr sz="1600" spc="-10" dirty="0">
                <a:latin typeface="Tahoma"/>
                <a:cs typeface="Tahoma"/>
              </a:rPr>
              <a:t>access</a:t>
            </a:r>
            <a:endParaRPr sz="1600" dirty="0">
              <a:latin typeface="Tahoma"/>
              <a:cs typeface="Tahoma"/>
            </a:endParaRPr>
          </a:p>
          <a:p>
            <a:pPr marL="501650" lvl="1" indent="-239395">
              <a:lnSpc>
                <a:spcPct val="100000"/>
              </a:lnSpc>
              <a:spcBef>
                <a:spcPts val="310"/>
              </a:spcBef>
              <a:buClr>
                <a:srgbClr val="3A802E"/>
              </a:buClr>
              <a:buSzPct val="58620"/>
              <a:buFont typeface="Segoe UI Symbol"/>
              <a:buChar char="❑"/>
              <a:tabLst>
                <a:tab pos="501650" algn="l"/>
              </a:tabLst>
            </a:pPr>
            <a:r>
              <a:rPr sz="1600" spc="-10" dirty="0">
                <a:solidFill>
                  <a:srgbClr val="FF0000"/>
                </a:solidFill>
                <a:latin typeface="Tahoma"/>
                <a:cs typeface="Tahoma"/>
              </a:rPr>
              <a:t>Dissatisfied</a:t>
            </a:r>
            <a:r>
              <a:rPr sz="1600" spc="-80" dirty="0">
                <a:solidFill>
                  <a:srgbClr val="FF0000"/>
                </a:solidFill>
                <a:latin typeface="Tahoma"/>
                <a:cs typeface="Tahoma"/>
              </a:rPr>
              <a:t> </a:t>
            </a:r>
            <a:r>
              <a:rPr sz="1600" dirty="0">
                <a:latin typeface="Tahoma"/>
                <a:cs typeface="Tahoma"/>
              </a:rPr>
              <a:t>or</a:t>
            </a:r>
            <a:r>
              <a:rPr sz="1600" spc="-35" dirty="0">
                <a:latin typeface="Tahoma"/>
                <a:cs typeface="Tahoma"/>
              </a:rPr>
              <a:t> </a:t>
            </a:r>
            <a:r>
              <a:rPr sz="1600" dirty="0">
                <a:solidFill>
                  <a:srgbClr val="FF0000"/>
                </a:solidFill>
                <a:latin typeface="Tahoma"/>
                <a:cs typeface="Tahoma"/>
              </a:rPr>
              <a:t>unhappy</a:t>
            </a:r>
            <a:r>
              <a:rPr sz="1600" spc="-40" dirty="0">
                <a:solidFill>
                  <a:srgbClr val="FF0000"/>
                </a:solidFill>
                <a:latin typeface="Tahoma"/>
                <a:cs typeface="Tahoma"/>
              </a:rPr>
              <a:t> </a:t>
            </a:r>
            <a:r>
              <a:rPr sz="1600" dirty="0">
                <a:latin typeface="Tahoma"/>
                <a:cs typeface="Tahoma"/>
              </a:rPr>
              <a:t>inside</a:t>
            </a:r>
            <a:r>
              <a:rPr sz="1600" spc="-75" dirty="0">
                <a:latin typeface="Tahoma"/>
                <a:cs typeface="Tahoma"/>
              </a:rPr>
              <a:t> </a:t>
            </a:r>
            <a:r>
              <a:rPr sz="1600" dirty="0">
                <a:latin typeface="Tahoma"/>
                <a:cs typeface="Tahoma"/>
              </a:rPr>
              <a:t>employees</a:t>
            </a:r>
            <a:r>
              <a:rPr sz="1600" spc="-80" dirty="0">
                <a:latin typeface="Tahoma"/>
                <a:cs typeface="Tahoma"/>
              </a:rPr>
              <a:t> </a:t>
            </a:r>
            <a:r>
              <a:rPr sz="1600" dirty="0">
                <a:latin typeface="Tahoma"/>
                <a:cs typeface="Tahoma"/>
              </a:rPr>
              <a:t>or</a:t>
            </a:r>
            <a:r>
              <a:rPr sz="1600" spc="-30" dirty="0">
                <a:latin typeface="Tahoma"/>
                <a:cs typeface="Tahoma"/>
              </a:rPr>
              <a:t> </a:t>
            </a:r>
            <a:r>
              <a:rPr sz="1600" spc="-10" dirty="0">
                <a:latin typeface="Tahoma"/>
                <a:cs typeface="Tahoma"/>
              </a:rPr>
              <a:t>contractors</a:t>
            </a:r>
            <a:endParaRPr sz="1600" dirty="0">
              <a:latin typeface="Tahoma"/>
              <a:cs typeface="Tahoma"/>
            </a:endParaRPr>
          </a:p>
          <a:p>
            <a:pPr marL="501650" lvl="1" indent="-239395">
              <a:lnSpc>
                <a:spcPct val="100000"/>
              </a:lnSpc>
              <a:spcBef>
                <a:spcPts val="300"/>
              </a:spcBef>
              <a:buClr>
                <a:srgbClr val="3A802E"/>
              </a:buClr>
              <a:buSzPct val="58620"/>
              <a:buFont typeface="Segoe UI Symbol"/>
              <a:buChar char="❑"/>
              <a:tabLst>
                <a:tab pos="501650" algn="l"/>
              </a:tabLst>
            </a:pPr>
            <a:r>
              <a:rPr sz="1600" dirty="0">
                <a:latin typeface="Tahoma"/>
                <a:cs typeface="Tahoma"/>
              </a:rPr>
              <a:t>Motive</a:t>
            </a:r>
            <a:r>
              <a:rPr sz="1600" spc="-35" dirty="0">
                <a:latin typeface="Tahoma"/>
                <a:cs typeface="Tahoma"/>
              </a:rPr>
              <a:t> </a:t>
            </a:r>
            <a:r>
              <a:rPr sz="1600" dirty="0">
                <a:latin typeface="Tahoma"/>
                <a:cs typeface="Tahoma"/>
              </a:rPr>
              <a:t>could</a:t>
            </a:r>
            <a:r>
              <a:rPr sz="1600" spc="-60" dirty="0">
                <a:latin typeface="Tahoma"/>
                <a:cs typeface="Tahoma"/>
              </a:rPr>
              <a:t> </a:t>
            </a:r>
            <a:r>
              <a:rPr sz="1600" dirty="0">
                <a:latin typeface="Tahoma"/>
                <a:cs typeface="Tahoma"/>
              </a:rPr>
              <a:t>be</a:t>
            </a:r>
            <a:r>
              <a:rPr sz="1600" spc="-50" dirty="0">
                <a:latin typeface="Tahoma"/>
                <a:cs typeface="Tahoma"/>
              </a:rPr>
              <a:t> </a:t>
            </a:r>
            <a:r>
              <a:rPr sz="1600" dirty="0">
                <a:solidFill>
                  <a:srgbClr val="FF0000"/>
                </a:solidFill>
                <a:latin typeface="Tahoma"/>
                <a:cs typeface="Tahoma"/>
              </a:rPr>
              <a:t>revenge</a:t>
            </a:r>
            <a:r>
              <a:rPr sz="1600" spc="-85" dirty="0">
                <a:solidFill>
                  <a:srgbClr val="FF0000"/>
                </a:solidFill>
                <a:latin typeface="Tahoma"/>
                <a:cs typeface="Tahoma"/>
              </a:rPr>
              <a:t> </a:t>
            </a:r>
            <a:r>
              <a:rPr sz="1600" dirty="0">
                <a:solidFill>
                  <a:srgbClr val="FF0000"/>
                </a:solidFill>
                <a:latin typeface="Tahoma"/>
                <a:cs typeface="Tahoma"/>
              </a:rPr>
              <a:t>or</a:t>
            </a:r>
            <a:r>
              <a:rPr sz="1600" spc="-50" dirty="0">
                <a:solidFill>
                  <a:srgbClr val="FF0000"/>
                </a:solidFill>
                <a:latin typeface="Tahoma"/>
                <a:cs typeface="Tahoma"/>
              </a:rPr>
              <a:t> </a:t>
            </a:r>
            <a:r>
              <a:rPr sz="1600" spc="-20" dirty="0">
                <a:solidFill>
                  <a:srgbClr val="FF0000"/>
                </a:solidFill>
                <a:latin typeface="Tahoma"/>
                <a:cs typeface="Tahoma"/>
              </a:rPr>
              <a:t>greed</a:t>
            </a:r>
            <a:endParaRPr sz="1600" dirty="0">
              <a:latin typeface="Tahoma"/>
              <a:cs typeface="Tahoma"/>
            </a:endParaRPr>
          </a:p>
          <a:p>
            <a:pPr marL="501650" lvl="1" indent="-239395">
              <a:lnSpc>
                <a:spcPct val="100000"/>
              </a:lnSpc>
              <a:spcBef>
                <a:spcPts val="310"/>
              </a:spcBef>
              <a:buClr>
                <a:srgbClr val="3A802E"/>
              </a:buClr>
              <a:buSzPct val="62068"/>
              <a:buFont typeface="Segoe UI Symbol"/>
              <a:buChar char="❑"/>
              <a:tabLst>
                <a:tab pos="501650" algn="l"/>
              </a:tabLst>
            </a:pPr>
            <a:r>
              <a:rPr sz="1600" dirty="0">
                <a:latin typeface="Tahoma"/>
                <a:cs typeface="Tahoma"/>
              </a:rPr>
              <a:t>Well</a:t>
            </a:r>
            <a:r>
              <a:rPr sz="1600" spc="-45" dirty="0">
                <a:latin typeface="Tahoma"/>
                <a:cs typeface="Tahoma"/>
              </a:rPr>
              <a:t> </a:t>
            </a:r>
            <a:r>
              <a:rPr sz="1600" dirty="0">
                <a:solidFill>
                  <a:srgbClr val="FF0000"/>
                </a:solidFill>
                <a:latin typeface="Tahoma"/>
                <a:cs typeface="Tahoma"/>
              </a:rPr>
              <a:t>aware</a:t>
            </a:r>
            <a:r>
              <a:rPr sz="1600" spc="-60" dirty="0">
                <a:solidFill>
                  <a:srgbClr val="FF0000"/>
                </a:solidFill>
                <a:latin typeface="Tahoma"/>
                <a:cs typeface="Tahoma"/>
              </a:rPr>
              <a:t> </a:t>
            </a:r>
            <a:r>
              <a:rPr sz="1600" dirty="0">
                <a:latin typeface="Tahoma"/>
                <a:cs typeface="Tahoma"/>
              </a:rPr>
              <a:t>of</a:t>
            </a:r>
            <a:r>
              <a:rPr sz="1600" spc="-45" dirty="0">
                <a:latin typeface="Tahoma"/>
                <a:cs typeface="Tahoma"/>
              </a:rPr>
              <a:t> </a:t>
            </a:r>
            <a:r>
              <a:rPr sz="1600" dirty="0">
                <a:latin typeface="Tahoma"/>
                <a:cs typeface="Tahoma"/>
              </a:rPr>
              <a:t>the</a:t>
            </a:r>
            <a:r>
              <a:rPr sz="1600" spc="-30" dirty="0">
                <a:latin typeface="Tahoma"/>
                <a:cs typeface="Tahoma"/>
              </a:rPr>
              <a:t> </a:t>
            </a:r>
            <a:r>
              <a:rPr sz="1600" dirty="0">
                <a:solidFill>
                  <a:srgbClr val="FF0000"/>
                </a:solidFill>
                <a:latin typeface="Tahoma"/>
                <a:cs typeface="Tahoma"/>
              </a:rPr>
              <a:t>policies,</a:t>
            </a:r>
            <a:r>
              <a:rPr sz="1600" spc="-60" dirty="0">
                <a:solidFill>
                  <a:srgbClr val="FF0000"/>
                </a:solidFill>
                <a:latin typeface="Tahoma"/>
                <a:cs typeface="Tahoma"/>
              </a:rPr>
              <a:t> </a:t>
            </a:r>
            <a:r>
              <a:rPr sz="1600" dirty="0">
                <a:solidFill>
                  <a:srgbClr val="FF0000"/>
                </a:solidFill>
                <a:latin typeface="Tahoma"/>
                <a:cs typeface="Tahoma"/>
              </a:rPr>
              <a:t>processes,</a:t>
            </a:r>
            <a:r>
              <a:rPr sz="1600" spc="-110" dirty="0">
                <a:solidFill>
                  <a:srgbClr val="FF0000"/>
                </a:solidFill>
                <a:latin typeface="Tahoma"/>
                <a:cs typeface="Tahoma"/>
              </a:rPr>
              <a:t> </a:t>
            </a:r>
            <a:r>
              <a:rPr sz="1600" dirty="0">
                <a:solidFill>
                  <a:srgbClr val="FF0000"/>
                </a:solidFill>
                <a:latin typeface="Tahoma"/>
                <a:cs typeface="Tahoma"/>
              </a:rPr>
              <a:t>IT</a:t>
            </a:r>
            <a:r>
              <a:rPr sz="1600" spc="-45" dirty="0">
                <a:solidFill>
                  <a:srgbClr val="FF0000"/>
                </a:solidFill>
                <a:latin typeface="Tahoma"/>
                <a:cs typeface="Tahoma"/>
              </a:rPr>
              <a:t> </a:t>
            </a:r>
            <a:r>
              <a:rPr sz="1600" dirty="0">
                <a:solidFill>
                  <a:srgbClr val="FF0000"/>
                </a:solidFill>
                <a:latin typeface="Tahoma"/>
                <a:cs typeface="Tahoma"/>
              </a:rPr>
              <a:t>architecture</a:t>
            </a:r>
            <a:r>
              <a:rPr sz="1600" spc="-35" dirty="0">
                <a:solidFill>
                  <a:srgbClr val="FF0000"/>
                </a:solidFill>
                <a:latin typeface="Tahoma"/>
                <a:cs typeface="Tahoma"/>
              </a:rPr>
              <a:t> </a:t>
            </a:r>
            <a:r>
              <a:rPr sz="1600" dirty="0">
                <a:solidFill>
                  <a:srgbClr val="FF0000"/>
                </a:solidFill>
                <a:latin typeface="Tahoma"/>
                <a:cs typeface="Tahoma"/>
              </a:rPr>
              <a:t>and</a:t>
            </a:r>
            <a:r>
              <a:rPr sz="1600" spc="-55" dirty="0">
                <a:solidFill>
                  <a:srgbClr val="FF0000"/>
                </a:solidFill>
                <a:latin typeface="Tahoma"/>
                <a:cs typeface="Tahoma"/>
              </a:rPr>
              <a:t> </a:t>
            </a:r>
            <a:r>
              <a:rPr sz="1600" dirty="0">
                <a:solidFill>
                  <a:srgbClr val="FF0000"/>
                </a:solidFill>
                <a:latin typeface="Tahoma"/>
                <a:cs typeface="Tahoma"/>
              </a:rPr>
              <a:t>weakness</a:t>
            </a:r>
            <a:r>
              <a:rPr sz="1600" spc="-80" dirty="0">
                <a:solidFill>
                  <a:srgbClr val="FF0000"/>
                </a:solidFill>
                <a:latin typeface="Tahoma"/>
                <a:cs typeface="Tahoma"/>
              </a:rPr>
              <a:t> </a:t>
            </a:r>
            <a:r>
              <a:rPr sz="1600" dirty="0">
                <a:latin typeface="Tahoma"/>
                <a:cs typeface="Tahoma"/>
              </a:rPr>
              <a:t>of</a:t>
            </a:r>
            <a:r>
              <a:rPr sz="1600" spc="-30" dirty="0">
                <a:latin typeface="Tahoma"/>
                <a:cs typeface="Tahoma"/>
              </a:rPr>
              <a:t> </a:t>
            </a:r>
            <a:r>
              <a:rPr sz="1600" dirty="0">
                <a:latin typeface="Tahoma"/>
                <a:cs typeface="Tahoma"/>
              </a:rPr>
              <a:t>the</a:t>
            </a:r>
            <a:r>
              <a:rPr sz="1600" spc="-55" dirty="0">
                <a:latin typeface="Tahoma"/>
                <a:cs typeface="Tahoma"/>
              </a:rPr>
              <a:t> </a:t>
            </a:r>
            <a:r>
              <a:rPr sz="1600" dirty="0">
                <a:latin typeface="Tahoma"/>
                <a:cs typeface="Tahoma"/>
              </a:rPr>
              <a:t>security</a:t>
            </a:r>
            <a:r>
              <a:rPr sz="1600" spc="-45" dirty="0">
                <a:latin typeface="Tahoma"/>
                <a:cs typeface="Tahoma"/>
              </a:rPr>
              <a:t> </a:t>
            </a:r>
            <a:r>
              <a:rPr sz="1600" spc="-10" dirty="0">
                <a:latin typeface="Tahoma"/>
                <a:cs typeface="Tahoma"/>
              </a:rPr>
              <a:t>system</a:t>
            </a:r>
            <a:endParaRPr sz="1600" dirty="0">
              <a:latin typeface="Tahoma"/>
              <a:cs typeface="Tahoma"/>
            </a:endParaRPr>
          </a:p>
          <a:p>
            <a:pPr marL="501650" marR="5080" lvl="1" indent="-239395">
              <a:lnSpc>
                <a:spcPct val="100000"/>
              </a:lnSpc>
              <a:spcBef>
                <a:spcPts val="315"/>
              </a:spcBef>
              <a:buClr>
                <a:srgbClr val="3A802E"/>
              </a:buClr>
              <a:buSzPct val="58620"/>
              <a:buFont typeface="Segoe UI Symbol"/>
              <a:buChar char="❑"/>
              <a:tabLst>
                <a:tab pos="501650" algn="l"/>
                <a:tab pos="2642870" algn="l"/>
              </a:tabLst>
            </a:pPr>
            <a:r>
              <a:rPr sz="1600" spc="-10" dirty="0">
                <a:latin typeface="Tahoma"/>
                <a:cs typeface="Tahoma"/>
              </a:rPr>
              <a:t>Comparatively</a:t>
            </a:r>
            <a:r>
              <a:rPr sz="1600" spc="-45" dirty="0">
                <a:latin typeface="Tahoma"/>
                <a:cs typeface="Tahoma"/>
              </a:rPr>
              <a:t> </a:t>
            </a:r>
            <a:r>
              <a:rPr sz="1600" dirty="0">
                <a:latin typeface="Tahoma"/>
                <a:cs typeface="Tahoma"/>
              </a:rPr>
              <a:t>easy</a:t>
            </a:r>
            <a:r>
              <a:rPr sz="1600" spc="-40" dirty="0">
                <a:latin typeface="Tahoma"/>
                <a:cs typeface="Tahoma"/>
              </a:rPr>
              <a:t> </a:t>
            </a:r>
            <a:r>
              <a:rPr sz="1600" dirty="0">
                <a:latin typeface="Tahoma"/>
                <a:cs typeface="Tahoma"/>
              </a:rPr>
              <a:t>for</a:t>
            </a:r>
            <a:r>
              <a:rPr sz="1600" spc="-25" dirty="0">
                <a:latin typeface="Tahoma"/>
                <a:cs typeface="Tahoma"/>
              </a:rPr>
              <a:t> </a:t>
            </a:r>
            <a:r>
              <a:rPr sz="1600" spc="-50" dirty="0">
                <a:latin typeface="Tahoma"/>
                <a:cs typeface="Tahoma"/>
              </a:rPr>
              <a:t>a</a:t>
            </a:r>
            <a:r>
              <a:rPr sz="1600" dirty="0">
                <a:latin typeface="Tahoma"/>
                <a:cs typeface="Tahoma"/>
              </a:rPr>
              <a:t>	insider</a:t>
            </a:r>
            <a:r>
              <a:rPr sz="1600" spc="-40" dirty="0">
                <a:latin typeface="Tahoma"/>
                <a:cs typeface="Tahoma"/>
              </a:rPr>
              <a:t> </a:t>
            </a:r>
            <a:r>
              <a:rPr sz="1600" spc="-10" dirty="0">
                <a:latin typeface="Tahoma"/>
                <a:cs typeface="Tahoma"/>
              </a:rPr>
              <a:t>attacker</a:t>
            </a:r>
            <a:r>
              <a:rPr sz="1600" spc="-80" dirty="0">
                <a:latin typeface="Tahoma"/>
                <a:cs typeface="Tahoma"/>
              </a:rPr>
              <a:t> </a:t>
            </a:r>
            <a:r>
              <a:rPr sz="1600" dirty="0">
                <a:latin typeface="Tahoma"/>
                <a:cs typeface="Tahoma"/>
              </a:rPr>
              <a:t>to</a:t>
            </a:r>
            <a:r>
              <a:rPr sz="1600" spc="-45" dirty="0">
                <a:latin typeface="Tahoma"/>
                <a:cs typeface="Tahoma"/>
              </a:rPr>
              <a:t> </a:t>
            </a:r>
            <a:r>
              <a:rPr sz="1600" dirty="0">
                <a:latin typeface="Tahoma"/>
                <a:cs typeface="Tahoma"/>
              </a:rPr>
              <a:t>steel</a:t>
            </a:r>
            <a:r>
              <a:rPr sz="1600" spc="-40" dirty="0">
                <a:latin typeface="Tahoma"/>
                <a:cs typeface="Tahoma"/>
              </a:rPr>
              <a:t> </a:t>
            </a:r>
            <a:r>
              <a:rPr sz="1600" dirty="0">
                <a:latin typeface="Tahoma"/>
                <a:cs typeface="Tahoma"/>
              </a:rPr>
              <a:t>sensitive</a:t>
            </a:r>
            <a:r>
              <a:rPr sz="1600" spc="-30" dirty="0">
                <a:latin typeface="Tahoma"/>
                <a:cs typeface="Tahoma"/>
              </a:rPr>
              <a:t> </a:t>
            </a:r>
            <a:r>
              <a:rPr sz="1600" dirty="0">
                <a:latin typeface="Tahoma"/>
                <a:cs typeface="Tahoma"/>
              </a:rPr>
              <a:t>information,</a:t>
            </a:r>
            <a:r>
              <a:rPr sz="1600" spc="-55" dirty="0">
                <a:latin typeface="Tahoma"/>
                <a:cs typeface="Tahoma"/>
              </a:rPr>
              <a:t> </a:t>
            </a:r>
            <a:r>
              <a:rPr sz="1600" dirty="0">
                <a:latin typeface="Tahoma"/>
                <a:cs typeface="Tahoma"/>
              </a:rPr>
              <a:t>crash</a:t>
            </a:r>
            <a:r>
              <a:rPr sz="1600" spc="-65" dirty="0">
                <a:latin typeface="Tahoma"/>
                <a:cs typeface="Tahoma"/>
              </a:rPr>
              <a:t> </a:t>
            </a:r>
            <a:r>
              <a:rPr sz="1600" dirty="0">
                <a:latin typeface="Tahoma"/>
                <a:cs typeface="Tahoma"/>
              </a:rPr>
              <a:t>the</a:t>
            </a:r>
            <a:r>
              <a:rPr sz="1600" spc="-45" dirty="0">
                <a:latin typeface="Tahoma"/>
                <a:cs typeface="Tahoma"/>
              </a:rPr>
              <a:t> </a:t>
            </a:r>
            <a:r>
              <a:rPr sz="1600" spc="-10" dirty="0">
                <a:latin typeface="Tahoma"/>
                <a:cs typeface="Tahoma"/>
              </a:rPr>
              <a:t>network, </a:t>
            </a:r>
            <a:r>
              <a:rPr sz="1600" spc="-20" dirty="0">
                <a:latin typeface="Tahoma"/>
                <a:cs typeface="Tahoma"/>
              </a:rPr>
              <a:t>etc.</a:t>
            </a:r>
            <a:endParaRPr sz="1600" dirty="0">
              <a:latin typeface="Tahoma"/>
              <a:cs typeface="Tahoma"/>
            </a:endParaRPr>
          </a:p>
          <a:p>
            <a:pPr marL="501650" lvl="1" indent="-239395">
              <a:lnSpc>
                <a:spcPct val="100000"/>
              </a:lnSpc>
              <a:spcBef>
                <a:spcPts val="409"/>
              </a:spcBef>
              <a:buClr>
                <a:srgbClr val="3A802E"/>
              </a:buClr>
              <a:buSzPct val="58620"/>
              <a:buFont typeface="Segoe UI Symbol"/>
              <a:buChar char="❑"/>
              <a:tabLst>
                <a:tab pos="501650" algn="l"/>
              </a:tabLst>
            </a:pPr>
            <a:r>
              <a:rPr sz="1600" dirty="0">
                <a:latin typeface="Tahoma"/>
                <a:cs typeface="Tahoma"/>
              </a:rPr>
              <a:t>Could</a:t>
            </a:r>
            <a:r>
              <a:rPr sz="1600" spc="-50" dirty="0">
                <a:latin typeface="Tahoma"/>
                <a:cs typeface="Tahoma"/>
              </a:rPr>
              <a:t> </a:t>
            </a:r>
            <a:r>
              <a:rPr sz="1600" dirty="0">
                <a:latin typeface="Tahoma"/>
                <a:cs typeface="Tahoma"/>
              </a:rPr>
              <a:t>be</a:t>
            </a:r>
            <a:r>
              <a:rPr sz="1600" spc="-35" dirty="0">
                <a:latin typeface="Tahoma"/>
                <a:cs typeface="Tahoma"/>
              </a:rPr>
              <a:t> </a:t>
            </a:r>
            <a:r>
              <a:rPr sz="1600" spc="-10" dirty="0">
                <a:latin typeface="Tahoma"/>
                <a:cs typeface="Tahoma"/>
              </a:rPr>
              <a:t>prevented</a:t>
            </a:r>
            <a:r>
              <a:rPr sz="1600" spc="-70" dirty="0">
                <a:latin typeface="Tahoma"/>
                <a:cs typeface="Tahoma"/>
              </a:rPr>
              <a:t> </a:t>
            </a:r>
            <a:r>
              <a:rPr sz="1600" dirty="0">
                <a:latin typeface="Tahoma"/>
                <a:cs typeface="Tahoma"/>
              </a:rPr>
              <a:t>by</a:t>
            </a:r>
            <a:r>
              <a:rPr sz="1600" spc="-40" dirty="0">
                <a:latin typeface="Tahoma"/>
                <a:cs typeface="Tahoma"/>
              </a:rPr>
              <a:t> </a:t>
            </a:r>
            <a:r>
              <a:rPr sz="1600" dirty="0">
                <a:latin typeface="Tahoma"/>
                <a:cs typeface="Tahoma"/>
              </a:rPr>
              <a:t>using</a:t>
            </a:r>
            <a:r>
              <a:rPr sz="1600" spc="-55" dirty="0">
                <a:latin typeface="Tahoma"/>
                <a:cs typeface="Tahoma"/>
              </a:rPr>
              <a:t> </a:t>
            </a:r>
            <a:r>
              <a:rPr sz="1600" spc="-10" dirty="0" smtClean="0">
                <a:solidFill>
                  <a:srgbClr val="FF0000"/>
                </a:solidFill>
                <a:latin typeface="Tahoma"/>
                <a:cs typeface="Tahoma"/>
              </a:rPr>
              <a:t>IDS/IPS</a:t>
            </a:r>
            <a:r>
              <a:rPr lang="en-US" sz="1600" spc="-10" dirty="0" smtClean="0">
                <a:solidFill>
                  <a:srgbClr val="FF0000"/>
                </a:solidFill>
                <a:latin typeface="Tahoma"/>
                <a:cs typeface="Tahoma"/>
              </a:rPr>
              <a:t> (</a:t>
            </a:r>
            <a:r>
              <a:rPr lang="en-US" dirty="0" smtClean="0"/>
              <a:t>IDS (Intrusion Detection &amp; Prevention System)</a:t>
            </a:r>
            <a:endParaRPr sz="1600" dirty="0">
              <a:latin typeface="Tahoma"/>
              <a:cs typeface="Tahoma"/>
            </a:endParaRPr>
          </a:p>
          <a:p>
            <a:pPr lvl="1">
              <a:lnSpc>
                <a:spcPct val="100000"/>
              </a:lnSpc>
              <a:spcBef>
                <a:spcPts val="635"/>
              </a:spcBef>
              <a:buFont typeface="Segoe UI Symbol"/>
              <a:buChar char="❑"/>
            </a:pPr>
            <a:endParaRPr sz="1600" dirty="0">
              <a:latin typeface="Tahoma"/>
              <a:cs typeface="Tahoma"/>
            </a:endParaRPr>
          </a:p>
          <a:p>
            <a:pPr marL="262255" indent="-249554">
              <a:lnSpc>
                <a:spcPct val="100000"/>
              </a:lnSpc>
              <a:buClr>
                <a:srgbClr val="CC9900"/>
              </a:buClr>
              <a:buSzPct val="62068"/>
              <a:buFont typeface="Times New Roman"/>
              <a:buChar char="■"/>
              <a:tabLst>
                <a:tab pos="262255" algn="l"/>
              </a:tabLst>
            </a:pPr>
            <a:r>
              <a:rPr sz="1600" dirty="0">
                <a:latin typeface="Tahoma"/>
                <a:cs typeface="Tahoma"/>
              </a:rPr>
              <a:t>External</a:t>
            </a:r>
            <a:r>
              <a:rPr sz="1600" spc="-100" dirty="0">
                <a:latin typeface="Tahoma"/>
                <a:cs typeface="Tahoma"/>
              </a:rPr>
              <a:t> </a:t>
            </a:r>
            <a:r>
              <a:rPr sz="1600" spc="-10" dirty="0">
                <a:latin typeface="Tahoma"/>
                <a:cs typeface="Tahoma"/>
              </a:rPr>
              <a:t>Attack:</a:t>
            </a:r>
            <a:endParaRPr sz="1600" dirty="0">
              <a:latin typeface="Tahoma"/>
              <a:cs typeface="Tahoma"/>
            </a:endParaRPr>
          </a:p>
          <a:p>
            <a:pPr marL="501650" lvl="1" indent="-239395">
              <a:lnSpc>
                <a:spcPct val="100000"/>
              </a:lnSpc>
              <a:spcBef>
                <a:spcPts val="315"/>
              </a:spcBef>
              <a:buClr>
                <a:srgbClr val="3A802E"/>
              </a:buClr>
              <a:buSzPct val="58620"/>
              <a:buFont typeface="Segoe UI Symbol"/>
              <a:buChar char="❑"/>
              <a:tabLst>
                <a:tab pos="501650" algn="l"/>
              </a:tabLst>
            </a:pPr>
            <a:r>
              <a:rPr sz="1600" dirty="0">
                <a:solidFill>
                  <a:srgbClr val="FF0000"/>
                </a:solidFill>
                <a:latin typeface="Tahoma"/>
                <a:cs typeface="Tahoma"/>
              </a:rPr>
              <a:t>Hired</a:t>
            </a:r>
            <a:r>
              <a:rPr sz="1600" spc="-60" dirty="0">
                <a:solidFill>
                  <a:srgbClr val="FF0000"/>
                </a:solidFill>
                <a:latin typeface="Tahoma"/>
                <a:cs typeface="Tahoma"/>
              </a:rPr>
              <a:t> </a:t>
            </a:r>
            <a:r>
              <a:rPr sz="1600" dirty="0">
                <a:latin typeface="Tahoma"/>
                <a:cs typeface="Tahoma"/>
              </a:rPr>
              <a:t>by</a:t>
            </a:r>
            <a:r>
              <a:rPr sz="1600" spc="-35" dirty="0">
                <a:latin typeface="Tahoma"/>
                <a:cs typeface="Tahoma"/>
              </a:rPr>
              <a:t> </a:t>
            </a:r>
            <a:r>
              <a:rPr sz="1600" dirty="0">
                <a:latin typeface="Tahoma"/>
                <a:cs typeface="Tahoma"/>
              </a:rPr>
              <a:t>an</a:t>
            </a:r>
            <a:r>
              <a:rPr sz="1600" spc="-45" dirty="0">
                <a:latin typeface="Tahoma"/>
                <a:cs typeface="Tahoma"/>
              </a:rPr>
              <a:t> </a:t>
            </a:r>
            <a:r>
              <a:rPr sz="1600" dirty="0">
                <a:latin typeface="Tahoma"/>
                <a:cs typeface="Tahoma"/>
              </a:rPr>
              <a:t>insider</a:t>
            </a:r>
            <a:r>
              <a:rPr sz="1600" spc="-45" dirty="0">
                <a:latin typeface="Tahoma"/>
                <a:cs typeface="Tahoma"/>
              </a:rPr>
              <a:t> </a:t>
            </a:r>
            <a:r>
              <a:rPr sz="1600" dirty="0">
                <a:latin typeface="Tahoma"/>
                <a:cs typeface="Tahoma"/>
              </a:rPr>
              <a:t>or</a:t>
            </a:r>
            <a:r>
              <a:rPr sz="1600" spc="-25" dirty="0">
                <a:latin typeface="Tahoma"/>
                <a:cs typeface="Tahoma"/>
              </a:rPr>
              <a:t> </a:t>
            </a:r>
            <a:r>
              <a:rPr sz="1600" dirty="0">
                <a:latin typeface="Tahoma"/>
                <a:cs typeface="Tahoma"/>
              </a:rPr>
              <a:t>an</a:t>
            </a:r>
            <a:r>
              <a:rPr sz="1600" spc="-55" dirty="0">
                <a:latin typeface="Tahoma"/>
                <a:cs typeface="Tahoma"/>
              </a:rPr>
              <a:t> </a:t>
            </a:r>
            <a:r>
              <a:rPr sz="1600" dirty="0">
                <a:solidFill>
                  <a:srgbClr val="FF0000"/>
                </a:solidFill>
                <a:latin typeface="Tahoma"/>
                <a:cs typeface="Tahoma"/>
              </a:rPr>
              <a:t>external</a:t>
            </a:r>
            <a:r>
              <a:rPr sz="1600" spc="-35" dirty="0">
                <a:solidFill>
                  <a:srgbClr val="FF0000"/>
                </a:solidFill>
                <a:latin typeface="Tahoma"/>
                <a:cs typeface="Tahoma"/>
              </a:rPr>
              <a:t> </a:t>
            </a:r>
            <a:r>
              <a:rPr sz="1600" dirty="0">
                <a:solidFill>
                  <a:srgbClr val="FF0000"/>
                </a:solidFill>
                <a:latin typeface="Tahoma"/>
                <a:cs typeface="Tahoma"/>
              </a:rPr>
              <a:t>entity</a:t>
            </a:r>
            <a:r>
              <a:rPr sz="1600" spc="-15" dirty="0">
                <a:solidFill>
                  <a:srgbClr val="FF0000"/>
                </a:solidFill>
                <a:latin typeface="Tahoma"/>
                <a:cs typeface="Tahoma"/>
              </a:rPr>
              <a:t> </a:t>
            </a:r>
            <a:r>
              <a:rPr sz="1600" dirty="0">
                <a:latin typeface="Tahoma"/>
                <a:cs typeface="Tahoma"/>
              </a:rPr>
              <a:t>to</a:t>
            </a:r>
            <a:r>
              <a:rPr sz="1600" spc="-30" dirty="0">
                <a:latin typeface="Tahoma"/>
                <a:cs typeface="Tahoma"/>
              </a:rPr>
              <a:t> </a:t>
            </a:r>
            <a:r>
              <a:rPr sz="1600" dirty="0">
                <a:latin typeface="Tahoma"/>
                <a:cs typeface="Tahoma"/>
              </a:rPr>
              <a:t>the</a:t>
            </a:r>
            <a:r>
              <a:rPr sz="1600" spc="-30" dirty="0">
                <a:latin typeface="Tahoma"/>
                <a:cs typeface="Tahoma"/>
              </a:rPr>
              <a:t> </a:t>
            </a:r>
            <a:r>
              <a:rPr sz="1600" spc="-10" dirty="0">
                <a:latin typeface="Tahoma"/>
                <a:cs typeface="Tahoma"/>
              </a:rPr>
              <a:t>organization</a:t>
            </a:r>
            <a:endParaRPr sz="1600" dirty="0">
              <a:latin typeface="Tahoma"/>
              <a:cs typeface="Tahoma"/>
            </a:endParaRPr>
          </a:p>
          <a:p>
            <a:pPr marL="501650" lvl="1" indent="-239395">
              <a:lnSpc>
                <a:spcPct val="100000"/>
              </a:lnSpc>
              <a:spcBef>
                <a:spcPts val="300"/>
              </a:spcBef>
              <a:buClr>
                <a:srgbClr val="3A802E"/>
              </a:buClr>
              <a:buSzPct val="58620"/>
              <a:buFont typeface="Segoe UI Symbol"/>
              <a:buChar char="❑"/>
              <a:tabLst>
                <a:tab pos="501650" algn="l"/>
              </a:tabLst>
            </a:pPr>
            <a:r>
              <a:rPr sz="1600" spc="-10" dirty="0">
                <a:latin typeface="Tahoma"/>
                <a:cs typeface="Tahoma"/>
              </a:rPr>
              <a:t>Organization</a:t>
            </a:r>
            <a:r>
              <a:rPr sz="1600" spc="-60" dirty="0">
                <a:latin typeface="Tahoma"/>
                <a:cs typeface="Tahoma"/>
              </a:rPr>
              <a:t> </a:t>
            </a:r>
            <a:r>
              <a:rPr sz="1600" dirty="0">
                <a:latin typeface="Tahoma"/>
                <a:cs typeface="Tahoma"/>
              </a:rPr>
              <a:t>not</a:t>
            </a:r>
            <a:r>
              <a:rPr sz="1600" spc="-35" dirty="0">
                <a:latin typeface="Tahoma"/>
                <a:cs typeface="Tahoma"/>
              </a:rPr>
              <a:t> </a:t>
            </a:r>
            <a:r>
              <a:rPr sz="1600" dirty="0">
                <a:latin typeface="Tahoma"/>
                <a:cs typeface="Tahoma"/>
              </a:rPr>
              <a:t>only</a:t>
            </a:r>
            <a:r>
              <a:rPr sz="1600" spc="-25" dirty="0">
                <a:latin typeface="Tahoma"/>
                <a:cs typeface="Tahoma"/>
              </a:rPr>
              <a:t> </a:t>
            </a:r>
            <a:r>
              <a:rPr sz="1600" dirty="0">
                <a:solidFill>
                  <a:srgbClr val="FF0000"/>
                </a:solidFill>
                <a:latin typeface="Tahoma"/>
                <a:cs typeface="Tahoma"/>
              </a:rPr>
              <a:t>faces</a:t>
            </a:r>
            <a:r>
              <a:rPr sz="1600" spc="-60" dirty="0">
                <a:solidFill>
                  <a:srgbClr val="FF0000"/>
                </a:solidFill>
                <a:latin typeface="Tahoma"/>
                <a:cs typeface="Tahoma"/>
              </a:rPr>
              <a:t> </a:t>
            </a:r>
            <a:r>
              <a:rPr sz="1600" dirty="0">
                <a:solidFill>
                  <a:srgbClr val="FF0000"/>
                </a:solidFill>
                <a:latin typeface="Tahoma"/>
                <a:cs typeface="Tahoma"/>
              </a:rPr>
              <a:t>financial</a:t>
            </a:r>
            <a:r>
              <a:rPr sz="1600" spc="-45" dirty="0">
                <a:solidFill>
                  <a:srgbClr val="FF0000"/>
                </a:solidFill>
                <a:latin typeface="Tahoma"/>
                <a:cs typeface="Tahoma"/>
              </a:rPr>
              <a:t> </a:t>
            </a:r>
            <a:r>
              <a:rPr sz="1600" dirty="0">
                <a:solidFill>
                  <a:srgbClr val="FF0000"/>
                </a:solidFill>
                <a:latin typeface="Tahoma"/>
                <a:cs typeface="Tahoma"/>
              </a:rPr>
              <a:t>loss</a:t>
            </a:r>
            <a:r>
              <a:rPr sz="1600" spc="-45" dirty="0">
                <a:solidFill>
                  <a:srgbClr val="FF0000"/>
                </a:solidFill>
                <a:latin typeface="Tahoma"/>
                <a:cs typeface="Tahoma"/>
              </a:rPr>
              <a:t> </a:t>
            </a:r>
            <a:r>
              <a:rPr sz="1600" dirty="0">
                <a:latin typeface="Tahoma"/>
                <a:cs typeface="Tahoma"/>
              </a:rPr>
              <a:t>but</a:t>
            </a:r>
            <a:r>
              <a:rPr sz="1600" spc="-30" dirty="0">
                <a:latin typeface="Tahoma"/>
                <a:cs typeface="Tahoma"/>
              </a:rPr>
              <a:t> </a:t>
            </a:r>
            <a:r>
              <a:rPr sz="1600" dirty="0">
                <a:latin typeface="Tahoma"/>
                <a:cs typeface="Tahoma"/>
              </a:rPr>
              <a:t>also</a:t>
            </a:r>
            <a:r>
              <a:rPr sz="1600" spc="-45" dirty="0">
                <a:latin typeface="Tahoma"/>
                <a:cs typeface="Tahoma"/>
              </a:rPr>
              <a:t> </a:t>
            </a:r>
            <a:r>
              <a:rPr sz="1600" dirty="0">
                <a:latin typeface="Tahoma"/>
                <a:cs typeface="Tahoma"/>
              </a:rPr>
              <a:t>the</a:t>
            </a:r>
            <a:r>
              <a:rPr sz="1600" spc="-50" dirty="0">
                <a:latin typeface="Tahoma"/>
                <a:cs typeface="Tahoma"/>
              </a:rPr>
              <a:t> </a:t>
            </a:r>
            <a:r>
              <a:rPr sz="1600" dirty="0">
                <a:latin typeface="Tahoma"/>
                <a:cs typeface="Tahoma"/>
              </a:rPr>
              <a:t>loss</a:t>
            </a:r>
            <a:r>
              <a:rPr sz="1600" spc="-35" dirty="0">
                <a:latin typeface="Tahoma"/>
                <a:cs typeface="Tahoma"/>
              </a:rPr>
              <a:t> </a:t>
            </a:r>
            <a:r>
              <a:rPr sz="1600" dirty="0">
                <a:latin typeface="Tahoma"/>
                <a:cs typeface="Tahoma"/>
              </a:rPr>
              <a:t>of</a:t>
            </a:r>
            <a:r>
              <a:rPr sz="1600" spc="-40" dirty="0">
                <a:latin typeface="Tahoma"/>
                <a:cs typeface="Tahoma"/>
              </a:rPr>
              <a:t> </a:t>
            </a:r>
            <a:r>
              <a:rPr sz="1600" spc="-10" dirty="0">
                <a:solidFill>
                  <a:srgbClr val="FF0000"/>
                </a:solidFill>
                <a:latin typeface="Tahoma"/>
                <a:cs typeface="Tahoma"/>
              </a:rPr>
              <a:t>reputation</a:t>
            </a:r>
            <a:endParaRPr sz="1600" dirty="0">
              <a:latin typeface="Tahoma"/>
              <a:cs typeface="Tahoma"/>
            </a:endParaRPr>
          </a:p>
          <a:p>
            <a:pPr marL="501650" lvl="1" indent="-239395">
              <a:lnSpc>
                <a:spcPct val="100000"/>
              </a:lnSpc>
              <a:spcBef>
                <a:spcPts val="315"/>
              </a:spcBef>
              <a:buClr>
                <a:srgbClr val="3A802E"/>
              </a:buClr>
              <a:buSzPct val="58620"/>
              <a:buFont typeface="Segoe UI Symbol"/>
              <a:buChar char="❑"/>
              <a:tabLst>
                <a:tab pos="501650" algn="l"/>
              </a:tabLst>
            </a:pPr>
            <a:r>
              <a:rPr sz="1600" spc="-10" dirty="0">
                <a:latin typeface="Tahoma"/>
                <a:cs typeface="Tahoma"/>
              </a:rPr>
              <a:t>Attackers</a:t>
            </a:r>
            <a:r>
              <a:rPr sz="1600" spc="-65" dirty="0">
                <a:latin typeface="Tahoma"/>
                <a:cs typeface="Tahoma"/>
              </a:rPr>
              <a:t> </a:t>
            </a:r>
            <a:r>
              <a:rPr sz="1600" dirty="0">
                <a:latin typeface="Tahoma"/>
                <a:cs typeface="Tahoma"/>
              </a:rPr>
              <a:t>usually</a:t>
            </a:r>
            <a:r>
              <a:rPr sz="1600" spc="-45" dirty="0">
                <a:latin typeface="Tahoma"/>
                <a:cs typeface="Tahoma"/>
              </a:rPr>
              <a:t> </a:t>
            </a:r>
            <a:r>
              <a:rPr sz="1600" dirty="0">
                <a:solidFill>
                  <a:srgbClr val="FF0000"/>
                </a:solidFill>
                <a:latin typeface="Tahoma"/>
                <a:cs typeface="Tahoma"/>
              </a:rPr>
              <a:t>scan</a:t>
            </a:r>
            <a:r>
              <a:rPr sz="1600" spc="-30" dirty="0">
                <a:solidFill>
                  <a:srgbClr val="FF0000"/>
                </a:solidFill>
                <a:latin typeface="Tahoma"/>
                <a:cs typeface="Tahoma"/>
              </a:rPr>
              <a:t> </a:t>
            </a:r>
            <a:r>
              <a:rPr sz="1600" dirty="0">
                <a:solidFill>
                  <a:srgbClr val="FF0000"/>
                </a:solidFill>
                <a:latin typeface="Tahoma"/>
                <a:cs typeface="Tahoma"/>
              </a:rPr>
              <a:t>and</a:t>
            </a:r>
            <a:r>
              <a:rPr sz="1600" spc="-80" dirty="0">
                <a:solidFill>
                  <a:srgbClr val="FF0000"/>
                </a:solidFill>
                <a:latin typeface="Tahoma"/>
                <a:cs typeface="Tahoma"/>
              </a:rPr>
              <a:t> </a:t>
            </a:r>
            <a:r>
              <a:rPr sz="1600" dirty="0">
                <a:solidFill>
                  <a:srgbClr val="FF0000"/>
                </a:solidFill>
                <a:latin typeface="Tahoma"/>
                <a:cs typeface="Tahoma"/>
              </a:rPr>
              <a:t>gathering</a:t>
            </a:r>
            <a:r>
              <a:rPr sz="1600" spc="-65" dirty="0">
                <a:solidFill>
                  <a:srgbClr val="FF0000"/>
                </a:solidFill>
                <a:latin typeface="Tahoma"/>
                <a:cs typeface="Tahoma"/>
              </a:rPr>
              <a:t> </a:t>
            </a:r>
            <a:r>
              <a:rPr sz="1600" spc="-10" dirty="0">
                <a:latin typeface="Tahoma"/>
                <a:cs typeface="Tahoma"/>
              </a:rPr>
              <a:t>information</a:t>
            </a:r>
            <a:endParaRPr sz="1600" dirty="0">
              <a:latin typeface="Tahoma"/>
              <a:cs typeface="Tahoma"/>
            </a:endParaRPr>
          </a:p>
          <a:p>
            <a:pPr marL="501650" lvl="1" indent="-239395">
              <a:lnSpc>
                <a:spcPct val="100000"/>
              </a:lnSpc>
              <a:spcBef>
                <a:spcPts val="405"/>
              </a:spcBef>
              <a:buClr>
                <a:srgbClr val="3A802E"/>
              </a:buClr>
              <a:buSzPct val="58620"/>
              <a:buFont typeface="Segoe UI Symbol"/>
              <a:buChar char="❑"/>
              <a:tabLst>
                <a:tab pos="501650" algn="l"/>
              </a:tabLst>
            </a:pPr>
            <a:r>
              <a:rPr sz="1600" dirty="0">
                <a:latin typeface="Tahoma"/>
                <a:cs typeface="Tahoma"/>
              </a:rPr>
              <a:t>Keeps</a:t>
            </a:r>
            <a:r>
              <a:rPr sz="1600" spc="-95" dirty="0">
                <a:latin typeface="Tahoma"/>
                <a:cs typeface="Tahoma"/>
              </a:rPr>
              <a:t> </a:t>
            </a:r>
            <a:r>
              <a:rPr sz="1600" dirty="0">
                <a:latin typeface="Tahoma"/>
                <a:cs typeface="Tahoma"/>
              </a:rPr>
              <a:t>regular</a:t>
            </a:r>
            <a:r>
              <a:rPr sz="1600" spc="-70" dirty="0">
                <a:latin typeface="Tahoma"/>
                <a:cs typeface="Tahoma"/>
              </a:rPr>
              <a:t> </a:t>
            </a:r>
            <a:r>
              <a:rPr sz="1600" dirty="0">
                <a:latin typeface="Tahoma"/>
                <a:cs typeface="Tahoma"/>
              </a:rPr>
              <a:t>eye</a:t>
            </a:r>
            <a:r>
              <a:rPr sz="1600" spc="-60" dirty="0">
                <a:latin typeface="Tahoma"/>
                <a:cs typeface="Tahoma"/>
              </a:rPr>
              <a:t> </a:t>
            </a:r>
            <a:r>
              <a:rPr sz="1600" dirty="0">
                <a:latin typeface="Tahoma"/>
                <a:cs typeface="Tahoma"/>
              </a:rPr>
              <a:t>on</a:t>
            </a:r>
            <a:r>
              <a:rPr sz="1600" spc="-50" dirty="0">
                <a:latin typeface="Tahoma"/>
                <a:cs typeface="Tahoma"/>
              </a:rPr>
              <a:t> </a:t>
            </a:r>
            <a:r>
              <a:rPr sz="1600" dirty="0">
                <a:latin typeface="Tahoma"/>
                <a:cs typeface="Tahoma"/>
              </a:rPr>
              <a:t>the</a:t>
            </a:r>
            <a:r>
              <a:rPr sz="1600" spc="-50" dirty="0">
                <a:latin typeface="Tahoma"/>
                <a:cs typeface="Tahoma"/>
              </a:rPr>
              <a:t> </a:t>
            </a:r>
            <a:r>
              <a:rPr sz="1600" dirty="0">
                <a:solidFill>
                  <a:srgbClr val="FF0000"/>
                </a:solidFill>
                <a:latin typeface="Tahoma"/>
                <a:cs typeface="Tahoma"/>
              </a:rPr>
              <a:t>log</a:t>
            </a:r>
            <a:r>
              <a:rPr sz="1600" spc="-50" dirty="0">
                <a:solidFill>
                  <a:srgbClr val="FF0000"/>
                </a:solidFill>
                <a:latin typeface="Tahoma"/>
                <a:cs typeface="Tahoma"/>
              </a:rPr>
              <a:t> </a:t>
            </a:r>
            <a:r>
              <a:rPr sz="1600" dirty="0">
                <a:latin typeface="Tahoma"/>
                <a:cs typeface="Tahoma"/>
              </a:rPr>
              <a:t>and</a:t>
            </a:r>
            <a:r>
              <a:rPr sz="1600" spc="-75" dirty="0">
                <a:latin typeface="Tahoma"/>
                <a:cs typeface="Tahoma"/>
              </a:rPr>
              <a:t> </a:t>
            </a:r>
            <a:r>
              <a:rPr sz="1600" dirty="0">
                <a:latin typeface="Tahoma"/>
                <a:cs typeface="Tahoma"/>
              </a:rPr>
              <a:t>carefully</a:t>
            </a:r>
            <a:r>
              <a:rPr sz="1600" spc="-55" dirty="0">
                <a:latin typeface="Tahoma"/>
                <a:cs typeface="Tahoma"/>
              </a:rPr>
              <a:t> </a:t>
            </a:r>
            <a:r>
              <a:rPr sz="1600" dirty="0">
                <a:latin typeface="Tahoma"/>
                <a:cs typeface="Tahoma"/>
              </a:rPr>
              <a:t>analyzing</a:t>
            </a:r>
            <a:r>
              <a:rPr sz="1600" spc="-85" dirty="0">
                <a:latin typeface="Tahoma"/>
                <a:cs typeface="Tahoma"/>
              </a:rPr>
              <a:t> </a:t>
            </a:r>
            <a:r>
              <a:rPr sz="1600" dirty="0">
                <a:latin typeface="Tahoma"/>
                <a:cs typeface="Tahoma"/>
              </a:rPr>
              <a:t>these</a:t>
            </a:r>
            <a:r>
              <a:rPr sz="1600" spc="-50" dirty="0">
                <a:latin typeface="Tahoma"/>
                <a:cs typeface="Tahoma"/>
              </a:rPr>
              <a:t> </a:t>
            </a:r>
            <a:r>
              <a:rPr sz="1600" dirty="0">
                <a:solidFill>
                  <a:srgbClr val="FF0000"/>
                </a:solidFill>
                <a:latin typeface="Tahoma"/>
                <a:cs typeface="Tahoma"/>
              </a:rPr>
              <a:t>firewall</a:t>
            </a:r>
            <a:r>
              <a:rPr sz="1600" spc="-40" dirty="0">
                <a:solidFill>
                  <a:srgbClr val="FF0000"/>
                </a:solidFill>
                <a:latin typeface="Tahoma"/>
                <a:cs typeface="Tahoma"/>
              </a:rPr>
              <a:t> </a:t>
            </a:r>
            <a:r>
              <a:rPr sz="1600" spc="-20" dirty="0">
                <a:solidFill>
                  <a:srgbClr val="FF0000"/>
                </a:solidFill>
                <a:latin typeface="Tahoma"/>
                <a:cs typeface="Tahoma"/>
              </a:rPr>
              <a:t>logs</a:t>
            </a:r>
            <a:endParaRPr sz="1600" dirty="0">
              <a:latin typeface="Tahoma"/>
              <a:cs typeface="Tahoma"/>
            </a:endParaRPr>
          </a:p>
          <a:p>
            <a:pPr marL="501650" lvl="1" indent="-239395">
              <a:lnSpc>
                <a:spcPct val="100000"/>
              </a:lnSpc>
              <a:spcBef>
                <a:spcPts val="300"/>
              </a:spcBef>
              <a:buClr>
                <a:srgbClr val="3A802E"/>
              </a:buClr>
              <a:buSzPct val="58620"/>
              <a:buFont typeface="Segoe UI Symbol"/>
              <a:buChar char="❑"/>
              <a:tabLst>
                <a:tab pos="501650" algn="l"/>
              </a:tabLst>
            </a:pPr>
            <a:r>
              <a:rPr sz="1600" dirty="0">
                <a:solidFill>
                  <a:srgbClr val="FF0000"/>
                </a:solidFill>
                <a:latin typeface="Tahoma"/>
                <a:cs typeface="Tahoma"/>
              </a:rPr>
              <a:t>IDS/IPS</a:t>
            </a:r>
            <a:r>
              <a:rPr sz="1600" spc="-50" dirty="0">
                <a:solidFill>
                  <a:srgbClr val="FF0000"/>
                </a:solidFill>
                <a:latin typeface="Tahoma"/>
                <a:cs typeface="Tahoma"/>
              </a:rPr>
              <a:t> </a:t>
            </a:r>
            <a:r>
              <a:rPr sz="1600" dirty="0">
                <a:latin typeface="Tahoma"/>
                <a:cs typeface="Tahoma"/>
              </a:rPr>
              <a:t>can</a:t>
            </a:r>
            <a:r>
              <a:rPr sz="1600" spc="-55" dirty="0">
                <a:latin typeface="Tahoma"/>
                <a:cs typeface="Tahoma"/>
              </a:rPr>
              <a:t> </a:t>
            </a:r>
            <a:r>
              <a:rPr sz="1600" dirty="0">
                <a:latin typeface="Tahoma"/>
                <a:cs typeface="Tahoma"/>
              </a:rPr>
              <a:t>also</a:t>
            </a:r>
            <a:r>
              <a:rPr sz="1600" spc="-55" dirty="0">
                <a:latin typeface="Tahoma"/>
                <a:cs typeface="Tahoma"/>
              </a:rPr>
              <a:t> </a:t>
            </a:r>
            <a:r>
              <a:rPr sz="1600" dirty="0">
                <a:latin typeface="Tahoma"/>
                <a:cs typeface="Tahoma"/>
              </a:rPr>
              <a:t>protect</a:t>
            </a:r>
            <a:r>
              <a:rPr sz="1600" spc="-55" dirty="0">
                <a:latin typeface="Tahoma"/>
                <a:cs typeface="Tahoma"/>
              </a:rPr>
              <a:t> </a:t>
            </a:r>
            <a:r>
              <a:rPr sz="1600" dirty="0">
                <a:latin typeface="Tahoma"/>
                <a:cs typeface="Tahoma"/>
              </a:rPr>
              <a:t>from</a:t>
            </a:r>
            <a:r>
              <a:rPr sz="1600" spc="-60" dirty="0">
                <a:latin typeface="Tahoma"/>
                <a:cs typeface="Tahoma"/>
              </a:rPr>
              <a:t> </a:t>
            </a:r>
            <a:r>
              <a:rPr sz="1600" dirty="0">
                <a:latin typeface="Tahoma"/>
                <a:cs typeface="Tahoma"/>
              </a:rPr>
              <a:t>external</a:t>
            </a:r>
            <a:r>
              <a:rPr sz="1600" spc="-50" dirty="0">
                <a:latin typeface="Tahoma"/>
                <a:cs typeface="Tahoma"/>
              </a:rPr>
              <a:t> </a:t>
            </a:r>
            <a:r>
              <a:rPr sz="1600" spc="-10" dirty="0">
                <a:latin typeface="Tahoma"/>
                <a:cs typeface="Tahoma"/>
              </a:rPr>
              <a:t>attackers</a:t>
            </a:r>
            <a:endParaRPr sz="1600" dirty="0">
              <a:latin typeface="Tahoma"/>
              <a:cs typeface="Tahom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4800" y="5644894"/>
            <a:ext cx="11480800" cy="13970"/>
          </a:xfrm>
          <a:custGeom>
            <a:avLst/>
            <a:gdLst/>
            <a:ahLst/>
            <a:cxnLst/>
            <a:rect l="l" t="t" r="r" b="b"/>
            <a:pathLst>
              <a:path w="11480800" h="13970">
                <a:moveTo>
                  <a:pt x="11480292" y="0"/>
                </a:moveTo>
                <a:lnTo>
                  <a:pt x="0" y="0"/>
                </a:lnTo>
                <a:lnTo>
                  <a:pt x="0" y="13717"/>
                </a:lnTo>
                <a:lnTo>
                  <a:pt x="11480292" y="13717"/>
                </a:lnTo>
                <a:lnTo>
                  <a:pt x="11480292" y="0"/>
                </a:lnTo>
                <a:close/>
              </a:path>
            </a:pathLst>
          </a:custGeom>
          <a:solidFill>
            <a:srgbClr val="CC9900"/>
          </a:solidFill>
        </p:spPr>
        <p:txBody>
          <a:bodyPr wrap="square" lIns="0" tIns="0" rIns="0" bIns="0" rtlCol="0"/>
          <a:lstStyle/>
          <a:p>
            <a:endParaRPr/>
          </a:p>
        </p:txBody>
      </p:sp>
      <p:sp>
        <p:nvSpPr>
          <p:cNvPr id="3" name="object 3"/>
          <p:cNvSpPr/>
          <p:nvPr/>
        </p:nvSpPr>
        <p:spPr>
          <a:xfrm>
            <a:off x="304800" y="1581911"/>
            <a:ext cx="11480800" cy="12700"/>
          </a:xfrm>
          <a:custGeom>
            <a:avLst/>
            <a:gdLst/>
            <a:ahLst/>
            <a:cxnLst/>
            <a:rect l="l" t="t" r="r" b="b"/>
            <a:pathLst>
              <a:path w="11480800" h="12700">
                <a:moveTo>
                  <a:pt x="11480292" y="0"/>
                </a:moveTo>
                <a:lnTo>
                  <a:pt x="0" y="0"/>
                </a:lnTo>
                <a:lnTo>
                  <a:pt x="0" y="12191"/>
                </a:lnTo>
                <a:lnTo>
                  <a:pt x="11480292" y="12191"/>
                </a:lnTo>
                <a:lnTo>
                  <a:pt x="11480292" y="0"/>
                </a:lnTo>
                <a:close/>
              </a:path>
            </a:pathLst>
          </a:custGeom>
          <a:solidFill>
            <a:srgbClr val="CC9900"/>
          </a:solid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739724" rIns="0" bIns="0" rtlCol="0">
            <a:spAutoFit/>
          </a:bodyPr>
          <a:lstStyle/>
          <a:p>
            <a:pPr marL="12700">
              <a:lnSpc>
                <a:spcPct val="100000"/>
              </a:lnSpc>
              <a:spcBef>
                <a:spcPts val="114"/>
              </a:spcBef>
            </a:pPr>
            <a:r>
              <a:rPr spc="-75" dirty="0"/>
              <a:t>Classification</a:t>
            </a:r>
            <a:r>
              <a:rPr spc="-125" dirty="0"/>
              <a:t> </a:t>
            </a:r>
            <a:r>
              <a:rPr dirty="0"/>
              <a:t>of</a:t>
            </a:r>
            <a:r>
              <a:rPr spc="-10" dirty="0"/>
              <a:t> </a:t>
            </a:r>
            <a:r>
              <a:rPr spc="-70" dirty="0"/>
              <a:t>Cyber</a:t>
            </a:r>
            <a:r>
              <a:rPr spc="-85" dirty="0"/>
              <a:t> </a:t>
            </a:r>
            <a:r>
              <a:rPr spc="-65" dirty="0"/>
              <a:t>Crimes</a:t>
            </a:r>
            <a:r>
              <a:rPr spc="-75" dirty="0"/>
              <a:t> </a:t>
            </a:r>
            <a:r>
              <a:rPr spc="-10" dirty="0"/>
              <a:t>(Cont.)</a:t>
            </a:r>
          </a:p>
        </p:txBody>
      </p:sp>
      <p:sp>
        <p:nvSpPr>
          <p:cNvPr id="5" name="object 5"/>
          <p:cNvSpPr txBox="1"/>
          <p:nvPr/>
        </p:nvSpPr>
        <p:spPr>
          <a:xfrm>
            <a:off x="10088626" y="5624880"/>
            <a:ext cx="162560" cy="201295"/>
          </a:xfrm>
          <a:prstGeom prst="rect">
            <a:avLst/>
          </a:prstGeom>
        </p:spPr>
        <p:txBody>
          <a:bodyPr vert="horz" wrap="square" lIns="0" tIns="12700" rIns="0" bIns="0" rtlCol="0">
            <a:spAutoFit/>
          </a:bodyPr>
          <a:lstStyle/>
          <a:p>
            <a:pPr marL="12700">
              <a:lnSpc>
                <a:spcPct val="100000"/>
              </a:lnSpc>
              <a:spcBef>
                <a:spcPts val="100"/>
              </a:spcBef>
            </a:pPr>
            <a:r>
              <a:rPr sz="1150" spc="-25" dirty="0">
                <a:latin typeface="Times New Roman"/>
                <a:cs typeface="Times New Roman"/>
              </a:rPr>
              <a:t>60</a:t>
            </a:r>
            <a:endParaRPr sz="1150">
              <a:latin typeface="Times New Roman"/>
              <a:cs typeface="Times New Roman"/>
            </a:endParaRPr>
          </a:p>
        </p:txBody>
      </p:sp>
      <p:sp>
        <p:nvSpPr>
          <p:cNvPr id="6" name="object 6"/>
          <p:cNvSpPr txBox="1"/>
          <p:nvPr/>
        </p:nvSpPr>
        <p:spPr>
          <a:xfrm>
            <a:off x="1447038" y="2083857"/>
            <a:ext cx="9601962" cy="2990215"/>
          </a:xfrm>
          <a:prstGeom prst="rect">
            <a:avLst/>
          </a:prstGeom>
        </p:spPr>
        <p:txBody>
          <a:bodyPr vert="horz" wrap="square" lIns="0" tIns="74930" rIns="0" bIns="0" rtlCol="0">
            <a:spAutoFit/>
          </a:bodyPr>
          <a:lstStyle/>
          <a:p>
            <a:pPr marL="262255" indent="-249554">
              <a:lnSpc>
                <a:spcPct val="100000"/>
              </a:lnSpc>
              <a:spcBef>
                <a:spcPts val="590"/>
              </a:spcBef>
              <a:buClr>
                <a:srgbClr val="CC9900"/>
              </a:buClr>
              <a:buSzPct val="64705"/>
              <a:buFont typeface="Times New Roman"/>
              <a:buChar char="■"/>
              <a:tabLst>
                <a:tab pos="262255" algn="l"/>
              </a:tabLst>
            </a:pPr>
            <a:r>
              <a:rPr sz="1700" dirty="0">
                <a:latin typeface="Tahoma"/>
                <a:cs typeface="Tahoma"/>
              </a:rPr>
              <a:t>Cyber</a:t>
            </a:r>
            <a:r>
              <a:rPr sz="1700" spc="80" dirty="0">
                <a:latin typeface="Tahoma"/>
                <a:cs typeface="Tahoma"/>
              </a:rPr>
              <a:t> </a:t>
            </a:r>
            <a:r>
              <a:rPr sz="1700" dirty="0">
                <a:latin typeface="Tahoma"/>
                <a:cs typeface="Tahoma"/>
              </a:rPr>
              <a:t>attacks</a:t>
            </a:r>
            <a:r>
              <a:rPr sz="1700" spc="65" dirty="0">
                <a:latin typeface="Tahoma"/>
                <a:cs typeface="Tahoma"/>
              </a:rPr>
              <a:t> </a:t>
            </a:r>
            <a:r>
              <a:rPr sz="1700" dirty="0">
                <a:latin typeface="Tahoma"/>
                <a:cs typeface="Tahoma"/>
              </a:rPr>
              <a:t>can</a:t>
            </a:r>
            <a:r>
              <a:rPr sz="1700" spc="85" dirty="0">
                <a:latin typeface="Tahoma"/>
                <a:cs typeface="Tahoma"/>
              </a:rPr>
              <a:t> </a:t>
            </a:r>
            <a:r>
              <a:rPr sz="1700" dirty="0">
                <a:latin typeface="Tahoma"/>
                <a:cs typeface="Tahoma"/>
              </a:rPr>
              <a:t>also</a:t>
            </a:r>
            <a:r>
              <a:rPr sz="1700" spc="60" dirty="0">
                <a:latin typeface="Tahoma"/>
                <a:cs typeface="Tahoma"/>
              </a:rPr>
              <a:t> </a:t>
            </a:r>
            <a:r>
              <a:rPr sz="1700" dirty="0">
                <a:latin typeface="Tahoma"/>
                <a:cs typeface="Tahoma"/>
              </a:rPr>
              <a:t>be</a:t>
            </a:r>
            <a:r>
              <a:rPr sz="1700" spc="50" dirty="0">
                <a:latin typeface="Tahoma"/>
                <a:cs typeface="Tahoma"/>
              </a:rPr>
              <a:t> </a:t>
            </a:r>
            <a:r>
              <a:rPr sz="1700" dirty="0">
                <a:latin typeface="Tahoma"/>
                <a:cs typeface="Tahoma"/>
              </a:rPr>
              <a:t>classified</a:t>
            </a:r>
            <a:r>
              <a:rPr sz="1700" spc="30" dirty="0">
                <a:latin typeface="Tahoma"/>
                <a:cs typeface="Tahoma"/>
              </a:rPr>
              <a:t> </a:t>
            </a:r>
            <a:r>
              <a:rPr sz="1700" spc="-25" dirty="0">
                <a:latin typeface="Tahoma"/>
                <a:cs typeface="Tahoma"/>
              </a:rPr>
              <a:t>as:</a:t>
            </a:r>
            <a:endParaRPr sz="1700" dirty="0">
              <a:latin typeface="Tahoma"/>
              <a:cs typeface="Tahoma"/>
            </a:endParaRPr>
          </a:p>
          <a:p>
            <a:pPr marL="501650" lvl="1" indent="-239395">
              <a:lnSpc>
                <a:spcPct val="100000"/>
              </a:lnSpc>
              <a:spcBef>
                <a:spcPts val="405"/>
              </a:spcBef>
              <a:buClr>
                <a:srgbClr val="3A802E"/>
              </a:buClr>
              <a:buSzPct val="58620"/>
              <a:buFont typeface="Segoe UI Symbol"/>
              <a:buChar char="❑"/>
              <a:tabLst>
                <a:tab pos="501650" algn="l"/>
              </a:tabLst>
            </a:pPr>
            <a:r>
              <a:rPr sz="1450" spc="-10" dirty="0">
                <a:latin typeface="Tahoma"/>
                <a:cs typeface="Tahoma"/>
              </a:rPr>
              <a:t>Unstructured</a:t>
            </a:r>
            <a:r>
              <a:rPr sz="1450" spc="-25" dirty="0">
                <a:latin typeface="Tahoma"/>
                <a:cs typeface="Tahoma"/>
              </a:rPr>
              <a:t> </a:t>
            </a:r>
            <a:r>
              <a:rPr sz="1450" spc="-10" dirty="0">
                <a:latin typeface="Tahoma"/>
                <a:cs typeface="Tahoma"/>
              </a:rPr>
              <a:t>attacks</a:t>
            </a:r>
            <a:endParaRPr sz="1450" dirty="0">
              <a:latin typeface="Tahoma"/>
              <a:cs typeface="Tahoma"/>
            </a:endParaRPr>
          </a:p>
          <a:p>
            <a:pPr marL="756285" lvl="2" indent="-254635">
              <a:lnSpc>
                <a:spcPct val="100000"/>
              </a:lnSpc>
              <a:spcBef>
                <a:spcPts val="235"/>
              </a:spcBef>
              <a:buClr>
                <a:srgbClr val="CC9900"/>
              </a:buClr>
              <a:buSzPct val="68000"/>
              <a:buFont typeface="Times New Roman"/>
              <a:buChar char="■"/>
              <a:tabLst>
                <a:tab pos="756285" algn="l"/>
              </a:tabLst>
            </a:pPr>
            <a:r>
              <a:rPr sz="1250" dirty="0">
                <a:latin typeface="Tahoma"/>
                <a:cs typeface="Tahoma"/>
              </a:rPr>
              <a:t>Generally</a:t>
            </a:r>
            <a:r>
              <a:rPr sz="1250" spc="90" dirty="0">
                <a:latin typeface="Tahoma"/>
                <a:cs typeface="Tahoma"/>
              </a:rPr>
              <a:t> </a:t>
            </a:r>
            <a:r>
              <a:rPr sz="1250" dirty="0">
                <a:latin typeface="Tahoma"/>
                <a:cs typeface="Tahoma"/>
              </a:rPr>
              <a:t>person</a:t>
            </a:r>
            <a:r>
              <a:rPr sz="1250" spc="155" dirty="0">
                <a:latin typeface="Tahoma"/>
                <a:cs typeface="Tahoma"/>
              </a:rPr>
              <a:t> </a:t>
            </a:r>
            <a:r>
              <a:rPr sz="1250" dirty="0">
                <a:latin typeface="Tahoma"/>
                <a:cs typeface="Tahoma"/>
              </a:rPr>
              <a:t>who</a:t>
            </a:r>
            <a:r>
              <a:rPr sz="1250" spc="135" dirty="0">
                <a:latin typeface="Tahoma"/>
                <a:cs typeface="Tahoma"/>
              </a:rPr>
              <a:t> </a:t>
            </a:r>
            <a:r>
              <a:rPr sz="1250" dirty="0">
                <a:solidFill>
                  <a:srgbClr val="FF0000"/>
                </a:solidFill>
                <a:latin typeface="Tahoma"/>
                <a:cs typeface="Tahoma"/>
              </a:rPr>
              <a:t>don't</a:t>
            </a:r>
            <a:r>
              <a:rPr sz="1250" spc="110" dirty="0">
                <a:solidFill>
                  <a:srgbClr val="FF0000"/>
                </a:solidFill>
                <a:latin typeface="Tahoma"/>
                <a:cs typeface="Tahoma"/>
              </a:rPr>
              <a:t> </a:t>
            </a:r>
            <a:r>
              <a:rPr sz="1250" dirty="0">
                <a:latin typeface="Tahoma"/>
                <a:cs typeface="Tahoma"/>
              </a:rPr>
              <a:t>have</a:t>
            </a:r>
            <a:r>
              <a:rPr sz="1250" spc="140" dirty="0">
                <a:latin typeface="Tahoma"/>
                <a:cs typeface="Tahoma"/>
              </a:rPr>
              <a:t> </a:t>
            </a:r>
            <a:r>
              <a:rPr sz="1250" dirty="0">
                <a:latin typeface="Tahoma"/>
                <a:cs typeface="Tahoma"/>
              </a:rPr>
              <a:t>any</a:t>
            </a:r>
            <a:r>
              <a:rPr sz="1250" spc="150" dirty="0">
                <a:latin typeface="Tahoma"/>
                <a:cs typeface="Tahoma"/>
              </a:rPr>
              <a:t> </a:t>
            </a:r>
            <a:r>
              <a:rPr sz="1250" dirty="0">
                <a:solidFill>
                  <a:srgbClr val="FF0000"/>
                </a:solidFill>
                <a:latin typeface="Tahoma"/>
                <a:cs typeface="Tahoma"/>
              </a:rPr>
              <a:t>predefined</a:t>
            </a:r>
            <a:r>
              <a:rPr sz="1250" spc="155" dirty="0">
                <a:solidFill>
                  <a:srgbClr val="FF0000"/>
                </a:solidFill>
                <a:latin typeface="Tahoma"/>
                <a:cs typeface="Tahoma"/>
              </a:rPr>
              <a:t> </a:t>
            </a:r>
            <a:r>
              <a:rPr sz="1250" dirty="0">
                <a:solidFill>
                  <a:srgbClr val="FF0000"/>
                </a:solidFill>
                <a:latin typeface="Tahoma"/>
                <a:cs typeface="Tahoma"/>
              </a:rPr>
              <a:t>motives</a:t>
            </a:r>
            <a:r>
              <a:rPr sz="1250" spc="160" dirty="0">
                <a:solidFill>
                  <a:srgbClr val="FF0000"/>
                </a:solidFill>
                <a:latin typeface="Tahoma"/>
                <a:cs typeface="Tahoma"/>
              </a:rPr>
              <a:t> </a:t>
            </a:r>
            <a:r>
              <a:rPr sz="1250" dirty="0">
                <a:latin typeface="Tahoma"/>
                <a:cs typeface="Tahoma"/>
              </a:rPr>
              <a:t>to</a:t>
            </a:r>
            <a:r>
              <a:rPr sz="1250" spc="125" dirty="0">
                <a:latin typeface="Tahoma"/>
                <a:cs typeface="Tahoma"/>
              </a:rPr>
              <a:t> </a:t>
            </a:r>
            <a:r>
              <a:rPr sz="1250" dirty="0">
                <a:latin typeface="Tahoma"/>
                <a:cs typeface="Tahoma"/>
              </a:rPr>
              <a:t>perform</a:t>
            </a:r>
            <a:r>
              <a:rPr sz="1250" spc="160" dirty="0">
                <a:latin typeface="Tahoma"/>
                <a:cs typeface="Tahoma"/>
              </a:rPr>
              <a:t> </a:t>
            </a:r>
            <a:r>
              <a:rPr sz="1250" dirty="0">
                <a:latin typeface="Tahoma"/>
                <a:cs typeface="Tahoma"/>
              </a:rPr>
              <a:t>the</a:t>
            </a:r>
            <a:r>
              <a:rPr sz="1250" spc="95" dirty="0">
                <a:latin typeface="Tahoma"/>
                <a:cs typeface="Tahoma"/>
              </a:rPr>
              <a:t> </a:t>
            </a:r>
            <a:r>
              <a:rPr sz="1250" dirty="0">
                <a:latin typeface="Tahoma"/>
                <a:cs typeface="Tahoma"/>
              </a:rPr>
              <a:t>cyber</a:t>
            </a:r>
            <a:r>
              <a:rPr sz="1250" spc="175" dirty="0">
                <a:latin typeface="Tahoma"/>
                <a:cs typeface="Tahoma"/>
              </a:rPr>
              <a:t> </a:t>
            </a:r>
            <a:r>
              <a:rPr sz="1250" spc="-10" dirty="0">
                <a:latin typeface="Tahoma"/>
                <a:cs typeface="Tahoma"/>
              </a:rPr>
              <a:t>attack</a:t>
            </a:r>
            <a:endParaRPr sz="1250" dirty="0">
              <a:latin typeface="Tahoma"/>
              <a:cs typeface="Tahoma"/>
            </a:endParaRPr>
          </a:p>
          <a:p>
            <a:pPr marL="756285" lvl="2" indent="-255904">
              <a:lnSpc>
                <a:spcPct val="100000"/>
              </a:lnSpc>
              <a:spcBef>
                <a:spcPts val="470"/>
              </a:spcBef>
              <a:buClr>
                <a:srgbClr val="CC9900"/>
              </a:buClr>
              <a:buSzPct val="68000"/>
              <a:buFont typeface="Times New Roman"/>
              <a:buChar char="■"/>
              <a:tabLst>
                <a:tab pos="756285" algn="l"/>
              </a:tabLst>
            </a:pPr>
            <a:r>
              <a:rPr sz="1250" dirty="0">
                <a:latin typeface="Tahoma"/>
                <a:cs typeface="Tahoma"/>
              </a:rPr>
              <a:t>Try</a:t>
            </a:r>
            <a:r>
              <a:rPr sz="1250" spc="80" dirty="0">
                <a:latin typeface="Tahoma"/>
                <a:cs typeface="Tahoma"/>
              </a:rPr>
              <a:t> </a:t>
            </a:r>
            <a:r>
              <a:rPr sz="1250" dirty="0">
                <a:latin typeface="Tahoma"/>
                <a:cs typeface="Tahoma"/>
              </a:rPr>
              <a:t>to</a:t>
            </a:r>
            <a:r>
              <a:rPr sz="1250" spc="75" dirty="0">
                <a:latin typeface="Tahoma"/>
                <a:cs typeface="Tahoma"/>
              </a:rPr>
              <a:t> </a:t>
            </a:r>
            <a:r>
              <a:rPr sz="1250" dirty="0">
                <a:solidFill>
                  <a:srgbClr val="FF0000"/>
                </a:solidFill>
                <a:latin typeface="Tahoma"/>
                <a:cs typeface="Tahoma"/>
              </a:rPr>
              <a:t>test</a:t>
            </a:r>
            <a:r>
              <a:rPr sz="1250" spc="65" dirty="0">
                <a:solidFill>
                  <a:srgbClr val="FF0000"/>
                </a:solidFill>
                <a:latin typeface="Tahoma"/>
                <a:cs typeface="Tahoma"/>
              </a:rPr>
              <a:t> </a:t>
            </a:r>
            <a:r>
              <a:rPr sz="1250" dirty="0">
                <a:solidFill>
                  <a:srgbClr val="FF0000"/>
                </a:solidFill>
                <a:latin typeface="Tahoma"/>
                <a:cs typeface="Tahoma"/>
              </a:rPr>
              <a:t>a</a:t>
            </a:r>
            <a:r>
              <a:rPr sz="1250" spc="95" dirty="0">
                <a:solidFill>
                  <a:srgbClr val="FF0000"/>
                </a:solidFill>
                <a:latin typeface="Tahoma"/>
                <a:cs typeface="Tahoma"/>
              </a:rPr>
              <a:t> </a:t>
            </a:r>
            <a:r>
              <a:rPr sz="1250" dirty="0">
                <a:solidFill>
                  <a:srgbClr val="FF0000"/>
                </a:solidFill>
                <a:latin typeface="Tahoma"/>
                <a:cs typeface="Tahoma"/>
              </a:rPr>
              <a:t>tool</a:t>
            </a:r>
            <a:r>
              <a:rPr sz="1250" spc="105" dirty="0">
                <a:solidFill>
                  <a:srgbClr val="FF0000"/>
                </a:solidFill>
                <a:latin typeface="Tahoma"/>
                <a:cs typeface="Tahoma"/>
              </a:rPr>
              <a:t> </a:t>
            </a:r>
            <a:r>
              <a:rPr sz="1250" dirty="0">
                <a:latin typeface="Tahoma"/>
                <a:cs typeface="Tahoma"/>
              </a:rPr>
              <a:t>readily</a:t>
            </a:r>
            <a:r>
              <a:rPr sz="1250" spc="70" dirty="0">
                <a:latin typeface="Tahoma"/>
                <a:cs typeface="Tahoma"/>
              </a:rPr>
              <a:t> </a:t>
            </a:r>
            <a:r>
              <a:rPr sz="1250" dirty="0">
                <a:latin typeface="Tahoma"/>
                <a:cs typeface="Tahoma"/>
              </a:rPr>
              <a:t>available</a:t>
            </a:r>
            <a:r>
              <a:rPr sz="1250" spc="120" dirty="0">
                <a:latin typeface="Tahoma"/>
                <a:cs typeface="Tahoma"/>
              </a:rPr>
              <a:t> </a:t>
            </a:r>
            <a:r>
              <a:rPr sz="1250" dirty="0">
                <a:latin typeface="Tahoma"/>
                <a:cs typeface="Tahoma"/>
              </a:rPr>
              <a:t>over</a:t>
            </a:r>
            <a:r>
              <a:rPr sz="1250" spc="90" dirty="0">
                <a:latin typeface="Tahoma"/>
                <a:cs typeface="Tahoma"/>
              </a:rPr>
              <a:t> </a:t>
            </a:r>
            <a:r>
              <a:rPr sz="1250" dirty="0">
                <a:latin typeface="Tahoma"/>
                <a:cs typeface="Tahoma"/>
              </a:rPr>
              <a:t>the</a:t>
            </a:r>
            <a:r>
              <a:rPr sz="1250" spc="60" dirty="0">
                <a:latin typeface="Tahoma"/>
                <a:cs typeface="Tahoma"/>
              </a:rPr>
              <a:t> </a:t>
            </a:r>
            <a:r>
              <a:rPr sz="1250" spc="-10" dirty="0">
                <a:latin typeface="Tahoma"/>
                <a:cs typeface="Tahoma"/>
              </a:rPr>
              <a:t>internet</a:t>
            </a:r>
            <a:endParaRPr sz="1250" dirty="0">
              <a:latin typeface="Tahoma"/>
              <a:cs typeface="Tahoma"/>
            </a:endParaRPr>
          </a:p>
          <a:p>
            <a:pPr lvl="2">
              <a:lnSpc>
                <a:spcPct val="100000"/>
              </a:lnSpc>
              <a:spcBef>
                <a:spcPts val="930"/>
              </a:spcBef>
              <a:buClr>
                <a:srgbClr val="CC9900"/>
              </a:buClr>
              <a:buFont typeface="Times New Roman"/>
              <a:buChar char="■"/>
            </a:pPr>
            <a:endParaRPr sz="1250" dirty="0">
              <a:latin typeface="Tahoma"/>
              <a:cs typeface="Tahoma"/>
            </a:endParaRPr>
          </a:p>
          <a:p>
            <a:pPr marL="501650" lvl="1" indent="-239395">
              <a:lnSpc>
                <a:spcPct val="100000"/>
              </a:lnSpc>
              <a:buClr>
                <a:srgbClr val="3A802E"/>
              </a:buClr>
              <a:buSzPct val="62068"/>
              <a:buFont typeface="Segoe UI Symbol"/>
              <a:buChar char="❑"/>
              <a:tabLst>
                <a:tab pos="501650" algn="l"/>
              </a:tabLst>
            </a:pPr>
            <a:r>
              <a:rPr sz="1450" spc="-10" dirty="0">
                <a:latin typeface="Tahoma"/>
                <a:cs typeface="Tahoma"/>
              </a:rPr>
              <a:t>Structure</a:t>
            </a:r>
            <a:r>
              <a:rPr sz="1450" spc="-55" dirty="0">
                <a:latin typeface="Tahoma"/>
                <a:cs typeface="Tahoma"/>
              </a:rPr>
              <a:t> </a:t>
            </a:r>
            <a:r>
              <a:rPr sz="1450" spc="-10" dirty="0">
                <a:latin typeface="Tahoma"/>
                <a:cs typeface="Tahoma"/>
              </a:rPr>
              <a:t>attacks:</a:t>
            </a:r>
            <a:endParaRPr sz="1450" dirty="0">
              <a:latin typeface="Tahoma"/>
              <a:cs typeface="Tahoma"/>
            </a:endParaRPr>
          </a:p>
          <a:p>
            <a:pPr marL="756285" lvl="2" indent="-255904">
              <a:lnSpc>
                <a:spcPct val="100000"/>
              </a:lnSpc>
              <a:spcBef>
                <a:spcPts val="335"/>
              </a:spcBef>
              <a:buClr>
                <a:srgbClr val="CC9900"/>
              </a:buClr>
              <a:buSzPct val="68000"/>
              <a:buFont typeface="Times New Roman"/>
              <a:buChar char="■"/>
              <a:tabLst>
                <a:tab pos="756285" algn="l"/>
              </a:tabLst>
            </a:pPr>
            <a:r>
              <a:rPr sz="1250" dirty="0">
                <a:latin typeface="Tahoma"/>
                <a:cs typeface="Tahoma"/>
              </a:rPr>
              <a:t>Performed</a:t>
            </a:r>
            <a:r>
              <a:rPr sz="1250" spc="130" dirty="0">
                <a:latin typeface="Tahoma"/>
                <a:cs typeface="Tahoma"/>
              </a:rPr>
              <a:t> </a:t>
            </a:r>
            <a:r>
              <a:rPr sz="1250" dirty="0">
                <a:latin typeface="Tahoma"/>
                <a:cs typeface="Tahoma"/>
              </a:rPr>
              <a:t>by</a:t>
            </a:r>
            <a:r>
              <a:rPr sz="1250" spc="135" dirty="0">
                <a:latin typeface="Tahoma"/>
                <a:cs typeface="Tahoma"/>
              </a:rPr>
              <a:t> </a:t>
            </a:r>
            <a:r>
              <a:rPr sz="1250" dirty="0">
                <a:solidFill>
                  <a:srgbClr val="FF0000"/>
                </a:solidFill>
                <a:latin typeface="Tahoma"/>
                <a:cs typeface="Tahoma"/>
              </a:rPr>
              <a:t>highly</a:t>
            </a:r>
            <a:r>
              <a:rPr sz="1250" spc="120" dirty="0">
                <a:solidFill>
                  <a:srgbClr val="FF0000"/>
                </a:solidFill>
                <a:latin typeface="Tahoma"/>
                <a:cs typeface="Tahoma"/>
              </a:rPr>
              <a:t> </a:t>
            </a:r>
            <a:r>
              <a:rPr sz="1250" dirty="0">
                <a:solidFill>
                  <a:srgbClr val="FF0000"/>
                </a:solidFill>
                <a:latin typeface="Tahoma"/>
                <a:cs typeface="Tahoma"/>
              </a:rPr>
              <a:t>skilled</a:t>
            </a:r>
            <a:r>
              <a:rPr sz="1250" spc="170" dirty="0">
                <a:solidFill>
                  <a:srgbClr val="FF0000"/>
                </a:solidFill>
                <a:latin typeface="Tahoma"/>
                <a:cs typeface="Tahoma"/>
              </a:rPr>
              <a:t> </a:t>
            </a:r>
            <a:r>
              <a:rPr sz="1250" dirty="0">
                <a:latin typeface="Tahoma"/>
                <a:cs typeface="Tahoma"/>
              </a:rPr>
              <a:t>and</a:t>
            </a:r>
            <a:r>
              <a:rPr sz="1250" spc="150" dirty="0">
                <a:latin typeface="Tahoma"/>
                <a:cs typeface="Tahoma"/>
              </a:rPr>
              <a:t> </a:t>
            </a:r>
            <a:r>
              <a:rPr sz="1250" dirty="0">
                <a:latin typeface="Tahoma"/>
                <a:cs typeface="Tahoma"/>
              </a:rPr>
              <a:t>experienced</a:t>
            </a:r>
            <a:r>
              <a:rPr sz="1250" spc="165" dirty="0">
                <a:latin typeface="Tahoma"/>
                <a:cs typeface="Tahoma"/>
              </a:rPr>
              <a:t> </a:t>
            </a:r>
            <a:r>
              <a:rPr sz="1250" spc="-10" dirty="0">
                <a:latin typeface="Tahoma"/>
                <a:cs typeface="Tahoma"/>
              </a:rPr>
              <a:t>people</a:t>
            </a:r>
            <a:endParaRPr sz="1250" dirty="0">
              <a:latin typeface="Tahoma"/>
              <a:cs typeface="Tahoma"/>
            </a:endParaRPr>
          </a:p>
          <a:p>
            <a:pPr marL="756285" lvl="2" indent="-255904">
              <a:lnSpc>
                <a:spcPct val="100000"/>
              </a:lnSpc>
              <a:spcBef>
                <a:spcPts val="335"/>
              </a:spcBef>
              <a:buClr>
                <a:srgbClr val="CC9900"/>
              </a:buClr>
              <a:buSzPct val="68000"/>
              <a:buFont typeface="Times New Roman"/>
              <a:buChar char="■"/>
              <a:tabLst>
                <a:tab pos="756285" algn="l"/>
              </a:tabLst>
            </a:pPr>
            <a:r>
              <a:rPr sz="1250" dirty="0">
                <a:solidFill>
                  <a:srgbClr val="FF0000"/>
                </a:solidFill>
                <a:latin typeface="Tahoma"/>
                <a:cs typeface="Tahoma"/>
              </a:rPr>
              <a:t>Motives</a:t>
            </a:r>
            <a:r>
              <a:rPr sz="1250" spc="110" dirty="0">
                <a:solidFill>
                  <a:srgbClr val="FF0000"/>
                </a:solidFill>
                <a:latin typeface="Tahoma"/>
                <a:cs typeface="Tahoma"/>
              </a:rPr>
              <a:t> </a:t>
            </a:r>
            <a:r>
              <a:rPr sz="1250" dirty="0">
                <a:latin typeface="Tahoma"/>
                <a:cs typeface="Tahoma"/>
              </a:rPr>
              <a:t>of</a:t>
            </a:r>
            <a:r>
              <a:rPr sz="1250" spc="105" dirty="0">
                <a:latin typeface="Tahoma"/>
                <a:cs typeface="Tahoma"/>
              </a:rPr>
              <a:t> </a:t>
            </a:r>
            <a:r>
              <a:rPr sz="1250" dirty="0">
                <a:latin typeface="Tahoma"/>
                <a:cs typeface="Tahoma"/>
              </a:rPr>
              <a:t>these</a:t>
            </a:r>
            <a:r>
              <a:rPr sz="1250" spc="75" dirty="0">
                <a:latin typeface="Tahoma"/>
                <a:cs typeface="Tahoma"/>
              </a:rPr>
              <a:t> </a:t>
            </a:r>
            <a:r>
              <a:rPr sz="1250" dirty="0">
                <a:latin typeface="Tahoma"/>
                <a:cs typeface="Tahoma"/>
              </a:rPr>
              <a:t>attacks</a:t>
            </a:r>
            <a:r>
              <a:rPr sz="1250" spc="120" dirty="0">
                <a:latin typeface="Tahoma"/>
                <a:cs typeface="Tahoma"/>
              </a:rPr>
              <a:t> </a:t>
            </a:r>
            <a:r>
              <a:rPr sz="1250" dirty="0">
                <a:latin typeface="Tahoma"/>
                <a:cs typeface="Tahoma"/>
              </a:rPr>
              <a:t>are</a:t>
            </a:r>
            <a:r>
              <a:rPr sz="1250" spc="90" dirty="0">
                <a:latin typeface="Tahoma"/>
                <a:cs typeface="Tahoma"/>
              </a:rPr>
              <a:t> </a:t>
            </a:r>
            <a:r>
              <a:rPr sz="1250" dirty="0">
                <a:latin typeface="Tahoma"/>
                <a:cs typeface="Tahoma"/>
              </a:rPr>
              <a:t>clear</a:t>
            </a:r>
            <a:r>
              <a:rPr sz="1250" spc="105" dirty="0">
                <a:latin typeface="Tahoma"/>
                <a:cs typeface="Tahoma"/>
              </a:rPr>
              <a:t> </a:t>
            </a:r>
            <a:r>
              <a:rPr sz="1250" dirty="0">
                <a:latin typeface="Tahoma"/>
                <a:cs typeface="Tahoma"/>
              </a:rPr>
              <a:t>in</a:t>
            </a:r>
            <a:r>
              <a:rPr sz="1250" spc="100" dirty="0">
                <a:latin typeface="Tahoma"/>
                <a:cs typeface="Tahoma"/>
              </a:rPr>
              <a:t> </a:t>
            </a:r>
            <a:r>
              <a:rPr sz="1250" dirty="0">
                <a:latin typeface="Tahoma"/>
                <a:cs typeface="Tahoma"/>
              </a:rPr>
              <a:t>their</a:t>
            </a:r>
            <a:r>
              <a:rPr sz="1250" spc="90" dirty="0">
                <a:latin typeface="Tahoma"/>
                <a:cs typeface="Tahoma"/>
              </a:rPr>
              <a:t> </a:t>
            </a:r>
            <a:r>
              <a:rPr sz="1250" spc="-20" dirty="0">
                <a:solidFill>
                  <a:srgbClr val="FF0000"/>
                </a:solidFill>
                <a:latin typeface="Tahoma"/>
                <a:cs typeface="Tahoma"/>
              </a:rPr>
              <a:t>mind</a:t>
            </a:r>
            <a:endParaRPr sz="1250" dirty="0">
              <a:latin typeface="Tahoma"/>
              <a:cs typeface="Tahoma"/>
            </a:endParaRPr>
          </a:p>
          <a:p>
            <a:pPr marL="756285" lvl="2" indent="-255904">
              <a:lnSpc>
                <a:spcPct val="100000"/>
              </a:lnSpc>
              <a:spcBef>
                <a:spcPts val="430"/>
              </a:spcBef>
              <a:buClr>
                <a:srgbClr val="CC9900"/>
              </a:buClr>
              <a:buSzPct val="68000"/>
              <a:buFont typeface="Times New Roman"/>
              <a:buChar char="■"/>
              <a:tabLst>
                <a:tab pos="756285" algn="l"/>
              </a:tabLst>
            </a:pPr>
            <a:r>
              <a:rPr sz="1250" dirty="0">
                <a:latin typeface="Tahoma"/>
                <a:cs typeface="Tahoma"/>
              </a:rPr>
              <a:t>Access</a:t>
            </a:r>
            <a:r>
              <a:rPr sz="1250" spc="95" dirty="0">
                <a:latin typeface="Tahoma"/>
                <a:cs typeface="Tahoma"/>
              </a:rPr>
              <a:t> </a:t>
            </a:r>
            <a:r>
              <a:rPr sz="1250" dirty="0">
                <a:latin typeface="Tahoma"/>
                <a:cs typeface="Tahoma"/>
              </a:rPr>
              <a:t>to</a:t>
            </a:r>
            <a:r>
              <a:rPr sz="1250" spc="145" dirty="0">
                <a:latin typeface="Tahoma"/>
                <a:cs typeface="Tahoma"/>
              </a:rPr>
              <a:t> </a:t>
            </a:r>
            <a:r>
              <a:rPr sz="1250" dirty="0">
                <a:solidFill>
                  <a:srgbClr val="FF0000"/>
                </a:solidFill>
                <a:latin typeface="Tahoma"/>
                <a:cs typeface="Tahoma"/>
              </a:rPr>
              <a:t>sophisticated</a:t>
            </a:r>
            <a:r>
              <a:rPr sz="1250" spc="165" dirty="0">
                <a:solidFill>
                  <a:srgbClr val="FF0000"/>
                </a:solidFill>
                <a:latin typeface="Tahoma"/>
                <a:cs typeface="Tahoma"/>
              </a:rPr>
              <a:t> </a:t>
            </a:r>
            <a:r>
              <a:rPr sz="1250" dirty="0">
                <a:solidFill>
                  <a:srgbClr val="FF0000"/>
                </a:solidFill>
                <a:latin typeface="Tahoma"/>
                <a:cs typeface="Tahoma"/>
              </a:rPr>
              <a:t>tools</a:t>
            </a:r>
            <a:r>
              <a:rPr sz="1250" spc="140" dirty="0">
                <a:solidFill>
                  <a:srgbClr val="FF0000"/>
                </a:solidFill>
                <a:latin typeface="Tahoma"/>
                <a:cs typeface="Tahoma"/>
              </a:rPr>
              <a:t> </a:t>
            </a:r>
            <a:r>
              <a:rPr sz="1250" dirty="0">
                <a:solidFill>
                  <a:srgbClr val="FF0000"/>
                </a:solidFill>
                <a:latin typeface="Tahoma"/>
                <a:cs typeface="Tahoma"/>
              </a:rPr>
              <a:t>and</a:t>
            </a:r>
            <a:r>
              <a:rPr sz="1250" spc="165" dirty="0">
                <a:solidFill>
                  <a:srgbClr val="FF0000"/>
                </a:solidFill>
                <a:latin typeface="Tahoma"/>
                <a:cs typeface="Tahoma"/>
              </a:rPr>
              <a:t> </a:t>
            </a:r>
            <a:r>
              <a:rPr sz="1250" dirty="0">
                <a:solidFill>
                  <a:srgbClr val="FF0000"/>
                </a:solidFill>
                <a:latin typeface="Tahoma"/>
                <a:cs typeface="Tahoma"/>
              </a:rPr>
              <a:t>technologies</a:t>
            </a:r>
            <a:r>
              <a:rPr sz="1250" spc="100" dirty="0">
                <a:solidFill>
                  <a:srgbClr val="FF0000"/>
                </a:solidFill>
                <a:latin typeface="Tahoma"/>
                <a:cs typeface="Tahoma"/>
              </a:rPr>
              <a:t> </a:t>
            </a:r>
            <a:r>
              <a:rPr sz="1250" dirty="0">
                <a:latin typeface="Tahoma"/>
                <a:cs typeface="Tahoma"/>
              </a:rPr>
              <a:t>to</a:t>
            </a:r>
            <a:r>
              <a:rPr sz="1250" spc="140" dirty="0">
                <a:latin typeface="Tahoma"/>
                <a:cs typeface="Tahoma"/>
              </a:rPr>
              <a:t> </a:t>
            </a:r>
            <a:r>
              <a:rPr sz="1250" dirty="0">
                <a:latin typeface="Tahoma"/>
                <a:cs typeface="Tahoma"/>
              </a:rPr>
              <a:t>gain</a:t>
            </a:r>
            <a:r>
              <a:rPr sz="1250" spc="160" dirty="0">
                <a:latin typeface="Tahoma"/>
                <a:cs typeface="Tahoma"/>
              </a:rPr>
              <a:t> </a:t>
            </a:r>
            <a:r>
              <a:rPr sz="1250" dirty="0">
                <a:latin typeface="Tahoma"/>
                <a:cs typeface="Tahoma"/>
              </a:rPr>
              <a:t>access</a:t>
            </a:r>
            <a:r>
              <a:rPr sz="1250" spc="125" dirty="0">
                <a:latin typeface="Tahoma"/>
                <a:cs typeface="Tahoma"/>
              </a:rPr>
              <a:t> </a:t>
            </a:r>
            <a:r>
              <a:rPr sz="1250" dirty="0">
                <a:latin typeface="Tahoma"/>
                <a:cs typeface="Tahoma"/>
              </a:rPr>
              <a:t>to</a:t>
            </a:r>
            <a:r>
              <a:rPr sz="1250" spc="140" dirty="0">
                <a:latin typeface="Tahoma"/>
                <a:cs typeface="Tahoma"/>
              </a:rPr>
              <a:t> </a:t>
            </a:r>
            <a:r>
              <a:rPr sz="1250" dirty="0">
                <a:latin typeface="Tahoma"/>
                <a:cs typeface="Tahoma"/>
              </a:rPr>
              <a:t>other</a:t>
            </a:r>
            <a:r>
              <a:rPr sz="1250" spc="140" dirty="0">
                <a:latin typeface="Tahoma"/>
                <a:cs typeface="Tahoma"/>
              </a:rPr>
              <a:t> </a:t>
            </a:r>
            <a:r>
              <a:rPr sz="1250" dirty="0">
                <a:latin typeface="Tahoma"/>
                <a:cs typeface="Tahoma"/>
              </a:rPr>
              <a:t>networks</a:t>
            </a:r>
            <a:r>
              <a:rPr sz="1250" spc="160" dirty="0">
                <a:latin typeface="Tahoma"/>
                <a:cs typeface="Tahoma"/>
              </a:rPr>
              <a:t> </a:t>
            </a:r>
            <a:r>
              <a:rPr sz="1250" dirty="0">
                <a:latin typeface="Tahoma"/>
                <a:cs typeface="Tahoma"/>
              </a:rPr>
              <a:t>without</a:t>
            </a:r>
            <a:r>
              <a:rPr sz="1250" spc="114" dirty="0">
                <a:latin typeface="Tahoma"/>
                <a:cs typeface="Tahoma"/>
              </a:rPr>
              <a:t> </a:t>
            </a:r>
            <a:r>
              <a:rPr sz="1250" dirty="0">
                <a:latin typeface="Tahoma"/>
                <a:cs typeface="Tahoma"/>
              </a:rPr>
              <a:t>being</a:t>
            </a:r>
            <a:r>
              <a:rPr sz="1250" spc="180" dirty="0">
                <a:latin typeface="Tahoma"/>
                <a:cs typeface="Tahoma"/>
              </a:rPr>
              <a:t> </a:t>
            </a:r>
            <a:r>
              <a:rPr sz="1250" spc="-10" dirty="0">
                <a:latin typeface="Tahoma"/>
                <a:cs typeface="Tahoma"/>
              </a:rPr>
              <a:t>noticed</a:t>
            </a:r>
            <a:endParaRPr sz="1250" dirty="0">
              <a:latin typeface="Tahoma"/>
              <a:cs typeface="Tahoma"/>
            </a:endParaRPr>
          </a:p>
          <a:p>
            <a:pPr marL="756285" lvl="2" indent="-255904">
              <a:lnSpc>
                <a:spcPct val="100000"/>
              </a:lnSpc>
              <a:spcBef>
                <a:spcPts val="340"/>
              </a:spcBef>
              <a:buClr>
                <a:srgbClr val="CC9900"/>
              </a:buClr>
              <a:buSzPct val="68000"/>
              <a:buFont typeface="Times New Roman"/>
              <a:buChar char="■"/>
              <a:tabLst>
                <a:tab pos="756285" algn="l"/>
              </a:tabLst>
            </a:pPr>
            <a:r>
              <a:rPr sz="1250" dirty="0">
                <a:latin typeface="Tahoma"/>
                <a:cs typeface="Tahoma"/>
              </a:rPr>
              <a:t>Expertise</a:t>
            </a:r>
            <a:r>
              <a:rPr sz="1250" spc="50" dirty="0">
                <a:latin typeface="Tahoma"/>
                <a:cs typeface="Tahoma"/>
              </a:rPr>
              <a:t> </a:t>
            </a:r>
            <a:r>
              <a:rPr sz="1250" dirty="0">
                <a:latin typeface="Tahoma"/>
                <a:cs typeface="Tahoma"/>
              </a:rPr>
              <a:t>to</a:t>
            </a:r>
            <a:r>
              <a:rPr sz="1250" spc="100" dirty="0">
                <a:latin typeface="Tahoma"/>
                <a:cs typeface="Tahoma"/>
              </a:rPr>
              <a:t> </a:t>
            </a:r>
            <a:r>
              <a:rPr sz="1250" dirty="0">
                <a:solidFill>
                  <a:srgbClr val="FF0000"/>
                </a:solidFill>
                <a:latin typeface="Tahoma"/>
                <a:cs typeface="Tahoma"/>
              </a:rPr>
              <a:t>develop</a:t>
            </a:r>
            <a:r>
              <a:rPr sz="1250" spc="165" dirty="0">
                <a:solidFill>
                  <a:srgbClr val="FF0000"/>
                </a:solidFill>
                <a:latin typeface="Tahoma"/>
                <a:cs typeface="Tahoma"/>
              </a:rPr>
              <a:t> </a:t>
            </a:r>
            <a:r>
              <a:rPr sz="1250" dirty="0">
                <a:solidFill>
                  <a:srgbClr val="FF0000"/>
                </a:solidFill>
                <a:latin typeface="Tahoma"/>
                <a:cs typeface="Tahoma"/>
              </a:rPr>
              <a:t>or</a:t>
            </a:r>
            <a:r>
              <a:rPr sz="1250" spc="114" dirty="0">
                <a:solidFill>
                  <a:srgbClr val="FF0000"/>
                </a:solidFill>
                <a:latin typeface="Tahoma"/>
                <a:cs typeface="Tahoma"/>
              </a:rPr>
              <a:t> </a:t>
            </a:r>
            <a:r>
              <a:rPr sz="1250" dirty="0">
                <a:solidFill>
                  <a:srgbClr val="FF0000"/>
                </a:solidFill>
                <a:latin typeface="Tahoma"/>
                <a:cs typeface="Tahoma"/>
              </a:rPr>
              <a:t>modify</a:t>
            </a:r>
            <a:r>
              <a:rPr sz="1250" spc="145" dirty="0">
                <a:solidFill>
                  <a:srgbClr val="FF0000"/>
                </a:solidFill>
                <a:latin typeface="Tahoma"/>
                <a:cs typeface="Tahoma"/>
              </a:rPr>
              <a:t> </a:t>
            </a:r>
            <a:r>
              <a:rPr sz="1250" dirty="0">
                <a:solidFill>
                  <a:srgbClr val="FF0000"/>
                </a:solidFill>
                <a:latin typeface="Tahoma"/>
                <a:cs typeface="Tahoma"/>
              </a:rPr>
              <a:t>the</a:t>
            </a:r>
            <a:r>
              <a:rPr sz="1250" spc="90" dirty="0">
                <a:solidFill>
                  <a:srgbClr val="FF0000"/>
                </a:solidFill>
                <a:latin typeface="Tahoma"/>
                <a:cs typeface="Tahoma"/>
              </a:rPr>
              <a:t> </a:t>
            </a:r>
            <a:r>
              <a:rPr sz="1250" dirty="0">
                <a:solidFill>
                  <a:srgbClr val="FF0000"/>
                </a:solidFill>
                <a:latin typeface="Tahoma"/>
                <a:cs typeface="Tahoma"/>
              </a:rPr>
              <a:t>existing</a:t>
            </a:r>
            <a:r>
              <a:rPr sz="1250" spc="145" dirty="0">
                <a:solidFill>
                  <a:srgbClr val="FF0000"/>
                </a:solidFill>
                <a:latin typeface="Tahoma"/>
                <a:cs typeface="Tahoma"/>
              </a:rPr>
              <a:t> </a:t>
            </a:r>
            <a:r>
              <a:rPr sz="1250" dirty="0">
                <a:solidFill>
                  <a:srgbClr val="FF0000"/>
                </a:solidFill>
                <a:latin typeface="Tahoma"/>
                <a:cs typeface="Tahoma"/>
              </a:rPr>
              <a:t>tools</a:t>
            </a:r>
            <a:r>
              <a:rPr sz="1250" spc="120" dirty="0">
                <a:solidFill>
                  <a:srgbClr val="FF0000"/>
                </a:solidFill>
                <a:latin typeface="Tahoma"/>
                <a:cs typeface="Tahoma"/>
              </a:rPr>
              <a:t> </a:t>
            </a:r>
            <a:r>
              <a:rPr sz="1250" dirty="0">
                <a:latin typeface="Tahoma"/>
                <a:cs typeface="Tahoma"/>
              </a:rPr>
              <a:t>to</a:t>
            </a:r>
            <a:r>
              <a:rPr sz="1250" spc="110" dirty="0">
                <a:latin typeface="Tahoma"/>
                <a:cs typeface="Tahoma"/>
              </a:rPr>
              <a:t> </a:t>
            </a:r>
            <a:r>
              <a:rPr sz="1250" dirty="0">
                <a:latin typeface="Tahoma"/>
                <a:cs typeface="Tahoma"/>
              </a:rPr>
              <a:t>satisfy</a:t>
            </a:r>
            <a:r>
              <a:rPr sz="1250" spc="150" dirty="0">
                <a:latin typeface="Tahoma"/>
                <a:cs typeface="Tahoma"/>
              </a:rPr>
              <a:t> </a:t>
            </a:r>
            <a:r>
              <a:rPr sz="1250" dirty="0">
                <a:latin typeface="Tahoma"/>
                <a:cs typeface="Tahoma"/>
              </a:rPr>
              <a:t>their</a:t>
            </a:r>
            <a:r>
              <a:rPr sz="1250" spc="80" dirty="0">
                <a:latin typeface="Tahoma"/>
                <a:cs typeface="Tahoma"/>
              </a:rPr>
              <a:t> </a:t>
            </a:r>
            <a:r>
              <a:rPr sz="1250" spc="-10" dirty="0">
                <a:latin typeface="Tahoma"/>
                <a:cs typeface="Tahoma"/>
              </a:rPr>
              <a:t>purpose</a:t>
            </a:r>
            <a:endParaRPr sz="1250" dirty="0">
              <a:latin typeface="Tahoma"/>
              <a:cs typeface="Tahoma"/>
            </a:endParaRPr>
          </a:p>
          <a:p>
            <a:pPr marL="756285" marR="491490" lvl="2" indent="-254635">
              <a:lnSpc>
                <a:spcPct val="105600"/>
              </a:lnSpc>
              <a:spcBef>
                <a:spcPts val="165"/>
              </a:spcBef>
              <a:buClr>
                <a:srgbClr val="CC9900"/>
              </a:buClr>
              <a:buSzPct val="68000"/>
              <a:buFont typeface="Times New Roman"/>
              <a:buChar char="■"/>
              <a:tabLst>
                <a:tab pos="756285" algn="l"/>
              </a:tabLst>
            </a:pPr>
            <a:r>
              <a:rPr sz="1250" dirty="0">
                <a:latin typeface="Tahoma"/>
                <a:cs typeface="Tahoma"/>
              </a:rPr>
              <a:t>Usually</a:t>
            </a:r>
            <a:r>
              <a:rPr sz="1250" spc="110" dirty="0">
                <a:latin typeface="Tahoma"/>
                <a:cs typeface="Tahoma"/>
              </a:rPr>
              <a:t> </a:t>
            </a:r>
            <a:r>
              <a:rPr sz="1250" dirty="0">
                <a:latin typeface="Tahoma"/>
                <a:cs typeface="Tahoma"/>
              </a:rPr>
              <a:t>performed</a:t>
            </a:r>
            <a:r>
              <a:rPr sz="1250" spc="185" dirty="0">
                <a:latin typeface="Tahoma"/>
                <a:cs typeface="Tahoma"/>
              </a:rPr>
              <a:t> </a:t>
            </a:r>
            <a:r>
              <a:rPr sz="1250" dirty="0">
                <a:latin typeface="Tahoma"/>
                <a:cs typeface="Tahoma"/>
              </a:rPr>
              <a:t>by</a:t>
            </a:r>
            <a:r>
              <a:rPr sz="1250" spc="160" dirty="0">
                <a:latin typeface="Tahoma"/>
                <a:cs typeface="Tahoma"/>
              </a:rPr>
              <a:t> </a:t>
            </a:r>
            <a:r>
              <a:rPr sz="1250" dirty="0">
                <a:solidFill>
                  <a:srgbClr val="FF0000"/>
                </a:solidFill>
                <a:latin typeface="Tahoma"/>
                <a:cs typeface="Tahoma"/>
              </a:rPr>
              <a:t>professional</a:t>
            </a:r>
            <a:r>
              <a:rPr sz="1250" spc="145" dirty="0">
                <a:solidFill>
                  <a:srgbClr val="FF0000"/>
                </a:solidFill>
                <a:latin typeface="Tahoma"/>
                <a:cs typeface="Tahoma"/>
              </a:rPr>
              <a:t> </a:t>
            </a:r>
            <a:r>
              <a:rPr sz="1250" dirty="0">
                <a:solidFill>
                  <a:srgbClr val="FF0000"/>
                </a:solidFill>
                <a:latin typeface="Tahoma"/>
                <a:cs typeface="Tahoma"/>
              </a:rPr>
              <a:t>criminals</a:t>
            </a:r>
            <a:r>
              <a:rPr sz="1250" dirty="0">
                <a:latin typeface="Tahoma"/>
                <a:cs typeface="Tahoma"/>
              </a:rPr>
              <a:t>,</a:t>
            </a:r>
            <a:r>
              <a:rPr sz="1250" spc="114" dirty="0">
                <a:latin typeface="Tahoma"/>
                <a:cs typeface="Tahoma"/>
              </a:rPr>
              <a:t> </a:t>
            </a:r>
            <a:r>
              <a:rPr sz="1250" dirty="0">
                <a:latin typeface="Tahoma"/>
                <a:cs typeface="Tahoma"/>
              </a:rPr>
              <a:t>by</a:t>
            </a:r>
            <a:r>
              <a:rPr sz="1250" spc="145" dirty="0">
                <a:latin typeface="Tahoma"/>
                <a:cs typeface="Tahoma"/>
              </a:rPr>
              <a:t> </a:t>
            </a:r>
            <a:r>
              <a:rPr sz="1250" dirty="0">
                <a:latin typeface="Tahoma"/>
                <a:cs typeface="Tahoma"/>
              </a:rPr>
              <a:t>a</a:t>
            </a:r>
            <a:r>
              <a:rPr sz="1250" spc="180" dirty="0">
                <a:latin typeface="Tahoma"/>
                <a:cs typeface="Tahoma"/>
              </a:rPr>
              <a:t> </a:t>
            </a:r>
            <a:r>
              <a:rPr sz="1250" dirty="0">
                <a:latin typeface="Tahoma"/>
                <a:cs typeface="Tahoma"/>
              </a:rPr>
              <a:t>country</a:t>
            </a:r>
            <a:r>
              <a:rPr sz="1250" spc="110" dirty="0">
                <a:latin typeface="Tahoma"/>
                <a:cs typeface="Tahoma"/>
              </a:rPr>
              <a:t> </a:t>
            </a:r>
            <a:r>
              <a:rPr sz="1250" dirty="0">
                <a:latin typeface="Tahoma"/>
                <a:cs typeface="Tahoma"/>
              </a:rPr>
              <a:t>on</a:t>
            </a:r>
            <a:r>
              <a:rPr sz="1250" spc="150" dirty="0">
                <a:latin typeface="Tahoma"/>
                <a:cs typeface="Tahoma"/>
              </a:rPr>
              <a:t> </a:t>
            </a:r>
            <a:r>
              <a:rPr sz="1250" dirty="0">
                <a:latin typeface="Tahoma"/>
                <a:cs typeface="Tahoma"/>
              </a:rPr>
              <a:t>other</a:t>
            </a:r>
            <a:r>
              <a:rPr sz="1250" spc="155" dirty="0">
                <a:latin typeface="Tahoma"/>
                <a:cs typeface="Tahoma"/>
              </a:rPr>
              <a:t> </a:t>
            </a:r>
            <a:r>
              <a:rPr sz="1250" dirty="0">
                <a:latin typeface="Tahoma"/>
                <a:cs typeface="Tahoma"/>
              </a:rPr>
              <a:t>rival</a:t>
            </a:r>
            <a:r>
              <a:rPr sz="1250" spc="125" dirty="0">
                <a:latin typeface="Tahoma"/>
                <a:cs typeface="Tahoma"/>
              </a:rPr>
              <a:t> </a:t>
            </a:r>
            <a:r>
              <a:rPr sz="1250" dirty="0">
                <a:latin typeface="Tahoma"/>
                <a:cs typeface="Tahoma"/>
              </a:rPr>
              <a:t>countries,</a:t>
            </a:r>
            <a:r>
              <a:rPr sz="1250" spc="125" dirty="0">
                <a:latin typeface="Tahoma"/>
                <a:cs typeface="Tahoma"/>
              </a:rPr>
              <a:t> </a:t>
            </a:r>
            <a:r>
              <a:rPr sz="1250" dirty="0">
                <a:latin typeface="Tahoma"/>
                <a:cs typeface="Tahoma"/>
              </a:rPr>
              <a:t>politicians</a:t>
            </a:r>
            <a:r>
              <a:rPr sz="1250" spc="135" dirty="0">
                <a:latin typeface="Tahoma"/>
                <a:cs typeface="Tahoma"/>
              </a:rPr>
              <a:t> </a:t>
            </a:r>
            <a:r>
              <a:rPr sz="1250" spc="-25" dirty="0">
                <a:latin typeface="Tahoma"/>
                <a:cs typeface="Tahoma"/>
              </a:rPr>
              <a:t>to </a:t>
            </a:r>
            <a:r>
              <a:rPr sz="1250" dirty="0">
                <a:latin typeface="Tahoma"/>
                <a:cs typeface="Tahoma"/>
              </a:rPr>
              <a:t>damage</a:t>
            </a:r>
            <a:r>
              <a:rPr sz="1250" spc="100" dirty="0">
                <a:latin typeface="Tahoma"/>
                <a:cs typeface="Tahoma"/>
              </a:rPr>
              <a:t> </a:t>
            </a:r>
            <a:r>
              <a:rPr sz="1250" dirty="0">
                <a:latin typeface="Tahoma"/>
                <a:cs typeface="Tahoma"/>
              </a:rPr>
              <a:t>the</a:t>
            </a:r>
            <a:r>
              <a:rPr sz="1250" spc="80" dirty="0">
                <a:latin typeface="Tahoma"/>
                <a:cs typeface="Tahoma"/>
              </a:rPr>
              <a:t> </a:t>
            </a:r>
            <a:r>
              <a:rPr sz="1250" dirty="0">
                <a:latin typeface="Tahoma"/>
                <a:cs typeface="Tahoma"/>
              </a:rPr>
              <a:t>image</a:t>
            </a:r>
            <a:r>
              <a:rPr sz="1250" spc="135" dirty="0">
                <a:latin typeface="Tahoma"/>
                <a:cs typeface="Tahoma"/>
              </a:rPr>
              <a:t> </a:t>
            </a:r>
            <a:r>
              <a:rPr sz="1250" dirty="0">
                <a:latin typeface="Tahoma"/>
                <a:cs typeface="Tahoma"/>
              </a:rPr>
              <a:t>of</a:t>
            </a:r>
            <a:r>
              <a:rPr sz="1250" spc="145" dirty="0">
                <a:latin typeface="Tahoma"/>
                <a:cs typeface="Tahoma"/>
              </a:rPr>
              <a:t> </a:t>
            </a:r>
            <a:r>
              <a:rPr sz="1250" dirty="0">
                <a:latin typeface="Tahoma"/>
                <a:cs typeface="Tahoma"/>
              </a:rPr>
              <a:t>the</a:t>
            </a:r>
            <a:r>
              <a:rPr sz="1250" spc="125" dirty="0">
                <a:latin typeface="Tahoma"/>
                <a:cs typeface="Tahoma"/>
              </a:rPr>
              <a:t> </a:t>
            </a:r>
            <a:r>
              <a:rPr sz="1250" dirty="0">
                <a:latin typeface="Tahoma"/>
                <a:cs typeface="Tahoma"/>
              </a:rPr>
              <a:t>rival</a:t>
            </a:r>
            <a:r>
              <a:rPr sz="1250" spc="95" dirty="0">
                <a:latin typeface="Tahoma"/>
                <a:cs typeface="Tahoma"/>
              </a:rPr>
              <a:t> </a:t>
            </a:r>
            <a:r>
              <a:rPr sz="1250" dirty="0">
                <a:latin typeface="Tahoma"/>
                <a:cs typeface="Tahoma"/>
              </a:rPr>
              <a:t>person</a:t>
            </a:r>
            <a:r>
              <a:rPr sz="1250" spc="160" dirty="0">
                <a:latin typeface="Tahoma"/>
                <a:cs typeface="Tahoma"/>
              </a:rPr>
              <a:t> </a:t>
            </a:r>
            <a:r>
              <a:rPr sz="1250" dirty="0">
                <a:latin typeface="Tahoma"/>
                <a:cs typeface="Tahoma"/>
              </a:rPr>
              <a:t>or</a:t>
            </a:r>
            <a:r>
              <a:rPr sz="1250" spc="120" dirty="0">
                <a:latin typeface="Tahoma"/>
                <a:cs typeface="Tahoma"/>
              </a:rPr>
              <a:t> </a:t>
            </a:r>
            <a:r>
              <a:rPr sz="1250" dirty="0">
                <a:latin typeface="Tahoma"/>
                <a:cs typeface="Tahoma"/>
              </a:rPr>
              <a:t>the</a:t>
            </a:r>
            <a:r>
              <a:rPr sz="1250" spc="105" dirty="0">
                <a:latin typeface="Tahoma"/>
                <a:cs typeface="Tahoma"/>
              </a:rPr>
              <a:t> </a:t>
            </a:r>
            <a:r>
              <a:rPr sz="1250" dirty="0">
                <a:latin typeface="Tahoma"/>
                <a:cs typeface="Tahoma"/>
              </a:rPr>
              <a:t>country,</a:t>
            </a:r>
            <a:r>
              <a:rPr sz="1250" spc="60" dirty="0">
                <a:latin typeface="Tahoma"/>
                <a:cs typeface="Tahoma"/>
              </a:rPr>
              <a:t> </a:t>
            </a:r>
            <a:r>
              <a:rPr sz="1250" dirty="0">
                <a:latin typeface="Tahoma"/>
                <a:cs typeface="Tahoma"/>
              </a:rPr>
              <a:t>terrorists,</a:t>
            </a:r>
            <a:r>
              <a:rPr sz="1250" spc="110" dirty="0">
                <a:latin typeface="Tahoma"/>
                <a:cs typeface="Tahoma"/>
              </a:rPr>
              <a:t> </a:t>
            </a:r>
            <a:r>
              <a:rPr sz="1250" dirty="0">
                <a:latin typeface="Tahoma"/>
                <a:cs typeface="Tahoma"/>
              </a:rPr>
              <a:t>rival</a:t>
            </a:r>
            <a:r>
              <a:rPr sz="1250" spc="100" dirty="0">
                <a:latin typeface="Tahoma"/>
                <a:cs typeface="Tahoma"/>
              </a:rPr>
              <a:t> </a:t>
            </a:r>
            <a:r>
              <a:rPr sz="1250" dirty="0">
                <a:latin typeface="Tahoma"/>
                <a:cs typeface="Tahoma"/>
              </a:rPr>
              <a:t>companies,</a:t>
            </a:r>
            <a:r>
              <a:rPr sz="1250" spc="170" dirty="0">
                <a:latin typeface="Tahoma"/>
                <a:cs typeface="Tahoma"/>
              </a:rPr>
              <a:t> </a:t>
            </a:r>
            <a:r>
              <a:rPr sz="1250" spc="-20" dirty="0">
                <a:latin typeface="Tahoma"/>
                <a:cs typeface="Tahoma"/>
              </a:rPr>
              <a:t>etc.</a:t>
            </a:r>
            <a:endParaRPr sz="1250" dirty="0">
              <a:latin typeface="Tahoma"/>
              <a:cs typeface="Tahom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4800" y="5644894"/>
            <a:ext cx="11480800" cy="13970"/>
          </a:xfrm>
          <a:custGeom>
            <a:avLst/>
            <a:gdLst/>
            <a:ahLst/>
            <a:cxnLst/>
            <a:rect l="l" t="t" r="r" b="b"/>
            <a:pathLst>
              <a:path w="11480800" h="13970">
                <a:moveTo>
                  <a:pt x="11480292" y="0"/>
                </a:moveTo>
                <a:lnTo>
                  <a:pt x="0" y="0"/>
                </a:lnTo>
                <a:lnTo>
                  <a:pt x="0" y="13717"/>
                </a:lnTo>
                <a:lnTo>
                  <a:pt x="11480292" y="13717"/>
                </a:lnTo>
                <a:lnTo>
                  <a:pt x="11480292" y="0"/>
                </a:lnTo>
                <a:close/>
              </a:path>
            </a:pathLst>
          </a:custGeom>
          <a:solidFill>
            <a:srgbClr val="CC9900"/>
          </a:solidFill>
        </p:spPr>
        <p:txBody>
          <a:bodyPr wrap="square" lIns="0" tIns="0" rIns="0" bIns="0" rtlCol="0"/>
          <a:lstStyle/>
          <a:p>
            <a:endParaRPr/>
          </a:p>
        </p:txBody>
      </p:sp>
      <p:sp>
        <p:nvSpPr>
          <p:cNvPr id="3" name="object 3"/>
          <p:cNvSpPr/>
          <p:nvPr/>
        </p:nvSpPr>
        <p:spPr>
          <a:xfrm>
            <a:off x="304800" y="1581911"/>
            <a:ext cx="11480800" cy="12700"/>
          </a:xfrm>
          <a:custGeom>
            <a:avLst/>
            <a:gdLst/>
            <a:ahLst/>
            <a:cxnLst/>
            <a:rect l="l" t="t" r="r" b="b"/>
            <a:pathLst>
              <a:path w="11480800" h="12700">
                <a:moveTo>
                  <a:pt x="11480292" y="0"/>
                </a:moveTo>
                <a:lnTo>
                  <a:pt x="0" y="0"/>
                </a:lnTo>
                <a:lnTo>
                  <a:pt x="0" y="12191"/>
                </a:lnTo>
                <a:lnTo>
                  <a:pt x="11480292" y="12191"/>
                </a:lnTo>
                <a:lnTo>
                  <a:pt x="11480292" y="0"/>
                </a:lnTo>
                <a:close/>
              </a:path>
            </a:pathLst>
          </a:custGeom>
          <a:solidFill>
            <a:srgbClr val="CC9900"/>
          </a:solid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739724" rIns="0" bIns="0" rtlCol="0">
            <a:spAutoFit/>
          </a:bodyPr>
          <a:lstStyle/>
          <a:p>
            <a:pPr marL="12700">
              <a:lnSpc>
                <a:spcPct val="100000"/>
              </a:lnSpc>
              <a:spcBef>
                <a:spcPts val="114"/>
              </a:spcBef>
            </a:pPr>
            <a:r>
              <a:rPr spc="-60" dirty="0"/>
              <a:t>Reasons</a:t>
            </a:r>
            <a:r>
              <a:rPr spc="-90" dirty="0"/>
              <a:t> </a:t>
            </a:r>
            <a:r>
              <a:rPr dirty="0"/>
              <a:t>for</a:t>
            </a:r>
            <a:r>
              <a:rPr spc="-20" dirty="0"/>
              <a:t> </a:t>
            </a:r>
            <a:r>
              <a:rPr spc="-45" dirty="0"/>
              <a:t>Commission</a:t>
            </a:r>
            <a:r>
              <a:rPr spc="-85" dirty="0"/>
              <a:t> </a:t>
            </a:r>
            <a:r>
              <a:rPr dirty="0"/>
              <a:t>of</a:t>
            </a:r>
            <a:r>
              <a:rPr spc="-25" dirty="0"/>
              <a:t> </a:t>
            </a:r>
            <a:r>
              <a:rPr spc="-70" dirty="0"/>
              <a:t>Cyber</a:t>
            </a:r>
            <a:r>
              <a:rPr spc="-110" dirty="0"/>
              <a:t> </a:t>
            </a:r>
            <a:r>
              <a:rPr spc="-10" dirty="0"/>
              <a:t>Crimes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355"/>
              </a:lnSpc>
            </a:pPr>
            <a:r>
              <a:rPr spc="-25" dirty="0"/>
              <a:t>61</a:t>
            </a:r>
          </a:p>
        </p:txBody>
      </p:sp>
      <p:sp>
        <p:nvSpPr>
          <p:cNvPr id="5" name="object 5"/>
          <p:cNvSpPr txBox="1"/>
          <p:nvPr/>
        </p:nvSpPr>
        <p:spPr>
          <a:xfrm>
            <a:off x="1295400" y="1636834"/>
            <a:ext cx="8686799" cy="3509293"/>
          </a:xfrm>
          <a:prstGeom prst="rect">
            <a:avLst/>
          </a:prstGeom>
        </p:spPr>
        <p:txBody>
          <a:bodyPr vert="horz" wrap="square" lIns="0" tIns="55244" rIns="0" bIns="0" rtlCol="0">
            <a:spAutoFit/>
          </a:bodyPr>
          <a:lstStyle/>
          <a:p>
            <a:pPr marL="262255" indent="-249554">
              <a:lnSpc>
                <a:spcPct val="100000"/>
              </a:lnSpc>
              <a:spcBef>
                <a:spcPts val="434"/>
              </a:spcBef>
              <a:buClr>
                <a:srgbClr val="CC9900"/>
              </a:buClr>
              <a:buSzPct val="62068"/>
              <a:buFont typeface="Times New Roman"/>
              <a:buChar char="■"/>
              <a:tabLst>
                <a:tab pos="262255" algn="l"/>
              </a:tabLst>
            </a:pPr>
            <a:r>
              <a:rPr sz="1450" spc="-10" dirty="0">
                <a:latin typeface="Tahoma"/>
                <a:cs typeface="Tahoma"/>
              </a:rPr>
              <a:t>Money:</a:t>
            </a:r>
            <a:endParaRPr sz="1450" dirty="0">
              <a:latin typeface="Tahoma"/>
              <a:cs typeface="Tahoma"/>
            </a:endParaRPr>
          </a:p>
          <a:p>
            <a:pPr marL="501650" lvl="1" indent="-239395">
              <a:lnSpc>
                <a:spcPct val="100000"/>
              </a:lnSpc>
              <a:spcBef>
                <a:spcPts val="335"/>
              </a:spcBef>
              <a:buClr>
                <a:srgbClr val="3A802E"/>
              </a:buClr>
              <a:buSzPct val="60000"/>
              <a:buFont typeface="Segoe UI Symbol"/>
              <a:buChar char="❑"/>
              <a:tabLst>
                <a:tab pos="501650" algn="l"/>
              </a:tabLst>
            </a:pPr>
            <a:r>
              <a:rPr sz="1250" dirty="0">
                <a:latin typeface="Tahoma"/>
                <a:cs typeface="Tahoma"/>
              </a:rPr>
              <a:t>People</a:t>
            </a:r>
            <a:r>
              <a:rPr sz="1250" spc="125" dirty="0">
                <a:latin typeface="Tahoma"/>
                <a:cs typeface="Tahoma"/>
              </a:rPr>
              <a:t> </a:t>
            </a:r>
            <a:r>
              <a:rPr sz="1250" dirty="0">
                <a:latin typeface="Tahoma"/>
                <a:cs typeface="Tahoma"/>
              </a:rPr>
              <a:t>are</a:t>
            </a:r>
            <a:r>
              <a:rPr sz="1250" spc="125" dirty="0">
                <a:latin typeface="Tahoma"/>
                <a:cs typeface="Tahoma"/>
              </a:rPr>
              <a:t> </a:t>
            </a:r>
            <a:r>
              <a:rPr sz="1250" dirty="0">
                <a:latin typeface="Tahoma"/>
                <a:cs typeface="Tahoma"/>
              </a:rPr>
              <a:t>motivated</a:t>
            </a:r>
            <a:r>
              <a:rPr sz="1250" spc="120" dirty="0">
                <a:latin typeface="Tahoma"/>
                <a:cs typeface="Tahoma"/>
              </a:rPr>
              <a:t> </a:t>
            </a:r>
            <a:r>
              <a:rPr sz="1250" dirty="0">
                <a:latin typeface="Tahoma"/>
                <a:cs typeface="Tahoma"/>
              </a:rPr>
              <a:t>towards</a:t>
            </a:r>
            <a:r>
              <a:rPr sz="1250" spc="155" dirty="0">
                <a:latin typeface="Tahoma"/>
                <a:cs typeface="Tahoma"/>
              </a:rPr>
              <a:t> </a:t>
            </a:r>
            <a:r>
              <a:rPr sz="1250" dirty="0">
                <a:latin typeface="Tahoma"/>
                <a:cs typeface="Tahoma"/>
              </a:rPr>
              <a:t>committing</a:t>
            </a:r>
            <a:r>
              <a:rPr sz="1250" spc="120" dirty="0">
                <a:latin typeface="Tahoma"/>
                <a:cs typeface="Tahoma"/>
              </a:rPr>
              <a:t> </a:t>
            </a:r>
            <a:r>
              <a:rPr sz="1250" dirty="0">
                <a:latin typeface="Tahoma"/>
                <a:cs typeface="Tahoma"/>
              </a:rPr>
              <a:t>cyber</a:t>
            </a:r>
            <a:r>
              <a:rPr sz="1250" spc="155" dirty="0">
                <a:latin typeface="Tahoma"/>
                <a:cs typeface="Tahoma"/>
              </a:rPr>
              <a:t> </a:t>
            </a:r>
            <a:r>
              <a:rPr sz="1250" dirty="0">
                <a:latin typeface="Tahoma"/>
                <a:cs typeface="Tahoma"/>
              </a:rPr>
              <a:t>crime</a:t>
            </a:r>
            <a:r>
              <a:rPr sz="1250" spc="100" dirty="0">
                <a:latin typeface="Tahoma"/>
                <a:cs typeface="Tahoma"/>
              </a:rPr>
              <a:t> </a:t>
            </a:r>
            <a:r>
              <a:rPr sz="1250" dirty="0">
                <a:latin typeface="Tahoma"/>
                <a:cs typeface="Tahoma"/>
              </a:rPr>
              <a:t>is</a:t>
            </a:r>
            <a:r>
              <a:rPr sz="1250" spc="114" dirty="0">
                <a:latin typeface="Tahoma"/>
                <a:cs typeface="Tahoma"/>
              </a:rPr>
              <a:t> </a:t>
            </a:r>
            <a:r>
              <a:rPr sz="1250" dirty="0">
                <a:latin typeface="Tahoma"/>
                <a:cs typeface="Tahoma"/>
              </a:rPr>
              <a:t>to</a:t>
            </a:r>
            <a:r>
              <a:rPr sz="1250" spc="110" dirty="0">
                <a:latin typeface="Tahoma"/>
                <a:cs typeface="Tahoma"/>
              </a:rPr>
              <a:t> </a:t>
            </a:r>
            <a:r>
              <a:rPr sz="1250" dirty="0">
                <a:solidFill>
                  <a:srgbClr val="FF0000"/>
                </a:solidFill>
                <a:latin typeface="Tahoma"/>
                <a:cs typeface="Tahoma"/>
              </a:rPr>
              <a:t>make</a:t>
            </a:r>
            <a:r>
              <a:rPr sz="1250" spc="120" dirty="0">
                <a:solidFill>
                  <a:srgbClr val="FF0000"/>
                </a:solidFill>
                <a:latin typeface="Tahoma"/>
                <a:cs typeface="Tahoma"/>
              </a:rPr>
              <a:t> </a:t>
            </a:r>
            <a:r>
              <a:rPr sz="1250" dirty="0">
                <a:solidFill>
                  <a:srgbClr val="FF0000"/>
                </a:solidFill>
                <a:latin typeface="Tahoma"/>
                <a:cs typeface="Tahoma"/>
              </a:rPr>
              <a:t>quick</a:t>
            </a:r>
            <a:r>
              <a:rPr sz="1250" spc="135" dirty="0">
                <a:solidFill>
                  <a:srgbClr val="FF0000"/>
                </a:solidFill>
                <a:latin typeface="Tahoma"/>
                <a:cs typeface="Tahoma"/>
              </a:rPr>
              <a:t> </a:t>
            </a:r>
            <a:r>
              <a:rPr sz="1250" dirty="0">
                <a:solidFill>
                  <a:srgbClr val="FF0000"/>
                </a:solidFill>
                <a:latin typeface="Tahoma"/>
                <a:cs typeface="Tahoma"/>
              </a:rPr>
              <a:t>and</a:t>
            </a:r>
            <a:r>
              <a:rPr sz="1250" spc="135" dirty="0">
                <a:solidFill>
                  <a:srgbClr val="FF0000"/>
                </a:solidFill>
                <a:latin typeface="Tahoma"/>
                <a:cs typeface="Tahoma"/>
              </a:rPr>
              <a:t> </a:t>
            </a:r>
            <a:r>
              <a:rPr sz="1250" dirty="0">
                <a:solidFill>
                  <a:srgbClr val="FF0000"/>
                </a:solidFill>
                <a:latin typeface="Tahoma"/>
                <a:cs typeface="Tahoma"/>
              </a:rPr>
              <a:t>easy</a:t>
            </a:r>
            <a:r>
              <a:rPr sz="1250" spc="155" dirty="0">
                <a:solidFill>
                  <a:srgbClr val="FF0000"/>
                </a:solidFill>
                <a:latin typeface="Tahoma"/>
                <a:cs typeface="Tahoma"/>
              </a:rPr>
              <a:t> </a:t>
            </a:r>
            <a:r>
              <a:rPr sz="1250" spc="-10" dirty="0">
                <a:solidFill>
                  <a:srgbClr val="FF0000"/>
                </a:solidFill>
                <a:latin typeface="Tahoma"/>
                <a:cs typeface="Tahoma"/>
              </a:rPr>
              <a:t>money</a:t>
            </a:r>
            <a:r>
              <a:rPr sz="1250" spc="-10" dirty="0">
                <a:latin typeface="Tahoma"/>
                <a:cs typeface="Tahoma"/>
              </a:rPr>
              <a:t>.</a:t>
            </a:r>
            <a:endParaRPr sz="1250" dirty="0">
              <a:latin typeface="Tahoma"/>
              <a:cs typeface="Tahoma"/>
            </a:endParaRPr>
          </a:p>
          <a:p>
            <a:pPr marL="262255" indent="-249554">
              <a:lnSpc>
                <a:spcPct val="100000"/>
              </a:lnSpc>
              <a:spcBef>
                <a:spcPts val="409"/>
              </a:spcBef>
              <a:buClr>
                <a:srgbClr val="CC9900"/>
              </a:buClr>
              <a:buSzPct val="62068"/>
              <a:buFont typeface="Times New Roman"/>
              <a:buChar char="■"/>
              <a:tabLst>
                <a:tab pos="262255" algn="l"/>
              </a:tabLst>
            </a:pPr>
            <a:r>
              <a:rPr sz="1450" spc="-10" dirty="0">
                <a:latin typeface="Tahoma"/>
                <a:cs typeface="Tahoma"/>
              </a:rPr>
              <a:t>Revenge:</a:t>
            </a:r>
            <a:endParaRPr sz="1450" dirty="0">
              <a:latin typeface="Tahoma"/>
              <a:cs typeface="Tahoma"/>
            </a:endParaRPr>
          </a:p>
          <a:p>
            <a:pPr marL="501650" lvl="1" indent="-239395">
              <a:lnSpc>
                <a:spcPct val="100000"/>
              </a:lnSpc>
              <a:spcBef>
                <a:spcPts val="325"/>
              </a:spcBef>
              <a:buClr>
                <a:srgbClr val="3A802E"/>
              </a:buClr>
              <a:buSzPct val="60000"/>
              <a:buFont typeface="Segoe UI Symbol"/>
              <a:buChar char="❑"/>
              <a:tabLst>
                <a:tab pos="501650" algn="l"/>
              </a:tabLst>
            </a:pPr>
            <a:r>
              <a:rPr sz="1250" spc="10" dirty="0">
                <a:latin typeface="Tahoma"/>
                <a:cs typeface="Tahoma"/>
              </a:rPr>
              <a:t>Take</a:t>
            </a:r>
            <a:r>
              <a:rPr sz="1250" spc="110" dirty="0">
                <a:latin typeface="Tahoma"/>
                <a:cs typeface="Tahoma"/>
              </a:rPr>
              <a:t> </a:t>
            </a:r>
            <a:r>
              <a:rPr sz="1250" spc="10" dirty="0">
                <a:latin typeface="Tahoma"/>
                <a:cs typeface="Tahoma"/>
              </a:rPr>
              <a:t>revenge</a:t>
            </a:r>
            <a:r>
              <a:rPr sz="1250" spc="100" dirty="0">
                <a:latin typeface="Tahoma"/>
                <a:cs typeface="Tahoma"/>
              </a:rPr>
              <a:t> </a:t>
            </a:r>
            <a:r>
              <a:rPr sz="1250" spc="10" dirty="0">
                <a:latin typeface="Tahoma"/>
                <a:cs typeface="Tahoma"/>
              </a:rPr>
              <a:t>with</a:t>
            </a:r>
            <a:r>
              <a:rPr sz="1250" spc="90" dirty="0">
                <a:latin typeface="Tahoma"/>
                <a:cs typeface="Tahoma"/>
              </a:rPr>
              <a:t> </a:t>
            </a:r>
            <a:r>
              <a:rPr sz="1250" spc="10" dirty="0">
                <a:latin typeface="Tahoma"/>
                <a:cs typeface="Tahoma"/>
              </a:rPr>
              <a:t>other</a:t>
            </a:r>
            <a:r>
              <a:rPr sz="1250" spc="70" dirty="0">
                <a:latin typeface="Tahoma"/>
                <a:cs typeface="Tahoma"/>
              </a:rPr>
              <a:t> </a:t>
            </a:r>
            <a:r>
              <a:rPr sz="1250" spc="10" dirty="0">
                <a:latin typeface="Tahoma"/>
                <a:cs typeface="Tahoma"/>
              </a:rPr>
              <a:t>person/organization/society/caste</a:t>
            </a:r>
            <a:r>
              <a:rPr sz="1250" spc="90" dirty="0">
                <a:latin typeface="Tahoma"/>
                <a:cs typeface="Tahoma"/>
              </a:rPr>
              <a:t> </a:t>
            </a:r>
            <a:r>
              <a:rPr sz="1250" spc="10" dirty="0">
                <a:latin typeface="Tahoma"/>
                <a:cs typeface="Tahoma"/>
              </a:rPr>
              <a:t>or</a:t>
            </a:r>
            <a:r>
              <a:rPr sz="1250" spc="105" dirty="0">
                <a:latin typeface="Tahoma"/>
                <a:cs typeface="Tahoma"/>
              </a:rPr>
              <a:t> </a:t>
            </a:r>
            <a:r>
              <a:rPr sz="1250" spc="-10" dirty="0">
                <a:latin typeface="Tahoma"/>
                <a:cs typeface="Tahoma"/>
              </a:rPr>
              <a:t>religion</a:t>
            </a:r>
            <a:endParaRPr sz="1250" dirty="0">
              <a:latin typeface="Tahoma"/>
              <a:cs typeface="Tahoma"/>
            </a:endParaRPr>
          </a:p>
          <a:p>
            <a:pPr marL="501650" lvl="1" indent="-239395">
              <a:lnSpc>
                <a:spcPct val="100000"/>
              </a:lnSpc>
              <a:spcBef>
                <a:spcPts val="335"/>
              </a:spcBef>
              <a:buClr>
                <a:srgbClr val="3A802E"/>
              </a:buClr>
              <a:buSzPct val="60000"/>
              <a:buFont typeface="Segoe UI Symbol"/>
              <a:buChar char="❑"/>
              <a:tabLst>
                <a:tab pos="501650" algn="l"/>
              </a:tabLst>
            </a:pPr>
            <a:r>
              <a:rPr sz="1250" dirty="0">
                <a:solidFill>
                  <a:srgbClr val="FF0000"/>
                </a:solidFill>
                <a:latin typeface="Tahoma"/>
                <a:cs typeface="Tahoma"/>
              </a:rPr>
              <a:t>Defaming</a:t>
            </a:r>
            <a:r>
              <a:rPr sz="1250" spc="190" dirty="0">
                <a:solidFill>
                  <a:srgbClr val="FF0000"/>
                </a:solidFill>
                <a:latin typeface="Tahoma"/>
                <a:cs typeface="Tahoma"/>
              </a:rPr>
              <a:t> </a:t>
            </a:r>
            <a:r>
              <a:rPr sz="1250" dirty="0">
                <a:solidFill>
                  <a:srgbClr val="FF0000"/>
                </a:solidFill>
                <a:latin typeface="Tahoma"/>
                <a:cs typeface="Tahoma"/>
              </a:rPr>
              <a:t>its</a:t>
            </a:r>
            <a:r>
              <a:rPr sz="1250" spc="145" dirty="0">
                <a:solidFill>
                  <a:srgbClr val="FF0000"/>
                </a:solidFill>
                <a:latin typeface="Tahoma"/>
                <a:cs typeface="Tahoma"/>
              </a:rPr>
              <a:t> </a:t>
            </a:r>
            <a:r>
              <a:rPr sz="1250" dirty="0">
                <a:solidFill>
                  <a:srgbClr val="FF0000"/>
                </a:solidFill>
                <a:latin typeface="Tahoma"/>
                <a:cs typeface="Tahoma"/>
              </a:rPr>
              <a:t>reputation</a:t>
            </a:r>
            <a:r>
              <a:rPr sz="1250" spc="160" dirty="0">
                <a:solidFill>
                  <a:srgbClr val="FF0000"/>
                </a:solidFill>
                <a:latin typeface="Tahoma"/>
                <a:cs typeface="Tahoma"/>
              </a:rPr>
              <a:t> </a:t>
            </a:r>
            <a:r>
              <a:rPr sz="1250" dirty="0">
                <a:latin typeface="Tahoma"/>
                <a:cs typeface="Tahoma"/>
              </a:rPr>
              <a:t>or</a:t>
            </a:r>
            <a:r>
              <a:rPr sz="1250" spc="130" dirty="0">
                <a:latin typeface="Tahoma"/>
                <a:cs typeface="Tahoma"/>
              </a:rPr>
              <a:t> </a:t>
            </a:r>
            <a:r>
              <a:rPr sz="1250" dirty="0">
                <a:latin typeface="Tahoma"/>
                <a:cs typeface="Tahoma"/>
              </a:rPr>
              <a:t>bringing</a:t>
            </a:r>
            <a:r>
              <a:rPr sz="1250" spc="180" dirty="0">
                <a:latin typeface="Tahoma"/>
                <a:cs typeface="Tahoma"/>
              </a:rPr>
              <a:t> </a:t>
            </a:r>
            <a:r>
              <a:rPr sz="1250" dirty="0">
                <a:latin typeface="Tahoma"/>
                <a:cs typeface="Tahoma"/>
              </a:rPr>
              <a:t>economical</a:t>
            </a:r>
            <a:r>
              <a:rPr sz="1250" spc="130" dirty="0">
                <a:latin typeface="Tahoma"/>
                <a:cs typeface="Tahoma"/>
              </a:rPr>
              <a:t> </a:t>
            </a:r>
            <a:r>
              <a:rPr sz="1250" dirty="0">
                <a:latin typeface="Tahoma"/>
                <a:cs typeface="Tahoma"/>
              </a:rPr>
              <a:t>or</a:t>
            </a:r>
            <a:r>
              <a:rPr sz="1250" spc="165" dirty="0">
                <a:latin typeface="Tahoma"/>
                <a:cs typeface="Tahoma"/>
              </a:rPr>
              <a:t> </a:t>
            </a:r>
            <a:r>
              <a:rPr sz="1250" dirty="0">
                <a:latin typeface="Tahoma"/>
                <a:cs typeface="Tahoma"/>
              </a:rPr>
              <a:t>physical</a:t>
            </a:r>
            <a:r>
              <a:rPr sz="1250" spc="105" dirty="0">
                <a:latin typeface="Tahoma"/>
                <a:cs typeface="Tahoma"/>
              </a:rPr>
              <a:t> </a:t>
            </a:r>
            <a:r>
              <a:rPr sz="1250" spc="-10" dirty="0">
                <a:latin typeface="Tahoma"/>
                <a:cs typeface="Tahoma"/>
              </a:rPr>
              <a:t>loss.</a:t>
            </a:r>
            <a:endParaRPr sz="1250" dirty="0">
              <a:latin typeface="Tahoma"/>
              <a:cs typeface="Tahoma"/>
            </a:endParaRPr>
          </a:p>
          <a:p>
            <a:pPr marL="501650" lvl="1" indent="-239395">
              <a:lnSpc>
                <a:spcPct val="100000"/>
              </a:lnSpc>
              <a:spcBef>
                <a:spcPts val="445"/>
              </a:spcBef>
              <a:buClr>
                <a:srgbClr val="3A802E"/>
              </a:buClr>
              <a:buSzPct val="60000"/>
              <a:buFont typeface="Segoe UI Symbol"/>
              <a:buChar char="❑"/>
              <a:tabLst>
                <a:tab pos="501650" algn="l"/>
              </a:tabLst>
            </a:pPr>
            <a:r>
              <a:rPr sz="1250" dirty="0">
                <a:latin typeface="Tahoma"/>
                <a:cs typeface="Tahoma"/>
              </a:rPr>
              <a:t>This</a:t>
            </a:r>
            <a:r>
              <a:rPr sz="1250" spc="110" dirty="0">
                <a:latin typeface="Tahoma"/>
                <a:cs typeface="Tahoma"/>
              </a:rPr>
              <a:t> </a:t>
            </a:r>
            <a:r>
              <a:rPr sz="1250" dirty="0">
                <a:latin typeface="Tahoma"/>
                <a:cs typeface="Tahoma"/>
              </a:rPr>
              <a:t>comes</a:t>
            </a:r>
            <a:r>
              <a:rPr sz="1250" spc="125" dirty="0">
                <a:latin typeface="Tahoma"/>
                <a:cs typeface="Tahoma"/>
              </a:rPr>
              <a:t> </a:t>
            </a:r>
            <a:r>
              <a:rPr sz="1250" dirty="0">
                <a:latin typeface="Tahoma"/>
                <a:cs typeface="Tahoma"/>
              </a:rPr>
              <a:t>under</a:t>
            </a:r>
            <a:r>
              <a:rPr sz="1250" spc="105" dirty="0">
                <a:latin typeface="Tahoma"/>
                <a:cs typeface="Tahoma"/>
              </a:rPr>
              <a:t> </a:t>
            </a:r>
            <a:r>
              <a:rPr sz="1250" dirty="0">
                <a:latin typeface="Tahoma"/>
                <a:cs typeface="Tahoma"/>
              </a:rPr>
              <a:t>the</a:t>
            </a:r>
            <a:r>
              <a:rPr sz="1250" spc="105" dirty="0">
                <a:latin typeface="Tahoma"/>
                <a:cs typeface="Tahoma"/>
              </a:rPr>
              <a:t> </a:t>
            </a:r>
            <a:r>
              <a:rPr sz="1250" dirty="0">
                <a:latin typeface="Tahoma"/>
                <a:cs typeface="Tahoma"/>
              </a:rPr>
              <a:t>category</a:t>
            </a:r>
            <a:r>
              <a:rPr sz="1250" spc="140" dirty="0">
                <a:latin typeface="Tahoma"/>
                <a:cs typeface="Tahoma"/>
              </a:rPr>
              <a:t> </a:t>
            </a:r>
            <a:r>
              <a:rPr sz="1250" dirty="0">
                <a:latin typeface="Tahoma"/>
                <a:cs typeface="Tahoma"/>
              </a:rPr>
              <a:t>of</a:t>
            </a:r>
            <a:r>
              <a:rPr sz="1250" spc="105" dirty="0">
                <a:latin typeface="Tahoma"/>
                <a:cs typeface="Tahoma"/>
              </a:rPr>
              <a:t> </a:t>
            </a:r>
            <a:r>
              <a:rPr sz="1250" dirty="0">
                <a:solidFill>
                  <a:srgbClr val="FF0000"/>
                </a:solidFill>
                <a:latin typeface="Tahoma"/>
                <a:cs typeface="Tahoma"/>
              </a:rPr>
              <a:t>cyber</a:t>
            </a:r>
            <a:r>
              <a:rPr sz="1250" spc="145" dirty="0">
                <a:solidFill>
                  <a:srgbClr val="FF0000"/>
                </a:solidFill>
                <a:latin typeface="Tahoma"/>
                <a:cs typeface="Tahoma"/>
              </a:rPr>
              <a:t> </a:t>
            </a:r>
            <a:r>
              <a:rPr sz="1250" spc="-10" dirty="0">
                <a:solidFill>
                  <a:srgbClr val="FF0000"/>
                </a:solidFill>
                <a:latin typeface="Tahoma"/>
                <a:cs typeface="Tahoma"/>
              </a:rPr>
              <a:t>terrorism</a:t>
            </a:r>
            <a:r>
              <a:rPr sz="1250" spc="-10" dirty="0">
                <a:latin typeface="Tahoma"/>
                <a:cs typeface="Tahoma"/>
              </a:rPr>
              <a:t>.</a:t>
            </a:r>
            <a:endParaRPr sz="1250" dirty="0">
              <a:latin typeface="Tahoma"/>
              <a:cs typeface="Tahoma"/>
            </a:endParaRPr>
          </a:p>
          <a:p>
            <a:pPr marL="262255" indent="-249554">
              <a:lnSpc>
                <a:spcPct val="100000"/>
              </a:lnSpc>
              <a:spcBef>
                <a:spcPts val="409"/>
              </a:spcBef>
              <a:buClr>
                <a:srgbClr val="CC9900"/>
              </a:buClr>
              <a:buSzPct val="62068"/>
              <a:buFont typeface="Times New Roman"/>
              <a:buChar char="■"/>
              <a:tabLst>
                <a:tab pos="262255" algn="l"/>
              </a:tabLst>
            </a:pPr>
            <a:r>
              <a:rPr sz="1450" spc="-20" dirty="0">
                <a:latin typeface="Tahoma"/>
                <a:cs typeface="Tahoma"/>
              </a:rPr>
              <a:t>Fun:</a:t>
            </a:r>
            <a:endParaRPr sz="1450" dirty="0">
              <a:latin typeface="Tahoma"/>
              <a:cs typeface="Tahoma"/>
            </a:endParaRPr>
          </a:p>
          <a:p>
            <a:pPr marL="501650" lvl="1" indent="-239395">
              <a:lnSpc>
                <a:spcPct val="100000"/>
              </a:lnSpc>
              <a:spcBef>
                <a:spcPts val="320"/>
              </a:spcBef>
              <a:buClr>
                <a:srgbClr val="3A802E"/>
              </a:buClr>
              <a:buSzPct val="60000"/>
              <a:buFont typeface="Segoe UI Symbol"/>
              <a:buChar char="❑"/>
              <a:tabLst>
                <a:tab pos="501650" algn="l"/>
              </a:tabLst>
            </a:pPr>
            <a:r>
              <a:rPr sz="1250" dirty="0">
                <a:latin typeface="Tahoma"/>
                <a:cs typeface="Tahoma"/>
              </a:rPr>
              <a:t>The</a:t>
            </a:r>
            <a:r>
              <a:rPr sz="1250" spc="105" dirty="0">
                <a:latin typeface="Tahoma"/>
                <a:cs typeface="Tahoma"/>
              </a:rPr>
              <a:t> </a:t>
            </a:r>
            <a:r>
              <a:rPr sz="1250" dirty="0">
                <a:latin typeface="Tahoma"/>
                <a:cs typeface="Tahoma"/>
              </a:rPr>
              <a:t>amateur</a:t>
            </a:r>
            <a:r>
              <a:rPr sz="1250" spc="85" dirty="0">
                <a:latin typeface="Tahoma"/>
                <a:cs typeface="Tahoma"/>
              </a:rPr>
              <a:t> </a:t>
            </a:r>
            <a:r>
              <a:rPr sz="1250" dirty="0">
                <a:latin typeface="Tahoma"/>
                <a:cs typeface="Tahoma"/>
              </a:rPr>
              <a:t>do</a:t>
            </a:r>
            <a:r>
              <a:rPr sz="1250" spc="125" dirty="0">
                <a:latin typeface="Tahoma"/>
                <a:cs typeface="Tahoma"/>
              </a:rPr>
              <a:t> </a:t>
            </a:r>
            <a:r>
              <a:rPr sz="1250" dirty="0">
                <a:latin typeface="Tahoma"/>
                <a:cs typeface="Tahoma"/>
              </a:rPr>
              <a:t>cyber</a:t>
            </a:r>
            <a:r>
              <a:rPr sz="1250" spc="140" dirty="0">
                <a:latin typeface="Tahoma"/>
                <a:cs typeface="Tahoma"/>
              </a:rPr>
              <a:t> </a:t>
            </a:r>
            <a:r>
              <a:rPr sz="1250" dirty="0">
                <a:solidFill>
                  <a:srgbClr val="FF0000"/>
                </a:solidFill>
                <a:latin typeface="Tahoma"/>
                <a:cs typeface="Tahoma"/>
              </a:rPr>
              <a:t>crime</a:t>
            </a:r>
            <a:r>
              <a:rPr sz="1250" spc="80" dirty="0">
                <a:solidFill>
                  <a:srgbClr val="FF0000"/>
                </a:solidFill>
                <a:latin typeface="Tahoma"/>
                <a:cs typeface="Tahoma"/>
              </a:rPr>
              <a:t> </a:t>
            </a:r>
            <a:r>
              <a:rPr sz="1250" dirty="0">
                <a:solidFill>
                  <a:srgbClr val="FF0000"/>
                </a:solidFill>
                <a:latin typeface="Tahoma"/>
                <a:cs typeface="Tahoma"/>
              </a:rPr>
              <a:t>for</a:t>
            </a:r>
            <a:r>
              <a:rPr sz="1250" spc="114" dirty="0">
                <a:solidFill>
                  <a:srgbClr val="FF0000"/>
                </a:solidFill>
                <a:latin typeface="Tahoma"/>
                <a:cs typeface="Tahoma"/>
              </a:rPr>
              <a:t> </a:t>
            </a:r>
            <a:r>
              <a:rPr sz="1250" spc="-20" dirty="0">
                <a:solidFill>
                  <a:srgbClr val="FF0000"/>
                </a:solidFill>
                <a:latin typeface="Tahoma"/>
                <a:cs typeface="Tahoma"/>
              </a:rPr>
              <a:t>fun</a:t>
            </a:r>
            <a:r>
              <a:rPr sz="1250" spc="-20" dirty="0">
                <a:latin typeface="Tahoma"/>
                <a:cs typeface="Tahoma"/>
              </a:rPr>
              <a:t>.</a:t>
            </a:r>
            <a:endParaRPr sz="1250" dirty="0">
              <a:latin typeface="Tahoma"/>
              <a:cs typeface="Tahoma"/>
            </a:endParaRPr>
          </a:p>
          <a:p>
            <a:pPr marL="262255" indent="-249554">
              <a:lnSpc>
                <a:spcPct val="100000"/>
              </a:lnSpc>
              <a:spcBef>
                <a:spcPts val="409"/>
              </a:spcBef>
              <a:buClr>
                <a:srgbClr val="CC9900"/>
              </a:buClr>
              <a:buSzPct val="62068"/>
              <a:buFont typeface="Times New Roman"/>
              <a:buChar char="■"/>
              <a:tabLst>
                <a:tab pos="262255" algn="l"/>
              </a:tabLst>
            </a:pPr>
            <a:r>
              <a:rPr sz="1450" spc="-10" dirty="0">
                <a:latin typeface="Tahoma"/>
                <a:cs typeface="Tahoma"/>
              </a:rPr>
              <a:t>Recognition:</a:t>
            </a:r>
            <a:endParaRPr sz="1450" dirty="0">
              <a:latin typeface="Tahoma"/>
              <a:cs typeface="Tahoma"/>
            </a:endParaRPr>
          </a:p>
          <a:p>
            <a:pPr marL="501650" lvl="1" indent="-239395">
              <a:lnSpc>
                <a:spcPct val="100000"/>
              </a:lnSpc>
              <a:spcBef>
                <a:spcPts val="335"/>
              </a:spcBef>
              <a:buClr>
                <a:srgbClr val="3A802E"/>
              </a:buClr>
              <a:buSzPct val="60000"/>
              <a:buFont typeface="Segoe UI Symbol"/>
              <a:buChar char="❑"/>
              <a:tabLst>
                <a:tab pos="501650" algn="l"/>
              </a:tabLst>
            </a:pPr>
            <a:r>
              <a:rPr sz="1250" dirty="0">
                <a:latin typeface="Tahoma"/>
                <a:cs typeface="Tahoma"/>
              </a:rPr>
              <a:t>It</a:t>
            </a:r>
            <a:r>
              <a:rPr sz="1250" spc="100" dirty="0">
                <a:latin typeface="Tahoma"/>
                <a:cs typeface="Tahoma"/>
              </a:rPr>
              <a:t> </a:t>
            </a:r>
            <a:r>
              <a:rPr sz="1250" dirty="0">
                <a:latin typeface="Tahoma"/>
                <a:cs typeface="Tahoma"/>
              </a:rPr>
              <a:t>is</a:t>
            </a:r>
            <a:r>
              <a:rPr sz="1250" spc="110" dirty="0">
                <a:latin typeface="Tahoma"/>
                <a:cs typeface="Tahoma"/>
              </a:rPr>
              <a:t> </a:t>
            </a:r>
            <a:r>
              <a:rPr sz="1250" dirty="0">
                <a:latin typeface="Tahoma"/>
                <a:cs typeface="Tahoma"/>
              </a:rPr>
              <a:t>considered</a:t>
            </a:r>
            <a:r>
              <a:rPr sz="1250" spc="105" dirty="0">
                <a:latin typeface="Tahoma"/>
                <a:cs typeface="Tahoma"/>
              </a:rPr>
              <a:t> </a:t>
            </a:r>
            <a:r>
              <a:rPr sz="1250" dirty="0">
                <a:solidFill>
                  <a:srgbClr val="FF0000"/>
                </a:solidFill>
                <a:latin typeface="Tahoma"/>
                <a:cs typeface="Tahoma"/>
              </a:rPr>
              <a:t>to</a:t>
            </a:r>
            <a:r>
              <a:rPr sz="1250" spc="110" dirty="0">
                <a:solidFill>
                  <a:srgbClr val="FF0000"/>
                </a:solidFill>
                <a:latin typeface="Tahoma"/>
                <a:cs typeface="Tahoma"/>
              </a:rPr>
              <a:t> </a:t>
            </a:r>
            <a:r>
              <a:rPr sz="1250" dirty="0">
                <a:solidFill>
                  <a:srgbClr val="FF0000"/>
                </a:solidFill>
                <a:latin typeface="Tahoma"/>
                <a:cs typeface="Tahoma"/>
              </a:rPr>
              <a:t>be</a:t>
            </a:r>
            <a:r>
              <a:rPr sz="1250" spc="105" dirty="0">
                <a:solidFill>
                  <a:srgbClr val="FF0000"/>
                </a:solidFill>
                <a:latin typeface="Tahoma"/>
                <a:cs typeface="Tahoma"/>
              </a:rPr>
              <a:t> </a:t>
            </a:r>
            <a:r>
              <a:rPr sz="1250" dirty="0">
                <a:solidFill>
                  <a:srgbClr val="FF0000"/>
                </a:solidFill>
                <a:latin typeface="Tahoma"/>
                <a:cs typeface="Tahoma"/>
              </a:rPr>
              <a:t>pride</a:t>
            </a:r>
            <a:r>
              <a:rPr sz="1250" spc="135" dirty="0">
                <a:solidFill>
                  <a:srgbClr val="FF0000"/>
                </a:solidFill>
                <a:latin typeface="Tahoma"/>
                <a:cs typeface="Tahoma"/>
              </a:rPr>
              <a:t> </a:t>
            </a:r>
            <a:r>
              <a:rPr sz="1250" dirty="0">
                <a:latin typeface="Tahoma"/>
                <a:cs typeface="Tahoma"/>
              </a:rPr>
              <a:t>if</a:t>
            </a:r>
            <a:r>
              <a:rPr sz="1250" spc="95" dirty="0">
                <a:latin typeface="Tahoma"/>
                <a:cs typeface="Tahoma"/>
              </a:rPr>
              <a:t> </a:t>
            </a:r>
            <a:r>
              <a:rPr sz="1250" dirty="0">
                <a:latin typeface="Tahoma"/>
                <a:cs typeface="Tahoma"/>
              </a:rPr>
              <a:t>someone</a:t>
            </a:r>
            <a:r>
              <a:rPr sz="1250" spc="160" dirty="0">
                <a:latin typeface="Tahoma"/>
                <a:cs typeface="Tahoma"/>
              </a:rPr>
              <a:t> </a:t>
            </a:r>
            <a:r>
              <a:rPr sz="1250" dirty="0">
                <a:latin typeface="Tahoma"/>
                <a:cs typeface="Tahoma"/>
              </a:rPr>
              <a:t>hack</a:t>
            </a:r>
            <a:r>
              <a:rPr sz="1250" spc="95" dirty="0">
                <a:latin typeface="Tahoma"/>
                <a:cs typeface="Tahoma"/>
              </a:rPr>
              <a:t> </a:t>
            </a:r>
            <a:r>
              <a:rPr sz="1250" dirty="0">
                <a:latin typeface="Tahoma"/>
                <a:cs typeface="Tahoma"/>
              </a:rPr>
              <a:t>the</a:t>
            </a:r>
            <a:r>
              <a:rPr sz="1250" spc="90" dirty="0">
                <a:latin typeface="Tahoma"/>
                <a:cs typeface="Tahoma"/>
              </a:rPr>
              <a:t> </a:t>
            </a:r>
            <a:r>
              <a:rPr sz="1250" dirty="0">
                <a:latin typeface="Tahoma"/>
                <a:cs typeface="Tahoma"/>
              </a:rPr>
              <a:t>highly</a:t>
            </a:r>
            <a:r>
              <a:rPr sz="1250" spc="80" dirty="0">
                <a:latin typeface="Tahoma"/>
                <a:cs typeface="Tahoma"/>
              </a:rPr>
              <a:t> </a:t>
            </a:r>
            <a:r>
              <a:rPr sz="1250" dirty="0">
                <a:latin typeface="Tahoma"/>
                <a:cs typeface="Tahoma"/>
              </a:rPr>
              <a:t>secured</a:t>
            </a:r>
            <a:r>
              <a:rPr sz="1250" spc="130" dirty="0">
                <a:latin typeface="Tahoma"/>
                <a:cs typeface="Tahoma"/>
              </a:rPr>
              <a:t> </a:t>
            </a:r>
            <a:r>
              <a:rPr sz="1250" spc="-10" dirty="0">
                <a:latin typeface="Tahoma"/>
                <a:cs typeface="Tahoma"/>
              </a:rPr>
              <a:t>networks</a:t>
            </a:r>
            <a:endParaRPr sz="1250" dirty="0">
              <a:latin typeface="Tahoma"/>
              <a:cs typeface="Tahoma"/>
            </a:endParaRPr>
          </a:p>
          <a:p>
            <a:pPr marL="262255" indent="-249554">
              <a:lnSpc>
                <a:spcPct val="100000"/>
              </a:lnSpc>
              <a:spcBef>
                <a:spcPts val="415"/>
              </a:spcBef>
              <a:buClr>
                <a:srgbClr val="CC9900"/>
              </a:buClr>
              <a:buSzPct val="62068"/>
              <a:buFont typeface="Times New Roman"/>
              <a:buChar char="■"/>
              <a:tabLst>
                <a:tab pos="262255" algn="l"/>
              </a:tabLst>
            </a:pPr>
            <a:r>
              <a:rPr sz="1450" spc="-10" dirty="0">
                <a:latin typeface="Tahoma"/>
                <a:cs typeface="Tahoma"/>
              </a:rPr>
              <a:t>Anonymity:</a:t>
            </a:r>
            <a:endParaRPr sz="1450" dirty="0">
              <a:latin typeface="Tahoma"/>
              <a:cs typeface="Tahoma"/>
            </a:endParaRPr>
          </a:p>
          <a:p>
            <a:pPr marL="501650" lvl="1" indent="-239395">
              <a:lnSpc>
                <a:spcPct val="100000"/>
              </a:lnSpc>
              <a:spcBef>
                <a:spcPts val="330"/>
              </a:spcBef>
              <a:buClr>
                <a:srgbClr val="3A802E"/>
              </a:buClr>
              <a:buSzPct val="60000"/>
              <a:buFont typeface="Segoe UI Symbol"/>
              <a:buChar char="❑"/>
              <a:tabLst>
                <a:tab pos="501650" algn="l"/>
              </a:tabLst>
            </a:pPr>
            <a:r>
              <a:rPr sz="1250" dirty="0">
                <a:solidFill>
                  <a:srgbClr val="FF0000"/>
                </a:solidFill>
                <a:latin typeface="Tahoma"/>
                <a:cs typeface="Tahoma"/>
              </a:rPr>
              <a:t>Anonymity</a:t>
            </a:r>
            <a:r>
              <a:rPr sz="1250" spc="105" dirty="0">
                <a:solidFill>
                  <a:srgbClr val="FF0000"/>
                </a:solidFill>
                <a:latin typeface="Tahoma"/>
                <a:cs typeface="Tahoma"/>
              </a:rPr>
              <a:t> </a:t>
            </a:r>
            <a:r>
              <a:rPr sz="1250" dirty="0">
                <a:latin typeface="Tahoma"/>
                <a:cs typeface="Tahoma"/>
              </a:rPr>
              <a:t>that</a:t>
            </a:r>
            <a:r>
              <a:rPr sz="1250" spc="110" dirty="0">
                <a:latin typeface="Tahoma"/>
                <a:cs typeface="Tahoma"/>
              </a:rPr>
              <a:t> </a:t>
            </a:r>
            <a:r>
              <a:rPr sz="1250" dirty="0">
                <a:latin typeface="Tahoma"/>
                <a:cs typeface="Tahoma"/>
              </a:rPr>
              <a:t>a</a:t>
            </a:r>
            <a:r>
              <a:rPr sz="1250" spc="135" dirty="0">
                <a:latin typeface="Tahoma"/>
                <a:cs typeface="Tahoma"/>
              </a:rPr>
              <a:t> </a:t>
            </a:r>
            <a:r>
              <a:rPr sz="1250" dirty="0">
                <a:latin typeface="Tahoma"/>
                <a:cs typeface="Tahoma"/>
              </a:rPr>
              <a:t>cyber</a:t>
            </a:r>
            <a:r>
              <a:rPr sz="1250" spc="145" dirty="0">
                <a:latin typeface="Tahoma"/>
                <a:cs typeface="Tahoma"/>
              </a:rPr>
              <a:t> </a:t>
            </a:r>
            <a:r>
              <a:rPr sz="1250" dirty="0">
                <a:latin typeface="Tahoma"/>
                <a:cs typeface="Tahoma"/>
              </a:rPr>
              <a:t>space</a:t>
            </a:r>
            <a:r>
              <a:rPr sz="1250" spc="135" dirty="0">
                <a:latin typeface="Tahoma"/>
                <a:cs typeface="Tahoma"/>
              </a:rPr>
              <a:t> </a:t>
            </a:r>
            <a:r>
              <a:rPr sz="1250" dirty="0">
                <a:latin typeface="Tahoma"/>
                <a:cs typeface="Tahoma"/>
              </a:rPr>
              <a:t>provide</a:t>
            </a:r>
            <a:r>
              <a:rPr sz="1250" spc="155" dirty="0">
                <a:latin typeface="Tahoma"/>
                <a:cs typeface="Tahoma"/>
              </a:rPr>
              <a:t> </a:t>
            </a:r>
            <a:r>
              <a:rPr sz="1250" dirty="0">
                <a:solidFill>
                  <a:srgbClr val="FF0000"/>
                </a:solidFill>
                <a:latin typeface="Tahoma"/>
                <a:cs typeface="Tahoma"/>
              </a:rPr>
              <a:t>motivates</a:t>
            </a:r>
            <a:r>
              <a:rPr sz="1250" spc="114" dirty="0">
                <a:solidFill>
                  <a:srgbClr val="FF0000"/>
                </a:solidFill>
                <a:latin typeface="Tahoma"/>
                <a:cs typeface="Tahoma"/>
              </a:rPr>
              <a:t> </a:t>
            </a:r>
            <a:r>
              <a:rPr sz="1250" dirty="0">
                <a:latin typeface="Tahoma"/>
                <a:cs typeface="Tahoma"/>
              </a:rPr>
              <a:t>the</a:t>
            </a:r>
            <a:r>
              <a:rPr sz="1250" spc="114" dirty="0">
                <a:latin typeface="Tahoma"/>
                <a:cs typeface="Tahoma"/>
              </a:rPr>
              <a:t> </a:t>
            </a:r>
            <a:r>
              <a:rPr sz="1250" dirty="0">
                <a:latin typeface="Tahoma"/>
                <a:cs typeface="Tahoma"/>
              </a:rPr>
              <a:t>person</a:t>
            </a:r>
            <a:r>
              <a:rPr sz="1250" spc="155" dirty="0">
                <a:latin typeface="Tahoma"/>
                <a:cs typeface="Tahoma"/>
              </a:rPr>
              <a:t> </a:t>
            </a:r>
            <a:r>
              <a:rPr sz="1250" dirty="0">
                <a:latin typeface="Tahoma"/>
                <a:cs typeface="Tahoma"/>
              </a:rPr>
              <a:t>to</a:t>
            </a:r>
            <a:r>
              <a:rPr sz="1250" spc="95" dirty="0">
                <a:latin typeface="Tahoma"/>
                <a:cs typeface="Tahoma"/>
              </a:rPr>
              <a:t> </a:t>
            </a:r>
            <a:r>
              <a:rPr sz="1250" dirty="0">
                <a:solidFill>
                  <a:srgbClr val="FF0000"/>
                </a:solidFill>
                <a:latin typeface="Tahoma"/>
                <a:cs typeface="Tahoma"/>
              </a:rPr>
              <a:t>commit</a:t>
            </a:r>
            <a:r>
              <a:rPr sz="1250" spc="145" dirty="0">
                <a:solidFill>
                  <a:srgbClr val="FF0000"/>
                </a:solidFill>
                <a:latin typeface="Tahoma"/>
                <a:cs typeface="Tahoma"/>
              </a:rPr>
              <a:t> </a:t>
            </a:r>
            <a:r>
              <a:rPr sz="1250" dirty="0">
                <a:latin typeface="Tahoma"/>
                <a:cs typeface="Tahoma"/>
              </a:rPr>
              <a:t>cyber</a:t>
            </a:r>
            <a:r>
              <a:rPr sz="1250" spc="155" dirty="0">
                <a:latin typeface="Tahoma"/>
                <a:cs typeface="Tahoma"/>
              </a:rPr>
              <a:t> </a:t>
            </a:r>
            <a:r>
              <a:rPr sz="1250" spc="-10" dirty="0">
                <a:latin typeface="Tahoma"/>
                <a:cs typeface="Tahoma"/>
              </a:rPr>
              <a:t>crime</a:t>
            </a:r>
            <a:endParaRPr sz="1250" dirty="0">
              <a:latin typeface="Tahoma"/>
              <a:cs typeface="Tahoma"/>
            </a:endParaRPr>
          </a:p>
          <a:p>
            <a:pPr marL="262255" indent="-249554">
              <a:lnSpc>
                <a:spcPct val="100000"/>
              </a:lnSpc>
              <a:spcBef>
                <a:spcPts val="414"/>
              </a:spcBef>
              <a:buClr>
                <a:srgbClr val="CC9900"/>
              </a:buClr>
              <a:buSzPct val="62068"/>
              <a:buFont typeface="Times New Roman"/>
              <a:buChar char="■"/>
              <a:tabLst>
                <a:tab pos="262255" algn="l"/>
              </a:tabLst>
            </a:pPr>
            <a:r>
              <a:rPr sz="1450" spc="-10" dirty="0">
                <a:latin typeface="Tahoma"/>
                <a:cs typeface="Tahoma"/>
              </a:rPr>
              <a:t>Cyber</a:t>
            </a:r>
            <a:r>
              <a:rPr sz="1450" spc="-70" dirty="0">
                <a:latin typeface="Tahoma"/>
                <a:cs typeface="Tahoma"/>
              </a:rPr>
              <a:t> </a:t>
            </a:r>
            <a:r>
              <a:rPr sz="1450" spc="-10" dirty="0">
                <a:latin typeface="Tahoma"/>
                <a:cs typeface="Tahoma"/>
              </a:rPr>
              <a:t>Espionage:</a:t>
            </a:r>
            <a:endParaRPr sz="1450" dirty="0">
              <a:latin typeface="Tahoma"/>
              <a:cs typeface="Tahoma"/>
            </a:endParaRPr>
          </a:p>
          <a:p>
            <a:pPr marL="501650" marR="367030" lvl="1" indent="-239395">
              <a:lnSpc>
                <a:spcPct val="105600"/>
              </a:lnSpc>
              <a:spcBef>
                <a:spcPts val="160"/>
              </a:spcBef>
              <a:buClr>
                <a:srgbClr val="3A802E"/>
              </a:buClr>
              <a:buSzPct val="60000"/>
              <a:buFont typeface="Segoe UI Symbol"/>
              <a:buChar char="❑"/>
              <a:tabLst>
                <a:tab pos="501650" algn="l"/>
              </a:tabLst>
            </a:pPr>
            <a:r>
              <a:rPr sz="1250" dirty="0">
                <a:latin typeface="Tahoma"/>
                <a:cs typeface="Tahoma"/>
              </a:rPr>
              <a:t>At</a:t>
            </a:r>
            <a:r>
              <a:rPr sz="1250" spc="95" dirty="0">
                <a:latin typeface="Tahoma"/>
                <a:cs typeface="Tahoma"/>
              </a:rPr>
              <a:t> </a:t>
            </a:r>
            <a:r>
              <a:rPr sz="1250" dirty="0">
                <a:latin typeface="Tahoma"/>
                <a:cs typeface="Tahoma"/>
              </a:rPr>
              <a:t>times</a:t>
            </a:r>
            <a:r>
              <a:rPr sz="1250" spc="100" dirty="0">
                <a:latin typeface="Tahoma"/>
                <a:cs typeface="Tahoma"/>
              </a:rPr>
              <a:t> </a:t>
            </a:r>
            <a:r>
              <a:rPr sz="1250" dirty="0">
                <a:latin typeface="Tahoma"/>
                <a:cs typeface="Tahoma"/>
              </a:rPr>
              <a:t>the</a:t>
            </a:r>
            <a:r>
              <a:rPr sz="1250" spc="70" dirty="0">
                <a:latin typeface="Tahoma"/>
                <a:cs typeface="Tahoma"/>
              </a:rPr>
              <a:t> </a:t>
            </a:r>
            <a:r>
              <a:rPr sz="1250" dirty="0">
                <a:solidFill>
                  <a:srgbClr val="FF0000"/>
                </a:solidFill>
                <a:latin typeface="Tahoma"/>
                <a:cs typeface="Tahoma"/>
              </a:rPr>
              <a:t>government</a:t>
            </a:r>
            <a:r>
              <a:rPr sz="1250" spc="120" dirty="0">
                <a:solidFill>
                  <a:srgbClr val="FF0000"/>
                </a:solidFill>
                <a:latin typeface="Tahoma"/>
                <a:cs typeface="Tahoma"/>
              </a:rPr>
              <a:t> </a:t>
            </a:r>
            <a:r>
              <a:rPr sz="1250" dirty="0">
                <a:solidFill>
                  <a:srgbClr val="FF0000"/>
                </a:solidFill>
                <a:latin typeface="Tahoma"/>
                <a:cs typeface="Tahoma"/>
              </a:rPr>
              <a:t>itself</a:t>
            </a:r>
            <a:r>
              <a:rPr sz="1250" spc="145" dirty="0">
                <a:solidFill>
                  <a:srgbClr val="FF0000"/>
                </a:solidFill>
                <a:latin typeface="Tahoma"/>
                <a:cs typeface="Tahoma"/>
              </a:rPr>
              <a:t> </a:t>
            </a:r>
            <a:r>
              <a:rPr sz="1250" dirty="0">
                <a:solidFill>
                  <a:srgbClr val="FF0000"/>
                </a:solidFill>
                <a:latin typeface="Tahoma"/>
                <a:cs typeface="Tahoma"/>
              </a:rPr>
              <a:t>is</a:t>
            </a:r>
            <a:r>
              <a:rPr sz="1250" spc="105" dirty="0">
                <a:solidFill>
                  <a:srgbClr val="FF0000"/>
                </a:solidFill>
                <a:latin typeface="Tahoma"/>
                <a:cs typeface="Tahoma"/>
              </a:rPr>
              <a:t> </a:t>
            </a:r>
            <a:r>
              <a:rPr sz="1250" dirty="0">
                <a:solidFill>
                  <a:srgbClr val="FF0000"/>
                </a:solidFill>
                <a:latin typeface="Tahoma"/>
                <a:cs typeface="Tahoma"/>
              </a:rPr>
              <a:t>involved</a:t>
            </a:r>
            <a:r>
              <a:rPr sz="1250" spc="125" dirty="0">
                <a:solidFill>
                  <a:srgbClr val="FF0000"/>
                </a:solidFill>
                <a:latin typeface="Tahoma"/>
                <a:cs typeface="Tahoma"/>
              </a:rPr>
              <a:t> </a:t>
            </a:r>
            <a:r>
              <a:rPr sz="1250" dirty="0">
                <a:latin typeface="Tahoma"/>
                <a:cs typeface="Tahoma"/>
              </a:rPr>
              <a:t>in</a:t>
            </a:r>
            <a:r>
              <a:rPr sz="1250" spc="95" dirty="0">
                <a:latin typeface="Tahoma"/>
                <a:cs typeface="Tahoma"/>
              </a:rPr>
              <a:t> </a:t>
            </a:r>
            <a:r>
              <a:rPr sz="1250" dirty="0">
                <a:latin typeface="Tahoma"/>
                <a:cs typeface="Tahoma"/>
              </a:rPr>
              <a:t>cyber</a:t>
            </a:r>
            <a:r>
              <a:rPr sz="1250" spc="130" dirty="0">
                <a:latin typeface="Tahoma"/>
                <a:cs typeface="Tahoma"/>
              </a:rPr>
              <a:t> </a:t>
            </a:r>
            <a:r>
              <a:rPr sz="1250" dirty="0">
                <a:latin typeface="Tahoma"/>
                <a:cs typeface="Tahoma"/>
              </a:rPr>
              <a:t>trespassing</a:t>
            </a:r>
            <a:r>
              <a:rPr sz="1250" spc="65" dirty="0">
                <a:latin typeface="Tahoma"/>
                <a:cs typeface="Tahoma"/>
              </a:rPr>
              <a:t> </a:t>
            </a:r>
            <a:r>
              <a:rPr sz="1250" dirty="0">
                <a:latin typeface="Tahoma"/>
                <a:cs typeface="Tahoma"/>
              </a:rPr>
              <a:t>to</a:t>
            </a:r>
            <a:r>
              <a:rPr sz="1250" spc="105" dirty="0">
                <a:latin typeface="Tahoma"/>
                <a:cs typeface="Tahoma"/>
              </a:rPr>
              <a:t> </a:t>
            </a:r>
            <a:r>
              <a:rPr sz="1250" dirty="0">
                <a:latin typeface="Tahoma"/>
                <a:cs typeface="Tahoma"/>
              </a:rPr>
              <a:t>keep</a:t>
            </a:r>
            <a:r>
              <a:rPr sz="1250" spc="130" dirty="0">
                <a:latin typeface="Tahoma"/>
                <a:cs typeface="Tahoma"/>
              </a:rPr>
              <a:t> </a:t>
            </a:r>
            <a:r>
              <a:rPr sz="1250" dirty="0">
                <a:latin typeface="Tahoma"/>
                <a:cs typeface="Tahoma"/>
              </a:rPr>
              <a:t>eye</a:t>
            </a:r>
            <a:r>
              <a:rPr sz="1250" spc="110" dirty="0">
                <a:latin typeface="Tahoma"/>
                <a:cs typeface="Tahoma"/>
              </a:rPr>
              <a:t> </a:t>
            </a:r>
            <a:r>
              <a:rPr sz="1250" dirty="0">
                <a:latin typeface="Tahoma"/>
                <a:cs typeface="Tahoma"/>
              </a:rPr>
              <a:t>on</a:t>
            </a:r>
            <a:r>
              <a:rPr sz="1250" spc="100" dirty="0">
                <a:latin typeface="Tahoma"/>
                <a:cs typeface="Tahoma"/>
              </a:rPr>
              <a:t> </a:t>
            </a:r>
            <a:r>
              <a:rPr sz="1250" spc="-10" dirty="0">
                <a:latin typeface="Tahoma"/>
                <a:cs typeface="Tahoma"/>
              </a:rPr>
              <a:t>other person/network/country</a:t>
            </a:r>
            <a:endParaRPr sz="1250" dirty="0">
              <a:latin typeface="Tahoma"/>
              <a:cs typeface="Tahom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4800" y="5644894"/>
            <a:ext cx="11480800" cy="13970"/>
          </a:xfrm>
          <a:custGeom>
            <a:avLst/>
            <a:gdLst/>
            <a:ahLst/>
            <a:cxnLst/>
            <a:rect l="l" t="t" r="r" b="b"/>
            <a:pathLst>
              <a:path w="11480800" h="13970">
                <a:moveTo>
                  <a:pt x="11480292" y="0"/>
                </a:moveTo>
                <a:lnTo>
                  <a:pt x="0" y="0"/>
                </a:lnTo>
                <a:lnTo>
                  <a:pt x="0" y="13717"/>
                </a:lnTo>
                <a:lnTo>
                  <a:pt x="11480292" y="13717"/>
                </a:lnTo>
                <a:lnTo>
                  <a:pt x="11480292" y="0"/>
                </a:lnTo>
                <a:close/>
              </a:path>
            </a:pathLst>
          </a:custGeom>
          <a:solidFill>
            <a:srgbClr val="CC9900"/>
          </a:solidFill>
        </p:spPr>
        <p:txBody>
          <a:bodyPr wrap="square" lIns="0" tIns="0" rIns="0" bIns="0" rtlCol="0"/>
          <a:lstStyle/>
          <a:p>
            <a:endParaRPr/>
          </a:p>
        </p:txBody>
      </p:sp>
      <p:sp>
        <p:nvSpPr>
          <p:cNvPr id="3" name="object 3"/>
          <p:cNvSpPr/>
          <p:nvPr/>
        </p:nvSpPr>
        <p:spPr>
          <a:xfrm>
            <a:off x="304800" y="1581911"/>
            <a:ext cx="11480800" cy="12700"/>
          </a:xfrm>
          <a:custGeom>
            <a:avLst/>
            <a:gdLst/>
            <a:ahLst/>
            <a:cxnLst/>
            <a:rect l="l" t="t" r="r" b="b"/>
            <a:pathLst>
              <a:path w="11480800" h="12700">
                <a:moveTo>
                  <a:pt x="11480292" y="0"/>
                </a:moveTo>
                <a:lnTo>
                  <a:pt x="0" y="0"/>
                </a:lnTo>
                <a:lnTo>
                  <a:pt x="0" y="12191"/>
                </a:lnTo>
                <a:lnTo>
                  <a:pt x="11480292" y="12191"/>
                </a:lnTo>
                <a:lnTo>
                  <a:pt x="11480292" y="0"/>
                </a:lnTo>
                <a:close/>
              </a:path>
            </a:pathLst>
          </a:custGeom>
          <a:solidFill>
            <a:srgbClr val="CC9900"/>
          </a:solid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739724" rIns="0" bIns="0" rtlCol="0">
            <a:spAutoFit/>
          </a:bodyPr>
          <a:lstStyle/>
          <a:p>
            <a:pPr marL="12700">
              <a:lnSpc>
                <a:spcPct val="100000"/>
              </a:lnSpc>
              <a:spcBef>
                <a:spcPts val="114"/>
              </a:spcBef>
            </a:pPr>
            <a:r>
              <a:rPr spc="-10" dirty="0"/>
              <a:t>Kinds</a:t>
            </a:r>
            <a:r>
              <a:rPr spc="-120" dirty="0"/>
              <a:t> </a:t>
            </a:r>
            <a:r>
              <a:rPr dirty="0"/>
              <a:t>of</a:t>
            </a:r>
            <a:r>
              <a:rPr spc="-35" dirty="0"/>
              <a:t> </a:t>
            </a:r>
            <a:r>
              <a:rPr spc="-70" dirty="0"/>
              <a:t>Cyber</a:t>
            </a:r>
            <a:r>
              <a:rPr spc="-160" dirty="0"/>
              <a:t> </a:t>
            </a:r>
            <a:r>
              <a:rPr spc="-30" dirty="0"/>
              <a:t>Crimes</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355"/>
              </a:lnSpc>
            </a:pPr>
            <a:r>
              <a:rPr spc="-25" dirty="0"/>
              <a:t>62</a:t>
            </a:r>
          </a:p>
        </p:txBody>
      </p:sp>
      <p:sp>
        <p:nvSpPr>
          <p:cNvPr id="5" name="object 5"/>
          <p:cNvSpPr txBox="1"/>
          <p:nvPr/>
        </p:nvSpPr>
        <p:spPr>
          <a:xfrm>
            <a:off x="1936242" y="2487548"/>
            <a:ext cx="96520" cy="166370"/>
          </a:xfrm>
          <a:prstGeom prst="rect">
            <a:avLst/>
          </a:prstGeom>
        </p:spPr>
        <p:txBody>
          <a:bodyPr vert="horz" wrap="square" lIns="0" tIns="15875" rIns="0" bIns="0" rtlCol="0">
            <a:spAutoFit/>
          </a:bodyPr>
          <a:lstStyle/>
          <a:p>
            <a:pPr marL="12700">
              <a:lnSpc>
                <a:spcPct val="100000"/>
              </a:lnSpc>
              <a:spcBef>
                <a:spcPts val="125"/>
              </a:spcBef>
            </a:pPr>
            <a:r>
              <a:rPr sz="900" spc="-50" dirty="0">
                <a:solidFill>
                  <a:srgbClr val="CC9900"/>
                </a:solidFill>
                <a:latin typeface="Times New Roman"/>
                <a:cs typeface="Times New Roman"/>
              </a:rPr>
              <a:t>■</a:t>
            </a:r>
            <a:endParaRPr sz="900">
              <a:latin typeface="Times New Roman"/>
              <a:cs typeface="Times New Roman"/>
            </a:endParaRPr>
          </a:p>
        </p:txBody>
      </p:sp>
      <p:sp>
        <p:nvSpPr>
          <p:cNvPr id="6" name="object 6"/>
          <p:cNvSpPr txBox="1"/>
          <p:nvPr/>
        </p:nvSpPr>
        <p:spPr>
          <a:xfrm>
            <a:off x="1934717" y="1636834"/>
            <a:ext cx="7884795" cy="3966845"/>
          </a:xfrm>
          <a:prstGeom prst="rect">
            <a:avLst/>
          </a:prstGeom>
        </p:spPr>
        <p:txBody>
          <a:bodyPr vert="horz" wrap="square" lIns="0" tIns="55244" rIns="0" bIns="0" rtlCol="0">
            <a:spAutoFit/>
          </a:bodyPr>
          <a:lstStyle/>
          <a:p>
            <a:pPr marL="262255" indent="-249554">
              <a:lnSpc>
                <a:spcPct val="100000"/>
              </a:lnSpc>
              <a:spcBef>
                <a:spcPts val="434"/>
              </a:spcBef>
              <a:buClr>
                <a:srgbClr val="CC9900"/>
              </a:buClr>
              <a:buSzPct val="62068"/>
              <a:buFont typeface="Times New Roman"/>
              <a:buChar char="■"/>
              <a:tabLst>
                <a:tab pos="262255" algn="l"/>
              </a:tabLst>
            </a:pPr>
            <a:r>
              <a:rPr sz="1450" dirty="0">
                <a:latin typeface="Tahoma"/>
                <a:cs typeface="Tahoma"/>
              </a:rPr>
              <a:t>Cyber</a:t>
            </a:r>
            <a:r>
              <a:rPr sz="1450" spc="-105" dirty="0">
                <a:latin typeface="Tahoma"/>
                <a:cs typeface="Tahoma"/>
              </a:rPr>
              <a:t> </a:t>
            </a:r>
            <a:r>
              <a:rPr sz="1450" spc="-10" dirty="0">
                <a:latin typeface="Tahoma"/>
                <a:cs typeface="Tahoma"/>
              </a:rPr>
              <a:t>Stalking</a:t>
            </a:r>
            <a:endParaRPr sz="1450" dirty="0">
              <a:latin typeface="Tahoma"/>
              <a:cs typeface="Tahoma"/>
            </a:endParaRPr>
          </a:p>
          <a:p>
            <a:pPr marL="501650" lvl="1" indent="-239395">
              <a:lnSpc>
                <a:spcPct val="100000"/>
              </a:lnSpc>
              <a:spcBef>
                <a:spcPts val="335"/>
              </a:spcBef>
              <a:buClr>
                <a:srgbClr val="3A802E"/>
              </a:buClr>
              <a:buSzPct val="60000"/>
              <a:buFont typeface="Segoe UI Symbol"/>
              <a:buChar char="❑"/>
              <a:tabLst>
                <a:tab pos="501650" algn="l"/>
              </a:tabLst>
            </a:pPr>
            <a:r>
              <a:rPr sz="1250" dirty="0">
                <a:latin typeface="Tahoma"/>
                <a:cs typeface="Tahoma"/>
              </a:rPr>
              <a:t>Stalking,</a:t>
            </a:r>
            <a:r>
              <a:rPr sz="1250" spc="110" dirty="0">
                <a:latin typeface="Tahoma"/>
                <a:cs typeface="Tahoma"/>
              </a:rPr>
              <a:t> </a:t>
            </a:r>
            <a:r>
              <a:rPr sz="1250" dirty="0">
                <a:solidFill>
                  <a:srgbClr val="FF0000"/>
                </a:solidFill>
                <a:latin typeface="Tahoma"/>
                <a:cs typeface="Tahoma"/>
              </a:rPr>
              <a:t>harassing</a:t>
            </a:r>
            <a:r>
              <a:rPr sz="1250" dirty="0">
                <a:latin typeface="Tahoma"/>
                <a:cs typeface="Tahoma"/>
              </a:rPr>
              <a:t>,</a:t>
            </a:r>
            <a:r>
              <a:rPr sz="1250" spc="125" dirty="0">
                <a:latin typeface="Tahoma"/>
                <a:cs typeface="Tahoma"/>
              </a:rPr>
              <a:t> </a:t>
            </a:r>
            <a:r>
              <a:rPr sz="1250" dirty="0">
                <a:solidFill>
                  <a:srgbClr val="FF0000"/>
                </a:solidFill>
                <a:latin typeface="Tahoma"/>
                <a:cs typeface="Tahoma"/>
              </a:rPr>
              <a:t>threatening</a:t>
            </a:r>
            <a:r>
              <a:rPr sz="1250" spc="140" dirty="0">
                <a:solidFill>
                  <a:srgbClr val="FF0000"/>
                </a:solidFill>
                <a:latin typeface="Tahoma"/>
                <a:cs typeface="Tahoma"/>
              </a:rPr>
              <a:t> </a:t>
            </a:r>
            <a:r>
              <a:rPr sz="1250" dirty="0">
                <a:latin typeface="Tahoma"/>
                <a:cs typeface="Tahoma"/>
              </a:rPr>
              <a:t>someone,</a:t>
            </a:r>
            <a:r>
              <a:rPr sz="1250" spc="210" dirty="0">
                <a:latin typeface="Tahoma"/>
                <a:cs typeface="Tahoma"/>
              </a:rPr>
              <a:t> </a:t>
            </a:r>
            <a:r>
              <a:rPr sz="1250" dirty="0">
                <a:latin typeface="Tahoma"/>
                <a:cs typeface="Tahoma"/>
              </a:rPr>
              <a:t>or</a:t>
            </a:r>
            <a:r>
              <a:rPr sz="1250" spc="165" dirty="0">
                <a:latin typeface="Tahoma"/>
                <a:cs typeface="Tahoma"/>
              </a:rPr>
              <a:t> </a:t>
            </a:r>
            <a:r>
              <a:rPr sz="1250" dirty="0">
                <a:solidFill>
                  <a:srgbClr val="FF0000"/>
                </a:solidFill>
                <a:latin typeface="Tahoma"/>
                <a:cs typeface="Tahoma"/>
              </a:rPr>
              <a:t>defame</a:t>
            </a:r>
            <a:r>
              <a:rPr sz="1250" spc="210" dirty="0">
                <a:solidFill>
                  <a:srgbClr val="FF0000"/>
                </a:solidFill>
                <a:latin typeface="Tahoma"/>
                <a:cs typeface="Tahoma"/>
              </a:rPr>
              <a:t> </a:t>
            </a:r>
            <a:r>
              <a:rPr sz="1250" dirty="0">
                <a:latin typeface="Tahoma"/>
                <a:cs typeface="Tahoma"/>
              </a:rPr>
              <a:t>a</a:t>
            </a:r>
            <a:r>
              <a:rPr sz="1250" spc="165" dirty="0">
                <a:latin typeface="Tahoma"/>
                <a:cs typeface="Tahoma"/>
              </a:rPr>
              <a:t> </a:t>
            </a:r>
            <a:r>
              <a:rPr sz="1250" spc="-10" dirty="0">
                <a:latin typeface="Tahoma"/>
                <a:cs typeface="Tahoma"/>
              </a:rPr>
              <a:t>person</a:t>
            </a:r>
            <a:endParaRPr sz="1250" dirty="0">
              <a:latin typeface="Tahoma"/>
              <a:cs typeface="Tahoma"/>
            </a:endParaRPr>
          </a:p>
          <a:p>
            <a:pPr marL="501650" lvl="1" indent="-239395">
              <a:lnSpc>
                <a:spcPct val="100000"/>
              </a:lnSpc>
              <a:spcBef>
                <a:spcPts val="335"/>
              </a:spcBef>
              <a:buClr>
                <a:srgbClr val="3A802E"/>
              </a:buClr>
              <a:buSzPct val="60000"/>
              <a:buFont typeface="Segoe UI Symbol"/>
              <a:buChar char="❑"/>
              <a:tabLst>
                <a:tab pos="501650" algn="l"/>
              </a:tabLst>
            </a:pPr>
            <a:r>
              <a:rPr sz="1250" dirty="0">
                <a:latin typeface="Tahoma"/>
                <a:cs typeface="Tahoma"/>
              </a:rPr>
              <a:t>The</a:t>
            </a:r>
            <a:r>
              <a:rPr sz="1250" spc="180" dirty="0">
                <a:latin typeface="Tahoma"/>
                <a:cs typeface="Tahoma"/>
              </a:rPr>
              <a:t> </a:t>
            </a:r>
            <a:r>
              <a:rPr sz="1250" dirty="0">
                <a:latin typeface="Tahoma"/>
                <a:cs typeface="Tahoma"/>
              </a:rPr>
              <a:t>behavior</a:t>
            </a:r>
            <a:r>
              <a:rPr sz="1250" spc="185" dirty="0">
                <a:latin typeface="Tahoma"/>
                <a:cs typeface="Tahoma"/>
              </a:rPr>
              <a:t> </a:t>
            </a:r>
            <a:r>
              <a:rPr sz="1250" dirty="0">
                <a:latin typeface="Tahoma"/>
                <a:cs typeface="Tahoma"/>
              </a:rPr>
              <a:t>includes</a:t>
            </a:r>
            <a:r>
              <a:rPr sz="1250" spc="140" dirty="0">
                <a:latin typeface="Tahoma"/>
                <a:cs typeface="Tahoma"/>
              </a:rPr>
              <a:t> </a:t>
            </a:r>
            <a:r>
              <a:rPr sz="1250" dirty="0">
                <a:solidFill>
                  <a:srgbClr val="FF0000"/>
                </a:solidFill>
                <a:latin typeface="Tahoma"/>
                <a:cs typeface="Tahoma"/>
              </a:rPr>
              <a:t>false</a:t>
            </a:r>
            <a:r>
              <a:rPr sz="1250" spc="185" dirty="0">
                <a:solidFill>
                  <a:srgbClr val="FF0000"/>
                </a:solidFill>
                <a:latin typeface="Tahoma"/>
                <a:cs typeface="Tahoma"/>
              </a:rPr>
              <a:t> </a:t>
            </a:r>
            <a:r>
              <a:rPr sz="1250" dirty="0">
                <a:solidFill>
                  <a:srgbClr val="FF0000"/>
                </a:solidFill>
                <a:latin typeface="Tahoma"/>
                <a:cs typeface="Tahoma"/>
              </a:rPr>
              <a:t>accusations,</a:t>
            </a:r>
            <a:r>
              <a:rPr sz="1250" spc="110" dirty="0">
                <a:solidFill>
                  <a:srgbClr val="FF0000"/>
                </a:solidFill>
                <a:latin typeface="Tahoma"/>
                <a:cs typeface="Tahoma"/>
              </a:rPr>
              <a:t> </a:t>
            </a:r>
            <a:r>
              <a:rPr sz="1250" dirty="0">
                <a:solidFill>
                  <a:srgbClr val="FF0000"/>
                </a:solidFill>
                <a:latin typeface="Tahoma"/>
                <a:cs typeface="Tahoma"/>
              </a:rPr>
              <a:t>threats,</a:t>
            </a:r>
            <a:r>
              <a:rPr sz="1250" spc="165" dirty="0">
                <a:solidFill>
                  <a:srgbClr val="FF0000"/>
                </a:solidFill>
                <a:latin typeface="Tahoma"/>
                <a:cs typeface="Tahoma"/>
              </a:rPr>
              <a:t> </a:t>
            </a:r>
            <a:r>
              <a:rPr sz="1250" dirty="0">
                <a:solidFill>
                  <a:srgbClr val="FF0000"/>
                </a:solidFill>
                <a:latin typeface="Tahoma"/>
                <a:cs typeface="Tahoma"/>
              </a:rPr>
              <a:t>sexual</a:t>
            </a:r>
            <a:r>
              <a:rPr sz="1250" spc="185" dirty="0">
                <a:solidFill>
                  <a:srgbClr val="FF0000"/>
                </a:solidFill>
                <a:latin typeface="Tahoma"/>
                <a:cs typeface="Tahoma"/>
              </a:rPr>
              <a:t> </a:t>
            </a:r>
            <a:r>
              <a:rPr sz="1250" dirty="0">
                <a:solidFill>
                  <a:srgbClr val="FF0000"/>
                </a:solidFill>
                <a:latin typeface="Tahoma"/>
                <a:cs typeface="Tahoma"/>
              </a:rPr>
              <a:t>exploitation</a:t>
            </a:r>
            <a:r>
              <a:rPr sz="1250" spc="175" dirty="0">
                <a:solidFill>
                  <a:srgbClr val="FF0000"/>
                </a:solidFill>
                <a:latin typeface="Tahoma"/>
                <a:cs typeface="Tahoma"/>
              </a:rPr>
              <a:t> </a:t>
            </a:r>
            <a:r>
              <a:rPr sz="1250" dirty="0">
                <a:latin typeface="Tahoma"/>
                <a:cs typeface="Tahoma"/>
              </a:rPr>
              <a:t>to</a:t>
            </a:r>
            <a:r>
              <a:rPr sz="1250" spc="170" dirty="0">
                <a:latin typeface="Tahoma"/>
                <a:cs typeface="Tahoma"/>
              </a:rPr>
              <a:t> </a:t>
            </a:r>
            <a:r>
              <a:rPr sz="1250" dirty="0">
                <a:latin typeface="Tahoma"/>
                <a:cs typeface="Tahoma"/>
              </a:rPr>
              <a:t>minors,</a:t>
            </a:r>
            <a:r>
              <a:rPr sz="1250" spc="160" dirty="0">
                <a:latin typeface="Tahoma"/>
                <a:cs typeface="Tahoma"/>
              </a:rPr>
              <a:t> </a:t>
            </a:r>
            <a:r>
              <a:rPr sz="1250" dirty="0">
                <a:latin typeface="Tahoma"/>
                <a:cs typeface="Tahoma"/>
              </a:rPr>
              <a:t>monitoring,</a:t>
            </a:r>
            <a:r>
              <a:rPr sz="1250" spc="155" dirty="0">
                <a:latin typeface="Tahoma"/>
                <a:cs typeface="Tahoma"/>
              </a:rPr>
              <a:t> </a:t>
            </a:r>
            <a:r>
              <a:rPr sz="1250" spc="-20" dirty="0">
                <a:latin typeface="Tahoma"/>
                <a:cs typeface="Tahoma"/>
              </a:rPr>
              <a:t>etc.</a:t>
            </a:r>
            <a:endParaRPr sz="1250" dirty="0">
              <a:latin typeface="Tahoma"/>
              <a:cs typeface="Tahoma"/>
            </a:endParaRPr>
          </a:p>
          <a:p>
            <a:pPr marL="262255">
              <a:lnSpc>
                <a:spcPct val="100000"/>
              </a:lnSpc>
              <a:spcBef>
                <a:spcPts val="400"/>
              </a:spcBef>
            </a:pPr>
            <a:r>
              <a:rPr sz="1450" dirty="0">
                <a:latin typeface="Tahoma"/>
                <a:cs typeface="Tahoma"/>
              </a:rPr>
              <a:t>Child</a:t>
            </a:r>
            <a:r>
              <a:rPr sz="1450" spc="-90" dirty="0">
                <a:latin typeface="Tahoma"/>
                <a:cs typeface="Tahoma"/>
              </a:rPr>
              <a:t> </a:t>
            </a:r>
            <a:r>
              <a:rPr sz="1450" spc="-10" dirty="0">
                <a:latin typeface="Tahoma"/>
                <a:cs typeface="Tahoma"/>
              </a:rPr>
              <a:t>Pornography</a:t>
            </a:r>
            <a:endParaRPr sz="1450" dirty="0">
              <a:latin typeface="Tahoma"/>
              <a:cs typeface="Tahoma"/>
            </a:endParaRPr>
          </a:p>
          <a:p>
            <a:pPr marL="501650" lvl="1" indent="-239395">
              <a:lnSpc>
                <a:spcPct val="100000"/>
              </a:lnSpc>
              <a:spcBef>
                <a:spcPts val="335"/>
              </a:spcBef>
              <a:buClr>
                <a:srgbClr val="3A802E"/>
              </a:buClr>
              <a:buSzPct val="60000"/>
              <a:buFont typeface="Segoe UI Symbol"/>
              <a:buChar char="❑"/>
              <a:tabLst>
                <a:tab pos="501650" algn="l"/>
              </a:tabLst>
            </a:pPr>
            <a:r>
              <a:rPr sz="1250" dirty="0">
                <a:latin typeface="Tahoma"/>
                <a:cs typeface="Tahoma"/>
              </a:rPr>
              <a:t>Possessing</a:t>
            </a:r>
            <a:r>
              <a:rPr sz="1250" spc="100" dirty="0">
                <a:latin typeface="Tahoma"/>
                <a:cs typeface="Tahoma"/>
              </a:rPr>
              <a:t> </a:t>
            </a:r>
            <a:r>
              <a:rPr sz="1250" dirty="0">
                <a:solidFill>
                  <a:srgbClr val="FF0000"/>
                </a:solidFill>
                <a:latin typeface="Tahoma"/>
                <a:cs typeface="Tahoma"/>
              </a:rPr>
              <a:t>image</a:t>
            </a:r>
            <a:r>
              <a:rPr sz="1250" spc="90" dirty="0">
                <a:solidFill>
                  <a:srgbClr val="FF0000"/>
                </a:solidFill>
                <a:latin typeface="Tahoma"/>
                <a:cs typeface="Tahoma"/>
              </a:rPr>
              <a:t> </a:t>
            </a:r>
            <a:r>
              <a:rPr sz="1250" dirty="0">
                <a:solidFill>
                  <a:srgbClr val="FF0000"/>
                </a:solidFill>
                <a:latin typeface="Tahoma"/>
                <a:cs typeface="Tahoma"/>
              </a:rPr>
              <a:t>or</a:t>
            </a:r>
            <a:r>
              <a:rPr sz="1250" spc="135" dirty="0">
                <a:solidFill>
                  <a:srgbClr val="FF0000"/>
                </a:solidFill>
                <a:latin typeface="Tahoma"/>
                <a:cs typeface="Tahoma"/>
              </a:rPr>
              <a:t> </a:t>
            </a:r>
            <a:r>
              <a:rPr sz="1250" dirty="0">
                <a:solidFill>
                  <a:srgbClr val="FF0000"/>
                </a:solidFill>
                <a:latin typeface="Tahoma"/>
                <a:cs typeface="Tahoma"/>
              </a:rPr>
              <a:t>video</a:t>
            </a:r>
            <a:r>
              <a:rPr sz="1250" spc="130" dirty="0">
                <a:solidFill>
                  <a:srgbClr val="FF0000"/>
                </a:solidFill>
                <a:latin typeface="Tahoma"/>
                <a:cs typeface="Tahoma"/>
              </a:rPr>
              <a:t> </a:t>
            </a:r>
            <a:r>
              <a:rPr sz="1250" dirty="0">
                <a:solidFill>
                  <a:srgbClr val="FF0000"/>
                </a:solidFill>
                <a:latin typeface="Tahoma"/>
                <a:cs typeface="Tahoma"/>
              </a:rPr>
              <a:t>of</a:t>
            </a:r>
            <a:r>
              <a:rPr sz="1250" spc="135" dirty="0">
                <a:solidFill>
                  <a:srgbClr val="FF0000"/>
                </a:solidFill>
                <a:latin typeface="Tahoma"/>
                <a:cs typeface="Tahoma"/>
              </a:rPr>
              <a:t> </a:t>
            </a:r>
            <a:r>
              <a:rPr sz="1250" dirty="0">
                <a:solidFill>
                  <a:srgbClr val="FF0000"/>
                </a:solidFill>
                <a:latin typeface="Tahoma"/>
                <a:cs typeface="Tahoma"/>
              </a:rPr>
              <a:t>a</a:t>
            </a:r>
            <a:r>
              <a:rPr sz="1250" spc="125" dirty="0">
                <a:solidFill>
                  <a:srgbClr val="FF0000"/>
                </a:solidFill>
                <a:latin typeface="Tahoma"/>
                <a:cs typeface="Tahoma"/>
              </a:rPr>
              <a:t> </a:t>
            </a:r>
            <a:r>
              <a:rPr sz="1250" dirty="0">
                <a:solidFill>
                  <a:srgbClr val="FF0000"/>
                </a:solidFill>
                <a:latin typeface="Tahoma"/>
                <a:cs typeface="Tahoma"/>
              </a:rPr>
              <a:t>minor</a:t>
            </a:r>
            <a:r>
              <a:rPr sz="1250" spc="130" dirty="0">
                <a:solidFill>
                  <a:srgbClr val="FF0000"/>
                </a:solidFill>
                <a:latin typeface="Tahoma"/>
                <a:cs typeface="Tahoma"/>
              </a:rPr>
              <a:t> </a:t>
            </a:r>
            <a:r>
              <a:rPr sz="1250" dirty="0">
                <a:latin typeface="Tahoma"/>
                <a:cs typeface="Tahoma"/>
              </a:rPr>
              <a:t>(under</a:t>
            </a:r>
            <a:r>
              <a:rPr sz="1250" spc="114" dirty="0">
                <a:latin typeface="Tahoma"/>
                <a:cs typeface="Tahoma"/>
              </a:rPr>
              <a:t> </a:t>
            </a:r>
            <a:r>
              <a:rPr sz="1250" dirty="0">
                <a:latin typeface="Tahoma"/>
                <a:cs typeface="Tahoma"/>
              </a:rPr>
              <a:t>18),</a:t>
            </a:r>
            <a:r>
              <a:rPr sz="1250" spc="140" dirty="0">
                <a:latin typeface="Tahoma"/>
                <a:cs typeface="Tahoma"/>
              </a:rPr>
              <a:t> </a:t>
            </a:r>
            <a:r>
              <a:rPr sz="1250" dirty="0">
                <a:latin typeface="Tahoma"/>
                <a:cs typeface="Tahoma"/>
              </a:rPr>
              <a:t>engaged</a:t>
            </a:r>
            <a:r>
              <a:rPr sz="1250" spc="150" dirty="0">
                <a:latin typeface="Tahoma"/>
                <a:cs typeface="Tahoma"/>
              </a:rPr>
              <a:t> </a:t>
            </a:r>
            <a:r>
              <a:rPr sz="1250" dirty="0">
                <a:latin typeface="Tahoma"/>
                <a:cs typeface="Tahoma"/>
              </a:rPr>
              <a:t>in</a:t>
            </a:r>
            <a:r>
              <a:rPr sz="1250" spc="90" dirty="0">
                <a:latin typeface="Tahoma"/>
                <a:cs typeface="Tahoma"/>
              </a:rPr>
              <a:t> </a:t>
            </a:r>
            <a:r>
              <a:rPr sz="1250" dirty="0">
                <a:latin typeface="Tahoma"/>
                <a:cs typeface="Tahoma"/>
              </a:rPr>
              <a:t>sexual</a:t>
            </a:r>
            <a:r>
              <a:rPr sz="1250" spc="114" dirty="0">
                <a:latin typeface="Tahoma"/>
                <a:cs typeface="Tahoma"/>
              </a:rPr>
              <a:t> </a:t>
            </a:r>
            <a:r>
              <a:rPr sz="1250" spc="-10" dirty="0">
                <a:latin typeface="Tahoma"/>
                <a:cs typeface="Tahoma"/>
              </a:rPr>
              <a:t>conduct.</a:t>
            </a:r>
            <a:endParaRPr sz="1250" dirty="0">
              <a:latin typeface="Tahoma"/>
              <a:cs typeface="Tahoma"/>
            </a:endParaRPr>
          </a:p>
          <a:p>
            <a:pPr marL="320040" indent="-307340">
              <a:lnSpc>
                <a:spcPct val="100000"/>
              </a:lnSpc>
              <a:spcBef>
                <a:spcPts val="409"/>
              </a:spcBef>
              <a:buClr>
                <a:srgbClr val="CC9900"/>
              </a:buClr>
              <a:buSzPct val="62068"/>
              <a:buFont typeface="Times New Roman"/>
              <a:buChar char="■"/>
              <a:tabLst>
                <a:tab pos="320040" algn="l"/>
              </a:tabLst>
            </a:pPr>
            <a:r>
              <a:rPr sz="1450" spc="-10" dirty="0">
                <a:latin typeface="Tahoma"/>
                <a:cs typeface="Tahoma"/>
              </a:rPr>
              <a:t>Forgery</a:t>
            </a:r>
            <a:r>
              <a:rPr sz="1450" spc="-70" dirty="0">
                <a:latin typeface="Tahoma"/>
                <a:cs typeface="Tahoma"/>
              </a:rPr>
              <a:t> </a:t>
            </a:r>
            <a:r>
              <a:rPr sz="1450" dirty="0">
                <a:latin typeface="Tahoma"/>
                <a:cs typeface="Tahoma"/>
              </a:rPr>
              <a:t>and</a:t>
            </a:r>
            <a:r>
              <a:rPr sz="1450" spc="-55" dirty="0">
                <a:latin typeface="Tahoma"/>
                <a:cs typeface="Tahoma"/>
              </a:rPr>
              <a:t> </a:t>
            </a:r>
            <a:r>
              <a:rPr sz="1450" spc="-10" dirty="0">
                <a:latin typeface="Tahoma"/>
                <a:cs typeface="Tahoma"/>
              </a:rPr>
              <a:t>Counterfeiting</a:t>
            </a:r>
            <a:endParaRPr sz="1450" dirty="0">
              <a:latin typeface="Tahoma"/>
              <a:cs typeface="Tahoma"/>
            </a:endParaRPr>
          </a:p>
          <a:p>
            <a:pPr marL="501650" lvl="1" indent="-239395">
              <a:lnSpc>
                <a:spcPct val="100000"/>
              </a:lnSpc>
              <a:spcBef>
                <a:spcPts val="334"/>
              </a:spcBef>
              <a:buClr>
                <a:srgbClr val="3A802E"/>
              </a:buClr>
              <a:buSzPct val="60000"/>
              <a:buFont typeface="Segoe UI Symbol"/>
              <a:buChar char="❑"/>
              <a:tabLst>
                <a:tab pos="501650" algn="l"/>
              </a:tabLst>
            </a:pPr>
            <a:r>
              <a:rPr sz="1250" dirty="0">
                <a:solidFill>
                  <a:srgbClr val="FF0000"/>
                </a:solidFill>
                <a:latin typeface="Tahoma"/>
                <a:cs typeface="Tahoma"/>
              </a:rPr>
              <a:t>Produce</a:t>
            </a:r>
            <a:r>
              <a:rPr sz="1250" spc="135" dirty="0">
                <a:solidFill>
                  <a:srgbClr val="FF0000"/>
                </a:solidFill>
                <a:latin typeface="Tahoma"/>
                <a:cs typeface="Tahoma"/>
              </a:rPr>
              <a:t> </a:t>
            </a:r>
            <a:r>
              <a:rPr sz="1250" dirty="0">
                <a:solidFill>
                  <a:srgbClr val="FF0000"/>
                </a:solidFill>
                <a:latin typeface="Tahoma"/>
                <a:cs typeface="Tahoma"/>
              </a:rPr>
              <a:t>counterfeit</a:t>
            </a:r>
            <a:r>
              <a:rPr sz="1250" spc="125" dirty="0">
                <a:solidFill>
                  <a:srgbClr val="FF0000"/>
                </a:solidFill>
                <a:latin typeface="Tahoma"/>
                <a:cs typeface="Tahoma"/>
              </a:rPr>
              <a:t> </a:t>
            </a:r>
            <a:r>
              <a:rPr sz="1250" dirty="0">
                <a:latin typeface="Tahoma"/>
                <a:cs typeface="Tahoma"/>
              </a:rPr>
              <a:t>which</a:t>
            </a:r>
            <a:r>
              <a:rPr sz="1250" spc="145" dirty="0">
                <a:latin typeface="Tahoma"/>
                <a:cs typeface="Tahoma"/>
              </a:rPr>
              <a:t> </a:t>
            </a:r>
            <a:r>
              <a:rPr sz="1250" dirty="0">
                <a:latin typeface="Tahoma"/>
                <a:cs typeface="Tahoma"/>
              </a:rPr>
              <a:t>matches</a:t>
            </a:r>
            <a:r>
              <a:rPr sz="1250" spc="165" dirty="0">
                <a:latin typeface="Tahoma"/>
                <a:cs typeface="Tahoma"/>
              </a:rPr>
              <a:t> </a:t>
            </a:r>
            <a:r>
              <a:rPr sz="1250" dirty="0">
                <a:latin typeface="Tahoma"/>
                <a:cs typeface="Tahoma"/>
              </a:rPr>
              <a:t>the</a:t>
            </a:r>
            <a:r>
              <a:rPr sz="1250" spc="165" dirty="0">
                <a:latin typeface="Tahoma"/>
                <a:cs typeface="Tahoma"/>
              </a:rPr>
              <a:t> </a:t>
            </a:r>
            <a:r>
              <a:rPr sz="1250" dirty="0">
                <a:latin typeface="Tahoma"/>
                <a:cs typeface="Tahoma"/>
              </a:rPr>
              <a:t>original</a:t>
            </a:r>
            <a:r>
              <a:rPr sz="1250" spc="140" dirty="0">
                <a:latin typeface="Tahoma"/>
                <a:cs typeface="Tahoma"/>
              </a:rPr>
              <a:t> </a:t>
            </a:r>
            <a:r>
              <a:rPr sz="1250" spc="-10" dirty="0">
                <a:solidFill>
                  <a:srgbClr val="FF0000"/>
                </a:solidFill>
                <a:latin typeface="Tahoma"/>
                <a:cs typeface="Tahoma"/>
              </a:rPr>
              <a:t>document</a:t>
            </a:r>
            <a:endParaRPr sz="1250" dirty="0">
              <a:latin typeface="Tahoma"/>
              <a:cs typeface="Tahoma"/>
            </a:endParaRPr>
          </a:p>
          <a:p>
            <a:pPr marL="501650" lvl="1" indent="-239395">
              <a:lnSpc>
                <a:spcPct val="100000"/>
              </a:lnSpc>
              <a:spcBef>
                <a:spcPts val="430"/>
              </a:spcBef>
              <a:buClr>
                <a:srgbClr val="3A802E"/>
              </a:buClr>
              <a:buSzPct val="60000"/>
              <a:buFont typeface="Segoe UI Symbol"/>
              <a:buChar char="❑"/>
              <a:tabLst>
                <a:tab pos="501650" algn="l"/>
              </a:tabLst>
            </a:pPr>
            <a:r>
              <a:rPr sz="1250" dirty="0">
                <a:solidFill>
                  <a:srgbClr val="FF0000"/>
                </a:solidFill>
                <a:latin typeface="Tahoma"/>
                <a:cs typeface="Tahoma"/>
              </a:rPr>
              <a:t>Not</a:t>
            </a:r>
            <a:r>
              <a:rPr sz="1250" spc="110" dirty="0">
                <a:solidFill>
                  <a:srgbClr val="FF0000"/>
                </a:solidFill>
                <a:latin typeface="Tahoma"/>
                <a:cs typeface="Tahoma"/>
              </a:rPr>
              <a:t> </a:t>
            </a:r>
            <a:r>
              <a:rPr sz="1250" dirty="0">
                <a:latin typeface="Tahoma"/>
                <a:cs typeface="Tahoma"/>
              </a:rPr>
              <a:t>possible</a:t>
            </a:r>
            <a:r>
              <a:rPr sz="1250" spc="125" dirty="0">
                <a:latin typeface="Tahoma"/>
                <a:cs typeface="Tahoma"/>
              </a:rPr>
              <a:t> </a:t>
            </a:r>
            <a:r>
              <a:rPr sz="1250" dirty="0">
                <a:latin typeface="Tahoma"/>
                <a:cs typeface="Tahoma"/>
              </a:rPr>
              <a:t>to</a:t>
            </a:r>
            <a:r>
              <a:rPr sz="1250" spc="110" dirty="0">
                <a:latin typeface="Tahoma"/>
                <a:cs typeface="Tahoma"/>
              </a:rPr>
              <a:t> </a:t>
            </a:r>
            <a:r>
              <a:rPr sz="1250" dirty="0">
                <a:latin typeface="Tahoma"/>
                <a:cs typeface="Tahoma"/>
              </a:rPr>
              <a:t>judge</a:t>
            </a:r>
            <a:r>
              <a:rPr sz="1250" spc="95" dirty="0">
                <a:latin typeface="Tahoma"/>
                <a:cs typeface="Tahoma"/>
              </a:rPr>
              <a:t> </a:t>
            </a:r>
            <a:r>
              <a:rPr sz="1250" dirty="0">
                <a:latin typeface="Tahoma"/>
                <a:cs typeface="Tahoma"/>
              </a:rPr>
              <a:t>the</a:t>
            </a:r>
            <a:r>
              <a:rPr sz="1250" spc="120" dirty="0">
                <a:latin typeface="Tahoma"/>
                <a:cs typeface="Tahoma"/>
              </a:rPr>
              <a:t> </a:t>
            </a:r>
            <a:r>
              <a:rPr sz="1250" dirty="0">
                <a:solidFill>
                  <a:srgbClr val="FF0000"/>
                </a:solidFill>
                <a:latin typeface="Tahoma"/>
                <a:cs typeface="Tahoma"/>
              </a:rPr>
              <a:t>authenticity</a:t>
            </a:r>
            <a:r>
              <a:rPr sz="1250" spc="114" dirty="0">
                <a:solidFill>
                  <a:srgbClr val="FF0000"/>
                </a:solidFill>
                <a:latin typeface="Tahoma"/>
                <a:cs typeface="Tahoma"/>
              </a:rPr>
              <a:t> </a:t>
            </a:r>
            <a:r>
              <a:rPr sz="1250" dirty="0">
                <a:latin typeface="Tahoma"/>
                <a:cs typeface="Tahoma"/>
              </a:rPr>
              <a:t>of</a:t>
            </a:r>
            <a:r>
              <a:rPr sz="1250" spc="120" dirty="0">
                <a:latin typeface="Tahoma"/>
                <a:cs typeface="Tahoma"/>
              </a:rPr>
              <a:t> </a:t>
            </a:r>
            <a:r>
              <a:rPr sz="1250" dirty="0">
                <a:latin typeface="Tahoma"/>
                <a:cs typeface="Tahoma"/>
              </a:rPr>
              <a:t>the</a:t>
            </a:r>
            <a:r>
              <a:rPr sz="1250" spc="114" dirty="0">
                <a:latin typeface="Tahoma"/>
                <a:cs typeface="Tahoma"/>
              </a:rPr>
              <a:t> </a:t>
            </a:r>
            <a:r>
              <a:rPr sz="1250" spc="-10" dirty="0">
                <a:latin typeface="Tahoma"/>
                <a:cs typeface="Tahoma"/>
              </a:rPr>
              <a:t>document</a:t>
            </a:r>
            <a:endParaRPr sz="1250" dirty="0">
              <a:latin typeface="Tahoma"/>
              <a:cs typeface="Tahoma"/>
            </a:endParaRPr>
          </a:p>
          <a:p>
            <a:pPr marL="320040" indent="-307340">
              <a:lnSpc>
                <a:spcPct val="100000"/>
              </a:lnSpc>
              <a:spcBef>
                <a:spcPts val="409"/>
              </a:spcBef>
              <a:buClr>
                <a:srgbClr val="CC9900"/>
              </a:buClr>
              <a:buSzPct val="62068"/>
              <a:buFont typeface="Times New Roman"/>
              <a:buChar char="■"/>
              <a:tabLst>
                <a:tab pos="320040" algn="l"/>
              </a:tabLst>
            </a:pPr>
            <a:r>
              <a:rPr sz="1450" dirty="0">
                <a:latin typeface="Tahoma"/>
                <a:cs typeface="Tahoma"/>
              </a:rPr>
              <a:t>Software</a:t>
            </a:r>
            <a:r>
              <a:rPr sz="1450" spc="-70" dirty="0">
                <a:latin typeface="Tahoma"/>
                <a:cs typeface="Tahoma"/>
              </a:rPr>
              <a:t> </a:t>
            </a:r>
            <a:r>
              <a:rPr sz="1450" dirty="0">
                <a:latin typeface="Tahoma"/>
                <a:cs typeface="Tahoma"/>
              </a:rPr>
              <a:t>Piracy</a:t>
            </a:r>
            <a:r>
              <a:rPr sz="1450" spc="-50" dirty="0">
                <a:latin typeface="Tahoma"/>
                <a:cs typeface="Tahoma"/>
              </a:rPr>
              <a:t> </a:t>
            </a:r>
            <a:r>
              <a:rPr sz="1450" dirty="0">
                <a:latin typeface="Tahoma"/>
                <a:cs typeface="Tahoma"/>
              </a:rPr>
              <a:t>and</a:t>
            </a:r>
            <a:r>
              <a:rPr sz="1450" spc="-45" dirty="0">
                <a:latin typeface="Tahoma"/>
                <a:cs typeface="Tahoma"/>
              </a:rPr>
              <a:t> </a:t>
            </a:r>
            <a:r>
              <a:rPr sz="1450" dirty="0">
                <a:latin typeface="Tahoma"/>
                <a:cs typeface="Tahoma"/>
              </a:rPr>
              <a:t>Crime</a:t>
            </a:r>
            <a:r>
              <a:rPr sz="1450" spc="-65" dirty="0">
                <a:latin typeface="Tahoma"/>
                <a:cs typeface="Tahoma"/>
              </a:rPr>
              <a:t> </a:t>
            </a:r>
            <a:r>
              <a:rPr sz="1450" dirty="0">
                <a:latin typeface="Tahoma"/>
                <a:cs typeface="Tahoma"/>
              </a:rPr>
              <a:t>related</a:t>
            </a:r>
            <a:r>
              <a:rPr sz="1450" spc="-65" dirty="0">
                <a:latin typeface="Tahoma"/>
                <a:cs typeface="Tahoma"/>
              </a:rPr>
              <a:t> </a:t>
            </a:r>
            <a:r>
              <a:rPr sz="1450" dirty="0">
                <a:latin typeface="Tahoma"/>
                <a:cs typeface="Tahoma"/>
              </a:rPr>
              <a:t>to</a:t>
            </a:r>
            <a:r>
              <a:rPr sz="1450" spc="-50" dirty="0">
                <a:latin typeface="Tahoma"/>
                <a:cs typeface="Tahoma"/>
              </a:rPr>
              <a:t> </a:t>
            </a:r>
            <a:r>
              <a:rPr sz="1450" spc="-10" dirty="0">
                <a:latin typeface="Tahoma"/>
                <a:cs typeface="Tahoma"/>
              </a:rPr>
              <a:t>IPRs</a:t>
            </a:r>
            <a:r>
              <a:rPr sz="1450" spc="-10" dirty="0" smtClean="0">
                <a:latin typeface="Tahoma"/>
                <a:cs typeface="Tahoma"/>
              </a:rPr>
              <a:t>:</a:t>
            </a:r>
            <a:r>
              <a:rPr lang="en-US" sz="1450" spc="-10" dirty="0" smtClean="0">
                <a:latin typeface="Tahoma"/>
                <a:cs typeface="Tahoma"/>
              </a:rPr>
              <a:t> (</a:t>
            </a:r>
            <a:r>
              <a:rPr lang="en-US" sz="1600" dirty="0" smtClean="0"/>
              <a:t>Intellectual Property Rights)</a:t>
            </a:r>
            <a:endParaRPr sz="1450" dirty="0">
              <a:latin typeface="Tahoma"/>
              <a:cs typeface="Tahoma"/>
            </a:endParaRPr>
          </a:p>
          <a:p>
            <a:pPr marL="501650" lvl="1" indent="-239395">
              <a:lnSpc>
                <a:spcPct val="100000"/>
              </a:lnSpc>
              <a:spcBef>
                <a:spcPts val="335"/>
              </a:spcBef>
              <a:buClr>
                <a:srgbClr val="3A802E"/>
              </a:buClr>
              <a:buSzPct val="60000"/>
              <a:buFont typeface="Segoe UI Symbol"/>
              <a:buChar char="❑"/>
              <a:tabLst>
                <a:tab pos="501650" algn="l"/>
              </a:tabLst>
            </a:pPr>
            <a:r>
              <a:rPr sz="1250" dirty="0">
                <a:solidFill>
                  <a:srgbClr val="FF0000"/>
                </a:solidFill>
                <a:latin typeface="Tahoma"/>
                <a:cs typeface="Tahoma"/>
              </a:rPr>
              <a:t>An</a:t>
            </a:r>
            <a:r>
              <a:rPr sz="1250" spc="105" dirty="0">
                <a:solidFill>
                  <a:srgbClr val="FF0000"/>
                </a:solidFill>
                <a:latin typeface="Tahoma"/>
                <a:cs typeface="Tahoma"/>
              </a:rPr>
              <a:t> </a:t>
            </a:r>
            <a:r>
              <a:rPr sz="1250" dirty="0">
                <a:solidFill>
                  <a:srgbClr val="FF0000"/>
                </a:solidFill>
                <a:latin typeface="Tahoma"/>
                <a:cs typeface="Tahoma"/>
              </a:rPr>
              <a:t>illegal</a:t>
            </a:r>
            <a:r>
              <a:rPr sz="1250" spc="180" dirty="0">
                <a:solidFill>
                  <a:srgbClr val="FF0000"/>
                </a:solidFill>
                <a:latin typeface="Tahoma"/>
                <a:cs typeface="Tahoma"/>
              </a:rPr>
              <a:t> </a:t>
            </a:r>
            <a:r>
              <a:rPr sz="1250" dirty="0">
                <a:solidFill>
                  <a:srgbClr val="FF0000"/>
                </a:solidFill>
                <a:latin typeface="Tahoma"/>
                <a:cs typeface="Tahoma"/>
              </a:rPr>
              <a:t>reproduction</a:t>
            </a:r>
            <a:r>
              <a:rPr sz="1250" spc="110" dirty="0">
                <a:solidFill>
                  <a:srgbClr val="FF0000"/>
                </a:solidFill>
                <a:latin typeface="Tahoma"/>
                <a:cs typeface="Tahoma"/>
              </a:rPr>
              <a:t> </a:t>
            </a:r>
            <a:r>
              <a:rPr sz="1250" dirty="0">
                <a:solidFill>
                  <a:srgbClr val="FF0000"/>
                </a:solidFill>
                <a:latin typeface="Tahoma"/>
                <a:cs typeface="Tahoma"/>
              </a:rPr>
              <a:t>and</a:t>
            </a:r>
            <a:r>
              <a:rPr sz="1250" spc="150" dirty="0">
                <a:solidFill>
                  <a:srgbClr val="FF0000"/>
                </a:solidFill>
                <a:latin typeface="Tahoma"/>
                <a:cs typeface="Tahoma"/>
              </a:rPr>
              <a:t> </a:t>
            </a:r>
            <a:r>
              <a:rPr sz="1250" spc="-10" dirty="0">
                <a:solidFill>
                  <a:srgbClr val="FF0000"/>
                </a:solidFill>
                <a:latin typeface="Tahoma"/>
                <a:cs typeface="Tahoma"/>
              </a:rPr>
              <a:t>distribution</a:t>
            </a:r>
            <a:endParaRPr sz="1250" dirty="0">
              <a:latin typeface="Tahoma"/>
              <a:cs typeface="Tahoma"/>
            </a:endParaRPr>
          </a:p>
          <a:p>
            <a:pPr marL="320040" indent="-307340">
              <a:lnSpc>
                <a:spcPct val="100000"/>
              </a:lnSpc>
              <a:spcBef>
                <a:spcPts val="415"/>
              </a:spcBef>
              <a:buClr>
                <a:srgbClr val="CC9900"/>
              </a:buClr>
              <a:buSzPct val="62068"/>
              <a:buFont typeface="Times New Roman"/>
              <a:buChar char="■"/>
              <a:tabLst>
                <a:tab pos="320040" algn="l"/>
              </a:tabLst>
            </a:pPr>
            <a:r>
              <a:rPr sz="1450" dirty="0">
                <a:latin typeface="Tahoma"/>
                <a:cs typeface="Tahoma"/>
              </a:rPr>
              <a:t>Cyber</a:t>
            </a:r>
            <a:r>
              <a:rPr sz="1450" spc="-105" dirty="0">
                <a:latin typeface="Tahoma"/>
                <a:cs typeface="Tahoma"/>
              </a:rPr>
              <a:t> </a:t>
            </a:r>
            <a:r>
              <a:rPr sz="1450" spc="-10" dirty="0">
                <a:latin typeface="Tahoma"/>
                <a:cs typeface="Tahoma"/>
              </a:rPr>
              <a:t>Terrorism</a:t>
            </a:r>
            <a:endParaRPr sz="1450" dirty="0">
              <a:latin typeface="Tahoma"/>
              <a:cs typeface="Tahoma"/>
            </a:endParaRPr>
          </a:p>
          <a:p>
            <a:pPr marL="501650" marR="5080" lvl="1" indent="-239395">
              <a:lnSpc>
                <a:spcPct val="104000"/>
              </a:lnSpc>
              <a:spcBef>
                <a:spcPts val="175"/>
              </a:spcBef>
              <a:buClr>
                <a:srgbClr val="3A802E"/>
              </a:buClr>
              <a:buSzPct val="60000"/>
              <a:buFont typeface="Segoe UI Symbol"/>
              <a:buChar char="❑"/>
              <a:tabLst>
                <a:tab pos="501650" algn="l"/>
              </a:tabLst>
            </a:pPr>
            <a:r>
              <a:rPr sz="1250" dirty="0">
                <a:latin typeface="Tahoma"/>
                <a:cs typeface="Tahoma"/>
              </a:rPr>
              <a:t>Use</a:t>
            </a:r>
            <a:r>
              <a:rPr sz="1250" spc="140" dirty="0">
                <a:latin typeface="Tahoma"/>
                <a:cs typeface="Tahoma"/>
              </a:rPr>
              <a:t> </a:t>
            </a:r>
            <a:r>
              <a:rPr sz="1250" dirty="0">
                <a:latin typeface="Tahoma"/>
                <a:cs typeface="Tahoma"/>
              </a:rPr>
              <a:t>of</a:t>
            </a:r>
            <a:r>
              <a:rPr sz="1250" spc="120" dirty="0">
                <a:latin typeface="Tahoma"/>
                <a:cs typeface="Tahoma"/>
              </a:rPr>
              <a:t> </a:t>
            </a:r>
            <a:r>
              <a:rPr sz="1250" dirty="0">
                <a:latin typeface="Tahoma"/>
                <a:cs typeface="Tahoma"/>
              </a:rPr>
              <a:t>computer</a:t>
            </a:r>
            <a:r>
              <a:rPr sz="1250" spc="150" dirty="0">
                <a:latin typeface="Tahoma"/>
                <a:cs typeface="Tahoma"/>
              </a:rPr>
              <a:t> </a:t>
            </a:r>
            <a:r>
              <a:rPr sz="1250" dirty="0">
                <a:latin typeface="Tahoma"/>
                <a:cs typeface="Tahoma"/>
              </a:rPr>
              <a:t>resources</a:t>
            </a:r>
            <a:r>
              <a:rPr sz="1250" spc="75" dirty="0">
                <a:latin typeface="Tahoma"/>
                <a:cs typeface="Tahoma"/>
              </a:rPr>
              <a:t> </a:t>
            </a:r>
            <a:r>
              <a:rPr sz="1250" dirty="0">
                <a:latin typeface="Tahoma"/>
                <a:cs typeface="Tahoma"/>
              </a:rPr>
              <a:t>to</a:t>
            </a:r>
            <a:r>
              <a:rPr sz="1250" spc="135" dirty="0">
                <a:latin typeface="Tahoma"/>
                <a:cs typeface="Tahoma"/>
              </a:rPr>
              <a:t> </a:t>
            </a:r>
            <a:r>
              <a:rPr sz="1250" dirty="0">
                <a:solidFill>
                  <a:srgbClr val="FF0000"/>
                </a:solidFill>
                <a:latin typeface="Tahoma"/>
                <a:cs typeface="Tahoma"/>
              </a:rPr>
              <a:t>intimidate</a:t>
            </a:r>
            <a:r>
              <a:rPr sz="1250" spc="140" dirty="0">
                <a:solidFill>
                  <a:srgbClr val="FF0000"/>
                </a:solidFill>
                <a:latin typeface="Tahoma"/>
                <a:cs typeface="Tahoma"/>
              </a:rPr>
              <a:t> </a:t>
            </a:r>
            <a:r>
              <a:rPr sz="1250" dirty="0">
                <a:solidFill>
                  <a:srgbClr val="FF0000"/>
                </a:solidFill>
                <a:latin typeface="Tahoma"/>
                <a:cs typeface="Tahoma"/>
              </a:rPr>
              <a:t>or</a:t>
            </a:r>
            <a:r>
              <a:rPr sz="1250" spc="140" dirty="0">
                <a:solidFill>
                  <a:srgbClr val="FF0000"/>
                </a:solidFill>
                <a:latin typeface="Tahoma"/>
                <a:cs typeface="Tahoma"/>
              </a:rPr>
              <a:t> </a:t>
            </a:r>
            <a:r>
              <a:rPr sz="1250" dirty="0">
                <a:solidFill>
                  <a:srgbClr val="FF0000"/>
                </a:solidFill>
                <a:latin typeface="Tahoma"/>
                <a:cs typeface="Tahoma"/>
              </a:rPr>
              <a:t>force</a:t>
            </a:r>
            <a:r>
              <a:rPr sz="1250" spc="125" dirty="0">
                <a:solidFill>
                  <a:srgbClr val="FF0000"/>
                </a:solidFill>
                <a:latin typeface="Tahoma"/>
                <a:cs typeface="Tahoma"/>
              </a:rPr>
              <a:t> </a:t>
            </a:r>
            <a:r>
              <a:rPr sz="1250" dirty="0">
                <a:solidFill>
                  <a:srgbClr val="FF0000"/>
                </a:solidFill>
                <a:latin typeface="Tahoma"/>
                <a:cs typeface="Tahoma"/>
              </a:rPr>
              <a:t>government,</a:t>
            </a:r>
            <a:r>
              <a:rPr sz="1250" spc="120" dirty="0">
                <a:solidFill>
                  <a:srgbClr val="FF0000"/>
                </a:solidFill>
                <a:latin typeface="Tahoma"/>
                <a:cs typeface="Tahoma"/>
              </a:rPr>
              <a:t> </a:t>
            </a:r>
            <a:r>
              <a:rPr sz="1250" dirty="0">
                <a:solidFill>
                  <a:srgbClr val="FF0000"/>
                </a:solidFill>
                <a:latin typeface="Tahoma"/>
                <a:cs typeface="Tahoma"/>
              </a:rPr>
              <a:t>the</a:t>
            </a:r>
            <a:r>
              <a:rPr sz="1250" spc="100" dirty="0">
                <a:solidFill>
                  <a:srgbClr val="FF0000"/>
                </a:solidFill>
                <a:latin typeface="Tahoma"/>
                <a:cs typeface="Tahoma"/>
              </a:rPr>
              <a:t> </a:t>
            </a:r>
            <a:r>
              <a:rPr sz="1250" dirty="0">
                <a:solidFill>
                  <a:srgbClr val="FF0000"/>
                </a:solidFill>
                <a:latin typeface="Tahoma"/>
                <a:cs typeface="Tahoma"/>
              </a:rPr>
              <a:t>civilian</a:t>
            </a:r>
            <a:r>
              <a:rPr sz="1250" spc="130" dirty="0">
                <a:solidFill>
                  <a:srgbClr val="FF0000"/>
                </a:solidFill>
                <a:latin typeface="Tahoma"/>
                <a:cs typeface="Tahoma"/>
              </a:rPr>
              <a:t> </a:t>
            </a:r>
            <a:r>
              <a:rPr sz="1250" dirty="0">
                <a:solidFill>
                  <a:srgbClr val="FF0000"/>
                </a:solidFill>
                <a:latin typeface="Tahoma"/>
                <a:cs typeface="Tahoma"/>
              </a:rPr>
              <a:t>population</a:t>
            </a:r>
            <a:r>
              <a:rPr sz="1250" spc="170" dirty="0">
                <a:solidFill>
                  <a:srgbClr val="FF0000"/>
                </a:solidFill>
                <a:latin typeface="Tahoma"/>
                <a:cs typeface="Tahoma"/>
              </a:rPr>
              <a:t> </a:t>
            </a:r>
            <a:r>
              <a:rPr sz="1250" dirty="0">
                <a:latin typeface="Tahoma"/>
                <a:cs typeface="Tahoma"/>
              </a:rPr>
              <a:t>or</a:t>
            </a:r>
            <a:r>
              <a:rPr sz="1250" spc="145" dirty="0">
                <a:latin typeface="Tahoma"/>
                <a:cs typeface="Tahoma"/>
              </a:rPr>
              <a:t> </a:t>
            </a:r>
            <a:r>
              <a:rPr sz="1250" dirty="0">
                <a:latin typeface="Tahoma"/>
                <a:cs typeface="Tahoma"/>
              </a:rPr>
              <a:t>any</a:t>
            </a:r>
            <a:r>
              <a:rPr sz="1250" spc="150" dirty="0">
                <a:latin typeface="Tahoma"/>
                <a:cs typeface="Tahoma"/>
              </a:rPr>
              <a:t> </a:t>
            </a:r>
            <a:r>
              <a:rPr sz="1250" spc="-10" dirty="0">
                <a:latin typeface="Tahoma"/>
                <a:cs typeface="Tahoma"/>
              </a:rPr>
              <a:t>segment </a:t>
            </a:r>
            <a:r>
              <a:rPr sz="1250" dirty="0">
                <a:latin typeface="Tahoma"/>
                <a:cs typeface="Tahoma"/>
              </a:rPr>
              <a:t>thereof</a:t>
            </a:r>
            <a:r>
              <a:rPr sz="1250" spc="105" dirty="0">
                <a:latin typeface="Tahoma"/>
                <a:cs typeface="Tahoma"/>
              </a:rPr>
              <a:t> </a:t>
            </a:r>
            <a:r>
              <a:rPr sz="1250" dirty="0">
                <a:latin typeface="Tahoma"/>
                <a:cs typeface="Tahoma"/>
              </a:rPr>
              <a:t>in</a:t>
            </a:r>
            <a:r>
              <a:rPr sz="1250" spc="100" dirty="0">
                <a:latin typeface="Tahoma"/>
                <a:cs typeface="Tahoma"/>
              </a:rPr>
              <a:t> </a:t>
            </a:r>
            <a:r>
              <a:rPr sz="1250" dirty="0">
                <a:latin typeface="Tahoma"/>
                <a:cs typeface="Tahoma"/>
              </a:rPr>
              <a:t>furtherance</a:t>
            </a:r>
            <a:r>
              <a:rPr sz="1250" spc="75" dirty="0">
                <a:latin typeface="Tahoma"/>
                <a:cs typeface="Tahoma"/>
              </a:rPr>
              <a:t> </a:t>
            </a:r>
            <a:r>
              <a:rPr sz="1250" dirty="0">
                <a:latin typeface="Tahoma"/>
                <a:cs typeface="Tahoma"/>
              </a:rPr>
              <a:t>of</a:t>
            </a:r>
            <a:r>
              <a:rPr sz="1250" spc="125" dirty="0">
                <a:latin typeface="Tahoma"/>
                <a:cs typeface="Tahoma"/>
              </a:rPr>
              <a:t> </a:t>
            </a:r>
            <a:r>
              <a:rPr sz="1250" dirty="0">
                <a:latin typeface="Tahoma"/>
                <a:cs typeface="Tahoma"/>
              </a:rPr>
              <a:t>political</a:t>
            </a:r>
            <a:r>
              <a:rPr sz="1250" spc="140" dirty="0">
                <a:latin typeface="Tahoma"/>
                <a:cs typeface="Tahoma"/>
              </a:rPr>
              <a:t> </a:t>
            </a:r>
            <a:r>
              <a:rPr sz="1250" dirty="0">
                <a:latin typeface="Tahoma"/>
                <a:cs typeface="Tahoma"/>
              </a:rPr>
              <a:t>or</a:t>
            </a:r>
            <a:r>
              <a:rPr sz="1250" spc="150" dirty="0">
                <a:latin typeface="Tahoma"/>
                <a:cs typeface="Tahoma"/>
              </a:rPr>
              <a:t> </a:t>
            </a:r>
            <a:r>
              <a:rPr sz="1250" dirty="0">
                <a:latin typeface="Tahoma"/>
                <a:cs typeface="Tahoma"/>
              </a:rPr>
              <a:t>social</a:t>
            </a:r>
            <a:r>
              <a:rPr sz="1250" spc="85" dirty="0">
                <a:latin typeface="Tahoma"/>
                <a:cs typeface="Tahoma"/>
              </a:rPr>
              <a:t> </a:t>
            </a:r>
            <a:r>
              <a:rPr sz="1250" spc="-10" dirty="0">
                <a:latin typeface="Tahoma"/>
                <a:cs typeface="Tahoma"/>
              </a:rPr>
              <a:t>objectives</a:t>
            </a:r>
            <a:endParaRPr sz="1250" dirty="0">
              <a:latin typeface="Tahoma"/>
              <a:cs typeface="Tahoma"/>
            </a:endParaRPr>
          </a:p>
          <a:p>
            <a:pPr marL="262255" indent="-249554">
              <a:lnSpc>
                <a:spcPct val="100000"/>
              </a:lnSpc>
              <a:spcBef>
                <a:spcPts val="545"/>
              </a:spcBef>
              <a:buClr>
                <a:srgbClr val="CC9900"/>
              </a:buClr>
              <a:buSzPct val="62068"/>
              <a:buFont typeface="Times New Roman"/>
              <a:buChar char="■"/>
              <a:tabLst>
                <a:tab pos="262255" algn="l"/>
              </a:tabLst>
            </a:pPr>
            <a:r>
              <a:rPr sz="1450" spc="-10" dirty="0">
                <a:latin typeface="Tahoma"/>
                <a:cs typeface="Tahoma"/>
              </a:rPr>
              <a:t>Phishing</a:t>
            </a:r>
            <a:endParaRPr sz="1450" dirty="0">
              <a:latin typeface="Tahoma"/>
              <a:cs typeface="Tahoma"/>
            </a:endParaRPr>
          </a:p>
          <a:p>
            <a:pPr marL="501650" lvl="1" indent="-239395">
              <a:lnSpc>
                <a:spcPct val="100000"/>
              </a:lnSpc>
              <a:spcBef>
                <a:spcPts val="330"/>
              </a:spcBef>
              <a:buClr>
                <a:srgbClr val="3A802E"/>
              </a:buClr>
              <a:buSzPct val="60000"/>
              <a:buFont typeface="Segoe UI Symbol"/>
              <a:buChar char="❑"/>
              <a:tabLst>
                <a:tab pos="501650" algn="l"/>
              </a:tabLst>
            </a:pPr>
            <a:r>
              <a:rPr sz="1250" dirty="0">
                <a:solidFill>
                  <a:srgbClr val="FF0000"/>
                </a:solidFill>
                <a:latin typeface="Tahoma"/>
                <a:cs typeface="Tahoma"/>
              </a:rPr>
              <a:t>Acquiring</a:t>
            </a:r>
            <a:r>
              <a:rPr sz="1250" spc="110" dirty="0">
                <a:solidFill>
                  <a:srgbClr val="FF0000"/>
                </a:solidFill>
                <a:latin typeface="Tahoma"/>
                <a:cs typeface="Tahoma"/>
              </a:rPr>
              <a:t> </a:t>
            </a:r>
            <a:r>
              <a:rPr sz="1250" dirty="0">
                <a:latin typeface="Tahoma"/>
                <a:cs typeface="Tahoma"/>
              </a:rPr>
              <a:t>personal</a:t>
            </a:r>
            <a:r>
              <a:rPr sz="1250" spc="150" dirty="0">
                <a:latin typeface="Tahoma"/>
                <a:cs typeface="Tahoma"/>
              </a:rPr>
              <a:t> </a:t>
            </a:r>
            <a:r>
              <a:rPr sz="1250" dirty="0">
                <a:latin typeface="Tahoma"/>
                <a:cs typeface="Tahoma"/>
              </a:rPr>
              <a:t>and</a:t>
            </a:r>
            <a:r>
              <a:rPr sz="1250" spc="165" dirty="0">
                <a:latin typeface="Tahoma"/>
                <a:cs typeface="Tahoma"/>
              </a:rPr>
              <a:t> </a:t>
            </a:r>
            <a:r>
              <a:rPr sz="1250" dirty="0">
                <a:latin typeface="Tahoma"/>
                <a:cs typeface="Tahoma"/>
              </a:rPr>
              <a:t>sensitive</a:t>
            </a:r>
            <a:r>
              <a:rPr sz="1250" spc="145" dirty="0">
                <a:latin typeface="Tahoma"/>
                <a:cs typeface="Tahoma"/>
              </a:rPr>
              <a:t> </a:t>
            </a:r>
            <a:r>
              <a:rPr sz="1250" dirty="0">
                <a:solidFill>
                  <a:srgbClr val="FF0000"/>
                </a:solidFill>
                <a:latin typeface="Tahoma"/>
                <a:cs typeface="Tahoma"/>
              </a:rPr>
              <a:t>information</a:t>
            </a:r>
            <a:r>
              <a:rPr sz="1250" spc="120" dirty="0">
                <a:solidFill>
                  <a:srgbClr val="FF0000"/>
                </a:solidFill>
                <a:latin typeface="Tahoma"/>
                <a:cs typeface="Tahoma"/>
              </a:rPr>
              <a:t> </a:t>
            </a:r>
            <a:r>
              <a:rPr sz="1250" dirty="0">
                <a:latin typeface="Tahoma"/>
                <a:cs typeface="Tahoma"/>
              </a:rPr>
              <a:t>of</a:t>
            </a:r>
            <a:r>
              <a:rPr sz="1250" spc="160" dirty="0">
                <a:latin typeface="Tahoma"/>
                <a:cs typeface="Tahoma"/>
              </a:rPr>
              <a:t> </a:t>
            </a:r>
            <a:r>
              <a:rPr sz="1250" dirty="0">
                <a:latin typeface="Tahoma"/>
                <a:cs typeface="Tahoma"/>
              </a:rPr>
              <a:t>an</a:t>
            </a:r>
            <a:r>
              <a:rPr sz="1250" spc="155" dirty="0">
                <a:latin typeface="Tahoma"/>
                <a:cs typeface="Tahoma"/>
              </a:rPr>
              <a:t> </a:t>
            </a:r>
            <a:r>
              <a:rPr sz="1250" dirty="0">
                <a:latin typeface="Tahoma"/>
                <a:cs typeface="Tahoma"/>
              </a:rPr>
              <a:t>individual</a:t>
            </a:r>
            <a:r>
              <a:rPr sz="1250" spc="105" dirty="0">
                <a:latin typeface="Tahoma"/>
                <a:cs typeface="Tahoma"/>
              </a:rPr>
              <a:t> </a:t>
            </a:r>
            <a:r>
              <a:rPr sz="1250" dirty="0">
                <a:latin typeface="Tahoma"/>
                <a:cs typeface="Tahoma"/>
              </a:rPr>
              <a:t>via</a:t>
            </a:r>
            <a:r>
              <a:rPr sz="1250" spc="175" dirty="0">
                <a:latin typeface="Tahoma"/>
                <a:cs typeface="Tahoma"/>
              </a:rPr>
              <a:t> </a:t>
            </a:r>
            <a:r>
              <a:rPr sz="1250" spc="-10" dirty="0">
                <a:latin typeface="Tahoma"/>
                <a:cs typeface="Tahoma"/>
              </a:rPr>
              <a:t>email</a:t>
            </a:r>
            <a:endParaRPr sz="1250" dirty="0">
              <a:latin typeface="Tahoma"/>
              <a:cs typeface="Tahoma"/>
            </a:endParaRPr>
          </a:p>
          <a:p>
            <a:pPr marL="501650" lvl="1" indent="-239395">
              <a:lnSpc>
                <a:spcPct val="100000"/>
              </a:lnSpc>
              <a:spcBef>
                <a:spcPts val="335"/>
              </a:spcBef>
              <a:buClr>
                <a:srgbClr val="3A802E"/>
              </a:buClr>
              <a:buSzPct val="60000"/>
              <a:buFont typeface="Segoe UI Symbol"/>
              <a:buChar char="❑"/>
              <a:tabLst>
                <a:tab pos="501650" algn="l"/>
              </a:tabLst>
            </a:pPr>
            <a:r>
              <a:rPr sz="1250" dirty="0">
                <a:solidFill>
                  <a:srgbClr val="FF0000"/>
                </a:solidFill>
                <a:latin typeface="Tahoma"/>
                <a:cs typeface="Tahoma"/>
              </a:rPr>
              <a:t>Vishing</a:t>
            </a:r>
            <a:r>
              <a:rPr sz="1250" spc="140" dirty="0">
                <a:solidFill>
                  <a:srgbClr val="FF0000"/>
                </a:solidFill>
                <a:latin typeface="Tahoma"/>
                <a:cs typeface="Tahoma"/>
              </a:rPr>
              <a:t> </a:t>
            </a:r>
            <a:r>
              <a:rPr sz="1250" dirty="0">
                <a:solidFill>
                  <a:srgbClr val="FF0000"/>
                </a:solidFill>
                <a:latin typeface="Tahoma"/>
                <a:cs typeface="Tahoma"/>
              </a:rPr>
              <a:t>(voice</a:t>
            </a:r>
            <a:r>
              <a:rPr sz="1250" spc="145" dirty="0">
                <a:solidFill>
                  <a:srgbClr val="FF0000"/>
                </a:solidFill>
                <a:latin typeface="Tahoma"/>
                <a:cs typeface="Tahoma"/>
              </a:rPr>
              <a:t> </a:t>
            </a:r>
            <a:r>
              <a:rPr sz="1250" dirty="0">
                <a:solidFill>
                  <a:srgbClr val="FF0000"/>
                </a:solidFill>
                <a:latin typeface="Tahoma"/>
                <a:cs typeface="Tahoma"/>
              </a:rPr>
              <a:t>phishing),</a:t>
            </a:r>
            <a:r>
              <a:rPr sz="1250" spc="120" dirty="0">
                <a:solidFill>
                  <a:srgbClr val="FF0000"/>
                </a:solidFill>
                <a:latin typeface="Tahoma"/>
                <a:cs typeface="Tahoma"/>
              </a:rPr>
              <a:t> </a:t>
            </a:r>
            <a:r>
              <a:rPr sz="1250" spc="-10" dirty="0">
                <a:solidFill>
                  <a:srgbClr val="FF0000"/>
                </a:solidFill>
                <a:latin typeface="Tahoma"/>
                <a:cs typeface="Tahoma"/>
              </a:rPr>
              <a:t>Smishing</a:t>
            </a:r>
            <a:endParaRPr sz="1250" dirty="0">
              <a:latin typeface="Tahoma"/>
              <a:cs typeface="Tahom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4800" y="5644894"/>
            <a:ext cx="11480800" cy="13970"/>
          </a:xfrm>
          <a:custGeom>
            <a:avLst/>
            <a:gdLst/>
            <a:ahLst/>
            <a:cxnLst/>
            <a:rect l="l" t="t" r="r" b="b"/>
            <a:pathLst>
              <a:path w="11480800" h="13970">
                <a:moveTo>
                  <a:pt x="11480292" y="0"/>
                </a:moveTo>
                <a:lnTo>
                  <a:pt x="0" y="0"/>
                </a:lnTo>
                <a:lnTo>
                  <a:pt x="0" y="13717"/>
                </a:lnTo>
                <a:lnTo>
                  <a:pt x="11480292" y="13717"/>
                </a:lnTo>
                <a:lnTo>
                  <a:pt x="11480292" y="0"/>
                </a:lnTo>
                <a:close/>
              </a:path>
            </a:pathLst>
          </a:custGeom>
          <a:solidFill>
            <a:srgbClr val="CC9900"/>
          </a:solidFill>
        </p:spPr>
        <p:txBody>
          <a:bodyPr wrap="square" lIns="0" tIns="0" rIns="0" bIns="0" rtlCol="0"/>
          <a:lstStyle/>
          <a:p>
            <a:endParaRPr/>
          </a:p>
        </p:txBody>
      </p:sp>
      <p:sp>
        <p:nvSpPr>
          <p:cNvPr id="3" name="object 3"/>
          <p:cNvSpPr/>
          <p:nvPr/>
        </p:nvSpPr>
        <p:spPr>
          <a:xfrm>
            <a:off x="304800" y="1581911"/>
            <a:ext cx="11480800" cy="12700"/>
          </a:xfrm>
          <a:custGeom>
            <a:avLst/>
            <a:gdLst/>
            <a:ahLst/>
            <a:cxnLst/>
            <a:rect l="l" t="t" r="r" b="b"/>
            <a:pathLst>
              <a:path w="11480800" h="12700">
                <a:moveTo>
                  <a:pt x="11480292" y="0"/>
                </a:moveTo>
                <a:lnTo>
                  <a:pt x="0" y="0"/>
                </a:lnTo>
                <a:lnTo>
                  <a:pt x="0" y="12191"/>
                </a:lnTo>
                <a:lnTo>
                  <a:pt x="11480292" y="12191"/>
                </a:lnTo>
                <a:lnTo>
                  <a:pt x="11480292" y="0"/>
                </a:lnTo>
                <a:close/>
              </a:path>
            </a:pathLst>
          </a:custGeom>
          <a:solidFill>
            <a:srgbClr val="CC9900"/>
          </a:solid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739724" rIns="0" bIns="0" rtlCol="0">
            <a:spAutoFit/>
          </a:bodyPr>
          <a:lstStyle/>
          <a:p>
            <a:pPr marL="12700">
              <a:lnSpc>
                <a:spcPct val="100000"/>
              </a:lnSpc>
              <a:spcBef>
                <a:spcPts val="114"/>
              </a:spcBef>
            </a:pPr>
            <a:r>
              <a:rPr spc="-10" dirty="0"/>
              <a:t>Kinds</a:t>
            </a:r>
            <a:r>
              <a:rPr spc="-90" dirty="0"/>
              <a:t> </a:t>
            </a:r>
            <a:r>
              <a:rPr dirty="0"/>
              <a:t>of</a:t>
            </a:r>
            <a:r>
              <a:rPr spc="-15" dirty="0"/>
              <a:t> </a:t>
            </a:r>
            <a:r>
              <a:rPr spc="-75" dirty="0"/>
              <a:t>Cyber</a:t>
            </a:r>
            <a:r>
              <a:rPr spc="-135" dirty="0"/>
              <a:t> </a:t>
            </a:r>
            <a:r>
              <a:rPr spc="-65" dirty="0"/>
              <a:t>Crimes</a:t>
            </a:r>
            <a:r>
              <a:rPr spc="-110" dirty="0"/>
              <a:t> </a:t>
            </a:r>
            <a:r>
              <a:rPr spc="-10" dirty="0"/>
              <a:t>(Cont.)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355"/>
              </a:lnSpc>
            </a:pPr>
            <a:r>
              <a:rPr spc="-25" dirty="0"/>
              <a:t>63</a:t>
            </a:r>
          </a:p>
        </p:txBody>
      </p:sp>
      <p:sp>
        <p:nvSpPr>
          <p:cNvPr id="5" name="object 5"/>
          <p:cNvSpPr txBox="1"/>
          <p:nvPr/>
        </p:nvSpPr>
        <p:spPr>
          <a:xfrm>
            <a:off x="1934717" y="1636834"/>
            <a:ext cx="8101965" cy="1451610"/>
          </a:xfrm>
          <a:prstGeom prst="rect">
            <a:avLst/>
          </a:prstGeom>
        </p:spPr>
        <p:txBody>
          <a:bodyPr vert="horz" wrap="square" lIns="0" tIns="55244" rIns="0" bIns="0" rtlCol="0">
            <a:spAutoFit/>
          </a:bodyPr>
          <a:lstStyle/>
          <a:p>
            <a:pPr marL="262255" indent="-249554">
              <a:lnSpc>
                <a:spcPct val="100000"/>
              </a:lnSpc>
              <a:spcBef>
                <a:spcPts val="434"/>
              </a:spcBef>
              <a:buClr>
                <a:srgbClr val="CC9900"/>
              </a:buClr>
              <a:buSzPct val="62068"/>
              <a:buFont typeface="Times New Roman"/>
              <a:buChar char="■"/>
              <a:tabLst>
                <a:tab pos="262255" algn="l"/>
              </a:tabLst>
            </a:pPr>
            <a:r>
              <a:rPr sz="1450" dirty="0">
                <a:latin typeface="Tahoma"/>
                <a:cs typeface="Tahoma"/>
              </a:rPr>
              <a:t>Computer</a:t>
            </a:r>
            <a:r>
              <a:rPr sz="1450" spc="-105" dirty="0">
                <a:latin typeface="Tahoma"/>
                <a:cs typeface="Tahoma"/>
              </a:rPr>
              <a:t> </a:t>
            </a:r>
            <a:r>
              <a:rPr sz="1450" spc="-10" dirty="0">
                <a:latin typeface="Tahoma"/>
                <a:cs typeface="Tahoma"/>
              </a:rPr>
              <a:t>Vandalism</a:t>
            </a:r>
            <a:endParaRPr sz="1450" dirty="0">
              <a:latin typeface="Tahoma"/>
              <a:cs typeface="Tahoma"/>
            </a:endParaRPr>
          </a:p>
          <a:p>
            <a:pPr marL="501650" lvl="1" indent="-239395">
              <a:lnSpc>
                <a:spcPct val="100000"/>
              </a:lnSpc>
              <a:spcBef>
                <a:spcPts val="335"/>
              </a:spcBef>
              <a:buClr>
                <a:srgbClr val="3A802E"/>
              </a:buClr>
              <a:buSzPct val="60000"/>
              <a:buFont typeface="Segoe UI Symbol"/>
              <a:buChar char="❑"/>
              <a:tabLst>
                <a:tab pos="501650" algn="l"/>
              </a:tabLst>
            </a:pPr>
            <a:r>
              <a:rPr sz="1250" dirty="0">
                <a:solidFill>
                  <a:srgbClr val="FF0000"/>
                </a:solidFill>
                <a:latin typeface="Tahoma"/>
                <a:cs typeface="Tahoma"/>
              </a:rPr>
              <a:t>Physical</a:t>
            </a:r>
            <a:r>
              <a:rPr sz="1250" spc="135" dirty="0">
                <a:solidFill>
                  <a:srgbClr val="FF0000"/>
                </a:solidFill>
                <a:latin typeface="Tahoma"/>
                <a:cs typeface="Tahoma"/>
              </a:rPr>
              <a:t> </a:t>
            </a:r>
            <a:r>
              <a:rPr sz="1250" dirty="0">
                <a:solidFill>
                  <a:srgbClr val="FF0000"/>
                </a:solidFill>
                <a:latin typeface="Tahoma"/>
                <a:cs typeface="Tahoma"/>
              </a:rPr>
              <a:t>destroying</a:t>
            </a:r>
            <a:r>
              <a:rPr sz="1250" spc="130" dirty="0">
                <a:solidFill>
                  <a:srgbClr val="FF0000"/>
                </a:solidFill>
                <a:latin typeface="Tahoma"/>
                <a:cs typeface="Tahoma"/>
              </a:rPr>
              <a:t> </a:t>
            </a:r>
            <a:r>
              <a:rPr sz="1250" dirty="0">
                <a:latin typeface="Tahoma"/>
                <a:cs typeface="Tahoma"/>
              </a:rPr>
              <a:t>computing</a:t>
            </a:r>
            <a:r>
              <a:rPr sz="1250" spc="195" dirty="0">
                <a:latin typeface="Tahoma"/>
                <a:cs typeface="Tahoma"/>
              </a:rPr>
              <a:t> </a:t>
            </a:r>
            <a:r>
              <a:rPr sz="1250" dirty="0">
                <a:latin typeface="Tahoma"/>
                <a:cs typeface="Tahoma"/>
              </a:rPr>
              <a:t>resources</a:t>
            </a:r>
            <a:r>
              <a:rPr sz="1250" spc="150" dirty="0">
                <a:latin typeface="Tahoma"/>
                <a:cs typeface="Tahoma"/>
              </a:rPr>
              <a:t> </a:t>
            </a:r>
            <a:r>
              <a:rPr sz="1250" dirty="0">
                <a:latin typeface="Tahoma"/>
                <a:cs typeface="Tahoma"/>
              </a:rPr>
              <a:t>using</a:t>
            </a:r>
            <a:r>
              <a:rPr sz="1250" spc="130" dirty="0">
                <a:latin typeface="Tahoma"/>
                <a:cs typeface="Tahoma"/>
              </a:rPr>
              <a:t> </a:t>
            </a:r>
            <a:r>
              <a:rPr sz="1250" dirty="0">
                <a:latin typeface="Tahoma"/>
                <a:cs typeface="Tahoma"/>
              </a:rPr>
              <a:t>physical</a:t>
            </a:r>
            <a:r>
              <a:rPr sz="1250" spc="160" dirty="0">
                <a:latin typeface="Tahoma"/>
                <a:cs typeface="Tahoma"/>
              </a:rPr>
              <a:t> </a:t>
            </a:r>
            <a:r>
              <a:rPr sz="1250" dirty="0">
                <a:latin typeface="Tahoma"/>
                <a:cs typeface="Tahoma"/>
              </a:rPr>
              <a:t>force</a:t>
            </a:r>
            <a:r>
              <a:rPr sz="1250" spc="150" dirty="0">
                <a:latin typeface="Tahoma"/>
                <a:cs typeface="Tahoma"/>
              </a:rPr>
              <a:t> </a:t>
            </a:r>
            <a:r>
              <a:rPr sz="1250" dirty="0">
                <a:latin typeface="Tahoma"/>
                <a:cs typeface="Tahoma"/>
              </a:rPr>
              <a:t>or</a:t>
            </a:r>
            <a:r>
              <a:rPr sz="1250" spc="180" dirty="0">
                <a:latin typeface="Tahoma"/>
                <a:cs typeface="Tahoma"/>
              </a:rPr>
              <a:t> </a:t>
            </a:r>
            <a:r>
              <a:rPr sz="1250" dirty="0">
                <a:latin typeface="Tahoma"/>
                <a:cs typeface="Tahoma"/>
              </a:rPr>
              <a:t>malicious</a:t>
            </a:r>
            <a:r>
              <a:rPr sz="1250" spc="180" dirty="0">
                <a:latin typeface="Tahoma"/>
                <a:cs typeface="Tahoma"/>
              </a:rPr>
              <a:t> </a:t>
            </a:r>
            <a:r>
              <a:rPr sz="1250" spc="-20" dirty="0">
                <a:latin typeface="Tahoma"/>
                <a:cs typeface="Tahoma"/>
              </a:rPr>
              <a:t>code</a:t>
            </a:r>
            <a:endParaRPr sz="1250" dirty="0">
              <a:latin typeface="Tahoma"/>
              <a:cs typeface="Tahoma"/>
            </a:endParaRPr>
          </a:p>
          <a:p>
            <a:pPr marL="262255" indent="-249554">
              <a:lnSpc>
                <a:spcPct val="100000"/>
              </a:lnSpc>
              <a:spcBef>
                <a:spcPts val="409"/>
              </a:spcBef>
              <a:buClr>
                <a:srgbClr val="CC9900"/>
              </a:buClr>
              <a:buSzPct val="62068"/>
              <a:buFont typeface="Times New Roman"/>
              <a:buChar char="■"/>
              <a:tabLst>
                <a:tab pos="262255" algn="l"/>
              </a:tabLst>
            </a:pPr>
            <a:r>
              <a:rPr sz="1450" dirty="0">
                <a:latin typeface="Tahoma"/>
                <a:cs typeface="Tahoma"/>
              </a:rPr>
              <a:t>Computer</a:t>
            </a:r>
            <a:r>
              <a:rPr sz="1450" spc="-95" dirty="0">
                <a:latin typeface="Tahoma"/>
                <a:cs typeface="Tahoma"/>
              </a:rPr>
              <a:t> </a:t>
            </a:r>
            <a:r>
              <a:rPr sz="1450" spc="-10" dirty="0">
                <a:latin typeface="Tahoma"/>
                <a:cs typeface="Tahoma"/>
              </a:rPr>
              <a:t>Hacking</a:t>
            </a:r>
            <a:endParaRPr sz="1450" dirty="0">
              <a:latin typeface="Tahoma"/>
              <a:cs typeface="Tahoma"/>
            </a:endParaRPr>
          </a:p>
          <a:p>
            <a:pPr marL="501650" lvl="1" indent="-239395">
              <a:lnSpc>
                <a:spcPct val="100000"/>
              </a:lnSpc>
              <a:spcBef>
                <a:spcPts val="325"/>
              </a:spcBef>
              <a:buClr>
                <a:srgbClr val="3A802E"/>
              </a:buClr>
              <a:buSzPct val="60000"/>
              <a:buFont typeface="Segoe UI Symbol"/>
              <a:buChar char="❑"/>
              <a:tabLst>
                <a:tab pos="501650" algn="l"/>
              </a:tabLst>
            </a:pPr>
            <a:r>
              <a:rPr sz="1250" dirty="0">
                <a:solidFill>
                  <a:srgbClr val="FF0000"/>
                </a:solidFill>
                <a:latin typeface="Tahoma"/>
                <a:cs typeface="Tahoma"/>
              </a:rPr>
              <a:t>Modifying</a:t>
            </a:r>
            <a:r>
              <a:rPr sz="1250" spc="140" dirty="0">
                <a:solidFill>
                  <a:srgbClr val="FF0000"/>
                </a:solidFill>
                <a:latin typeface="Tahoma"/>
                <a:cs typeface="Tahoma"/>
              </a:rPr>
              <a:t> </a:t>
            </a:r>
            <a:r>
              <a:rPr sz="1250" dirty="0">
                <a:latin typeface="Tahoma"/>
                <a:cs typeface="Tahoma"/>
              </a:rPr>
              <a:t>computer</a:t>
            </a:r>
            <a:r>
              <a:rPr sz="1250" spc="160" dirty="0">
                <a:latin typeface="Tahoma"/>
                <a:cs typeface="Tahoma"/>
              </a:rPr>
              <a:t> </a:t>
            </a:r>
            <a:r>
              <a:rPr sz="1250" dirty="0">
                <a:latin typeface="Tahoma"/>
                <a:cs typeface="Tahoma"/>
              </a:rPr>
              <a:t>hardware</a:t>
            </a:r>
            <a:r>
              <a:rPr sz="1250" spc="155" dirty="0">
                <a:latin typeface="Tahoma"/>
                <a:cs typeface="Tahoma"/>
              </a:rPr>
              <a:t> </a:t>
            </a:r>
            <a:r>
              <a:rPr sz="1250" dirty="0">
                <a:latin typeface="Tahoma"/>
                <a:cs typeface="Tahoma"/>
              </a:rPr>
              <a:t>and</a:t>
            </a:r>
            <a:r>
              <a:rPr sz="1250" spc="204" dirty="0">
                <a:latin typeface="Tahoma"/>
                <a:cs typeface="Tahoma"/>
              </a:rPr>
              <a:t> </a:t>
            </a:r>
            <a:r>
              <a:rPr sz="1250" dirty="0">
                <a:latin typeface="Tahoma"/>
                <a:cs typeface="Tahoma"/>
              </a:rPr>
              <a:t>software</a:t>
            </a:r>
            <a:r>
              <a:rPr sz="1250" spc="125" dirty="0">
                <a:latin typeface="Tahoma"/>
                <a:cs typeface="Tahoma"/>
              </a:rPr>
              <a:t> </a:t>
            </a:r>
            <a:r>
              <a:rPr sz="1250" dirty="0">
                <a:latin typeface="Tahoma"/>
                <a:cs typeface="Tahoma"/>
              </a:rPr>
              <a:t>to</a:t>
            </a:r>
            <a:r>
              <a:rPr sz="1250" spc="150" dirty="0">
                <a:latin typeface="Tahoma"/>
                <a:cs typeface="Tahoma"/>
              </a:rPr>
              <a:t> </a:t>
            </a:r>
            <a:r>
              <a:rPr sz="1250" dirty="0">
                <a:solidFill>
                  <a:srgbClr val="FF0000"/>
                </a:solidFill>
                <a:latin typeface="Tahoma"/>
                <a:cs typeface="Tahoma"/>
              </a:rPr>
              <a:t>accomplish</a:t>
            </a:r>
            <a:r>
              <a:rPr sz="1250" spc="165" dirty="0">
                <a:solidFill>
                  <a:srgbClr val="FF0000"/>
                </a:solidFill>
                <a:latin typeface="Tahoma"/>
                <a:cs typeface="Tahoma"/>
              </a:rPr>
              <a:t> </a:t>
            </a:r>
            <a:r>
              <a:rPr sz="1250" dirty="0">
                <a:solidFill>
                  <a:srgbClr val="FF0000"/>
                </a:solidFill>
                <a:latin typeface="Tahoma"/>
                <a:cs typeface="Tahoma"/>
              </a:rPr>
              <a:t>a</a:t>
            </a:r>
            <a:r>
              <a:rPr sz="1250" spc="150" dirty="0">
                <a:solidFill>
                  <a:srgbClr val="FF0000"/>
                </a:solidFill>
                <a:latin typeface="Tahoma"/>
                <a:cs typeface="Tahoma"/>
              </a:rPr>
              <a:t> </a:t>
            </a:r>
            <a:r>
              <a:rPr sz="1250" spc="-20" dirty="0">
                <a:solidFill>
                  <a:srgbClr val="FF0000"/>
                </a:solidFill>
                <a:latin typeface="Tahoma"/>
                <a:cs typeface="Tahoma"/>
              </a:rPr>
              <a:t>goal</a:t>
            </a:r>
            <a:endParaRPr sz="1250" dirty="0">
              <a:latin typeface="Tahoma"/>
              <a:cs typeface="Tahoma"/>
            </a:endParaRPr>
          </a:p>
          <a:p>
            <a:pPr marL="501650" marR="5080" lvl="1" indent="-239395">
              <a:lnSpc>
                <a:spcPct val="105600"/>
              </a:lnSpc>
              <a:spcBef>
                <a:spcPts val="165"/>
              </a:spcBef>
              <a:buClr>
                <a:srgbClr val="3A802E"/>
              </a:buClr>
              <a:buSzPct val="60000"/>
              <a:buFont typeface="Segoe UI Symbol"/>
              <a:buChar char="❑"/>
              <a:tabLst>
                <a:tab pos="501650" algn="l"/>
              </a:tabLst>
            </a:pPr>
            <a:r>
              <a:rPr sz="1250" dirty="0">
                <a:solidFill>
                  <a:srgbClr val="FF0000"/>
                </a:solidFill>
                <a:latin typeface="Tahoma"/>
                <a:cs typeface="Tahoma"/>
              </a:rPr>
              <a:t>Simply</a:t>
            </a:r>
            <a:r>
              <a:rPr sz="1250" spc="175" dirty="0">
                <a:solidFill>
                  <a:srgbClr val="FF0000"/>
                </a:solidFill>
                <a:latin typeface="Tahoma"/>
                <a:cs typeface="Tahoma"/>
              </a:rPr>
              <a:t> </a:t>
            </a:r>
            <a:r>
              <a:rPr sz="1250" dirty="0">
                <a:solidFill>
                  <a:srgbClr val="FF0000"/>
                </a:solidFill>
                <a:latin typeface="Tahoma"/>
                <a:cs typeface="Tahoma"/>
              </a:rPr>
              <a:t>demonstrations</a:t>
            </a:r>
            <a:r>
              <a:rPr sz="1250" spc="125" dirty="0">
                <a:solidFill>
                  <a:srgbClr val="FF0000"/>
                </a:solidFill>
                <a:latin typeface="Tahoma"/>
                <a:cs typeface="Tahoma"/>
              </a:rPr>
              <a:t> </a:t>
            </a:r>
            <a:r>
              <a:rPr sz="1250" dirty="0">
                <a:solidFill>
                  <a:srgbClr val="FF0000"/>
                </a:solidFill>
                <a:latin typeface="Tahoma"/>
                <a:cs typeface="Tahoma"/>
              </a:rPr>
              <a:t>of</a:t>
            </a:r>
            <a:r>
              <a:rPr sz="1250" spc="160" dirty="0">
                <a:solidFill>
                  <a:srgbClr val="FF0000"/>
                </a:solidFill>
                <a:latin typeface="Tahoma"/>
                <a:cs typeface="Tahoma"/>
              </a:rPr>
              <a:t> </a:t>
            </a:r>
            <a:r>
              <a:rPr sz="1250" dirty="0">
                <a:solidFill>
                  <a:srgbClr val="FF0000"/>
                </a:solidFill>
                <a:latin typeface="Tahoma"/>
                <a:cs typeface="Tahoma"/>
              </a:rPr>
              <a:t>the</a:t>
            </a:r>
            <a:r>
              <a:rPr sz="1250" spc="140" dirty="0">
                <a:solidFill>
                  <a:srgbClr val="FF0000"/>
                </a:solidFill>
                <a:latin typeface="Tahoma"/>
                <a:cs typeface="Tahoma"/>
              </a:rPr>
              <a:t> </a:t>
            </a:r>
            <a:r>
              <a:rPr sz="1250" dirty="0">
                <a:solidFill>
                  <a:srgbClr val="FF0000"/>
                </a:solidFill>
                <a:latin typeface="Tahoma"/>
                <a:cs typeface="Tahoma"/>
              </a:rPr>
              <a:t>technical</a:t>
            </a:r>
            <a:r>
              <a:rPr sz="1250" spc="100" dirty="0">
                <a:solidFill>
                  <a:srgbClr val="FF0000"/>
                </a:solidFill>
                <a:latin typeface="Tahoma"/>
                <a:cs typeface="Tahoma"/>
              </a:rPr>
              <a:t> </a:t>
            </a:r>
            <a:r>
              <a:rPr sz="1250" dirty="0">
                <a:solidFill>
                  <a:srgbClr val="FF0000"/>
                </a:solidFill>
                <a:latin typeface="Tahoma"/>
                <a:cs typeface="Tahoma"/>
              </a:rPr>
              <a:t>ability</a:t>
            </a:r>
            <a:r>
              <a:rPr sz="1250" dirty="0">
                <a:latin typeface="Tahoma"/>
                <a:cs typeface="Tahoma"/>
              </a:rPr>
              <a:t>,</a:t>
            </a:r>
            <a:r>
              <a:rPr sz="1250" spc="150" dirty="0">
                <a:latin typeface="Tahoma"/>
                <a:cs typeface="Tahoma"/>
              </a:rPr>
              <a:t> </a:t>
            </a:r>
            <a:r>
              <a:rPr sz="1250" dirty="0">
                <a:latin typeface="Tahoma"/>
                <a:cs typeface="Tahoma"/>
              </a:rPr>
              <a:t>to</a:t>
            </a:r>
            <a:r>
              <a:rPr sz="1250" spc="120" dirty="0">
                <a:latin typeface="Tahoma"/>
                <a:cs typeface="Tahoma"/>
              </a:rPr>
              <a:t> </a:t>
            </a:r>
            <a:r>
              <a:rPr sz="1250" dirty="0">
                <a:latin typeface="Tahoma"/>
                <a:cs typeface="Tahoma"/>
              </a:rPr>
              <a:t>sealing,</a:t>
            </a:r>
            <a:r>
              <a:rPr sz="1250" spc="155" dirty="0">
                <a:latin typeface="Tahoma"/>
                <a:cs typeface="Tahoma"/>
              </a:rPr>
              <a:t> </a:t>
            </a:r>
            <a:r>
              <a:rPr sz="1250" dirty="0">
                <a:latin typeface="Tahoma"/>
                <a:cs typeface="Tahoma"/>
              </a:rPr>
              <a:t>modifying</a:t>
            </a:r>
            <a:r>
              <a:rPr sz="1250" spc="180" dirty="0">
                <a:latin typeface="Tahoma"/>
                <a:cs typeface="Tahoma"/>
              </a:rPr>
              <a:t> </a:t>
            </a:r>
            <a:r>
              <a:rPr sz="1250" dirty="0">
                <a:latin typeface="Tahoma"/>
                <a:cs typeface="Tahoma"/>
              </a:rPr>
              <a:t>or</a:t>
            </a:r>
            <a:r>
              <a:rPr sz="1250" spc="165" dirty="0">
                <a:latin typeface="Tahoma"/>
                <a:cs typeface="Tahoma"/>
              </a:rPr>
              <a:t> </a:t>
            </a:r>
            <a:r>
              <a:rPr sz="1250" dirty="0">
                <a:latin typeface="Tahoma"/>
                <a:cs typeface="Tahoma"/>
              </a:rPr>
              <a:t>destroying</a:t>
            </a:r>
            <a:r>
              <a:rPr sz="1250" spc="95" dirty="0">
                <a:latin typeface="Tahoma"/>
                <a:cs typeface="Tahoma"/>
              </a:rPr>
              <a:t> </a:t>
            </a:r>
            <a:r>
              <a:rPr sz="1250" dirty="0">
                <a:latin typeface="Tahoma"/>
                <a:cs typeface="Tahoma"/>
              </a:rPr>
              <a:t>information</a:t>
            </a:r>
            <a:r>
              <a:rPr sz="1250" spc="145" dirty="0">
                <a:latin typeface="Tahoma"/>
                <a:cs typeface="Tahoma"/>
              </a:rPr>
              <a:t> </a:t>
            </a:r>
            <a:r>
              <a:rPr sz="1250" dirty="0">
                <a:latin typeface="Tahoma"/>
                <a:cs typeface="Tahoma"/>
              </a:rPr>
              <a:t>for</a:t>
            </a:r>
            <a:r>
              <a:rPr sz="1250" spc="150" dirty="0">
                <a:latin typeface="Tahoma"/>
                <a:cs typeface="Tahoma"/>
              </a:rPr>
              <a:t> </a:t>
            </a:r>
            <a:r>
              <a:rPr sz="1250" spc="-10" dirty="0">
                <a:latin typeface="Tahoma"/>
                <a:cs typeface="Tahoma"/>
              </a:rPr>
              <a:t>social, </a:t>
            </a:r>
            <a:r>
              <a:rPr sz="1250" dirty="0">
                <a:latin typeface="Tahoma"/>
                <a:cs typeface="Tahoma"/>
              </a:rPr>
              <a:t>economic</a:t>
            </a:r>
            <a:r>
              <a:rPr sz="1250" spc="160" dirty="0">
                <a:latin typeface="Tahoma"/>
                <a:cs typeface="Tahoma"/>
              </a:rPr>
              <a:t> </a:t>
            </a:r>
            <a:r>
              <a:rPr sz="1250" dirty="0">
                <a:latin typeface="Tahoma"/>
                <a:cs typeface="Tahoma"/>
              </a:rPr>
              <a:t>or</a:t>
            </a:r>
            <a:r>
              <a:rPr sz="1250" spc="145" dirty="0">
                <a:latin typeface="Tahoma"/>
                <a:cs typeface="Tahoma"/>
              </a:rPr>
              <a:t> </a:t>
            </a:r>
            <a:r>
              <a:rPr sz="1250" dirty="0">
                <a:latin typeface="Tahoma"/>
                <a:cs typeface="Tahoma"/>
              </a:rPr>
              <a:t>political</a:t>
            </a:r>
            <a:r>
              <a:rPr sz="1250" spc="145" dirty="0">
                <a:latin typeface="Tahoma"/>
                <a:cs typeface="Tahoma"/>
              </a:rPr>
              <a:t> </a:t>
            </a:r>
            <a:r>
              <a:rPr sz="1250" spc="-10" dirty="0">
                <a:latin typeface="Tahoma"/>
                <a:cs typeface="Tahoma"/>
              </a:rPr>
              <a:t>reasons</a:t>
            </a:r>
            <a:endParaRPr sz="1250" dirty="0">
              <a:latin typeface="Tahoma"/>
              <a:cs typeface="Tahom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4800" y="5644894"/>
            <a:ext cx="11480800" cy="13970"/>
          </a:xfrm>
          <a:custGeom>
            <a:avLst/>
            <a:gdLst/>
            <a:ahLst/>
            <a:cxnLst/>
            <a:rect l="l" t="t" r="r" b="b"/>
            <a:pathLst>
              <a:path w="11480800" h="13970">
                <a:moveTo>
                  <a:pt x="11480292" y="0"/>
                </a:moveTo>
                <a:lnTo>
                  <a:pt x="0" y="0"/>
                </a:lnTo>
                <a:lnTo>
                  <a:pt x="0" y="13717"/>
                </a:lnTo>
                <a:lnTo>
                  <a:pt x="11480292" y="13717"/>
                </a:lnTo>
                <a:lnTo>
                  <a:pt x="11480292" y="0"/>
                </a:lnTo>
                <a:close/>
              </a:path>
            </a:pathLst>
          </a:custGeom>
          <a:solidFill>
            <a:srgbClr val="CC9900"/>
          </a:solidFill>
        </p:spPr>
        <p:txBody>
          <a:bodyPr wrap="square" lIns="0" tIns="0" rIns="0" bIns="0" rtlCol="0"/>
          <a:lstStyle/>
          <a:p>
            <a:endParaRPr/>
          </a:p>
        </p:txBody>
      </p:sp>
      <p:sp>
        <p:nvSpPr>
          <p:cNvPr id="3" name="object 3"/>
          <p:cNvSpPr/>
          <p:nvPr/>
        </p:nvSpPr>
        <p:spPr>
          <a:xfrm>
            <a:off x="304800" y="1581911"/>
            <a:ext cx="11480800" cy="12700"/>
          </a:xfrm>
          <a:custGeom>
            <a:avLst/>
            <a:gdLst/>
            <a:ahLst/>
            <a:cxnLst/>
            <a:rect l="l" t="t" r="r" b="b"/>
            <a:pathLst>
              <a:path w="11480800" h="12700">
                <a:moveTo>
                  <a:pt x="11480292" y="0"/>
                </a:moveTo>
                <a:lnTo>
                  <a:pt x="0" y="0"/>
                </a:lnTo>
                <a:lnTo>
                  <a:pt x="0" y="12191"/>
                </a:lnTo>
                <a:lnTo>
                  <a:pt x="11480292" y="12191"/>
                </a:lnTo>
                <a:lnTo>
                  <a:pt x="11480292" y="0"/>
                </a:lnTo>
                <a:close/>
              </a:path>
            </a:pathLst>
          </a:custGeom>
          <a:solidFill>
            <a:srgbClr val="CC9900"/>
          </a:solid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739724" rIns="0" bIns="0" rtlCol="0">
            <a:spAutoFit/>
          </a:bodyPr>
          <a:lstStyle/>
          <a:p>
            <a:pPr marL="12700">
              <a:lnSpc>
                <a:spcPct val="100000"/>
              </a:lnSpc>
              <a:spcBef>
                <a:spcPts val="114"/>
              </a:spcBef>
            </a:pPr>
            <a:r>
              <a:rPr spc="-10" dirty="0"/>
              <a:t>Kinds</a:t>
            </a:r>
            <a:r>
              <a:rPr spc="-90" dirty="0"/>
              <a:t> </a:t>
            </a:r>
            <a:r>
              <a:rPr dirty="0"/>
              <a:t>of</a:t>
            </a:r>
            <a:r>
              <a:rPr spc="-15" dirty="0"/>
              <a:t> </a:t>
            </a:r>
            <a:r>
              <a:rPr spc="-75" dirty="0"/>
              <a:t>Cyber</a:t>
            </a:r>
            <a:r>
              <a:rPr spc="-135" dirty="0"/>
              <a:t> </a:t>
            </a:r>
            <a:r>
              <a:rPr spc="-65" dirty="0"/>
              <a:t>Crimes</a:t>
            </a:r>
            <a:r>
              <a:rPr spc="-110" dirty="0"/>
              <a:t> </a:t>
            </a:r>
            <a:r>
              <a:rPr spc="-10" dirty="0"/>
              <a:t>(Cont.)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355"/>
              </a:lnSpc>
            </a:pPr>
            <a:r>
              <a:rPr spc="-25" dirty="0"/>
              <a:t>64</a:t>
            </a:r>
          </a:p>
        </p:txBody>
      </p:sp>
      <p:sp>
        <p:nvSpPr>
          <p:cNvPr id="5" name="object 5"/>
          <p:cNvSpPr txBox="1"/>
          <p:nvPr/>
        </p:nvSpPr>
        <p:spPr>
          <a:xfrm>
            <a:off x="1936242" y="3193542"/>
            <a:ext cx="96520" cy="166370"/>
          </a:xfrm>
          <a:prstGeom prst="rect">
            <a:avLst/>
          </a:prstGeom>
        </p:spPr>
        <p:txBody>
          <a:bodyPr vert="horz" wrap="square" lIns="0" tIns="15875" rIns="0" bIns="0" rtlCol="0">
            <a:spAutoFit/>
          </a:bodyPr>
          <a:lstStyle/>
          <a:p>
            <a:pPr marL="12700">
              <a:lnSpc>
                <a:spcPct val="100000"/>
              </a:lnSpc>
              <a:spcBef>
                <a:spcPts val="125"/>
              </a:spcBef>
            </a:pPr>
            <a:r>
              <a:rPr sz="900" spc="-50" dirty="0">
                <a:solidFill>
                  <a:srgbClr val="CC9900"/>
                </a:solidFill>
                <a:latin typeface="Times New Roman"/>
                <a:cs typeface="Times New Roman"/>
              </a:rPr>
              <a:t>■</a:t>
            </a:r>
            <a:endParaRPr sz="900">
              <a:latin typeface="Times New Roman"/>
              <a:cs typeface="Times New Roman"/>
            </a:endParaRPr>
          </a:p>
        </p:txBody>
      </p:sp>
      <p:sp>
        <p:nvSpPr>
          <p:cNvPr id="6" name="object 6"/>
          <p:cNvSpPr txBox="1"/>
          <p:nvPr/>
        </p:nvSpPr>
        <p:spPr>
          <a:xfrm>
            <a:off x="1934717" y="1636834"/>
            <a:ext cx="8183245" cy="3670935"/>
          </a:xfrm>
          <a:prstGeom prst="rect">
            <a:avLst/>
          </a:prstGeom>
        </p:spPr>
        <p:txBody>
          <a:bodyPr vert="horz" wrap="square" lIns="0" tIns="55244" rIns="0" bIns="0" rtlCol="0">
            <a:spAutoFit/>
          </a:bodyPr>
          <a:lstStyle/>
          <a:p>
            <a:pPr marL="262255" indent="-249554">
              <a:lnSpc>
                <a:spcPct val="100000"/>
              </a:lnSpc>
              <a:spcBef>
                <a:spcPts val="434"/>
              </a:spcBef>
              <a:buClr>
                <a:srgbClr val="CC9900"/>
              </a:buClr>
              <a:buSzPct val="62068"/>
              <a:buFont typeface="Times New Roman"/>
              <a:buChar char="■"/>
              <a:tabLst>
                <a:tab pos="262255" algn="l"/>
              </a:tabLst>
            </a:pPr>
            <a:r>
              <a:rPr sz="1450" dirty="0">
                <a:latin typeface="Tahoma"/>
                <a:cs typeface="Tahoma"/>
              </a:rPr>
              <a:t>Creating</a:t>
            </a:r>
            <a:r>
              <a:rPr sz="1450" spc="-60" dirty="0">
                <a:latin typeface="Tahoma"/>
                <a:cs typeface="Tahoma"/>
              </a:rPr>
              <a:t> </a:t>
            </a:r>
            <a:r>
              <a:rPr sz="1450" dirty="0">
                <a:latin typeface="Tahoma"/>
                <a:cs typeface="Tahoma"/>
              </a:rPr>
              <a:t>and</a:t>
            </a:r>
            <a:r>
              <a:rPr sz="1450" spc="-75" dirty="0">
                <a:latin typeface="Tahoma"/>
                <a:cs typeface="Tahoma"/>
              </a:rPr>
              <a:t> </a:t>
            </a:r>
            <a:r>
              <a:rPr sz="1450" spc="-10" dirty="0">
                <a:latin typeface="Tahoma"/>
                <a:cs typeface="Tahoma"/>
              </a:rPr>
              <a:t>distributing</a:t>
            </a:r>
            <a:r>
              <a:rPr sz="1450" spc="-55" dirty="0">
                <a:latin typeface="Tahoma"/>
                <a:cs typeface="Tahoma"/>
              </a:rPr>
              <a:t> </a:t>
            </a:r>
            <a:r>
              <a:rPr sz="1450" dirty="0">
                <a:latin typeface="Tahoma"/>
                <a:cs typeface="Tahoma"/>
              </a:rPr>
              <a:t>viruses</a:t>
            </a:r>
            <a:r>
              <a:rPr sz="1450" spc="-60" dirty="0">
                <a:latin typeface="Tahoma"/>
                <a:cs typeface="Tahoma"/>
              </a:rPr>
              <a:t> </a:t>
            </a:r>
            <a:r>
              <a:rPr sz="1450" dirty="0">
                <a:latin typeface="Tahoma"/>
                <a:cs typeface="Tahoma"/>
              </a:rPr>
              <a:t>over</a:t>
            </a:r>
            <a:r>
              <a:rPr sz="1450" spc="-40" dirty="0">
                <a:latin typeface="Tahoma"/>
                <a:cs typeface="Tahoma"/>
              </a:rPr>
              <a:t> </a:t>
            </a:r>
            <a:r>
              <a:rPr sz="1450" spc="-10" dirty="0">
                <a:latin typeface="Tahoma"/>
                <a:cs typeface="Tahoma"/>
              </a:rPr>
              <a:t>internet</a:t>
            </a:r>
            <a:endParaRPr sz="1450">
              <a:latin typeface="Tahoma"/>
              <a:cs typeface="Tahoma"/>
            </a:endParaRPr>
          </a:p>
          <a:p>
            <a:pPr marL="501650" lvl="1" indent="-239395">
              <a:lnSpc>
                <a:spcPct val="100000"/>
              </a:lnSpc>
              <a:spcBef>
                <a:spcPts val="335"/>
              </a:spcBef>
              <a:buClr>
                <a:srgbClr val="3A802E"/>
              </a:buClr>
              <a:buSzPct val="60000"/>
              <a:buFont typeface="Segoe UI Symbol"/>
              <a:buChar char="❑"/>
              <a:tabLst>
                <a:tab pos="501650" algn="l"/>
              </a:tabLst>
            </a:pPr>
            <a:r>
              <a:rPr sz="1250" dirty="0">
                <a:solidFill>
                  <a:srgbClr val="FF0000"/>
                </a:solidFill>
                <a:latin typeface="Tahoma"/>
                <a:cs typeface="Tahoma"/>
              </a:rPr>
              <a:t>Spreading</a:t>
            </a:r>
            <a:r>
              <a:rPr sz="1250" spc="135" dirty="0">
                <a:solidFill>
                  <a:srgbClr val="FF0000"/>
                </a:solidFill>
                <a:latin typeface="Tahoma"/>
                <a:cs typeface="Tahoma"/>
              </a:rPr>
              <a:t> </a:t>
            </a:r>
            <a:r>
              <a:rPr sz="1250" dirty="0">
                <a:latin typeface="Tahoma"/>
                <a:cs typeface="Tahoma"/>
              </a:rPr>
              <a:t>of</a:t>
            </a:r>
            <a:r>
              <a:rPr sz="1250" spc="114" dirty="0">
                <a:latin typeface="Tahoma"/>
                <a:cs typeface="Tahoma"/>
              </a:rPr>
              <a:t> </a:t>
            </a:r>
            <a:r>
              <a:rPr sz="1250" dirty="0">
                <a:latin typeface="Tahoma"/>
                <a:cs typeface="Tahoma"/>
              </a:rPr>
              <a:t>an</a:t>
            </a:r>
            <a:r>
              <a:rPr sz="1250" spc="135" dirty="0">
                <a:latin typeface="Tahoma"/>
                <a:cs typeface="Tahoma"/>
              </a:rPr>
              <a:t> </a:t>
            </a:r>
            <a:r>
              <a:rPr sz="1250" dirty="0">
                <a:solidFill>
                  <a:srgbClr val="FF0000"/>
                </a:solidFill>
                <a:latin typeface="Tahoma"/>
                <a:cs typeface="Tahoma"/>
              </a:rPr>
              <a:t>virus</a:t>
            </a:r>
            <a:r>
              <a:rPr sz="1250" spc="70" dirty="0">
                <a:solidFill>
                  <a:srgbClr val="FF0000"/>
                </a:solidFill>
                <a:latin typeface="Tahoma"/>
                <a:cs typeface="Tahoma"/>
              </a:rPr>
              <a:t> </a:t>
            </a:r>
            <a:r>
              <a:rPr sz="1250" dirty="0">
                <a:latin typeface="Tahoma"/>
                <a:cs typeface="Tahoma"/>
              </a:rPr>
              <a:t>can</a:t>
            </a:r>
            <a:r>
              <a:rPr sz="1250" spc="125" dirty="0">
                <a:latin typeface="Tahoma"/>
                <a:cs typeface="Tahoma"/>
              </a:rPr>
              <a:t> </a:t>
            </a:r>
            <a:r>
              <a:rPr sz="1250" dirty="0">
                <a:latin typeface="Tahoma"/>
                <a:cs typeface="Tahoma"/>
              </a:rPr>
              <a:t>cause</a:t>
            </a:r>
            <a:r>
              <a:rPr sz="1250" spc="120" dirty="0">
                <a:latin typeface="Tahoma"/>
                <a:cs typeface="Tahoma"/>
              </a:rPr>
              <a:t> </a:t>
            </a:r>
            <a:r>
              <a:rPr sz="1250" dirty="0">
                <a:latin typeface="Tahoma"/>
                <a:cs typeface="Tahoma"/>
              </a:rPr>
              <a:t>business</a:t>
            </a:r>
            <a:r>
              <a:rPr sz="1250" spc="80" dirty="0">
                <a:latin typeface="Tahoma"/>
                <a:cs typeface="Tahoma"/>
              </a:rPr>
              <a:t> </a:t>
            </a:r>
            <a:r>
              <a:rPr sz="1250" dirty="0">
                <a:latin typeface="Tahoma"/>
                <a:cs typeface="Tahoma"/>
              </a:rPr>
              <a:t>and</a:t>
            </a:r>
            <a:r>
              <a:rPr sz="1250" spc="145" dirty="0">
                <a:latin typeface="Tahoma"/>
                <a:cs typeface="Tahoma"/>
              </a:rPr>
              <a:t> </a:t>
            </a:r>
            <a:r>
              <a:rPr sz="1250" dirty="0">
                <a:latin typeface="Tahoma"/>
                <a:cs typeface="Tahoma"/>
              </a:rPr>
              <a:t>financial</a:t>
            </a:r>
            <a:r>
              <a:rPr sz="1250" spc="150" dirty="0">
                <a:latin typeface="Tahoma"/>
                <a:cs typeface="Tahoma"/>
              </a:rPr>
              <a:t> </a:t>
            </a:r>
            <a:r>
              <a:rPr sz="1250" spc="-20" dirty="0">
                <a:latin typeface="Tahoma"/>
                <a:cs typeface="Tahoma"/>
              </a:rPr>
              <a:t>loss</a:t>
            </a:r>
            <a:endParaRPr sz="1250">
              <a:latin typeface="Tahoma"/>
              <a:cs typeface="Tahoma"/>
            </a:endParaRPr>
          </a:p>
          <a:p>
            <a:pPr marL="262255" indent="-249554">
              <a:lnSpc>
                <a:spcPct val="100000"/>
              </a:lnSpc>
              <a:spcBef>
                <a:spcPts val="409"/>
              </a:spcBef>
              <a:buClr>
                <a:srgbClr val="CC9900"/>
              </a:buClr>
              <a:buSzPct val="62068"/>
              <a:buFont typeface="Times New Roman"/>
              <a:buChar char="■"/>
              <a:tabLst>
                <a:tab pos="262255" algn="l"/>
              </a:tabLst>
            </a:pPr>
            <a:r>
              <a:rPr sz="1450" spc="-10" dirty="0">
                <a:latin typeface="Tahoma"/>
                <a:cs typeface="Tahoma"/>
              </a:rPr>
              <a:t>Spamming</a:t>
            </a:r>
            <a:endParaRPr sz="1450">
              <a:latin typeface="Tahoma"/>
              <a:cs typeface="Tahoma"/>
            </a:endParaRPr>
          </a:p>
          <a:p>
            <a:pPr marL="501650" lvl="1" indent="-239395">
              <a:lnSpc>
                <a:spcPct val="100000"/>
              </a:lnSpc>
              <a:spcBef>
                <a:spcPts val="325"/>
              </a:spcBef>
              <a:buClr>
                <a:srgbClr val="3A802E"/>
              </a:buClr>
              <a:buSzPct val="60000"/>
              <a:buFont typeface="Segoe UI Symbol"/>
              <a:buChar char="❑"/>
              <a:tabLst>
                <a:tab pos="501650" algn="l"/>
              </a:tabLst>
            </a:pPr>
            <a:r>
              <a:rPr sz="1250" dirty="0">
                <a:latin typeface="Tahoma"/>
                <a:cs typeface="Tahoma"/>
              </a:rPr>
              <a:t>Sending</a:t>
            </a:r>
            <a:r>
              <a:rPr sz="1250" spc="135" dirty="0">
                <a:latin typeface="Tahoma"/>
                <a:cs typeface="Tahoma"/>
              </a:rPr>
              <a:t> </a:t>
            </a:r>
            <a:r>
              <a:rPr sz="1250" dirty="0">
                <a:latin typeface="Tahoma"/>
                <a:cs typeface="Tahoma"/>
              </a:rPr>
              <a:t>of</a:t>
            </a:r>
            <a:r>
              <a:rPr sz="1250" spc="150" dirty="0">
                <a:latin typeface="Tahoma"/>
                <a:cs typeface="Tahoma"/>
              </a:rPr>
              <a:t> </a:t>
            </a:r>
            <a:r>
              <a:rPr sz="1250" dirty="0">
                <a:solidFill>
                  <a:srgbClr val="FF0000"/>
                </a:solidFill>
                <a:latin typeface="Tahoma"/>
                <a:cs typeface="Tahoma"/>
              </a:rPr>
              <a:t>unsolicited</a:t>
            </a:r>
            <a:r>
              <a:rPr sz="1250" spc="145" dirty="0">
                <a:solidFill>
                  <a:srgbClr val="FF0000"/>
                </a:solidFill>
                <a:latin typeface="Tahoma"/>
                <a:cs typeface="Tahoma"/>
              </a:rPr>
              <a:t> </a:t>
            </a:r>
            <a:r>
              <a:rPr sz="1250" dirty="0">
                <a:solidFill>
                  <a:srgbClr val="FF0000"/>
                </a:solidFill>
                <a:latin typeface="Tahoma"/>
                <a:cs typeface="Tahoma"/>
              </a:rPr>
              <a:t>and</a:t>
            </a:r>
            <a:r>
              <a:rPr sz="1250" spc="135" dirty="0">
                <a:solidFill>
                  <a:srgbClr val="FF0000"/>
                </a:solidFill>
                <a:latin typeface="Tahoma"/>
                <a:cs typeface="Tahoma"/>
              </a:rPr>
              <a:t> </a:t>
            </a:r>
            <a:r>
              <a:rPr sz="1250" dirty="0">
                <a:solidFill>
                  <a:srgbClr val="FF0000"/>
                </a:solidFill>
                <a:latin typeface="Tahoma"/>
                <a:cs typeface="Tahoma"/>
              </a:rPr>
              <a:t>commercial</a:t>
            </a:r>
            <a:r>
              <a:rPr sz="1250" spc="160" dirty="0">
                <a:solidFill>
                  <a:srgbClr val="FF0000"/>
                </a:solidFill>
                <a:latin typeface="Tahoma"/>
                <a:cs typeface="Tahoma"/>
              </a:rPr>
              <a:t> </a:t>
            </a:r>
            <a:r>
              <a:rPr sz="1250" dirty="0">
                <a:solidFill>
                  <a:srgbClr val="FF0000"/>
                </a:solidFill>
                <a:latin typeface="Tahoma"/>
                <a:cs typeface="Tahoma"/>
              </a:rPr>
              <a:t>bulk</a:t>
            </a:r>
            <a:r>
              <a:rPr sz="1250" spc="145" dirty="0">
                <a:solidFill>
                  <a:srgbClr val="FF0000"/>
                </a:solidFill>
                <a:latin typeface="Tahoma"/>
                <a:cs typeface="Tahoma"/>
              </a:rPr>
              <a:t> </a:t>
            </a:r>
            <a:r>
              <a:rPr sz="1250" spc="-10" dirty="0">
                <a:solidFill>
                  <a:srgbClr val="FF0000"/>
                </a:solidFill>
                <a:latin typeface="Tahoma"/>
                <a:cs typeface="Tahoma"/>
              </a:rPr>
              <a:t>message</a:t>
            </a:r>
            <a:endParaRPr sz="1250">
              <a:latin typeface="Tahoma"/>
              <a:cs typeface="Tahoma"/>
            </a:endParaRPr>
          </a:p>
          <a:p>
            <a:pPr marL="501650" marR="105410" lvl="1" indent="-239395">
              <a:lnSpc>
                <a:spcPct val="105600"/>
              </a:lnSpc>
              <a:spcBef>
                <a:spcPts val="165"/>
              </a:spcBef>
              <a:buClr>
                <a:srgbClr val="3A802E"/>
              </a:buClr>
              <a:buSzPct val="60000"/>
              <a:buFont typeface="Segoe UI Symbol"/>
              <a:buChar char="❑"/>
              <a:tabLst>
                <a:tab pos="501650" algn="l"/>
              </a:tabLst>
            </a:pPr>
            <a:r>
              <a:rPr sz="1250" dirty="0">
                <a:latin typeface="Tahoma"/>
                <a:cs typeface="Tahoma"/>
              </a:rPr>
              <a:t>Spams</a:t>
            </a:r>
            <a:r>
              <a:rPr sz="1250" spc="85" dirty="0">
                <a:latin typeface="Tahoma"/>
                <a:cs typeface="Tahoma"/>
              </a:rPr>
              <a:t> </a:t>
            </a:r>
            <a:r>
              <a:rPr sz="1250" dirty="0">
                <a:latin typeface="Tahoma"/>
                <a:cs typeface="Tahoma"/>
              </a:rPr>
              <a:t>not</a:t>
            </a:r>
            <a:r>
              <a:rPr sz="1250" spc="110" dirty="0">
                <a:latin typeface="Tahoma"/>
                <a:cs typeface="Tahoma"/>
              </a:rPr>
              <a:t> </a:t>
            </a:r>
            <a:r>
              <a:rPr sz="1250" dirty="0">
                <a:latin typeface="Tahoma"/>
                <a:cs typeface="Tahoma"/>
              </a:rPr>
              <a:t>only</a:t>
            </a:r>
            <a:r>
              <a:rPr sz="1250" spc="120" dirty="0">
                <a:latin typeface="Tahoma"/>
                <a:cs typeface="Tahoma"/>
              </a:rPr>
              <a:t> </a:t>
            </a:r>
            <a:r>
              <a:rPr sz="1250" dirty="0">
                <a:solidFill>
                  <a:srgbClr val="FF0000"/>
                </a:solidFill>
                <a:latin typeface="Tahoma"/>
                <a:cs typeface="Tahoma"/>
              </a:rPr>
              <a:t>irritate</a:t>
            </a:r>
            <a:r>
              <a:rPr sz="1250" spc="155" dirty="0">
                <a:solidFill>
                  <a:srgbClr val="FF0000"/>
                </a:solidFill>
                <a:latin typeface="Tahoma"/>
                <a:cs typeface="Tahoma"/>
              </a:rPr>
              <a:t> </a:t>
            </a:r>
            <a:r>
              <a:rPr sz="1250" dirty="0">
                <a:solidFill>
                  <a:srgbClr val="FF0000"/>
                </a:solidFill>
                <a:latin typeface="Tahoma"/>
                <a:cs typeface="Tahoma"/>
              </a:rPr>
              <a:t>the</a:t>
            </a:r>
            <a:r>
              <a:rPr sz="1250" spc="85" dirty="0">
                <a:solidFill>
                  <a:srgbClr val="FF0000"/>
                </a:solidFill>
                <a:latin typeface="Tahoma"/>
                <a:cs typeface="Tahoma"/>
              </a:rPr>
              <a:t> </a:t>
            </a:r>
            <a:r>
              <a:rPr sz="1250" dirty="0">
                <a:solidFill>
                  <a:srgbClr val="FF0000"/>
                </a:solidFill>
                <a:latin typeface="Tahoma"/>
                <a:cs typeface="Tahoma"/>
              </a:rPr>
              <a:t>recipients</a:t>
            </a:r>
            <a:r>
              <a:rPr sz="1250" spc="120" dirty="0">
                <a:solidFill>
                  <a:srgbClr val="FF0000"/>
                </a:solidFill>
                <a:latin typeface="Tahoma"/>
                <a:cs typeface="Tahoma"/>
              </a:rPr>
              <a:t> </a:t>
            </a:r>
            <a:r>
              <a:rPr sz="1250" dirty="0">
                <a:latin typeface="Tahoma"/>
                <a:cs typeface="Tahoma"/>
              </a:rPr>
              <a:t>and</a:t>
            </a:r>
            <a:r>
              <a:rPr sz="1250" spc="95" dirty="0">
                <a:latin typeface="Tahoma"/>
                <a:cs typeface="Tahoma"/>
              </a:rPr>
              <a:t> </a:t>
            </a:r>
            <a:r>
              <a:rPr sz="1250" dirty="0">
                <a:solidFill>
                  <a:srgbClr val="FF0000"/>
                </a:solidFill>
                <a:latin typeface="Tahoma"/>
                <a:cs typeface="Tahoma"/>
              </a:rPr>
              <a:t>overload</a:t>
            </a:r>
            <a:r>
              <a:rPr sz="1250" spc="170" dirty="0">
                <a:solidFill>
                  <a:srgbClr val="FF0000"/>
                </a:solidFill>
                <a:latin typeface="Tahoma"/>
                <a:cs typeface="Tahoma"/>
              </a:rPr>
              <a:t> </a:t>
            </a:r>
            <a:r>
              <a:rPr sz="1250" dirty="0">
                <a:solidFill>
                  <a:srgbClr val="FF0000"/>
                </a:solidFill>
                <a:latin typeface="Tahoma"/>
                <a:cs typeface="Tahoma"/>
              </a:rPr>
              <a:t>the</a:t>
            </a:r>
            <a:r>
              <a:rPr sz="1250" spc="90" dirty="0">
                <a:solidFill>
                  <a:srgbClr val="FF0000"/>
                </a:solidFill>
                <a:latin typeface="Tahoma"/>
                <a:cs typeface="Tahoma"/>
              </a:rPr>
              <a:t> </a:t>
            </a:r>
            <a:r>
              <a:rPr sz="1250" dirty="0">
                <a:solidFill>
                  <a:srgbClr val="FF0000"/>
                </a:solidFill>
                <a:latin typeface="Tahoma"/>
                <a:cs typeface="Tahoma"/>
              </a:rPr>
              <a:t>network</a:t>
            </a:r>
            <a:r>
              <a:rPr sz="1250" spc="125" dirty="0">
                <a:solidFill>
                  <a:srgbClr val="FF0000"/>
                </a:solidFill>
                <a:latin typeface="Tahoma"/>
                <a:cs typeface="Tahoma"/>
              </a:rPr>
              <a:t> </a:t>
            </a:r>
            <a:r>
              <a:rPr sz="1250" dirty="0">
                <a:latin typeface="Tahoma"/>
                <a:cs typeface="Tahoma"/>
              </a:rPr>
              <a:t>but</a:t>
            </a:r>
            <a:r>
              <a:rPr sz="1250" spc="110" dirty="0">
                <a:latin typeface="Tahoma"/>
                <a:cs typeface="Tahoma"/>
              </a:rPr>
              <a:t> </a:t>
            </a:r>
            <a:r>
              <a:rPr sz="1250" dirty="0">
                <a:latin typeface="Tahoma"/>
                <a:cs typeface="Tahoma"/>
              </a:rPr>
              <a:t>also</a:t>
            </a:r>
            <a:r>
              <a:rPr sz="1250" spc="155" dirty="0">
                <a:latin typeface="Tahoma"/>
                <a:cs typeface="Tahoma"/>
              </a:rPr>
              <a:t> </a:t>
            </a:r>
            <a:r>
              <a:rPr sz="1250" dirty="0">
                <a:latin typeface="Tahoma"/>
                <a:cs typeface="Tahoma"/>
              </a:rPr>
              <a:t>waste</a:t>
            </a:r>
            <a:r>
              <a:rPr sz="1250" spc="120" dirty="0">
                <a:latin typeface="Tahoma"/>
                <a:cs typeface="Tahoma"/>
              </a:rPr>
              <a:t> </a:t>
            </a:r>
            <a:r>
              <a:rPr sz="1250" dirty="0">
                <a:latin typeface="Tahoma"/>
                <a:cs typeface="Tahoma"/>
              </a:rPr>
              <a:t>the</a:t>
            </a:r>
            <a:r>
              <a:rPr sz="1250" spc="114" dirty="0">
                <a:latin typeface="Tahoma"/>
                <a:cs typeface="Tahoma"/>
              </a:rPr>
              <a:t> </a:t>
            </a:r>
            <a:r>
              <a:rPr sz="1250" dirty="0">
                <a:solidFill>
                  <a:srgbClr val="FF0000"/>
                </a:solidFill>
                <a:latin typeface="Tahoma"/>
                <a:cs typeface="Tahoma"/>
              </a:rPr>
              <a:t>time</a:t>
            </a:r>
            <a:r>
              <a:rPr sz="1250" spc="120" dirty="0">
                <a:solidFill>
                  <a:srgbClr val="FF0000"/>
                </a:solidFill>
                <a:latin typeface="Tahoma"/>
                <a:cs typeface="Tahoma"/>
              </a:rPr>
              <a:t> </a:t>
            </a:r>
            <a:r>
              <a:rPr sz="1250" dirty="0">
                <a:solidFill>
                  <a:srgbClr val="FF0000"/>
                </a:solidFill>
                <a:latin typeface="Tahoma"/>
                <a:cs typeface="Tahoma"/>
              </a:rPr>
              <a:t>and</a:t>
            </a:r>
            <a:r>
              <a:rPr sz="1250" spc="135" dirty="0">
                <a:solidFill>
                  <a:srgbClr val="FF0000"/>
                </a:solidFill>
                <a:latin typeface="Tahoma"/>
                <a:cs typeface="Tahoma"/>
              </a:rPr>
              <a:t> </a:t>
            </a:r>
            <a:r>
              <a:rPr sz="1250" dirty="0">
                <a:solidFill>
                  <a:srgbClr val="FF0000"/>
                </a:solidFill>
                <a:latin typeface="Tahoma"/>
                <a:cs typeface="Tahoma"/>
              </a:rPr>
              <a:t>occupy</a:t>
            </a:r>
            <a:r>
              <a:rPr sz="1250" spc="125" dirty="0">
                <a:solidFill>
                  <a:srgbClr val="FF0000"/>
                </a:solidFill>
                <a:latin typeface="Tahoma"/>
                <a:cs typeface="Tahoma"/>
              </a:rPr>
              <a:t> </a:t>
            </a:r>
            <a:r>
              <a:rPr sz="1250" spc="-25" dirty="0">
                <a:latin typeface="Tahoma"/>
                <a:cs typeface="Tahoma"/>
              </a:rPr>
              <a:t>the </a:t>
            </a:r>
            <a:r>
              <a:rPr sz="1250" dirty="0">
                <a:latin typeface="Tahoma"/>
                <a:cs typeface="Tahoma"/>
              </a:rPr>
              <a:t>valuable</a:t>
            </a:r>
            <a:r>
              <a:rPr sz="1250" spc="145" dirty="0">
                <a:latin typeface="Tahoma"/>
                <a:cs typeface="Tahoma"/>
              </a:rPr>
              <a:t> </a:t>
            </a:r>
            <a:r>
              <a:rPr sz="1250" dirty="0">
                <a:latin typeface="Tahoma"/>
                <a:cs typeface="Tahoma"/>
              </a:rPr>
              <a:t>memory</a:t>
            </a:r>
            <a:r>
              <a:rPr sz="1250" spc="165" dirty="0">
                <a:latin typeface="Tahoma"/>
                <a:cs typeface="Tahoma"/>
              </a:rPr>
              <a:t> </a:t>
            </a:r>
            <a:r>
              <a:rPr sz="1250" spc="-20" dirty="0">
                <a:solidFill>
                  <a:srgbClr val="FF0000"/>
                </a:solidFill>
                <a:latin typeface="Tahoma"/>
                <a:cs typeface="Tahoma"/>
              </a:rPr>
              <a:t>space</a:t>
            </a:r>
            <a:endParaRPr sz="1250">
              <a:latin typeface="Tahoma"/>
              <a:cs typeface="Tahoma"/>
            </a:endParaRPr>
          </a:p>
          <a:p>
            <a:pPr marL="262255">
              <a:lnSpc>
                <a:spcPct val="100000"/>
              </a:lnSpc>
              <a:spcBef>
                <a:spcPts val="545"/>
              </a:spcBef>
            </a:pPr>
            <a:r>
              <a:rPr sz="1450" dirty="0">
                <a:latin typeface="Tahoma"/>
                <a:cs typeface="Tahoma"/>
              </a:rPr>
              <a:t>Cross</a:t>
            </a:r>
            <a:r>
              <a:rPr sz="1450" spc="-95" dirty="0">
                <a:latin typeface="Tahoma"/>
                <a:cs typeface="Tahoma"/>
              </a:rPr>
              <a:t> </a:t>
            </a:r>
            <a:r>
              <a:rPr sz="1450" dirty="0">
                <a:latin typeface="Tahoma"/>
                <a:cs typeface="Tahoma"/>
              </a:rPr>
              <a:t>Site</a:t>
            </a:r>
            <a:r>
              <a:rPr sz="1450" spc="-65" dirty="0">
                <a:latin typeface="Tahoma"/>
                <a:cs typeface="Tahoma"/>
              </a:rPr>
              <a:t> </a:t>
            </a:r>
            <a:r>
              <a:rPr sz="1450" spc="-10" dirty="0">
                <a:latin typeface="Tahoma"/>
                <a:cs typeface="Tahoma"/>
              </a:rPr>
              <a:t>Scripting</a:t>
            </a:r>
            <a:endParaRPr sz="1450">
              <a:latin typeface="Tahoma"/>
              <a:cs typeface="Tahoma"/>
            </a:endParaRPr>
          </a:p>
          <a:p>
            <a:pPr marL="501650" lvl="1" indent="-239395">
              <a:lnSpc>
                <a:spcPct val="100000"/>
              </a:lnSpc>
              <a:spcBef>
                <a:spcPts val="330"/>
              </a:spcBef>
              <a:buClr>
                <a:srgbClr val="3A802E"/>
              </a:buClr>
              <a:buSzPct val="60000"/>
              <a:buFont typeface="Segoe UI Symbol"/>
              <a:buChar char="❑"/>
              <a:tabLst>
                <a:tab pos="501650" algn="l"/>
              </a:tabLst>
            </a:pPr>
            <a:r>
              <a:rPr sz="1250" dirty="0">
                <a:solidFill>
                  <a:srgbClr val="FF0000"/>
                </a:solidFill>
                <a:latin typeface="Tahoma"/>
                <a:cs typeface="Tahoma"/>
              </a:rPr>
              <a:t>Injecting</a:t>
            </a:r>
            <a:r>
              <a:rPr sz="1250" spc="90" dirty="0">
                <a:solidFill>
                  <a:srgbClr val="FF0000"/>
                </a:solidFill>
                <a:latin typeface="Tahoma"/>
                <a:cs typeface="Tahoma"/>
              </a:rPr>
              <a:t> </a:t>
            </a:r>
            <a:r>
              <a:rPr sz="1250" dirty="0">
                <a:latin typeface="Tahoma"/>
                <a:cs typeface="Tahoma"/>
              </a:rPr>
              <a:t>a</a:t>
            </a:r>
            <a:r>
              <a:rPr sz="1250" spc="120" dirty="0">
                <a:latin typeface="Tahoma"/>
                <a:cs typeface="Tahoma"/>
              </a:rPr>
              <a:t> </a:t>
            </a:r>
            <a:r>
              <a:rPr sz="1250" dirty="0">
                <a:latin typeface="Tahoma"/>
                <a:cs typeface="Tahoma"/>
              </a:rPr>
              <a:t>malicious</a:t>
            </a:r>
            <a:r>
              <a:rPr sz="1250" spc="100" dirty="0">
                <a:latin typeface="Tahoma"/>
                <a:cs typeface="Tahoma"/>
              </a:rPr>
              <a:t> </a:t>
            </a:r>
            <a:r>
              <a:rPr sz="1250" dirty="0">
                <a:solidFill>
                  <a:srgbClr val="FF0000"/>
                </a:solidFill>
                <a:latin typeface="Tahoma"/>
                <a:cs typeface="Tahoma"/>
              </a:rPr>
              <a:t>client</a:t>
            </a:r>
            <a:r>
              <a:rPr sz="1250" spc="130" dirty="0">
                <a:solidFill>
                  <a:srgbClr val="FF0000"/>
                </a:solidFill>
                <a:latin typeface="Tahoma"/>
                <a:cs typeface="Tahoma"/>
              </a:rPr>
              <a:t> </a:t>
            </a:r>
            <a:r>
              <a:rPr sz="1250" dirty="0">
                <a:solidFill>
                  <a:srgbClr val="FF0000"/>
                </a:solidFill>
                <a:latin typeface="Tahoma"/>
                <a:cs typeface="Tahoma"/>
              </a:rPr>
              <a:t>side</a:t>
            </a:r>
            <a:r>
              <a:rPr sz="1250" spc="110" dirty="0">
                <a:solidFill>
                  <a:srgbClr val="FF0000"/>
                </a:solidFill>
                <a:latin typeface="Tahoma"/>
                <a:cs typeface="Tahoma"/>
              </a:rPr>
              <a:t> </a:t>
            </a:r>
            <a:r>
              <a:rPr sz="1250" dirty="0">
                <a:solidFill>
                  <a:srgbClr val="FF0000"/>
                </a:solidFill>
                <a:latin typeface="Tahoma"/>
                <a:cs typeface="Tahoma"/>
              </a:rPr>
              <a:t>script</a:t>
            </a:r>
            <a:r>
              <a:rPr sz="1250" spc="90" dirty="0">
                <a:solidFill>
                  <a:srgbClr val="FF0000"/>
                </a:solidFill>
                <a:latin typeface="Tahoma"/>
                <a:cs typeface="Tahoma"/>
              </a:rPr>
              <a:t> </a:t>
            </a:r>
            <a:r>
              <a:rPr sz="1250" dirty="0">
                <a:latin typeface="Tahoma"/>
                <a:cs typeface="Tahoma"/>
              </a:rPr>
              <a:t>into</a:t>
            </a:r>
            <a:r>
              <a:rPr sz="1250" spc="114" dirty="0">
                <a:latin typeface="Tahoma"/>
                <a:cs typeface="Tahoma"/>
              </a:rPr>
              <a:t> </a:t>
            </a:r>
            <a:r>
              <a:rPr sz="1250" dirty="0">
                <a:latin typeface="Tahoma"/>
                <a:cs typeface="Tahoma"/>
              </a:rPr>
              <a:t>a</a:t>
            </a:r>
            <a:r>
              <a:rPr sz="1250" spc="135" dirty="0">
                <a:latin typeface="Tahoma"/>
                <a:cs typeface="Tahoma"/>
              </a:rPr>
              <a:t> </a:t>
            </a:r>
            <a:r>
              <a:rPr sz="1250" dirty="0">
                <a:latin typeface="Tahoma"/>
                <a:cs typeface="Tahoma"/>
              </a:rPr>
              <a:t>trusted</a:t>
            </a:r>
            <a:r>
              <a:rPr sz="1250" spc="90" dirty="0">
                <a:latin typeface="Tahoma"/>
                <a:cs typeface="Tahoma"/>
              </a:rPr>
              <a:t> </a:t>
            </a:r>
            <a:r>
              <a:rPr sz="1250" spc="-10" dirty="0">
                <a:latin typeface="Tahoma"/>
                <a:cs typeface="Tahoma"/>
              </a:rPr>
              <a:t>website</a:t>
            </a:r>
            <a:endParaRPr sz="1250">
              <a:latin typeface="Tahoma"/>
              <a:cs typeface="Tahoma"/>
            </a:endParaRPr>
          </a:p>
          <a:p>
            <a:pPr marL="501650" lvl="1" indent="-239395">
              <a:lnSpc>
                <a:spcPct val="100000"/>
              </a:lnSpc>
              <a:spcBef>
                <a:spcPts val="340"/>
              </a:spcBef>
              <a:buClr>
                <a:srgbClr val="3A802E"/>
              </a:buClr>
              <a:buSzPct val="60000"/>
              <a:buFont typeface="Segoe UI Symbol"/>
              <a:buChar char="❑"/>
              <a:tabLst>
                <a:tab pos="501650" algn="l"/>
              </a:tabLst>
            </a:pPr>
            <a:r>
              <a:rPr sz="1250" dirty="0">
                <a:latin typeface="Tahoma"/>
                <a:cs typeface="Tahoma"/>
              </a:rPr>
              <a:t>Malicious</a:t>
            </a:r>
            <a:r>
              <a:rPr sz="1250" spc="114" dirty="0">
                <a:latin typeface="Tahoma"/>
                <a:cs typeface="Tahoma"/>
              </a:rPr>
              <a:t> </a:t>
            </a:r>
            <a:r>
              <a:rPr sz="1250" dirty="0">
                <a:latin typeface="Tahoma"/>
                <a:cs typeface="Tahoma"/>
              </a:rPr>
              <a:t>script</a:t>
            </a:r>
            <a:r>
              <a:rPr sz="1250" spc="110" dirty="0">
                <a:latin typeface="Tahoma"/>
                <a:cs typeface="Tahoma"/>
              </a:rPr>
              <a:t> </a:t>
            </a:r>
            <a:r>
              <a:rPr sz="1250" dirty="0">
                <a:latin typeface="Tahoma"/>
                <a:cs typeface="Tahoma"/>
              </a:rPr>
              <a:t>gets</a:t>
            </a:r>
            <a:r>
              <a:rPr sz="1250" spc="140" dirty="0">
                <a:latin typeface="Tahoma"/>
                <a:cs typeface="Tahoma"/>
              </a:rPr>
              <a:t> </a:t>
            </a:r>
            <a:r>
              <a:rPr sz="1250" dirty="0">
                <a:solidFill>
                  <a:srgbClr val="FF0000"/>
                </a:solidFill>
                <a:latin typeface="Tahoma"/>
                <a:cs typeface="Tahoma"/>
              </a:rPr>
              <a:t>access</a:t>
            </a:r>
            <a:r>
              <a:rPr sz="1250" spc="130" dirty="0">
                <a:solidFill>
                  <a:srgbClr val="FF0000"/>
                </a:solidFill>
                <a:latin typeface="Tahoma"/>
                <a:cs typeface="Tahoma"/>
              </a:rPr>
              <a:t> </a:t>
            </a:r>
            <a:r>
              <a:rPr sz="1250" dirty="0">
                <a:solidFill>
                  <a:srgbClr val="FF0000"/>
                </a:solidFill>
                <a:latin typeface="Tahoma"/>
                <a:cs typeface="Tahoma"/>
              </a:rPr>
              <a:t>to</a:t>
            </a:r>
            <a:r>
              <a:rPr sz="1250" spc="130" dirty="0">
                <a:solidFill>
                  <a:srgbClr val="FF0000"/>
                </a:solidFill>
                <a:latin typeface="Tahoma"/>
                <a:cs typeface="Tahoma"/>
              </a:rPr>
              <a:t> </a:t>
            </a:r>
            <a:r>
              <a:rPr sz="1250" dirty="0">
                <a:solidFill>
                  <a:srgbClr val="FF0000"/>
                </a:solidFill>
                <a:latin typeface="Tahoma"/>
                <a:cs typeface="Tahoma"/>
              </a:rPr>
              <a:t>the</a:t>
            </a:r>
            <a:r>
              <a:rPr sz="1250" spc="105" dirty="0">
                <a:solidFill>
                  <a:srgbClr val="FF0000"/>
                </a:solidFill>
                <a:latin typeface="Tahoma"/>
                <a:cs typeface="Tahoma"/>
              </a:rPr>
              <a:t> </a:t>
            </a:r>
            <a:r>
              <a:rPr sz="1250" dirty="0">
                <a:solidFill>
                  <a:srgbClr val="FF0000"/>
                </a:solidFill>
                <a:latin typeface="Tahoma"/>
                <a:cs typeface="Tahoma"/>
              </a:rPr>
              <a:t>cookies</a:t>
            </a:r>
            <a:r>
              <a:rPr sz="1250" spc="145" dirty="0">
                <a:solidFill>
                  <a:srgbClr val="FF0000"/>
                </a:solidFill>
                <a:latin typeface="Tahoma"/>
                <a:cs typeface="Tahoma"/>
              </a:rPr>
              <a:t> </a:t>
            </a:r>
            <a:r>
              <a:rPr sz="1250" dirty="0">
                <a:latin typeface="Tahoma"/>
                <a:cs typeface="Tahoma"/>
              </a:rPr>
              <a:t>and</a:t>
            </a:r>
            <a:r>
              <a:rPr sz="1250" spc="160" dirty="0">
                <a:latin typeface="Tahoma"/>
                <a:cs typeface="Tahoma"/>
              </a:rPr>
              <a:t> </a:t>
            </a:r>
            <a:r>
              <a:rPr sz="1250" dirty="0">
                <a:solidFill>
                  <a:srgbClr val="FF0000"/>
                </a:solidFill>
                <a:latin typeface="Tahoma"/>
                <a:cs typeface="Tahoma"/>
              </a:rPr>
              <a:t>other</a:t>
            </a:r>
            <a:r>
              <a:rPr sz="1250" spc="90" dirty="0">
                <a:solidFill>
                  <a:srgbClr val="FF0000"/>
                </a:solidFill>
                <a:latin typeface="Tahoma"/>
                <a:cs typeface="Tahoma"/>
              </a:rPr>
              <a:t> </a:t>
            </a:r>
            <a:r>
              <a:rPr sz="1250" dirty="0">
                <a:solidFill>
                  <a:srgbClr val="FF0000"/>
                </a:solidFill>
                <a:latin typeface="Tahoma"/>
                <a:cs typeface="Tahoma"/>
              </a:rPr>
              <a:t>sensitive</a:t>
            </a:r>
            <a:r>
              <a:rPr sz="1250" spc="130" dirty="0">
                <a:solidFill>
                  <a:srgbClr val="FF0000"/>
                </a:solidFill>
                <a:latin typeface="Tahoma"/>
                <a:cs typeface="Tahoma"/>
              </a:rPr>
              <a:t> </a:t>
            </a:r>
            <a:r>
              <a:rPr sz="1250" dirty="0">
                <a:solidFill>
                  <a:srgbClr val="FF0000"/>
                </a:solidFill>
                <a:latin typeface="Tahoma"/>
                <a:cs typeface="Tahoma"/>
              </a:rPr>
              <a:t>information</a:t>
            </a:r>
            <a:r>
              <a:rPr sz="1250" spc="105" dirty="0">
                <a:solidFill>
                  <a:srgbClr val="FF0000"/>
                </a:solidFill>
                <a:latin typeface="Tahoma"/>
                <a:cs typeface="Tahoma"/>
              </a:rPr>
              <a:t> </a:t>
            </a:r>
            <a:r>
              <a:rPr sz="1250" dirty="0">
                <a:latin typeface="Tahoma"/>
                <a:cs typeface="Tahoma"/>
              </a:rPr>
              <a:t>and</a:t>
            </a:r>
            <a:r>
              <a:rPr sz="1250" spc="150" dirty="0">
                <a:latin typeface="Tahoma"/>
                <a:cs typeface="Tahoma"/>
              </a:rPr>
              <a:t> </a:t>
            </a:r>
            <a:r>
              <a:rPr sz="1250" dirty="0">
                <a:latin typeface="Tahoma"/>
                <a:cs typeface="Tahoma"/>
              </a:rPr>
              <a:t>sent</a:t>
            </a:r>
            <a:r>
              <a:rPr sz="1250" spc="125" dirty="0">
                <a:latin typeface="Tahoma"/>
                <a:cs typeface="Tahoma"/>
              </a:rPr>
              <a:t> </a:t>
            </a:r>
            <a:r>
              <a:rPr sz="1250" dirty="0">
                <a:latin typeface="Tahoma"/>
                <a:cs typeface="Tahoma"/>
              </a:rPr>
              <a:t>to</a:t>
            </a:r>
            <a:r>
              <a:rPr sz="1250" spc="130" dirty="0">
                <a:latin typeface="Tahoma"/>
                <a:cs typeface="Tahoma"/>
              </a:rPr>
              <a:t> </a:t>
            </a:r>
            <a:r>
              <a:rPr sz="1250" dirty="0">
                <a:latin typeface="Tahoma"/>
                <a:cs typeface="Tahoma"/>
              </a:rPr>
              <a:t>remote</a:t>
            </a:r>
            <a:r>
              <a:rPr sz="1250" spc="135" dirty="0">
                <a:latin typeface="Tahoma"/>
                <a:cs typeface="Tahoma"/>
              </a:rPr>
              <a:t> </a:t>
            </a:r>
            <a:r>
              <a:rPr sz="1250" spc="-10" dirty="0">
                <a:latin typeface="Tahoma"/>
                <a:cs typeface="Tahoma"/>
              </a:rPr>
              <a:t>servers</a:t>
            </a:r>
            <a:endParaRPr sz="1250">
              <a:latin typeface="Tahoma"/>
              <a:cs typeface="Tahoma"/>
            </a:endParaRPr>
          </a:p>
          <a:p>
            <a:pPr marL="320040" indent="-307340">
              <a:lnSpc>
                <a:spcPct val="100000"/>
              </a:lnSpc>
              <a:spcBef>
                <a:spcPts val="414"/>
              </a:spcBef>
              <a:buClr>
                <a:srgbClr val="CC9900"/>
              </a:buClr>
              <a:buSzPct val="62068"/>
              <a:buFont typeface="Times New Roman"/>
              <a:buChar char="■"/>
              <a:tabLst>
                <a:tab pos="320040" algn="l"/>
              </a:tabLst>
            </a:pPr>
            <a:r>
              <a:rPr sz="1450" dirty="0">
                <a:latin typeface="Tahoma"/>
                <a:cs typeface="Tahoma"/>
              </a:rPr>
              <a:t>Online</a:t>
            </a:r>
            <a:r>
              <a:rPr sz="1450" spc="-85" dirty="0">
                <a:latin typeface="Tahoma"/>
                <a:cs typeface="Tahoma"/>
              </a:rPr>
              <a:t> </a:t>
            </a:r>
            <a:r>
              <a:rPr sz="1450" dirty="0">
                <a:latin typeface="Tahoma"/>
                <a:cs typeface="Tahoma"/>
              </a:rPr>
              <a:t>Auction</a:t>
            </a:r>
            <a:r>
              <a:rPr sz="1450" spc="-75" dirty="0">
                <a:latin typeface="Tahoma"/>
                <a:cs typeface="Tahoma"/>
              </a:rPr>
              <a:t> </a:t>
            </a:r>
            <a:r>
              <a:rPr sz="1450" spc="-10" dirty="0">
                <a:latin typeface="Tahoma"/>
                <a:cs typeface="Tahoma"/>
              </a:rPr>
              <a:t>Fraud</a:t>
            </a:r>
            <a:endParaRPr sz="1450">
              <a:latin typeface="Tahoma"/>
              <a:cs typeface="Tahoma"/>
            </a:endParaRPr>
          </a:p>
          <a:p>
            <a:pPr marL="501650" marR="5080" lvl="1" indent="-239395">
              <a:lnSpc>
                <a:spcPct val="105600"/>
              </a:lnSpc>
              <a:spcBef>
                <a:spcPts val="150"/>
              </a:spcBef>
              <a:buClr>
                <a:srgbClr val="3A802E"/>
              </a:buClr>
              <a:buSzPct val="60000"/>
              <a:buFont typeface="Segoe UI Symbol"/>
              <a:buChar char="❑"/>
              <a:tabLst>
                <a:tab pos="501650" algn="l"/>
              </a:tabLst>
            </a:pPr>
            <a:r>
              <a:rPr sz="1250" dirty="0">
                <a:latin typeface="Tahoma"/>
                <a:cs typeface="Tahoma"/>
              </a:rPr>
              <a:t>Online</a:t>
            </a:r>
            <a:r>
              <a:rPr sz="1250" spc="85" dirty="0">
                <a:latin typeface="Tahoma"/>
                <a:cs typeface="Tahoma"/>
              </a:rPr>
              <a:t> </a:t>
            </a:r>
            <a:r>
              <a:rPr sz="1250" dirty="0">
                <a:latin typeface="Tahoma"/>
                <a:cs typeface="Tahoma"/>
              </a:rPr>
              <a:t>auction</a:t>
            </a:r>
            <a:r>
              <a:rPr sz="1250" spc="105" dirty="0">
                <a:latin typeface="Tahoma"/>
                <a:cs typeface="Tahoma"/>
              </a:rPr>
              <a:t> </a:t>
            </a:r>
            <a:r>
              <a:rPr sz="1250" dirty="0">
                <a:latin typeface="Tahoma"/>
                <a:cs typeface="Tahoma"/>
              </a:rPr>
              <a:t>fraud</a:t>
            </a:r>
            <a:r>
              <a:rPr sz="1250" spc="85" dirty="0">
                <a:latin typeface="Tahoma"/>
                <a:cs typeface="Tahoma"/>
              </a:rPr>
              <a:t> </a:t>
            </a:r>
            <a:r>
              <a:rPr sz="1250" dirty="0">
                <a:latin typeface="Tahoma"/>
                <a:cs typeface="Tahoma"/>
              </a:rPr>
              <a:t>schemes</a:t>
            </a:r>
            <a:r>
              <a:rPr sz="1250" spc="145" dirty="0">
                <a:latin typeface="Tahoma"/>
                <a:cs typeface="Tahoma"/>
              </a:rPr>
              <a:t> </a:t>
            </a:r>
            <a:r>
              <a:rPr sz="1250" dirty="0">
                <a:latin typeface="Tahoma"/>
                <a:cs typeface="Tahoma"/>
              </a:rPr>
              <a:t>which</a:t>
            </a:r>
            <a:r>
              <a:rPr sz="1250" spc="85" dirty="0">
                <a:latin typeface="Tahoma"/>
                <a:cs typeface="Tahoma"/>
              </a:rPr>
              <a:t> </a:t>
            </a:r>
            <a:r>
              <a:rPr sz="1250" dirty="0">
                <a:latin typeface="Tahoma"/>
                <a:cs typeface="Tahoma"/>
              </a:rPr>
              <a:t>often</a:t>
            </a:r>
            <a:r>
              <a:rPr sz="1250" spc="125" dirty="0">
                <a:latin typeface="Tahoma"/>
                <a:cs typeface="Tahoma"/>
              </a:rPr>
              <a:t> </a:t>
            </a:r>
            <a:r>
              <a:rPr sz="1250" dirty="0">
                <a:solidFill>
                  <a:srgbClr val="FF0000"/>
                </a:solidFill>
                <a:latin typeface="Tahoma"/>
                <a:cs typeface="Tahoma"/>
              </a:rPr>
              <a:t>lead</a:t>
            </a:r>
            <a:r>
              <a:rPr sz="1250" spc="160" dirty="0">
                <a:solidFill>
                  <a:srgbClr val="FF0000"/>
                </a:solidFill>
                <a:latin typeface="Tahoma"/>
                <a:cs typeface="Tahoma"/>
              </a:rPr>
              <a:t> </a:t>
            </a:r>
            <a:r>
              <a:rPr sz="1250" dirty="0">
                <a:solidFill>
                  <a:srgbClr val="FF0000"/>
                </a:solidFill>
                <a:latin typeface="Tahoma"/>
                <a:cs typeface="Tahoma"/>
              </a:rPr>
              <a:t>to</a:t>
            </a:r>
            <a:r>
              <a:rPr sz="1250" spc="100" dirty="0">
                <a:solidFill>
                  <a:srgbClr val="FF0000"/>
                </a:solidFill>
                <a:latin typeface="Tahoma"/>
                <a:cs typeface="Tahoma"/>
              </a:rPr>
              <a:t> </a:t>
            </a:r>
            <a:r>
              <a:rPr sz="1250" dirty="0">
                <a:solidFill>
                  <a:srgbClr val="FF0000"/>
                </a:solidFill>
                <a:latin typeface="Tahoma"/>
                <a:cs typeface="Tahoma"/>
              </a:rPr>
              <a:t>either</a:t>
            </a:r>
            <a:r>
              <a:rPr sz="1250" spc="135" dirty="0">
                <a:solidFill>
                  <a:srgbClr val="FF0000"/>
                </a:solidFill>
                <a:latin typeface="Tahoma"/>
                <a:cs typeface="Tahoma"/>
              </a:rPr>
              <a:t> </a:t>
            </a:r>
            <a:r>
              <a:rPr sz="1250" dirty="0">
                <a:solidFill>
                  <a:srgbClr val="FF0000"/>
                </a:solidFill>
                <a:latin typeface="Tahoma"/>
                <a:cs typeface="Tahoma"/>
              </a:rPr>
              <a:t>overpayment</a:t>
            </a:r>
            <a:r>
              <a:rPr sz="1250" spc="145" dirty="0">
                <a:solidFill>
                  <a:srgbClr val="FF0000"/>
                </a:solidFill>
                <a:latin typeface="Tahoma"/>
                <a:cs typeface="Tahoma"/>
              </a:rPr>
              <a:t> </a:t>
            </a:r>
            <a:r>
              <a:rPr sz="1250" dirty="0">
                <a:latin typeface="Tahoma"/>
                <a:cs typeface="Tahoma"/>
              </a:rPr>
              <a:t>of</a:t>
            </a:r>
            <a:r>
              <a:rPr sz="1250" spc="160" dirty="0">
                <a:latin typeface="Tahoma"/>
                <a:cs typeface="Tahoma"/>
              </a:rPr>
              <a:t> </a:t>
            </a:r>
            <a:r>
              <a:rPr sz="1250" dirty="0">
                <a:latin typeface="Tahoma"/>
                <a:cs typeface="Tahoma"/>
              </a:rPr>
              <a:t>the</a:t>
            </a:r>
            <a:r>
              <a:rPr sz="1250" spc="95" dirty="0">
                <a:latin typeface="Tahoma"/>
                <a:cs typeface="Tahoma"/>
              </a:rPr>
              <a:t> </a:t>
            </a:r>
            <a:r>
              <a:rPr sz="1250" dirty="0">
                <a:latin typeface="Tahoma"/>
                <a:cs typeface="Tahoma"/>
              </a:rPr>
              <a:t>product</a:t>
            </a:r>
            <a:r>
              <a:rPr sz="1250" spc="105" dirty="0">
                <a:latin typeface="Tahoma"/>
                <a:cs typeface="Tahoma"/>
              </a:rPr>
              <a:t> </a:t>
            </a:r>
            <a:r>
              <a:rPr sz="1250" dirty="0">
                <a:latin typeface="Tahoma"/>
                <a:cs typeface="Tahoma"/>
              </a:rPr>
              <a:t>or</a:t>
            </a:r>
            <a:r>
              <a:rPr sz="1250" spc="135" dirty="0">
                <a:latin typeface="Tahoma"/>
                <a:cs typeface="Tahoma"/>
              </a:rPr>
              <a:t> </a:t>
            </a:r>
            <a:r>
              <a:rPr sz="1250" dirty="0">
                <a:latin typeface="Tahoma"/>
                <a:cs typeface="Tahoma"/>
              </a:rPr>
              <a:t>the</a:t>
            </a:r>
            <a:r>
              <a:rPr sz="1250" spc="95" dirty="0">
                <a:latin typeface="Tahoma"/>
                <a:cs typeface="Tahoma"/>
              </a:rPr>
              <a:t> </a:t>
            </a:r>
            <a:r>
              <a:rPr sz="1250" dirty="0">
                <a:latin typeface="Tahoma"/>
                <a:cs typeface="Tahoma"/>
              </a:rPr>
              <a:t>item</a:t>
            </a:r>
            <a:r>
              <a:rPr sz="1250" spc="110" dirty="0">
                <a:latin typeface="Tahoma"/>
                <a:cs typeface="Tahoma"/>
              </a:rPr>
              <a:t> </a:t>
            </a:r>
            <a:r>
              <a:rPr sz="1250" dirty="0">
                <a:latin typeface="Tahoma"/>
                <a:cs typeface="Tahoma"/>
              </a:rPr>
              <a:t>is</a:t>
            </a:r>
            <a:r>
              <a:rPr sz="1250" spc="105" dirty="0">
                <a:latin typeface="Tahoma"/>
                <a:cs typeface="Tahoma"/>
              </a:rPr>
              <a:t> </a:t>
            </a:r>
            <a:r>
              <a:rPr sz="1250" spc="-10" dirty="0">
                <a:solidFill>
                  <a:srgbClr val="FF0000"/>
                </a:solidFill>
                <a:latin typeface="Tahoma"/>
                <a:cs typeface="Tahoma"/>
              </a:rPr>
              <a:t>never delivered</a:t>
            </a:r>
            <a:endParaRPr sz="1250">
              <a:latin typeface="Tahoma"/>
              <a:cs typeface="Tahoma"/>
            </a:endParaRPr>
          </a:p>
          <a:p>
            <a:pPr marL="262255" indent="-249554">
              <a:lnSpc>
                <a:spcPct val="100000"/>
              </a:lnSpc>
              <a:spcBef>
                <a:spcPts val="545"/>
              </a:spcBef>
              <a:buClr>
                <a:srgbClr val="CC9900"/>
              </a:buClr>
              <a:buSzPct val="62068"/>
              <a:buFont typeface="Times New Roman"/>
              <a:buChar char="■"/>
              <a:tabLst>
                <a:tab pos="262255" algn="l"/>
              </a:tabLst>
            </a:pPr>
            <a:r>
              <a:rPr sz="1450" spc="-10" dirty="0">
                <a:latin typeface="Tahoma"/>
                <a:cs typeface="Tahoma"/>
              </a:rPr>
              <a:t>Cyber</a:t>
            </a:r>
            <a:r>
              <a:rPr sz="1450" spc="-70" dirty="0">
                <a:latin typeface="Tahoma"/>
                <a:cs typeface="Tahoma"/>
              </a:rPr>
              <a:t> </a:t>
            </a:r>
            <a:r>
              <a:rPr sz="1450" spc="-10" dirty="0">
                <a:latin typeface="Tahoma"/>
                <a:cs typeface="Tahoma"/>
              </a:rPr>
              <a:t>Squatting</a:t>
            </a:r>
            <a:endParaRPr sz="1450">
              <a:latin typeface="Tahoma"/>
              <a:cs typeface="Tahoma"/>
            </a:endParaRPr>
          </a:p>
          <a:p>
            <a:pPr marL="501650" lvl="1" indent="-239395">
              <a:lnSpc>
                <a:spcPct val="100000"/>
              </a:lnSpc>
              <a:spcBef>
                <a:spcPts val="330"/>
              </a:spcBef>
              <a:buClr>
                <a:srgbClr val="3A802E"/>
              </a:buClr>
              <a:buSzPct val="60000"/>
              <a:buFont typeface="Segoe UI Symbol"/>
              <a:buChar char="❑"/>
              <a:tabLst>
                <a:tab pos="501650" algn="l"/>
              </a:tabLst>
            </a:pPr>
            <a:r>
              <a:rPr sz="1250" dirty="0">
                <a:solidFill>
                  <a:srgbClr val="FF0000"/>
                </a:solidFill>
                <a:latin typeface="Tahoma"/>
                <a:cs typeface="Tahoma"/>
              </a:rPr>
              <a:t>Reserving</a:t>
            </a:r>
            <a:r>
              <a:rPr sz="1250" spc="135" dirty="0">
                <a:solidFill>
                  <a:srgbClr val="FF0000"/>
                </a:solidFill>
                <a:latin typeface="Tahoma"/>
                <a:cs typeface="Tahoma"/>
              </a:rPr>
              <a:t> </a:t>
            </a:r>
            <a:r>
              <a:rPr sz="1250" dirty="0">
                <a:latin typeface="Tahoma"/>
                <a:cs typeface="Tahoma"/>
              </a:rPr>
              <a:t>the</a:t>
            </a:r>
            <a:r>
              <a:rPr sz="1250" spc="95" dirty="0">
                <a:latin typeface="Tahoma"/>
                <a:cs typeface="Tahoma"/>
              </a:rPr>
              <a:t> </a:t>
            </a:r>
            <a:r>
              <a:rPr sz="1250" dirty="0">
                <a:solidFill>
                  <a:srgbClr val="FF0000"/>
                </a:solidFill>
                <a:latin typeface="Tahoma"/>
                <a:cs typeface="Tahoma"/>
              </a:rPr>
              <a:t>domain</a:t>
            </a:r>
            <a:r>
              <a:rPr sz="1250" spc="145" dirty="0">
                <a:solidFill>
                  <a:srgbClr val="FF0000"/>
                </a:solidFill>
                <a:latin typeface="Tahoma"/>
                <a:cs typeface="Tahoma"/>
              </a:rPr>
              <a:t> </a:t>
            </a:r>
            <a:r>
              <a:rPr sz="1250" dirty="0">
                <a:solidFill>
                  <a:srgbClr val="FF0000"/>
                </a:solidFill>
                <a:latin typeface="Tahoma"/>
                <a:cs typeface="Tahoma"/>
              </a:rPr>
              <a:t>names</a:t>
            </a:r>
            <a:r>
              <a:rPr sz="1250" spc="135" dirty="0">
                <a:solidFill>
                  <a:srgbClr val="FF0000"/>
                </a:solidFill>
                <a:latin typeface="Tahoma"/>
                <a:cs typeface="Tahoma"/>
              </a:rPr>
              <a:t> </a:t>
            </a:r>
            <a:r>
              <a:rPr sz="1250" dirty="0">
                <a:latin typeface="Tahoma"/>
                <a:cs typeface="Tahoma"/>
              </a:rPr>
              <a:t>of</a:t>
            </a:r>
            <a:r>
              <a:rPr sz="1250" spc="145" dirty="0">
                <a:latin typeface="Tahoma"/>
                <a:cs typeface="Tahoma"/>
              </a:rPr>
              <a:t> </a:t>
            </a:r>
            <a:r>
              <a:rPr sz="1250" dirty="0">
                <a:latin typeface="Tahoma"/>
                <a:cs typeface="Tahoma"/>
              </a:rPr>
              <a:t>someone</a:t>
            </a:r>
            <a:r>
              <a:rPr sz="1250" spc="150" dirty="0">
                <a:latin typeface="Tahoma"/>
                <a:cs typeface="Tahoma"/>
              </a:rPr>
              <a:t> </a:t>
            </a:r>
            <a:r>
              <a:rPr sz="1250" dirty="0">
                <a:latin typeface="Tahoma"/>
                <a:cs typeface="Tahoma"/>
              </a:rPr>
              <a:t>else's</a:t>
            </a:r>
            <a:r>
              <a:rPr sz="1250" spc="125" dirty="0">
                <a:latin typeface="Tahoma"/>
                <a:cs typeface="Tahoma"/>
              </a:rPr>
              <a:t> </a:t>
            </a:r>
            <a:r>
              <a:rPr sz="1250" spc="-10" dirty="0">
                <a:latin typeface="Tahoma"/>
                <a:cs typeface="Tahoma"/>
              </a:rPr>
              <a:t>trademark</a:t>
            </a:r>
            <a:endParaRPr sz="1250">
              <a:latin typeface="Tahoma"/>
              <a:cs typeface="Tahoma"/>
            </a:endParaRPr>
          </a:p>
          <a:p>
            <a:pPr marL="501650" lvl="1" indent="-239395">
              <a:lnSpc>
                <a:spcPct val="100000"/>
              </a:lnSpc>
              <a:spcBef>
                <a:spcPts val="434"/>
              </a:spcBef>
              <a:buClr>
                <a:srgbClr val="3A802E"/>
              </a:buClr>
              <a:buSzPct val="60000"/>
              <a:buFont typeface="Segoe UI Symbol"/>
              <a:buChar char="❑"/>
              <a:tabLst>
                <a:tab pos="501650" algn="l"/>
              </a:tabLst>
            </a:pPr>
            <a:r>
              <a:rPr sz="1250" dirty="0">
                <a:latin typeface="Tahoma"/>
                <a:cs typeface="Tahoma"/>
              </a:rPr>
              <a:t>Sell</a:t>
            </a:r>
            <a:r>
              <a:rPr sz="1250" spc="100" dirty="0">
                <a:latin typeface="Tahoma"/>
                <a:cs typeface="Tahoma"/>
              </a:rPr>
              <a:t> </a:t>
            </a:r>
            <a:r>
              <a:rPr sz="1250" dirty="0">
                <a:latin typeface="Tahoma"/>
                <a:cs typeface="Tahoma"/>
              </a:rPr>
              <a:t>it</a:t>
            </a:r>
            <a:r>
              <a:rPr sz="1250" spc="105" dirty="0">
                <a:latin typeface="Tahoma"/>
                <a:cs typeface="Tahoma"/>
              </a:rPr>
              <a:t> </a:t>
            </a:r>
            <a:r>
              <a:rPr sz="1250" dirty="0">
                <a:latin typeface="Tahoma"/>
                <a:cs typeface="Tahoma"/>
              </a:rPr>
              <a:t>afterwards</a:t>
            </a:r>
            <a:r>
              <a:rPr sz="1250" spc="85" dirty="0">
                <a:latin typeface="Tahoma"/>
                <a:cs typeface="Tahoma"/>
              </a:rPr>
              <a:t> </a:t>
            </a:r>
            <a:r>
              <a:rPr sz="1250" dirty="0">
                <a:latin typeface="Tahoma"/>
                <a:cs typeface="Tahoma"/>
              </a:rPr>
              <a:t>at</a:t>
            </a:r>
            <a:r>
              <a:rPr sz="1250" spc="110" dirty="0">
                <a:latin typeface="Tahoma"/>
                <a:cs typeface="Tahoma"/>
              </a:rPr>
              <a:t> </a:t>
            </a:r>
            <a:r>
              <a:rPr sz="1250" dirty="0">
                <a:solidFill>
                  <a:srgbClr val="FF0000"/>
                </a:solidFill>
                <a:latin typeface="Tahoma"/>
                <a:cs typeface="Tahoma"/>
              </a:rPr>
              <a:t>higher</a:t>
            </a:r>
            <a:r>
              <a:rPr sz="1250" spc="130" dirty="0">
                <a:solidFill>
                  <a:srgbClr val="FF0000"/>
                </a:solidFill>
                <a:latin typeface="Tahoma"/>
                <a:cs typeface="Tahoma"/>
              </a:rPr>
              <a:t> </a:t>
            </a:r>
            <a:r>
              <a:rPr sz="1250" spc="-20" dirty="0">
                <a:solidFill>
                  <a:srgbClr val="FF0000"/>
                </a:solidFill>
                <a:latin typeface="Tahoma"/>
                <a:cs typeface="Tahoma"/>
              </a:rPr>
              <a:t>price</a:t>
            </a:r>
            <a:endParaRPr sz="1250">
              <a:latin typeface="Tahoma"/>
              <a:cs typeface="Tahom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295783"/>
            <a:ext cx="6492240" cy="665480"/>
          </a:xfrm>
          <a:prstGeom prst="rect">
            <a:avLst/>
          </a:prstGeom>
        </p:spPr>
        <p:txBody>
          <a:bodyPr vert="horz" wrap="square" lIns="0" tIns="12700" rIns="0" bIns="0" rtlCol="0">
            <a:spAutoFit/>
          </a:bodyPr>
          <a:lstStyle/>
          <a:p>
            <a:pPr marL="12700">
              <a:lnSpc>
                <a:spcPct val="100000"/>
              </a:lnSpc>
              <a:spcBef>
                <a:spcPts val="100"/>
              </a:spcBef>
            </a:pPr>
            <a:r>
              <a:rPr sz="4200" dirty="0">
                <a:solidFill>
                  <a:srgbClr val="0A0405"/>
                </a:solidFill>
                <a:latin typeface="Arial MT"/>
                <a:cs typeface="Arial MT"/>
              </a:rPr>
              <a:t>Basic</a:t>
            </a:r>
            <a:r>
              <a:rPr sz="4200" spc="-130" dirty="0">
                <a:solidFill>
                  <a:srgbClr val="0A0405"/>
                </a:solidFill>
                <a:latin typeface="Arial MT"/>
                <a:cs typeface="Arial MT"/>
              </a:rPr>
              <a:t> </a:t>
            </a:r>
            <a:r>
              <a:rPr sz="4200" dirty="0">
                <a:solidFill>
                  <a:srgbClr val="0A0405"/>
                </a:solidFill>
                <a:latin typeface="Arial MT"/>
                <a:cs typeface="Arial MT"/>
              </a:rPr>
              <a:t>Security</a:t>
            </a:r>
            <a:r>
              <a:rPr sz="4200" spc="-125" dirty="0">
                <a:solidFill>
                  <a:srgbClr val="0A0405"/>
                </a:solidFill>
                <a:latin typeface="Arial MT"/>
                <a:cs typeface="Arial MT"/>
              </a:rPr>
              <a:t> </a:t>
            </a:r>
            <a:r>
              <a:rPr sz="4200" spc="-10" dirty="0">
                <a:solidFill>
                  <a:srgbClr val="0A0405"/>
                </a:solidFill>
                <a:latin typeface="Arial MT"/>
                <a:cs typeface="Arial MT"/>
              </a:rPr>
              <a:t>Terminology</a:t>
            </a:r>
            <a:endParaRPr sz="4200">
              <a:latin typeface="Arial MT"/>
              <a:cs typeface="Arial MT"/>
            </a:endParaRPr>
          </a:p>
        </p:txBody>
      </p:sp>
      <p:sp>
        <p:nvSpPr>
          <p:cNvPr id="3" name="object 3"/>
          <p:cNvSpPr txBox="1"/>
          <p:nvPr/>
        </p:nvSpPr>
        <p:spPr>
          <a:xfrm>
            <a:off x="381000" y="1524000"/>
            <a:ext cx="2895600" cy="2961708"/>
          </a:xfrm>
          <a:prstGeom prst="rect">
            <a:avLst/>
          </a:prstGeom>
        </p:spPr>
        <p:txBody>
          <a:bodyPr vert="horz" wrap="square" lIns="0" tIns="106045" rIns="0" bIns="0" rtlCol="0">
            <a:spAutoFit/>
          </a:bodyPr>
          <a:lstStyle/>
          <a:p>
            <a:pPr marL="12700">
              <a:lnSpc>
                <a:spcPct val="100000"/>
              </a:lnSpc>
              <a:spcBef>
                <a:spcPts val="835"/>
              </a:spcBef>
            </a:pPr>
            <a:r>
              <a:rPr sz="2400" spc="-10" dirty="0">
                <a:solidFill>
                  <a:srgbClr val="3366CC"/>
                </a:solidFill>
                <a:latin typeface="Arial MT"/>
                <a:cs typeface="Arial MT"/>
              </a:rPr>
              <a:t>People:</a:t>
            </a:r>
            <a:endParaRPr sz="2400" dirty="0">
              <a:latin typeface="Arial MT"/>
              <a:cs typeface="Arial MT"/>
            </a:endParaRPr>
          </a:p>
          <a:p>
            <a:pPr marL="683260" indent="-326390">
              <a:lnSpc>
                <a:spcPct val="100000"/>
              </a:lnSpc>
              <a:spcBef>
                <a:spcPts val="645"/>
              </a:spcBef>
              <a:buClr>
                <a:srgbClr val="3333CC"/>
              </a:buClr>
              <a:buSzPct val="59615"/>
              <a:buFont typeface="Wingdings"/>
              <a:buChar char=""/>
              <a:tabLst>
                <a:tab pos="683260" algn="l"/>
              </a:tabLst>
            </a:pPr>
            <a:r>
              <a:rPr sz="2000" spc="-10" dirty="0">
                <a:solidFill>
                  <a:srgbClr val="3366CC"/>
                </a:solidFill>
                <a:latin typeface="Arial MT"/>
                <a:cs typeface="Arial MT"/>
              </a:rPr>
              <a:t>Hackers</a:t>
            </a:r>
            <a:endParaRPr sz="2000" dirty="0">
              <a:latin typeface="Arial MT"/>
              <a:cs typeface="Arial MT"/>
            </a:endParaRPr>
          </a:p>
          <a:p>
            <a:pPr marL="1035050" lvl="1" indent="-351790">
              <a:lnSpc>
                <a:spcPct val="100000"/>
              </a:lnSpc>
              <a:spcBef>
                <a:spcPts val="530"/>
              </a:spcBef>
              <a:buSzPct val="63636"/>
              <a:buFont typeface="Wingdings"/>
              <a:buChar char=""/>
              <a:tabLst>
                <a:tab pos="1035050" algn="l"/>
              </a:tabLst>
            </a:pPr>
            <a:r>
              <a:rPr dirty="0">
                <a:solidFill>
                  <a:srgbClr val="3366CC"/>
                </a:solidFill>
                <a:latin typeface="Arial MT"/>
                <a:cs typeface="Arial MT"/>
              </a:rPr>
              <a:t>White</a:t>
            </a:r>
            <a:r>
              <a:rPr spc="-75" dirty="0">
                <a:solidFill>
                  <a:srgbClr val="3366CC"/>
                </a:solidFill>
                <a:latin typeface="Arial MT"/>
                <a:cs typeface="Arial MT"/>
              </a:rPr>
              <a:t> </a:t>
            </a:r>
            <a:r>
              <a:rPr spc="-20" dirty="0">
                <a:solidFill>
                  <a:srgbClr val="3366CC"/>
                </a:solidFill>
                <a:latin typeface="Arial MT"/>
                <a:cs typeface="Arial MT"/>
              </a:rPr>
              <a:t>hats</a:t>
            </a:r>
            <a:endParaRPr dirty="0">
              <a:latin typeface="Arial MT"/>
              <a:cs typeface="Arial MT"/>
            </a:endParaRPr>
          </a:p>
          <a:p>
            <a:pPr marL="1035050" lvl="1" indent="-351790">
              <a:lnSpc>
                <a:spcPct val="100000"/>
              </a:lnSpc>
              <a:spcBef>
                <a:spcPts val="530"/>
              </a:spcBef>
              <a:buSzPct val="63636"/>
              <a:buFont typeface="Wingdings"/>
              <a:buChar char=""/>
              <a:tabLst>
                <a:tab pos="1035050" algn="l"/>
              </a:tabLst>
            </a:pPr>
            <a:r>
              <a:rPr dirty="0">
                <a:solidFill>
                  <a:srgbClr val="3366CC"/>
                </a:solidFill>
                <a:latin typeface="Arial MT"/>
                <a:cs typeface="Arial MT"/>
              </a:rPr>
              <a:t>Black</a:t>
            </a:r>
            <a:r>
              <a:rPr spc="-70" dirty="0">
                <a:solidFill>
                  <a:srgbClr val="3366CC"/>
                </a:solidFill>
                <a:latin typeface="Arial MT"/>
                <a:cs typeface="Arial MT"/>
              </a:rPr>
              <a:t> </a:t>
            </a:r>
            <a:r>
              <a:rPr spc="-20" dirty="0">
                <a:solidFill>
                  <a:srgbClr val="3366CC"/>
                </a:solidFill>
                <a:latin typeface="Arial MT"/>
                <a:cs typeface="Arial MT"/>
              </a:rPr>
              <a:t>hats</a:t>
            </a:r>
            <a:endParaRPr dirty="0">
              <a:latin typeface="Arial MT"/>
              <a:cs typeface="Arial MT"/>
            </a:endParaRPr>
          </a:p>
          <a:p>
            <a:pPr marL="1035050" lvl="1" indent="-351790">
              <a:lnSpc>
                <a:spcPct val="100000"/>
              </a:lnSpc>
              <a:spcBef>
                <a:spcPts val="530"/>
              </a:spcBef>
              <a:buSzPct val="63636"/>
              <a:buFont typeface="Wingdings"/>
              <a:buChar char=""/>
              <a:tabLst>
                <a:tab pos="1035050" algn="l"/>
              </a:tabLst>
            </a:pPr>
            <a:r>
              <a:rPr dirty="0">
                <a:solidFill>
                  <a:srgbClr val="3366CC"/>
                </a:solidFill>
                <a:latin typeface="Arial MT"/>
                <a:cs typeface="Arial MT"/>
              </a:rPr>
              <a:t>Gray</a:t>
            </a:r>
            <a:r>
              <a:rPr spc="-40" dirty="0">
                <a:solidFill>
                  <a:srgbClr val="3366CC"/>
                </a:solidFill>
                <a:latin typeface="Arial MT"/>
                <a:cs typeface="Arial MT"/>
              </a:rPr>
              <a:t> </a:t>
            </a:r>
            <a:r>
              <a:rPr spc="-20" dirty="0">
                <a:solidFill>
                  <a:srgbClr val="3366CC"/>
                </a:solidFill>
                <a:latin typeface="Arial MT"/>
                <a:cs typeface="Arial MT"/>
              </a:rPr>
              <a:t>hats</a:t>
            </a:r>
            <a:endParaRPr dirty="0">
              <a:latin typeface="Arial MT"/>
              <a:cs typeface="Arial MT"/>
            </a:endParaRPr>
          </a:p>
          <a:p>
            <a:pPr marL="683260" indent="-326390">
              <a:lnSpc>
                <a:spcPct val="100000"/>
              </a:lnSpc>
              <a:spcBef>
                <a:spcPts val="620"/>
              </a:spcBef>
              <a:buClr>
                <a:srgbClr val="3333CC"/>
              </a:buClr>
              <a:buSzPct val="59615"/>
              <a:buFont typeface="Wingdings"/>
              <a:buChar char=""/>
              <a:tabLst>
                <a:tab pos="683260" algn="l"/>
              </a:tabLst>
            </a:pPr>
            <a:r>
              <a:rPr sz="2000" dirty="0">
                <a:solidFill>
                  <a:srgbClr val="3366CC"/>
                </a:solidFill>
                <a:latin typeface="Arial MT"/>
                <a:cs typeface="Arial MT"/>
              </a:rPr>
              <a:t>Script</a:t>
            </a:r>
            <a:r>
              <a:rPr sz="2000" spc="-5" dirty="0">
                <a:solidFill>
                  <a:srgbClr val="3366CC"/>
                </a:solidFill>
                <a:latin typeface="Arial MT"/>
                <a:cs typeface="Arial MT"/>
              </a:rPr>
              <a:t> </a:t>
            </a:r>
            <a:r>
              <a:rPr sz="2000" spc="-10" dirty="0">
                <a:solidFill>
                  <a:srgbClr val="3366CC"/>
                </a:solidFill>
                <a:latin typeface="Arial MT"/>
                <a:cs typeface="Arial MT"/>
              </a:rPr>
              <a:t>kiddies</a:t>
            </a:r>
            <a:endParaRPr sz="2000" dirty="0">
              <a:latin typeface="Arial MT"/>
              <a:cs typeface="Arial MT"/>
            </a:endParaRPr>
          </a:p>
          <a:p>
            <a:pPr marL="683260" indent="-326390">
              <a:lnSpc>
                <a:spcPct val="100000"/>
              </a:lnSpc>
              <a:spcBef>
                <a:spcPts val="625"/>
              </a:spcBef>
              <a:buClr>
                <a:srgbClr val="3333CC"/>
              </a:buClr>
              <a:buSzPct val="59615"/>
              <a:buFont typeface="Wingdings"/>
              <a:buChar char=""/>
              <a:tabLst>
                <a:tab pos="683260" algn="l"/>
              </a:tabLst>
            </a:pPr>
            <a:r>
              <a:rPr sz="2000" dirty="0">
                <a:solidFill>
                  <a:srgbClr val="3366CC"/>
                </a:solidFill>
                <a:latin typeface="Arial MT"/>
                <a:cs typeface="Arial MT"/>
              </a:rPr>
              <a:t>Ethical</a:t>
            </a:r>
            <a:r>
              <a:rPr sz="2000" spc="-40" dirty="0">
                <a:solidFill>
                  <a:srgbClr val="3366CC"/>
                </a:solidFill>
                <a:latin typeface="Arial MT"/>
                <a:cs typeface="Arial MT"/>
              </a:rPr>
              <a:t> </a:t>
            </a:r>
            <a:r>
              <a:rPr sz="2000" spc="-10" dirty="0">
                <a:solidFill>
                  <a:srgbClr val="3366CC"/>
                </a:solidFill>
                <a:latin typeface="Arial MT"/>
                <a:cs typeface="Arial MT"/>
              </a:rPr>
              <a:t>hackers/Sneakers</a:t>
            </a:r>
            <a:endParaRPr sz="2000" dirty="0">
              <a:latin typeface="Arial MT"/>
              <a:cs typeface="Arial MT"/>
            </a:endParaRPr>
          </a:p>
        </p:txBody>
      </p:sp>
      <p:pic>
        <p:nvPicPr>
          <p:cNvPr id="4" name="object 4"/>
          <p:cNvPicPr/>
          <p:nvPr/>
        </p:nvPicPr>
        <p:blipFill>
          <a:blip r:embed="rId2" cstate="print"/>
          <a:stretch>
            <a:fillRect/>
          </a:stretch>
        </p:blipFill>
        <p:spPr>
          <a:xfrm>
            <a:off x="381000" y="4505127"/>
            <a:ext cx="2275626" cy="2208578"/>
          </a:xfrm>
          <a:prstGeom prst="rect">
            <a:avLst/>
          </a:prstGeom>
        </p:spPr>
      </p:pic>
      <p:sp>
        <p:nvSpPr>
          <p:cNvPr id="5" name="object 5"/>
          <p:cNvSpPr txBox="1"/>
          <p:nvPr/>
        </p:nvSpPr>
        <p:spPr>
          <a:xfrm>
            <a:off x="11310493" y="6469814"/>
            <a:ext cx="232410" cy="196850"/>
          </a:xfrm>
          <a:prstGeom prst="rect">
            <a:avLst/>
          </a:prstGeom>
        </p:spPr>
        <p:txBody>
          <a:bodyPr vert="horz" wrap="square" lIns="0" tIns="0" rIns="0" bIns="0" rtlCol="0">
            <a:spAutoFit/>
          </a:bodyPr>
          <a:lstStyle/>
          <a:p>
            <a:pPr marL="38100">
              <a:lnSpc>
                <a:spcPts val="1375"/>
              </a:lnSpc>
            </a:pPr>
            <a:fld id="{81D60167-4931-47E6-BA6A-407CBD079E47}" type="slidenum">
              <a:rPr sz="1200" spc="-25" dirty="0">
                <a:solidFill>
                  <a:srgbClr val="3366CC"/>
                </a:solidFill>
                <a:latin typeface="Times New Roman"/>
                <a:cs typeface="Times New Roman"/>
              </a:rPr>
              <a:t>48</a:t>
            </a:fld>
            <a:endParaRPr sz="1200">
              <a:latin typeface="Times New Roman"/>
              <a:cs typeface="Times New Roman"/>
            </a:endParaRPr>
          </a:p>
        </p:txBody>
      </p:sp>
      <p:sp>
        <p:nvSpPr>
          <p:cNvPr id="6" name="Rectangle 5"/>
          <p:cNvSpPr/>
          <p:nvPr/>
        </p:nvSpPr>
        <p:spPr>
          <a:xfrm>
            <a:off x="3276600" y="1039259"/>
            <a:ext cx="8610600" cy="5693866"/>
          </a:xfrm>
          <a:prstGeom prst="rect">
            <a:avLst/>
          </a:prstGeom>
        </p:spPr>
        <p:txBody>
          <a:bodyPr wrap="square">
            <a:spAutoFit/>
          </a:bodyPr>
          <a:lstStyle/>
          <a:p>
            <a:r>
              <a:rPr lang="en-US" sz="1400" b="1" dirty="0" smtClean="0"/>
              <a:t>Hackers (General Term) 🖥️</a:t>
            </a:r>
          </a:p>
          <a:p>
            <a:r>
              <a:rPr lang="en-US" sz="1400" dirty="0" smtClean="0"/>
              <a:t>A </a:t>
            </a:r>
            <a:r>
              <a:rPr lang="en-US" sz="1400" b="1" dirty="0" smtClean="0"/>
              <a:t>hacker</a:t>
            </a:r>
            <a:r>
              <a:rPr lang="en-US" sz="1400" dirty="0" smtClean="0"/>
              <a:t> is someone skilled in </a:t>
            </a:r>
            <a:r>
              <a:rPr lang="en-US" sz="1400" b="1" dirty="0" smtClean="0"/>
              <a:t>computer programming, networking, and security</a:t>
            </a:r>
            <a:r>
              <a:rPr lang="en-US" sz="1400" dirty="0" smtClean="0"/>
              <a:t>, who can exploit or protect systems. Hackers can be ethical or malicious.</a:t>
            </a:r>
          </a:p>
          <a:p>
            <a:endParaRPr lang="en-US" sz="1400" dirty="0" smtClean="0"/>
          </a:p>
          <a:p>
            <a:r>
              <a:rPr lang="en-US" sz="1400" b="1" dirty="0" smtClean="0"/>
              <a:t>White Hat Hackers (Ethical Hackers)</a:t>
            </a:r>
          </a:p>
          <a:p>
            <a:pPr>
              <a:buFont typeface="Arial" panose="020B0604020202020204" pitchFamily="34" charset="0"/>
              <a:buChar char="•"/>
            </a:pPr>
            <a:r>
              <a:rPr lang="en-US" sz="1400" dirty="0" smtClean="0"/>
              <a:t>Work </a:t>
            </a:r>
            <a:r>
              <a:rPr lang="en-US" sz="1400" b="1" dirty="0" smtClean="0"/>
              <a:t>legally</a:t>
            </a:r>
            <a:r>
              <a:rPr lang="en-US" sz="1400" dirty="0" smtClean="0"/>
              <a:t> to </a:t>
            </a:r>
            <a:r>
              <a:rPr lang="en-US" sz="1400" b="1" dirty="0" smtClean="0"/>
              <a:t>test and improve cybersecurity</a:t>
            </a:r>
            <a:r>
              <a:rPr lang="en-US" sz="1400" dirty="0" smtClean="0"/>
              <a:t>.</a:t>
            </a:r>
          </a:p>
          <a:p>
            <a:pPr>
              <a:buFont typeface="Arial" panose="020B0604020202020204" pitchFamily="34" charset="0"/>
              <a:buChar char="•"/>
            </a:pPr>
            <a:r>
              <a:rPr lang="en-US" sz="1400" dirty="0" smtClean="0"/>
              <a:t>Help organizations by finding and fixing vulnerabilities.</a:t>
            </a:r>
          </a:p>
          <a:p>
            <a:pPr>
              <a:buFont typeface="Arial" panose="020B0604020202020204" pitchFamily="34" charset="0"/>
              <a:buChar char="•"/>
            </a:pPr>
            <a:r>
              <a:rPr lang="en-US" sz="1400" dirty="0" smtClean="0"/>
              <a:t>Often hired as </a:t>
            </a:r>
            <a:r>
              <a:rPr lang="en-US" sz="1400" b="1" dirty="0" smtClean="0"/>
              <a:t>penetration testers</a:t>
            </a:r>
            <a:r>
              <a:rPr lang="en-US" sz="1400" dirty="0" smtClean="0"/>
              <a:t> or </a:t>
            </a:r>
            <a:r>
              <a:rPr lang="en-US" sz="1400" b="1" dirty="0" smtClean="0"/>
              <a:t>security experts</a:t>
            </a:r>
            <a:r>
              <a:rPr lang="en-US" sz="1400" dirty="0" smtClean="0"/>
              <a:t>.</a:t>
            </a:r>
          </a:p>
          <a:p>
            <a:pPr>
              <a:buFont typeface="Arial" panose="020B0604020202020204" pitchFamily="34" charset="0"/>
              <a:buChar char="•"/>
            </a:pPr>
            <a:r>
              <a:rPr lang="en-US" sz="1400" b="1" dirty="0" smtClean="0"/>
              <a:t>Example:</a:t>
            </a:r>
            <a:r>
              <a:rPr lang="en-US" sz="1400" dirty="0" smtClean="0"/>
              <a:t> Ethical hackers working for companies like Google or Microsoft.</a:t>
            </a:r>
          </a:p>
          <a:p>
            <a:pPr>
              <a:buFont typeface="Arial" panose="020B0604020202020204" pitchFamily="34" charset="0"/>
              <a:buChar char="•"/>
            </a:pPr>
            <a:endParaRPr lang="en-US" sz="1400" dirty="0" smtClean="0"/>
          </a:p>
          <a:p>
            <a:r>
              <a:rPr lang="en-US" sz="1400" b="1" dirty="0" smtClean="0"/>
              <a:t>Black Hat Hackers (Malicious Hackers)</a:t>
            </a:r>
          </a:p>
          <a:p>
            <a:pPr>
              <a:buFont typeface="Arial" panose="020B0604020202020204" pitchFamily="34" charset="0"/>
              <a:buChar char="•"/>
            </a:pPr>
            <a:r>
              <a:rPr lang="en-US" sz="1400" dirty="0" smtClean="0"/>
              <a:t>Break into systems </a:t>
            </a:r>
            <a:r>
              <a:rPr lang="en-US" sz="1400" b="1" dirty="0" smtClean="0"/>
              <a:t>illegally</a:t>
            </a:r>
            <a:r>
              <a:rPr lang="en-US" sz="1400" dirty="0" smtClean="0"/>
              <a:t> for personal gain, destruction, or espionage.</a:t>
            </a:r>
          </a:p>
          <a:p>
            <a:pPr>
              <a:buFont typeface="Arial" panose="020B0604020202020204" pitchFamily="34" charset="0"/>
              <a:buChar char="•"/>
            </a:pPr>
            <a:r>
              <a:rPr lang="en-US" sz="1400" dirty="0" smtClean="0"/>
              <a:t>Involve in </a:t>
            </a:r>
            <a:r>
              <a:rPr lang="en-US" sz="1400" b="1" dirty="0" smtClean="0"/>
              <a:t>data theft, malware attacks, and financial fraud</a:t>
            </a:r>
            <a:r>
              <a:rPr lang="en-US" sz="1400" dirty="0" smtClean="0"/>
              <a:t>.</a:t>
            </a:r>
          </a:p>
          <a:p>
            <a:pPr>
              <a:buFont typeface="Arial" panose="020B0604020202020204" pitchFamily="34" charset="0"/>
              <a:buChar char="•"/>
            </a:pPr>
            <a:r>
              <a:rPr lang="en-US" sz="1400" b="1" dirty="0" smtClean="0"/>
              <a:t>Example:</a:t>
            </a:r>
            <a:r>
              <a:rPr lang="en-US" sz="1400" dirty="0" smtClean="0"/>
              <a:t> Cybercriminals launching ransomware attacks.</a:t>
            </a:r>
          </a:p>
          <a:p>
            <a:pPr>
              <a:buFont typeface="Arial" panose="020B0604020202020204" pitchFamily="34" charset="0"/>
              <a:buChar char="•"/>
            </a:pPr>
            <a:endParaRPr lang="en-US" sz="1400" dirty="0" smtClean="0"/>
          </a:p>
          <a:p>
            <a:r>
              <a:rPr lang="en-US" sz="1400" b="1" dirty="0" smtClean="0"/>
              <a:t>Gray Hat Hackers (Neutral Hackers)</a:t>
            </a:r>
          </a:p>
          <a:p>
            <a:pPr>
              <a:buFont typeface="Arial" panose="020B0604020202020204" pitchFamily="34" charset="0"/>
              <a:buChar char="•"/>
            </a:pPr>
            <a:r>
              <a:rPr lang="en-US" sz="1400" dirty="0" smtClean="0"/>
              <a:t>Operate between </a:t>
            </a:r>
            <a:r>
              <a:rPr lang="en-US" sz="1400" b="1" dirty="0" smtClean="0"/>
              <a:t>white hat and black hat</a:t>
            </a:r>
            <a:r>
              <a:rPr lang="en-US" sz="1400" dirty="0" smtClean="0"/>
              <a:t> ethics.</a:t>
            </a:r>
          </a:p>
          <a:p>
            <a:pPr>
              <a:buFont typeface="Arial" panose="020B0604020202020204" pitchFamily="34" charset="0"/>
              <a:buChar char="•"/>
            </a:pPr>
            <a:r>
              <a:rPr lang="en-US" sz="1400" dirty="0" smtClean="0"/>
              <a:t>Find vulnerabilities </a:t>
            </a:r>
            <a:r>
              <a:rPr lang="en-US" sz="1400" b="1" dirty="0" smtClean="0"/>
              <a:t>without permission</a:t>
            </a:r>
            <a:r>
              <a:rPr lang="en-US" sz="1400" dirty="0" smtClean="0"/>
              <a:t> but often report them instead of exploiting them.</a:t>
            </a:r>
          </a:p>
          <a:p>
            <a:pPr>
              <a:buFont typeface="Arial" panose="020B0604020202020204" pitchFamily="34" charset="0"/>
              <a:buChar char="•"/>
            </a:pPr>
            <a:r>
              <a:rPr lang="en-US" sz="1400" dirty="0" smtClean="0"/>
              <a:t>May still break laws but not always for harmful intent.</a:t>
            </a:r>
          </a:p>
          <a:p>
            <a:pPr>
              <a:buFont typeface="Arial" panose="020B0604020202020204" pitchFamily="34" charset="0"/>
              <a:buChar char="•"/>
            </a:pPr>
            <a:r>
              <a:rPr lang="en-US" sz="1400" b="1" dirty="0" smtClean="0"/>
              <a:t>Example:</a:t>
            </a:r>
            <a:r>
              <a:rPr lang="en-US" sz="1400" dirty="0" smtClean="0"/>
              <a:t> A hacker discovering a system flaw and notifying the company without prior approval.</a:t>
            </a:r>
          </a:p>
          <a:p>
            <a:pPr>
              <a:buFont typeface="Arial" panose="020B0604020202020204" pitchFamily="34" charset="0"/>
              <a:buChar char="•"/>
            </a:pPr>
            <a:endParaRPr lang="en-US" sz="1400" dirty="0" smtClean="0"/>
          </a:p>
          <a:p>
            <a:r>
              <a:rPr lang="en-US" sz="1400" b="1" dirty="0" smtClean="0"/>
              <a:t>Script Kiddies (Unskilled Hackers)</a:t>
            </a:r>
          </a:p>
          <a:p>
            <a:pPr>
              <a:buFont typeface="Arial" panose="020B0604020202020204" pitchFamily="34" charset="0"/>
              <a:buChar char="•"/>
            </a:pPr>
            <a:r>
              <a:rPr lang="en-US" sz="1400" dirty="0" smtClean="0"/>
              <a:t>Use </a:t>
            </a:r>
            <a:r>
              <a:rPr lang="en-US" sz="1400" b="1" dirty="0" smtClean="0"/>
              <a:t>pre-made hacking tools and scripts</a:t>
            </a:r>
            <a:r>
              <a:rPr lang="en-US" sz="1400" dirty="0" smtClean="0"/>
              <a:t> without deep technical knowledge.</a:t>
            </a:r>
          </a:p>
          <a:p>
            <a:pPr>
              <a:buFont typeface="Arial" panose="020B0604020202020204" pitchFamily="34" charset="0"/>
              <a:buChar char="•"/>
            </a:pPr>
            <a:r>
              <a:rPr lang="en-US" sz="1400" dirty="0" smtClean="0"/>
              <a:t>Often hack </a:t>
            </a:r>
            <a:r>
              <a:rPr lang="en-US" sz="1400" b="1" dirty="0" smtClean="0"/>
              <a:t>for fun, fame, or minor attacks</a:t>
            </a:r>
            <a:r>
              <a:rPr lang="en-US" sz="1400" dirty="0" smtClean="0"/>
              <a:t> like defacing websites or running small-scale </a:t>
            </a:r>
            <a:r>
              <a:rPr lang="en-US" sz="1400" dirty="0" err="1" smtClean="0"/>
              <a:t>DDoS</a:t>
            </a:r>
            <a:r>
              <a:rPr lang="en-US" sz="1400" dirty="0" smtClean="0"/>
              <a:t> attacks.</a:t>
            </a:r>
          </a:p>
          <a:p>
            <a:pPr>
              <a:buFont typeface="Arial" panose="020B0604020202020204" pitchFamily="34" charset="0"/>
              <a:buChar char="•"/>
            </a:pPr>
            <a:r>
              <a:rPr lang="en-US" sz="1400" b="1" dirty="0" smtClean="0"/>
              <a:t>Example:</a:t>
            </a:r>
            <a:r>
              <a:rPr lang="en-US" sz="1400" dirty="0" smtClean="0"/>
              <a:t> A teenager using a hacking tool to break into a school’s system.</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295783"/>
            <a:ext cx="6758305" cy="665480"/>
          </a:xfrm>
          <a:prstGeom prst="rect">
            <a:avLst/>
          </a:prstGeom>
        </p:spPr>
        <p:txBody>
          <a:bodyPr vert="horz" wrap="square" lIns="0" tIns="12700" rIns="0" bIns="0" rtlCol="0">
            <a:spAutoFit/>
          </a:bodyPr>
          <a:lstStyle/>
          <a:p>
            <a:pPr marL="12700">
              <a:lnSpc>
                <a:spcPct val="100000"/>
              </a:lnSpc>
              <a:spcBef>
                <a:spcPts val="100"/>
              </a:spcBef>
            </a:pPr>
            <a:r>
              <a:rPr sz="4200" dirty="0">
                <a:solidFill>
                  <a:srgbClr val="0A0405"/>
                </a:solidFill>
                <a:latin typeface="Arial MT"/>
                <a:cs typeface="Arial MT"/>
              </a:rPr>
              <a:t>Network</a:t>
            </a:r>
            <a:r>
              <a:rPr sz="4200" spc="-160" dirty="0">
                <a:solidFill>
                  <a:srgbClr val="0A0405"/>
                </a:solidFill>
                <a:latin typeface="Arial MT"/>
                <a:cs typeface="Arial MT"/>
              </a:rPr>
              <a:t> </a:t>
            </a:r>
            <a:r>
              <a:rPr sz="4200" dirty="0">
                <a:solidFill>
                  <a:srgbClr val="0A0405"/>
                </a:solidFill>
                <a:latin typeface="Arial MT"/>
                <a:cs typeface="Arial MT"/>
              </a:rPr>
              <a:t>Security</a:t>
            </a:r>
            <a:r>
              <a:rPr sz="4200" spc="-160" dirty="0">
                <a:solidFill>
                  <a:srgbClr val="0A0405"/>
                </a:solidFill>
                <a:latin typeface="Arial MT"/>
                <a:cs typeface="Arial MT"/>
              </a:rPr>
              <a:t> </a:t>
            </a:r>
            <a:r>
              <a:rPr sz="4200" spc="-10" dirty="0">
                <a:solidFill>
                  <a:srgbClr val="0A0405"/>
                </a:solidFill>
                <a:latin typeface="Arial MT"/>
                <a:cs typeface="Arial MT"/>
              </a:rPr>
              <a:t>Paradigms</a:t>
            </a:r>
            <a:endParaRPr sz="4200">
              <a:latin typeface="Arial MT"/>
              <a:cs typeface="Arial MT"/>
            </a:endParaRPr>
          </a:p>
        </p:txBody>
      </p:sp>
      <p:sp>
        <p:nvSpPr>
          <p:cNvPr id="4" name="object 4"/>
          <p:cNvSpPr txBox="1"/>
          <p:nvPr/>
        </p:nvSpPr>
        <p:spPr>
          <a:xfrm>
            <a:off x="11310493" y="6469814"/>
            <a:ext cx="232410" cy="196850"/>
          </a:xfrm>
          <a:prstGeom prst="rect">
            <a:avLst/>
          </a:prstGeom>
        </p:spPr>
        <p:txBody>
          <a:bodyPr vert="horz" wrap="square" lIns="0" tIns="0" rIns="0" bIns="0" rtlCol="0">
            <a:spAutoFit/>
          </a:bodyPr>
          <a:lstStyle/>
          <a:p>
            <a:pPr marL="38100">
              <a:lnSpc>
                <a:spcPts val="1375"/>
              </a:lnSpc>
            </a:pPr>
            <a:fld id="{81D60167-4931-47E6-BA6A-407CBD079E47}" type="slidenum">
              <a:rPr sz="1200" spc="-25" dirty="0">
                <a:solidFill>
                  <a:srgbClr val="3366CC"/>
                </a:solidFill>
                <a:latin typeface="Times New Roman"/>
                <a:cs typeface="Times New Roman"/>
              </a:rPr>
              <a:t>49</a:t>
            </a:fld>
            <a:endParaRPr sz="1200">
              <a:latin typeface="Times New Roman"/>
              <a:cs typeface="Times New Roman"/>
            </a:endParaRPr>
          </a:p>
        </p:txBody>
      </p:sp>
      <p:sp>
        <p:nvSpPr>
          <p:cNvPr id="3" name="object 3"/>
          <p:cNvSpPr txBox="1"/>
          <p:nvPr/>
        </p:nvSpPr>
        <p:spPr>
          <a:xfrm>
            <a:off x="2060194" y="1452802"/>
            <a:ext cx="6249670" cy="3432175"/>
          </a:xfrm>
          <a:prstGeom prst="rect">
            <a:avLst/>
          </a:prstGeom>
        </p:spPr>
        <p:txBody>
          <a:bodyPr vert="horz" wrap="square" lIns="0" tIns="106045" rIns="0" bIns="0" rtlCol="0">
            <a:spAutoFit/>
          </a:bodyPr>
          <a:lstStyle/>
          <a:p>
            <a:pPr marL="354965" indent="-342265">
              <a:lnSpc>
                <a:spcPct val="100000"/>
              </a:lnSpc>
              <a:spcBef>
                <a:spcPts val="835"/>
              </a:spcBef>
              <a:buSzPct val="65000"/>
              <a:buFont typeface="Wingdings"/>
              <a:buChar char=""/>
              <a:tabLst>
                <a:tab pos="354965" algn="l"/>
              </a:tabLst>
            </a:pPr>
            <a:r>
              <a:rPr sz="3000" dirty="0">
                <a:solidFill>
                  <a:srgbClr val="3366CC"/>
                </a:solidFill>
                <a:latin typeface="Arial MT"/>
                <a:cs typeface="Arial MT"/>
              </a:rPr>
              <a:t>How</a:t>
            </a:r>
            <a:r>
              <a:rPr sz="3000" spc="-25" dirty="0">
                <a:solidFill>
                  <a:srgbClr val="3366CC"/>
                </a:solidFill>
                <a:latin typeface="Arial MT"/>
                <a:cs typeface="Arial MT"/>
              </a:rPr>
              <a:t> </a:t>
            </a:r>
            <a:r>
              <a:rPr sz="3000" dirty="0">
                <a:solidFill>
                  <a:srgbClr val="3366CC"/>
                </a:solidFill>
                <a:latin typeface="Arial MT"/>
                <a:cs typeface="Arial MT"/>
              </a:rPr>
              <a:t>will</a:t>
            </a:r>
            <a:r>
              <a:rPr sz="3000" spc="-45" dirty="0">
                <a:solidFill>
                  <a:srgbClr val="3366CC"/>
                </a:solidFill>
                <a:latin typeface="Arial MT"/>
                <a:cs typeface="Arial MT"/>
              </a:rPr>
              <a:t> </a:t>
            </a:r>
            <a:r>
              <a:rPr sz="3000" dirty="0">
                <a:solidFill>
                  <a:srgbClr val="3366CC"/>
                </a:solidFill>
                <a:latin typeface="Arial MT"/>
                <a:cs typeface="Arial MT"/>
              </a:rPr>
              <a:t>you</a:t>
            </a:r>
            <a:r>
              <a:rPr sz="3000" spc="-20" dirty="0">
                <a:solidFill>
                  <a:srgbClr val="3366CC"/>
                </a:solidFill>
                <a:latin typeface="Arial MT"/>
                <a:cs typeface="Arial MT"/>
              </a:rPr>
              <a:t> </a:t>
            </a:r>
            <a:r>
              <a:rPr sz="3000" dirty="0">
                <a:solidFill>
                  <a:srgbClr val="3366CC"/>
                </a:solidFill>
                <a:latin typeface="Arial MT"/>
                <a:cs typeface="Arial MT"/>
              </a:rPr>
              <a:t>protect</a:t>
            </a:r>
            <a:r>
              <a:rPr sz="3000" spc="-5" dirty="0">
                <a:solidFill>
                  <a:srgbClr val="3366CC"/>
                </a:solidFill>
                <a:latin typeface="Arial MT"/>
                <a:cs typeface="Arial MT"/>
              </a:rPr>
              <a:t> </a:t>
            </a:r>
            <a:r>
              <a:rPr sz="3000" dirty="0">
                <a:solidFill>
                  <a:srgbClr val="3366CC"/>
                </a:solidFill>
                <a:latin typeface="Arial MT"/>
                <a:cs typeface="Arial MT"/>
              </a:rPr>
              <a:t>your</a:t>
            </a:r>
            <a:r>
              <a:rPr sz="3000" spc="-20" dirty="0">
                <a:solidFill>
                  <a:srgbClr val="3366CC"/>
                </a:solidFill>
                <a:latin typeface="Arial MT"/>
                <a:cs typeface="Arial MT"/>
              </a:rPr>
              <a:t> </a:t>
            </a:r>
            <a:r>
              <a:rPr sz="3000" spc="-10" dirty="0">
                <a:solidFill>
                  <a:srgbClr val="3366CC"/>
                </a:solidFill>
                <a:latin typeface="Arial MT"/>
                <a:cs typeface="Arial MT"/>
              </a:rPr>
              <a:t>network?</a:t>
            </a:r>
            <a:endParaRPr sz="3000">
              <a:latin typeface="Arial MT"/>
              <a:cs typeface="Arial MT"/>
            </a:endParaRPr>
          </a:p>
          <a:p>
            <a:pPr marL="682625" lvl="1" indent="-325755">
              <a:lnSpc>
                <a:spcPct val="100000"/>
              </a:lnSpc>
              <a:spcBef>
                <a:spcPts val="645"/>
              </a:spcBef>
              <a:buClr>
                <a:srgbClr val="3333CC"/>
              </a:buClr>
              <a:buSzPct val="59615"/>
              <a:buFont typeface="Wingdings"/>
              <a:buChar char=""/>
              <a:tabLst>
                <a:tab pos="682625" algn="l"/>
              </a:tabLst>
            </a:pPr>
            <a:r>
              <a:rPr sz="2600" dirty="0">
                <a:solidFill>
                  <a:srgbClr val="3366CC"/>
                </a:solidFill>
                <a:latin typeface="Arial MT"/>
                <a:cs typeface="Arial MT"/>
              </a:rPr>
              <a:t>CIA </a:t>
            </a:r>
            <a:r>
              <a:rPr sz="2600" spc="-10" dirty="0">
                <a:solidFill>
                  <a:srgbClr val="3366CC"/>
                </a:solidFill>
                <a:latin typeface="Arial MT"/>
                <a:cs typeface="Arial MT"/>
              </a:rPr>
              <a:t>Triangle</a:t>
            </a:r>
            <a:endParaRPr sz="2600">
              <a:latin typeface="Arial MT"/>
              <a:cs typeface="Arial MT"/>
            </a:endParaRPr>
          </a:p>
          <a:p>
            <a:pPr marL="682625" lvl="1" indent="-325755">
              <a:lnSpc>
                <a:spcPct val="100000"/>
              </a:lnSpc>
              <a:spcBef>
                <a:spcPts val="625"/>
              </a:spcBef>
              <a:buClr>
                <a:srgbClr val="3333CC"/>
              </a:buClr>
              <a:buSzPct val="59615"/>
              <a:buFont typeface="Wingdings"/>
              <a:buChar char=""/>
              <a:tabLst>
                <a:tab pos="682625" algn="l"/>
              </a:tabLst>
            </a:pPr>
            <a:r>
              <a:rPr sz="2600" dirty="0">
                <a:solidFill>
                  <a:srgbClr val="3366CC"/>
                </a:solidFill>
                <a:latin typeface="Arial MT"/>
                <a:cs typeface="Arial MT"/>
              </a:rPr>
              <a:t>Least</a:t>
            </a:r>
            <a:r>
              <a:rPr sz="2600" spc="-50" dirty="0">
                <a:solidFill>
                  <a:srgbClr val="3366CC"/>
                </a:solidFill>
                <a:latin typeface="Arial MT"/>
                <a:cs typeface="Arial MT"/>
              </a:rPr>
              <a:t> </a:t>
            </a:r>
            <a:r>
              <a:rPr sz="2600" spc="-10" dirty="0">
                <a:solidFill>
                  <a:srgbClr val="3366CC"/>
                </a:solidFill>
                <a:latin typeface="Arial MT"/>
                <a:cs typeface="Arial MT"/>
              </a:rPr>
              <a:t>Privileges</a:t>
            </a:r>
            <a:endParaRPr sz="2600">
              <a:latin typeface="Arial MT"/>
              <a:cs typeface="Arial MT"/>
            </a:endParaRPr>
          </a:p>
          <a:p>
            <a:pPr marL="682625" lvl="1" indent="-325755">
              <a:lnSpc>
                <a:spcPct val="100000"/>
              </a:lnSpc>
              <a:spcBef>
                <a:spcPts val="625"/>
              </a:spcBef>
              <a:buClr>
                <a:srgbClr val="3333CC"/>
              </a:buClr>
              <a:buSzPct val="59615"/>
              <a:buFont typeface="Wingdings"/>
              <a:buChar char=""/>
              <a:tabLst>
                <a:tab pos="682625" algn="l"/>
              </a:tabLst>
            </a:pPr>
            <a:r>
              <a:rPr sz="2600" dirty="0">
                <a:solidFill>
                  <a:srgbClr val="3366CC"/>
                </a:solidFill>
                <a:latin typeface="Arial MT"/>
                <a:cs typeface="Arial MT"/>
              </a:rPr>
              <a:t>Perimeter</a:t>
            </a:r>
            <a:r>
              <a:rPr sz="2600" spc="-35" dirty="0">
                <a:solidFill>
                  <a:srgbClr val="3366CC"/>
                </a:solidFill>
                <a:latin typeface="Arial MT"/>
                <a:cs typeface="Arial MT"/>
              </a:rPr>
              <a:t> </a:t>
            </a:r>
            <a:r>
              <a:rPr sz="2600" dirty="0">
                <a:solidFill>
                  <a:srgbClr val="3366CC"/>
                </a:solidFill>
                <a:latin typeface="Arial MT"/>
                <a:cs typeface="Arial MT"/>
              </a:rPr>
              <a:t>security</a:t>
            </a:r>
            <a:r>
              <a:rPr sz="2600" spc="-35" dirty="0">
                <a:solidFill>
                  <a:srgbClr val="3366CC"/>
                </a:solidFill>
                <a:latin typeface="Arial MT"/>
                <a:cs typeface="Arial MT"/>
              </a:rPr>
              <a:t> </a:t>
            </a:r>
            <a:r>
              <a:rPr sz="2600" spc="-10" dirty="0">
                <a:solidFill>
                  <a:srgbClr val="3366CC"/>
                </a:solidFill>
                <a:latin typeface="Arial MT"/>
                <a:cs typeface="Arial MT"/>
              </a:rPr>
              <a:t>approach</a:t>
            </a:r>
            <a:endParaRPr sz="2600">
              <a:latin typeface="Arial MT"/>
              <a:cs typeface="Arial MT"/>
            </a:endParaRPr>
          </a:p>
          <a:p>
            <a:pPr marL="682625" lvl="1" indent="-325755">
              <a:lnSpc>
                <a:spcPct val="100000"/>
              </a:lnSpc>
              <a:spcBef>
                <a:spcPts val="625"/>
              </a:spcBef>
              <a:buClr>
                <a:srgbClr val="3333CC"/>
              </a:buClr>
              <a:buSzPct val="59615"/>
              <a:buFont typeface="Wingdings"/>
              <a:buChar char=""/>
              <a:tabLst>
                <a:tab pos="682625" algn="l"/>
              </a:tabLst>
            </a:pPr>
            <a:r>
              <a:rPr sz="2600" dirty="0">
                <a:solidFill>
                  <a:srgbClr val="3366CC"/>
                </a:solidFill>
                <a:latin typeface="Arial MT"/>
                <a:cs typeface="Arial MT"/>
              </a:rPr>
              <a:t>Layered</a:t>
            </a:r>
            <a:r>
              <a:rPr sz="2600" spc="-40" dirty="0">
                <a:solidFill>
                  <a:srgbClr val="3366CC"/>
                </a:solidFill>
                <a:latin typeface="Arial MT"/>
                <a:cs typeface="Arial MT"/>
              </a:rPr>
              <a:t> </a:t>
            </a:r>
            <a:r>
              <a:rPr sz="2600" dirty="0">
                <a:solidFill>
                  <a:srgbClr val="3366CC"/>
                </a:solidFill>
                <a:latin typeface="Arial MT"/>
                <a:cs typeface="Arial MT"/>
              </a:rPr>
              <a:t>security</a:t>
            </a:r>
            <a:r>
              <a:rPr sz="2600" spc="-45" dirty="0">
                <a:solidFill>
                  <a:srgbClr val="3366CC"/>
                </a:solidFill>
                <a:latin typeface="Arial MT"/>
                <a:cs typeface="Arial MT"/>
              </a:rPr>
              <a:t> </a:t>
            </a:r>
            <a:r>
              <a:rPr sz="2600" spc="-10" dirty="0">
                <a:solidFill>
                  <a:srgbClr val="3366CC"/>
                </a:solidFill>
                <a:latin typeface="Arial MT"/>
                <a:cs typeface="Arial MT"/>
              </a:rPr>
              <a:t>approach</a:t>
            </a:r>
            <a:endParaRPr sz="2600">
              <a:latin typeface="Arial MT"/>
              <a:cs typeface="Arial MT"/>
            </a:endParaRPr>
          </a:p>
          <a:p>
            <a:pPr marL="682625" lvl="1" indent="-325755">
              <a:lnSpc>
                <a:spcPct val="100000"/>
              </a:lnSpc>
              <a:spcBef>
                <a:spcPts val="625"/>
              </a:spcBef>
              <a:buClr>
                <a:srgbClr val="3333CC"/>
              </a:buClr>
              <a:buSzPct val="59615"/>
              <a:buFont typeface="Wingdings"/>
              <a:buChar char=""/>
              <a:tabLst>
                <a:tab pos="682625" algn="l"/>
              </a:tabLst>
            </a:pPr>
            <a:r>
              <a:rPr sz="2600" dirty="0">
                <a:solidFill>
                  <a:srgbClr val="3366CC"/>
                </a:solidFill>
                <a:latin typeface="Arial MT"/>
                <a:cs typeface="Arial MT"/>
              </a:rPr>
              <a:t>Proactive</a:t>
            </a:r>
            <a:r>
              <a:rPr sz="2600" spc="-30" dirty="0">
                <a:solidFill>
                  <a:srgbClr val="3366CC"/>
                </a:solidFill>
                <a:latin typeface="Arial MT"/>
                <a:cs typeface="Arial MT"/>
              </a:rPr>
              <a:t> </a:t>
            </a:r>
            <a:r>
              <a:rPr sz="2600" dirty="0">
                <a:solidFill>
                  <a:srgbClr val="3366CC"/>
                </a:solidFill>
                <a:latin typeface="Arial MT"/>
                <a:cs typeface="Arial MT"/>
              </a:rPr>
              <a:t>versus</a:t>
            </a:r>
            <a:r>
              <a:rPr sz="2600" spc="-35" dirty="0">
                <a:solidFill>
                  <a:srgbClr val="3366CC"/>
                </a:solidFill>
                <a:latin typeface="Arial MT"/>
                <a:cs typeface="Arial MT"/>
              </a:rPr>
              <a:t> </a:t>
            </a:r>
            <a:r>
              <a:rPr sz="2600" spc="-10" dirty="0">
                <a:solidFill>
                  <a:srgbClr val="3366CC"/>
                </a:solidFill>
                <a:latin typeface="Arial MT"/>
                <a:cs typeface="Arial MT"/>
              </a:rPr>
              <a:t>reactive</a:t>
            </a:r>
            <a:endParaRPr sz="2600">
              <a:latin typeface="Arial MT"/>
              <a:cs typeface="Arial MT"/>
            </a:endParaRPr>
          </a:p>
          <a:p>
            <a:pPr marL="682625" lvl="1" indent="-325755">
              <a:lnSpc>
                <a:spcPct val="100000"/>
              </a:lnSpc>
              <a:spcBef>
                <a:spcPts val="620"/>
              </a:spcBef>
              <a:buClr>
                <a:srgbClr val="3333CC"/>
              </a:buClr>
              <a:buSzPct val="59615"/>
              <a:buFont typeface="Wingdings"/>
              <a:buChar char=""/>
              <a:tabLst>
                <a:tab pos="682625" algn="l"/>
              </a:tabLst>
            </a:pPr>
            <a:r>
              <a:rPr sz="2600" dirty="0">
                <a:solidFill>
                  <a:srgbClr val="3366CC"/>
                </a:solidFill>
                <a:latin typeface="Arial MT"/>
                <a:cs typeface="Arial MT"/>
              </a:rPr>
              <a:t>Hybrid</a:t>
            </a:r>
            <a:r>
              <a:rPr sz="2600" spc="-35" dirty="0">
                <a:solidFill>
                  <a:srgbClr val="3366CC"/>
                </a:solidFill>
                <a:latin typeface="Arial MT"/>
                <a:cs typeface="Arial MT"/>
              </a:rPr>
              <a:t> </a:t>
            </a:r>
            <a:r>
              <a:rPr sz="2600" dirty="0">
                <a:solidFill>
                  <a:srgbClr val="3366CC"/>
                </a:solidFill>
                <a:latin typeface="Arial MT"/>
                <a:cs typeface="Arial MT"/>
              </a:rPr>
              <a:t>security</a:t>
            </a:r>
            <a:r>
              <a:rPr sz="2600" spc="-20" dirty="0">
                <a:solidFill>
                  <a:srgbClr val="3366CC"/>
                </a:solidFill>
                <a:latin typeface="Arial MT"/>
                <a:cs typeface="Arial MT"/>
              </a:rPr>
              <a:t> </a:t>
            </a:r>
            <a:r>
              <a:rPr sz="2600" spc="-10" dirty="0">
                <a:solidFill>
                  <a:srgbClr val="3366CC"/>
                </a:solidFill>
                <a:latin typeface="Arial MT"/>
                <a:cs typeface="Arial MT"/>
              </a:rPr>
              <a:t>method</a:t>
            </a:r>
            <a:endParaRPr sz="2600">
              <a:latin typeface="Arial MT"/>
              <a:cs typeface="Arial M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358" y="304800"/>
            <a:ext cx="7722996" cy="618617"/>
          </a:xfrm>
        </p:spPr>
        <p:txBody>
          <a:bodyPr/>
          <a:lstStyle/>
          <a:p>
            <a:r>
              <a:rPr lang="en-US" b="1" dirty="0"/>
              <a:t>Compromises to Intellectual Property</a:t>
            </a:r>
            <a:br>
              <a:rPr lang="en-US" b="1" dirty="0"/>
            </a:br>
            <a:endParaRPr lang="en-US" dirty="0"/>
          </a:p>
        </p:txBody>
      </p:sp>
      <p:sp>
        <p:nvSpPr>
          <p:cNvPr id="3" name="Text Placeholder 2"/>
          <p:cNvSpPr>
            <a:spLocks noGrp="1"/>
          </p:cNvSpPr>
          <p:nvPr>
            <p:ph type="body" idx="1"/>
          </p:nvPr>
        </p:nvSpPr>
        <p:spPr>
          <a:xfrm>
            <a:off x="533400" y="1133356"/>
            <a:ext cx="11201400" cy="5262979"/>
          </a:xfrm>
        </p:spPr>
        <p:txBody>
          <a:bodyPr/>
          <a:lstStyle/>
          <a:p>
            <a:r>
              <a:rPr lang="en-US" sz="2400" b="1" dirty="0" smtClean="0">
                <a:latin typeface="Times New Roman" panose="02020603050405020304" pitchFamily="18" charset="0"/>
                <a:cs typeface="Times New Roman" panose="02020603050405020304" pitchFamily="18" charset="0"/>
              </a:rPr>
              <a:t>Definition</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The unauthorized use, theft, or copying of creations of the mind—like software code, business plans, designs, or trade secrets</a:t>
            </a:r>
            <a:r>
              <a:rPr lang="en-US"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Simple Logic:</a:t>
            </a:r>
            <a:r>
              <a:rPr lang="en-US" sz="2400" dirty="0">
                <a:latin typeface="Times New Roman" panose="02020603050405020304" pitchFamily="18" charset="0"/>
                <a:cs typeface="Times New Roman" panose="02020603050405020304" pitchFamily="18" charset="0"/>
              </a:rPr>
              <a:t> If you spent 5 years and $1 million developing a secret recipe or software, and someone copies it in 5 seconds for free, your investment is destroyed</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r>
              <a:rPr lang="en-US" sz="2400" b="1" dirty="0">
                <a:solidFill>
                  <a:srgbClr val="FF0000"/>
                </a:solidFill>
                <a:latin typeface="Times New Roman" panose="02020603050405020304" pitchFamily="18" charset="0"/>
                <a:cs typeface="Times New Roman" panose="02020603050405020304" pitchFamily="18" charset="0"/>
              </a:rPr>
              <a:t>Real-Time Example:</a:t>
            </a:r>
            <a:endParaRPr lang="en-US" sz="2400" dirty="0">
              <a:solidFill>
                <a:srgbClr val="FF0000"/>
              </a:solidFill>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Scenario:</a:t>
            </a:r>
            <a:r>
              <a:rPr lang="en-US" sz="2400" dirty="0">
                <a:latin typeface="Times New Roman" panose="02020603050405020304" pitchFamily="18" charset="0"/>
                <a:cs typeface="Times New Roman" panose="02020603050405020304" pitchFamily="18" charset="0"/>
              </a:rPr>
              <a:t> Imagine "Cool Soda Co." has a secret, unique formula that makes their drink fizz perfectly. A disgruntled employee emails the formula to "Cheap Soda Inc."</a:t>
            </a:r>
          </a:p>
          <a:p>
            <a:r>
              <a:rPr lang="en-US" sz="2400" b="1" dirty="0">
                <a:solidFill>
                  <a:srgbClr val="FF0000"/>
                </a:solidFill>
                <a:latin typeface="Times New Roman" panose="02020603050405020304" pitchFamily="18" charset="0"/>
                <a:cs typeface="Times New Roman" panose="02020603050405020304" pitchFamily="18" charset="0"/>
              </a:rPr>
              <a:t>What Happens?</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Cheap Soda Inc. now makes an identical drink without any of the research cost. They sell it cheaper, stealing Cool Soda's customers and profits</a:t>
            </a:r>
            <a:r>
              <a:rPr lang="en-US"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b="1" dirty="0">
                <a:solidFill>
                  <a:srgbClr val="FF0000"/>
                </a:solidFill>
                <a:latin typeface="Times New Roman" panose="02020603050405020304" pitchFamily="18" charset="0"/>
                <a:cs typeface="Times New Roman" panose="02020603050405020304" pitchFamily="18" charset="0"/>
              </a:rPr>
              <a:t>The Real-World Version:</a:t>
            </a:r>
            <a:r>
              <a:rPr lang="en-US" sz="2400" dirty="0">
                <a:latin typeface="Times New Roman" panose="02020603050405020304" pitchFamily="18" charset="0"/>
                <a:cs typeface="Times New Roman" panose="02020603050405020304" pitchFamily="18" charset="0"/>
              </a:rPr>
              <a:t> This is what happens when a company's proprietary source code, chemical formula, or manufacturing process is hacked or leaked. It undermines innovation and competitive advantage</a:t>
            </a:r>
            <a:r>
              <a:rPr lang="en-US" dirty="0" smtClean="0"/>
              <a:t>.</a:t>
            </a:r>
            <a:endParaRPr lang="en-US" dirty="0"/>
          </a:p>
        </p:txBody>
      </p:sp>
    </p:spTree>
    <p:extLst>
      <p:ext uri="{BB962C8B-B14F-4D97-AF65-F5344CB8AC3E}">
        <p14:creationId xmlns:p14="http://schemas.microsoft.com/office/powerpoint/2010/main" val="312413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340" y="304800"/>
            <a:ext cx="7722996" cy="542417"/>
          </a:xfrm>
        </p:spPr>
        <p:txBody>
          <a:bodyPr/>
          <a:lstStyle/>
          <a:p>
            <a:r>
              <a:rPr lang="en-US" b="1" dirty="0"/>
              <a:t>Deviations in Quality of Service</a:t>
            </a:r>
            <a:br>
              <a:rPr lang="en-US" b="1" dirty="0"/>
            </a:br>
            <a:endParaRPr lang="en-US" dirty="0"/>
          </a:p>
        </p:txBody>
      </p:sp>
      <p:sp>
        <p:nvSpPr>
          <p:cNvPr id="3" name="Text Placeholder 2"/>
          <p:cNvSpPr>
            <a:spLocks noGrp="1"/>
          </p:cNvSpPr>
          <p:nvPr>
            <p:ph type="body" idx="1"/>
          </p:nvPr>
        </p:nvSpPr>
        <p:spPr>
          <a:xfrm>
            <a:off x="664456" y="1066800"/>
            <a:ext cx="10994144" cy="5539978"/>
          </a:xfrm>
        </p:spPr>
        <p:txBody>
          <a:bodyPr/>
          <a:lstStyle/>
          <a:p>
            <a:r>
              <a:rPr lang="en-US" sz="2400" b="1" dirty="0" smtClean="0">
                <a:latin typeface="Times New Roman" panose="02020603050405020304" pitchFamily="18" charset="0"/>
                <a:cs typeface="Times New Roman" panose="02020603050405020304" pitchFamily="18" charset="0"/>
              </a:rPr>
              <a:t>Definition</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An attack that disrupts the normal, expected availability of a digital service or resource.</a:t>
            </a:r>
          </a:p>
          <a:p>
            <a:r>
              <a:rPr lang="en-US" sz="2400" b="1" dirty="0">
                <a:latin typeface="Times New Roman" panose="02020603050405020304" pitchFamily="18" charset="0"/>
                <a:cs typeface="Times New Roman" panose="02020603050405020304" pitchFamily="18" charset="0"/>
              </a:rPr>
              <a:t>Simple Logic:</a:t>
            </a:r>
            <a:r>
              <a:rPr lang="en-US" sz="2400" dirty="0">
                <a:latin typeface="Times New Roman" panose="02020603050405020304" pitchFamily="18" charset="0"/>
                <a:cs typeface="Times New Roman" panose="02020603050405020304" pitchFamily="18" charset="0"/>
              </a:rPr>
              <a:t> It's not about </a:t>
            </a:r>
            <a:r>
              <a:rPr lang="en-US" sz="2400" i="1" dirty="0">
                <a:latin typeface="Times New Roman" panose="02020603050405020304" pitchFamily="18" charset="0"/>
                <a:cs typeface="Times New Roman" panose="02020603050405020304" pitchFamily="18" charset="0"/>
              </a:rPr>
              <a:t>stealing</a:t>
            </a:r>
            <a:r>
              <a:rPr lang="en-US" sz="2400" dirty="0">
                <a:latin typeface="Times New Roman" panose="02020603050405020304" pitchFamily="18" charset="0"/>
                <a:cs typeface="Times New Roman" panose="02020603050405020304" pitchFamily="18" charset="0"/>
              </a:rPr>
              <a:t> the highway; it's about creating a massive traffic jam so </a:t>
            </a:r>
            <a:r>
              <a:rPr lang="en-US" sz="2400" i="1" dirty="0">
                <a:latin typeface="Times New Roman" panose="02020603050405020304" pitchFamily="18" charset="0"/>
                <a:cs typeface="Times New Roman" panose="02020603050405020304" pitchFamily="18" charset="0"/>
              </a:rPr>
              <a:t>no one</a:t>
            </a:r>
            <a:r>
              <a:rPr lang="en-US" sz="2400" dirty="0">
                <a:latin typeface="Times New Roman" panose="02020603050405020304" pitchFamily="18" charset="0"/>
                <a:cs typeface="Times New Roman" panose="02020603050405020304" pitchFamily="18" charset="0"/>
              </a:rPr>
              <a:t> can use it</a:t>
            </a:r>
            <a:r>
              <a:rPr lang="en-US"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b="1" dirty="0">
                <a:solidFill>
                  <a:srgbClr val="FF0000"/>
                </a:solidFill>
                <a:latin typeface="Times New Roman" panose="02020603050405020304" pitchFamily="18" charset="0"/>
                <a:cs typeface="Times New Roman" panose="02020603050405020304" pitchFamily="18" charset="0"/>
              </a:rPr>
              <a:t>Real-Time Example:</a:t>
            </a:r>
            <a:endParaRPr lang="en-US" sz="2400" dirty="0">
              <a:solidFill>
                <a:srgbClr val="FF0000"/>
              </a:solidFill>
              <a:latin typeface="Times New Roman" panose="02020603050405020304" pitchFamily="18" charset="0"/>
              <a:cs typeface="Times New Roman" panose="02020603050405020304" pitchFamily="18" charset="0"/>
            </a:endParaRPr>
          </a:p>
          <a:p>
            <a:r>
              <a:rPr lang="en-US" sz="2400" b="1" dirty="0">
                <a:solidFill>
                  <a:srgbClr val="FF0000"/>
                </a:solidFill>
                <a:latin typeface="Times New Roman" panose="02020603050405020304" pitchFamily="18" charset="0"/>
                <a:cs typeface="Times New Roman" panose="02020603050405020304" pitchFamily="18" charset="0"/>
              </a:rPr>
              <a:t>Scenario:</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It's the day before final exam results are posted. The university's student portal usually gets 1,000 students logging in per hour.</a:t>
            </a:r>
          </a:p>
          <a:p>
            <a:r>
              <a:rPr lang="en-US" sz="2400" b="1" dirty="0">
                <a:solidFill>
                  <a:srgbClr val="FF0000"/>
                </a:solidFill>
                <a:latin typeface="Times New Roman" panose="02020603050405020304" pitchFamily="18" charset="0"/>
                <a:cs typeface="Times New Roman" panose="02020603050405020304" pitchFamily="18" charset="0"/>
              </a:rPr>
              <a:t>The Attack:</a:t>
            </a:r>
            <a:r>
              <a:rPr lang="en-US" sz="2400" dirty="0">
                <a:latin typeface="Times New Roman" panose="02020603050405020304" pitchFamily="18" charset="0"/>
                <a:cs typeface="Times New Roman" panose="02020603050405020304" pitchFamily="18" charset="0"/>
              </a:rPr>
              <a:t> A hacker sends 1,000,000 fake login requests from a network of infected computers (a "botnet") to the portal server</a:t>
            </a:r>
            <a:r>
              <a:rPr lang="en-US"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b="1" dirty="0">
                <a:solidFill>
                  <a:srgbClr val="FF0000"/>
                </a:solidFill>
                <a:latin typeface="Times New Roman" panose="02020603050405020304" pitchFamily="18" charset="0"/>
                <a:cs typeface="Times New Roman" panose="02020603050405020304" pitchFamily="18" charset="0"/>
              </a:rPr>
              <a:t>What Happens?</a:t>
            </a:r>
            <a:r>
              <a:rPr lang="en-US" sz="2400" dirty="0">
                <a:latin typeface="Times New Roman" panose="02020603050405020304" pitchFamily="18" charset="0"/>
                <a:cs typeface="Times New Roman" panose="02020603050405020304" pitchFamily="18" charset="0"/>
              </a:rPr>
              <a:t> The server is overwhelmed by the fake traffic. It crashes or becomes incredibly slow. </a:t>
            </a:r>
            <a:r>
              <a:rPr lang="en-US" sz="2400" i="1" dirty="0">
                <a:latin typeface="Times New Roman" panose="02020603050405020304" pitchFamily="18" charset="0"/>
                <a:cs typeface="Times New Roman" panose="02020603050405020304" pitchFamily="18" charset="0"/>
              </a:rPr>
              <a:t>Legitimate</a:t>
            </a:r>
            <a:r>
              <a:rPr lang="en-US" sz="2400" dirty="0">
                <a:latin typeface="Times New Roman" panose="02020603050405020304" pitchFamily="18" charset="0"/>
                <a:cs typeface="Times New Roman" panose="02020603050405020304" pitchFamily="18" charset="0"/>
              </a:rPr>
              <a:t> students (and staff) cannot access their grades. The service's quality has catastrophically "deviated" from its normal function. This is called a </a:t>
            </a:r>
            <a:r>
              <a:rPr lang="en-US" sz="2400" b="1" dirty="0">
                <a:latin typeface="Times New Roman" panose="02020603050405020304" pitchFamily="18" charset="0"/>
                <a:cs typeface="Times New Roman" panose="02020603050405020304" pitchFamily="18" charset="0"/>
              </a:rPr>
              <a:t>Denial-of-Service (</a:t>
            </a:r>
            <a:r>
              <a:rPr lang="en-US" sz="2400" b="1" dirty="0" err="1">
                <a:latin typeface="Times New Roman" panose="02020603050405020304" pitchFamily="18" charset="0"/>
                <a:cs typeface="Times New Roman" panose="02020603050405020304" pitchFamily="18" charset="0"/>
              </a:rPr>
              <a:t>DoS</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attack</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57017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340" y="304800"/>
            <a:ext cx="7722996" cy="542417"/>
          </a:xfrm>
        </p:spPr>
        <p:txBody>
          <a:bodyPr/>
          <a:lstStyle/>
          <a:p>
            <a:r>
              <a:rPr lang="en-US" b="1" dirty="0"/>
              <a:t>Espionage or Trespass</a:t>
            </a:r>
            <a:br>
              <a:rPr lang="en-US" b="1" dirty="0"/>
            </a:br>
            <a:endParaRPr lang="en-US" dirty="0"/>
          </a:p>
        </p:txBody>
      </p:sp>
      <p:sp>
        <p:nvSpPr>
          <p:cNvPr id="3" name="Text Placeholder 2"/>
          <p:cNvSpPr>
            <a:spLocks noGrp="1"/>
          </p:cNvSpPr>
          <p:nvPr>
            <p:ph type="body" idx="1"/>
          </p:nvPr>
        </p:nvSpPr>
        <p:spPr>
          <a:xfrm>
            <a:off x="457200" y="1143000"/>
            <a:ext cx="11201400" cy="5262979"/>
          </a:xfrm>
        </p:spPr>
        <p:txBody>
          <a:bodyPr/>
          <a:lstStyle/>
          <a:p>
            <a:r>
              <a:rPr lang="en-US" sz="2400" b="1" dirty="0" smtClean="0">
                <a:latin typeface="Times New Roman" panose="02020603050405020304" pitchFamily="18" charset="0"/>
                <a:cs typeface="Times New Roman" panose="02020603050405020304" pitchFamily="18" charset="0"/>
              </a:rPr>
              <a:t>Definition</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The unauthorized access to a system or network to gather confidential information or simply to see what's there.</a:t>
            </a:r>
          </a:p>
          <a:p>
            <a:r>
              <a:rPr lang="en-US" sz="2400" b="1" dirty="0">
                <a:latin typeface="Times New Roman" panose="02020603050405020304" pitchFamily="18" charset="0"/>
                <a:cs typeface="Times New Roman" panose="02020603050405020304" pitchFamily="18" charset="0"/>
              </a:rPr>
              <a:t>Simple Logic:</a:t>
            </a:r>
            <a:r>
              <a:rPr lang="en-US" sz="2400" dirty="0">
                <a:latin typeface="Times New Roman" panose="02020603050405020304" pitchFamily="18" charset="0"/>
                <a:cs typeface="Times New Roman" panose="02020603050405020304" pitchFamily="18" charset="0"/>
              </a:rPr>
              <a:t> It's a digital "break and enter." The goal isn't to vandalize (yet), but to sneak in, look through private files, and take pictures of secrets</a:t>
            </a:r>
            <a:r>
              <a:rPr lang="en-US"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b="1" dirty="0">
                <a:solidFill>
                  <a:srgbClr val="FF0000"/>
                </a:solidFill>
                <a:latin typeface="Times New Roman" panose="02020603050405020304" pitchFamily="18" charset="0"/>
                <a:cs typeface="Times New Roman" panose="02020603050405020304" pitchFamily="18" charset="0"/>
              </a:rPr>
              <a:t>Real-Time Example:</a:t>
            </a:r>
            <a:endParaRPr lang="en-US" sz="2400" dirty="0">
              <a:solidFill>
                <a:srgbClr val="FF0000"/>
              </a:solidFill>
              <a:latin typeface="Times New Roman" panose="02020603050405020304" pitchFamily="18" charset="0"/>
              <a:cs typeface="Times New Roman" panose="02020603050405020304" pitchFamily="18" charset="0"/>
            </a:endParaRPr>
          </a:p>
          <a:p>
            <a:r>
              <a:rPr lang="en-US" sz="2400" b="1" dirty="0">
                <a:solidFill>
                  <a:srgbClr val="FF0000"/>
                </a:solidFill>
                <a:latin typeface="Times New Roman" panose="02020603050405020304" pitchFamily="18" charset="0"/>
                <a:cs typeface="Times New Roman" panose="02020603050405020304" pitchFamily="18" charset="0"/>
              </a:rPr>
              <a:t>Scenario:</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 nation-state wants details of another country's new fighter jet design. The designs are on a secured, air-gapped network at a defense contractor.</a:t>
            </a:r>
          </a:p>
          <a:p>
            <a:r>
              <a:rPr lang="en-US" sz="2400" b="1" dirty="0">
                <a:solidFill>
                  <a:srgbClr val="FF0000"/>
                </a:solidFill>
                <a:latin typeface="Times New Roman" panose="02020603050405020304" pitchFamily="18" charset="0"/>
                <a:cs typeface="Times New Roman" panose="02020603050405020304" pitchFamily="18" charset="0"/>
              </a:rPr>
              <a:t>The Attack:</a:t>
            </a:r>
            <a:r>
              <a:rPr lang="en-US" sz="2400" dirty="0">
                <a:latin typeface="Times New Roman" panose="02020603050405020304" pitchFamily="18" charset="0"/>
                <a:cs typeface="Times New Roman" panose="02020603050405020304" pitchFamily="18" charset="0"/>
              </a:rPr>
              <a:t> Hackers send a "spear-phishing" email to an engineer. The email looks real, with a link about a required "HR policy update." The engineer clicks it, unknowingly installing spyware.</a:t>
            </a:r>
          </a:p>
          <a:p>
            <a:r>
              <a:rPr lang="en-US" sz="2400" b="1" dirty="0">
                <a:solidFill>
                  <a:srgbClr val="FF0000"/>
                </a:solidFill>
                <a:latin typeface="Times New Roman" panose="02020603050405020304" pitchFamily="18" charset="0"/>
                <a:cs typeface="Times New Roman" panose="02020603050405020304" pitchFamily="18" charset="0"/>
              </a:rPr>
              <a:t>What Happens?</a:t>
            </a:r>
            <a:r>
              <a:rPr lang="en-US" sz="2400" dirty="0">
                <a:latin typeface="Times New Roman" panose="02020603050405020304" pitchFamily="18" charset="0"/>
                <a:cs typeface="Times New Roman" panose="02020603050405020304" pitchFamily="18" charset="0"/>
              </a:rPr>
              <a:t> The spyware secretly records the engineer's keystrokes and sends screenshots of the jet designs back to the attackers. This is </a:t>
            </a:r>
            <a:r>
              <a:rPr lang="en-US" sz="2400" b="1" dirty="0">
                <a:latin typeface="Times New Roman" panose="02020603050405020304" pitchFamily="18" charset="0"/>
                <a:cs typeface="Times New Roman" panose="02020603050405020304" pitchFamily="18" charset="0"/>
              </a:rPr>
              <a:t>cyber-espionage</a:t>
            </a:r>
            <a:r>
              <a:rPr lang="en-US" sz="2400" dirty="0">
                <a:latin typeface="Times New Roman" panose="02020603050405020304" pitchFamily="18" charset="0"/>
                <a:cs typeface="Times New Roman" panose="02020603050405020304" pitchFamily="18" charset="0"/>
              </a:rPr>
              <a:t>. The </a:t>
            </a:r>
            <a:r>
              <a:rPr lang="en-US" sz="2400" b="1" dirty="0">
                <a:latin typeface="Times New Roman" panose="02020603050405020304" pitchFamily="18" charset="0"/>
                <a:cs typeface="Times New Roman" panose="02020603050405020304" pitchFamily="18" charset="0"/>
              </a:rPr>
              <a:t>trespass</a:t>
            </a:r>
            <a:r>
              <a:rPr lang="en-US" sz="2400" dirty="0">
                <a:latin typeface="Times New Roman" panose="02020603050405020304" pitchFamily="18" charset="0"/>
                <a:cs typeface="Times New Roman" panose="02020603050405020304" pitchFamily="18" charset="0"/>
              </a:rPr>
              <a:t> occurred the moment the malware bypassed security and entered the network</a:t>
            </a:r>
            <a:r>
              <a:rPr lang="en-US" dirty="0" smtClean="0"/>
              <a:t>.</a:t>
            </a:r>
            <a:endParaRPr lang="en-US" dirty="0"/>
          </a:p>
        </p:txBody>
      </p:sp>
    </p:spTree>
    <p:extLst>
      <p:ext uri="{BB962C8B-B14F-4D97-AF65-F5344CB8AC3E}">
        <p14:creationId xmlns:p14="http://schemas.microsoft.com/office/powerpoint/2010/main" val="16088326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340" y="304800"/>
            <a:ext cx="7722996" cy="542417"/>
          </a:xfrm>
        </p:spPr>
        <p:txBody>
          <a:bodyPr/>
          <a:lstStyle/>
          <a:p>
            <a:r>
              <a:rPr lang="en-US" b="1" dirty="0"/>
              <a:t>Cyber Stalking</a:t>
            </a:r>
            <a:br>
              <a:rPr lang="en-US" b="1" dirty="0"/>
            </a:br>
            <a:endParaRPr lang="en-US" dirty="0"/>
          </a:p>
        </p:txBody>
      </p:sp>
      <p:sp>
        <p:nvSpPr>
          <p:cNvPr id="3" name="Text Placeholder 2"/>
          <p:cNvSpPr>
            <a:spLocks noGrp="1"/>
          </p:cNvSpPr>
          <p:nvPr>
            <p:ph type="body" idx="1"/>
          </p:nvPr>
        </p:nvSpPr>
        <p:spPr>
          <a:xfrm>
            <a:off x="457200" y="1295400"/>
            <a:ext cx="11201400" cy="5170646"/>
          </a:xfrm>
        </p:spPr>
        <p:txBody>
          <a:bodyPr/>
          <a:lstStyle/>
          <a:p>
            <a:r>
              <a:rPr lang="en-US" sz="2400" b="1" dirty="0" smtClean="0">
                <a:solidFill>
                  <a:srgbClr val="FF0000"/>
                </a:solidFill>
                <a:latin typeface="Times New Roman" panose="02020603050405020304" pitchFamily="18" charset="0"/>
                <a:cs typeface="Times New Roman" panose="02020603050405020304" pitchFamily="18" charset="0"/>
              </a:rPr>
              <a:t>Definition</a:t>
            </a:r>
            <a:r>
              <a:rPr lang="en-US" sz="2400" b="1" dirty="0">
                <a:solidFill>
                  <a:srgbClr val="FF0000"/>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The use of the internet or other electronic means to stalk, harass, or threaten an individual, group, or organization.</a:t>
            </a:r>
          </a:p>
          <a:p>
            <a:r>
              <a:rPr lang="en-US" sz="2400" b="1" dirty="0">
                <a:solidFill>
                  <a:srgbClr val="FF0000"/>
                </a:solidFill>
                <a:latin typeface="Times New Roman" panose="02020603050405020304" pitchFamily="18" charset="0"/>
                <a:cs typeface="Times New Roman" panose="02020603050405020304" pitchFamily="18" charset="0"/>
              </a:rPr>
              <a:t>Simple Logic:</a:t>
            </a:r>
            <a:r>
              <a:rPr lang="en-US" sz="2400" dirty="0">
                <a:latin typeface="Times New Roman" panose="02020603050405020304" pitchFamily="18" charset="0"/>
                <a:cs typeface="Times New Roman" panose="02020603050405020304" pitchFamily="18" charset="0"/>
              </a:rPr>
              <a:t> It's traditional stalking, supercharged by technology. Constant, unwanted attention that invades your digital and real-world life, creating fear</a:t>
            </a:r>
            <a:r>
              <a:rPr lang="en-US"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b="1" dirty="0">
                <a:solidFill>
                  <a:srgbClr val="FF0000"/>
                </a:solidFill>
                <a:latin typeface="Times New Roman" panose="02020603050405020304" pitchFamily="18" charset="0"/>
                <a:cs typeface="Times New Roman" panose="02020603050405020304" pitchFamily="18" charset="0"/>
              </a:rPr>
              <a:t>Real-Time Example:</a:t>
            </a:r>
            <a:endParaRPr lang="en-US" sz="2400" dirty="0">
              <a:solidFill>
                <a:srgbClr val="FF0000"/>
              </a:solidFill>
              <a:latin typeface="Times New Roman" panose="02020603050405020304" pitchFamily="18" charset="0"/>
              <a:cs typeface="Times New Roman" panose="02020603050405020304" pitchFamily="18" charset="0"/>
            </a:endParaRPr>
          </a:p>
          <a:p>
            <a:r>
              <a:rPr lang="en-US" sz="2400" b="1" dirty="0">
                <a:solidFill>
                  <a:srgbClr val="FF0000"/>
                </a:solidFill>
                <a:latin typeface="Times New Roman" panose="02020603050405020304" pitchFamily="18" charset="0"/>
                <a:cs typeface="Times New Roman" panose="02020603050405020304" pitchFamily="18" charset="0"/>
              </a:rPr>
              <a:t>Scenario:</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After a brief online disagreement in a forum, a user becomes fixated on you.</a:t>
            </a:r>
          </a:p>
          <a:p>
            <a:r>
              <a:rPr lang="en-US" sz="2400" b="1" dirty="0">
                <a:solidFill>
                  <a:srgbClr val="FF0000"/>
                </a:solidFill>
                <a:latin typeface="Times New Roman" panose="02020603050405020304" pitchFamily="18" charset="0"/>
                <a:cs typeface="Times New Roman" panose="02020603050405020304" pitchFamily="18" charset="0"/>
              </a:rPr>
              <a:t>The Behavior:</a:t>
            </a:r>
            <a:r>
              <a:rPr lang="en-US" sz="2400" dirty="0">
                <a:latin typeface="Times New Roman" panose="02020603050405020304" pitchFamily="18" charset="0"/>
                <a:cs typeface="Times New Roman" panose="02020603050405020304" pitchFamily="18" charset="0"/>
              </a:rPr>
              <a:t> They create fake social media profiles to follow you. They use information from your public posts to find your home address and workplace. They send you dozens of threatening emails daily. They might even use GPS tagging on photos you post to track your movements.</a:t>
            </a:r>
          </a:p>
          <a:p>
            <a:r>
              <a:rPr lang="en-US" sz="2400" b="1" dirty="0">
                <a:solidFill>
                  <a:srgbClr val="FF0000"/>
                </a:solidFill>
                <a:latin typeface="Times New Roman" panose="02020603050405020304" pitchFamily="18" charset="0"/>
                <a:cs typeface="Times New Roman" panose="02020603050405020304" pitchFamily="18" charset="0"/>
              </a:rPr>
              <a:t>What Happens?</a:t>
            </a:r>
            <a:r>
              <a:rPr lang="en-US" sz="2400" dirty="0">
                <a:latin typeface="Times New Roman" panose="02020603050405020304" pitchFamily="18" charset="0"/>
                <a:cs typeface="Times New Roman" panose="02020603050405020304" pitchFamily="18" charset="0"/>
              </a:rPr>
              <a:t> You feel unsafe in your own home. Your online life, which should be a space for connection, becomes a source of terror. This is a persistent, malicious invasion of privacy with real psychological consequences</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27686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298831"/>
            <a:ext cx="8602345" cy="513715"/>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0A0405"/>
                </a:solidFill>
                <a:latin typeface="Arial MT"/>
                <a:cs typeface="Arial MT"/>
              </a:rPr>
              <a:t>How</a:t>
            </a:r>
            <a:r>
              <a:rPr sz="3200" spc="-40" dirty="0">
                <a:solidFill>
                  <a:srgbClr val="0A0405"/>
                </a:solidFill>
                <a:latin typeface="Arial MT"/>
                <a:cs typeface="Arial MT"/>
              </a:rPr>
              <a:t> </a:t>
            </a:r>
            <a:r>
              <a:rPr sz="3200" dirty="0">
                <a:solidFill>
                  <a:srgbClr val="0A0405"/>
                </a:solidFill>
                <a:latin typeface="Arial MT"/>
                <a:cs typeface="Arial MT"/>
              </a:rPr>
              <a:t>Do</a:t>
            </a:r>
            <a:r>
              <a:rPr sz="3200" spc="-15" dirty="0">
                <a:solidFill>
                  <a:srgbClr val="0A0405"/>
                </a:solidFill>
                <a:latin typeface="Arial MT"/>
                <a:cs typeface="Arial MT"/>
              </a:rPr>
              <a:t> </a:t>
            </a:r>
            <a:r>
              <a:rPr sz="3200" dirty="0">
                <a:solidFill>
                  <a:srgbClr val="0A0405"/>
                </a:solidFill>
                <a:latin typeface="Arial MT"/>
                <a:cs typeface="Arial MT"/>
              </a:rPr>
              <a:t>Legal</a:t>
            </a:r>
            <a:r>
              <a:rPr sz="3200" spc="-25" dirty="0">
                <a:solidFill>
                  <a:srgbClr val="0A0405"/>
                </a:solidFill>
                <a:latin typeface="Arial MT"/>
                <a:cs typeface="Arial MT"/>
              </a:rPr>
              <a:t> </a:t>
            </a:r>
            <a:r>
              <a:rPr sz="3200" dirty="0">
                <a:solidFill>
                  <a:srgbClr val="0A0405"/>
                </a:solidFill>
                <a:latin typeface="Arial MT"/>
                <a:cs typeface="Arial MT"/>
              </a:rPr>
              <a:t>Issues</a:t>
            </a:r>
            <a:r>
              <a:rPr sz="3200" spc="-40" dirty="0">
                <a:solidFill>
                  <a:srgbClr val="0A0405"/>
                </a:solidFill>
                <a:latin typeface="Arial MT"/>
                <a:cs typeface="Arial MT"/>
              </a:rPr>
              <a:t> </a:t>
            </a:r>
            <a:r>
              <a:rPr sz="3200" dirty="0">
                <a:solidFill>
                  <a:srgbClr val="0A0405"/>
                </a:solidFill>
                <a:latin typeface="Arial MT"/>
                <a:cs typeface="Arial MT"/>
              </a:rPr>
              <a:t>Impact</a:t>
            </a:r>
            <a:r>
              <a:rPr sz="3200" spc="-25" dirty="0">
                <a:solidFill>
                  <a:srgbClr val="0A0405"/>
                </a:solidFill>
                <a:latin typeface="Arial MT"/>
                <a:cs typeface="Arial MT"/>
              </a:rPr>
              <a:t> </a:t>
            </a:r>
            <a:r>
              <a:rPr sz="3200" dirty="0">
                <a:solidFill>
                  <a:srgbClr val="0A0405"/>
                </a:solidFill>
                <a:latin typeface="Arial MT"/>
                <a:cs typeface="Arial MT"/>
              </a:rPr>
              <a:t>Network</a:t>
            </a:r>
            <a:r>
              <a:rPr sz="3200" spc="-40" dirty="0">
                <a:solidFill>
                  <a:srgbClr val="0A0405"/>
                </a:solidFill>
                <a:latin typeface="Arial MT"/>
                <a:cs typeface="Arial MT"/>
              </a:rPr>
              <a:t> </a:t>
            </a:r>
            <a:r>
              <a:rPr sz="3200" spc="-10" dirty="0">
                <a:solidFill>
                  <a:srgbClr val="0A0405"/>
                </a:solidFill>
                <a:latin typeface="Arial MT"/>
                <a:cs typeface="Arial MT"/>
              </a:rPr>
              <a:t>Security?</a:t>
            </a:r>
            <a:endParaRPr sz="3200">
              <a:latin typeface="Arial MT"/>
              <a:cs typeface="Arial MT"/>
            </a:endParaRPr>
          </a:p>
        </p:txBody>
      </p:sp>
      <p:sp>
        <p:nvSpPr>
          <p:cNvPr id="4" name="object 4"/>
          <p:cNvSpPr txBox="1"/>
          <p:nvPr/>
        </p:nvSpPr>
        <p:spPr>
          <a:xfrm>
            <a:off x="11310493" y="6469814"/>
            <a:ext cx="232410" cy="196850"/>
          </a:xfrm>
          <a:prstGeom prst="rect">
            <a:avLst/>
          </a:prstGeom>
        </p:spPr>
        <p:txBody>
          <a:bodyPr vert="horz" wrap="square" lIns="0" tIns="0" rIns="0" bIns="0" rtlCol="0">
            <a:spAutoFit/>
          </a:bodyPr>
          <a:lstStyle/>
          <a:p>
            <a:pPr marL="38100">
              <a:lnSpc>
                <a:spcPts val="1375"/>
              </a:lnSpc>
            </a:pPr>
            <a:fld id="{81D60167-4931-47E6-BA6A-407CBD079E47}" type="slidenum">
              <a:rPr sz="1200" spc="-25" dirty="0">
                <a:solidFill>
                  <a:srgbClr val="3366CC"/>
                </a:solidFill>
                <a:latin typeface="Times New Roman"/>
                <a:cs typeface="Times New Roman"/>
              </a:rPr>
              <a:t>54</a:t>
            </a:fld>
            <a:endParaRPr sz="1200">
              <a:latin typeface="Times New Roman"/>
              <a:cs typeface="Times New Roman"/>
            </a:endParaRPr>
          </a:p>
        </p:txBody>
      </p:sp>
      <p:sp>
        <p:nvSpPr>
          <p:cNvPr id="3" name="object 3"/>
          <p:cNvSpPr txBox="1"/>
          <p:nvPr/>
        </p:nvSpPr>
        <p:spPr>
          <a:xfrm>
            <a:off x="2060194" y="1302384"/>
            <a:ext cx="8053705" cy="3135630"/>
          </a:xfrm>
          <a:prstGeom prst="rect">
            <a:avLst/>
          </a:prstGeom>
        </p:spPr>
        <p:txBody>
          <a:bodyPr vert="horz" wrap="square" lIns="0" tIns="104139" rIns="0" bIns="0" rtlCol="0">
            <a:spAutoFit/>
          </a:bodyPr>
          <a:lstStyle/>
          <a:p>
            <a:pPr marL="354965" indent="-342265">
              <a:lnSpc>
                <a:spcPct val="100000"/>
              </a:lnSpc>
              <a:spcBef>
                <a:spcPts val="819"/>
              </a:spcBef>
              <a:buSzPct val="65000"/>
              <a:buFont typeface="Wingdings"/>
              <a:buChar char=""/>
              <a:tabLst>
                <a:tab pos="354965" algn="l"/>
              </a:tabLst>
            </a:pPr>
            <a:r>
              <a:rPr sz="3000" i="1" dirty="0">
                <a:solidFill>
                  <a:srgbClr val="3366CC"/>
                </a:solidFill>
                <a:latin typeface="Arial"/>
                <a:cs typeface="Arial"/>
              </a:rPr>
              <a:t>The</a:t>
            </a:r>
            <a:r>
              <a:rPr sz="3000" i="1" spc="-15" dirty="0">
                <a:solidFill>
                  <a:srgbClr val="3366CC"/>
                </a:solidFill>
                <a:latin typeface="Arial"/>
                <a:cs typeface="Arial"/>
              </a:rPr>
              <a:t> </a:t>
            </a:r>
            <a:r>
              <a:rPr sz="3000" i="1" dirty="0">
                <a:solidFill>
                  <a:srgbClr val="3366CC"/>
                </a:solidFill>
                <a:latin typeface="Arial"/>
                <a:cs typeface="Arial"/>
              </a:rPr>
              <a:t>Computer</a:t>
            </a:r>
            <a:r>
              <a:rPr sz="3000" i="1" spc="-20" dirty="0">
                <a:solidFill>
                  <a:srgbClr val="3366CC"/>
                </a:solidFill>
                <a:latin typeface="Arial"/>
                <a:cs typeface="Arial"/>
              </a:rPr>
              <a:t> </a:t>
            </a:r>
            <a:r>
              <a:rPr sz="3000" i="1" dirty="0">
                <a:solidFill>
                  <a:srgbClr val="3366CC"/>
                </a:solidFill>
                <a:latin typeface="Arial"/>
                <a:cs typeface="Arial"/>
              </a:rPr>
              <a:t>Security</a:t>
            </a:r>
            <a:r>
              <a:rPr sz="3000" i="1" spc="-25" dirty="0">
                <a:solidFill>
                  <a:srgbClr val="3366CC"/>
                </a:solidFill>
                <a:latin typeface="Arial"/>
                <a:cs typeface="Arial"/>
              </a:rPr>
              <a:t> </a:t>
            </a:r>
            <a:r>
              <a:rPr sz="3000" i="1" dirty="0">
                <a:solidFill>
                  <a:srgbClr val="3366CC"/>
                </a:solidFill>
                <a:latin typeface="Arial"/>
                <a:cs typeface="Arial"/>
              </a:rPr>
              <a:t>Act</a:t>
            </a:r>
            <a:r>
              <a:rPr sz="3000" i="1" spc="-10" dirty="0">
                <a:solidFill>
                  <a:srgbClr val="3366CC"/>
                </a:solidFill>
                <a:latin typeface="Arial"/>
                <a:cs typeface="Arial"/>
              </a:rPr>
              <a:t> </a:t>
            </a:r>
            <a:r>
              <a:rPr sz="3000" i="1" dirty="0">
                <a:solidFill>
                  <a:srgbClr val="3366CC"/>
                </a:solidFill>
                <a:latin typeface="Arial"/>
                <a:cs typeface="Arial"/>
              </a:rPr>
              <a:t>of</a:t>
            </a:r>
            <a:r>
              <a:rPr sz="3000" i="1" spc="-10" dirty="0">
                <a:solidFill>
                  <a:srgbClr val="3366CC"/>
                </a:solidFill>
                <a:latin typeface="Arial"/>
                <a:cs typeface="Arial"/>
              </a:rPr>
              <a:t> </a:t>
            </a:r>
            <a:r>
              <a:rPr sz="3000" i="1" spc="-20" dirty="0">
                <a:solidFill>
                  <a:srgbClr val="3366CC"/>
                </a:solidFill>
                <a:latin typeface="Arial"/>
                <a:cs typeface="Arial"/>
              </a:rPr>
              <a:t>1987</a:t>
            </a:r>
            <a:endParaRPr sz="3000">
              <a:latin typeface="Arial"/>
              <a:cs typeface="Arial"/>
            </a:endParaRPr>
          </a:p>
          <a:p>
            <a:pPr marL="354965" indent="-342265">
              <a:lnSpc>
                <a:spcPct val="100000"/>
              </a:lnSpc>
              <a:spcBef>
                <a:spcPts val="725"/>
              </a:spcBef>
              <a:buSzPct val="65000"/>
              <a:buFont typeface="Wingdings"/>
              <a:buChar char=""/>
              <a:tabLst>
                <a:tab pos="354965" algn="l"/>
              </a:tabLst>
            </a:pPr>
            <a:r>
              <a:rPr sz="3000" i="1" dirty="0">
                <a:solidFill>
                  <a:srgbClr val="3366CC"/>
                </a:solidFill>
                <a:latin typeface="Arial"/>
                <a:cs typeface="Arial"/>
              </a:rPr>
              <a:t>OMB</a:t>
            </a:r>
            <a:r>
              <a:rPr sz="3000" i="1" spc="-10" dirty="0">
                <a:solidFill>
                  <a:srgbClr val="3366CC"/>
                </a:solidFill>
                <a:latin typeface="Arial"/>
                <a:cs typeface="Arial"/>
              </a:rPr>
              <a:t> </a:t>
            </a:r>
            <a:r>
              <a:rPr sz="3000" i="1" dirty="0">
                <a:solidFill>
                  <a:srgbClr val="3366CC"/>
                </a:solidFill>
                <a:latin typeface="Arial"/>
                <a:cs typeface="Arial"/>
              </a:rPr>
              <a:t>Circular</a:t>
            </a:r>
            <a:r>
              <a:rPr sz="3000" i="1" spc="-50" dirty="0">
                <a:solidFill>
                  <a:srgbClr val="3366CC"/>
                </a:solidFill>
                <a:latin typeface="Arial"/>
                <a:cs typeface="Arial"/>
              </a:rPr>
              <a:t> </a:t>
            </a:r>
            <a:r>
              <a:rPr sz="3000" i="1" spc="-10" dirty="0">
                <a:solidFill>
                  <a:srgbClr val="3366CC"/>
                </a:solidFill>
                <a:latin typeface="Arial"/>
                <a:cs typeface="Arial"/>
              </a:rPr>
              <a:t>A-</a:t>
            </a:r>
            <a:r>
              <a:rPr sz="3000" i="1" spc="-25" dirty="0">
                <a:solidFill>
                  <a:srgbClr val="3366CC"/>
                </a:solidFill>
                <a:latin typeface="Arial"/>
                <a:cs typeface="Arial"/>
              </a:rPr>
              <a:t>130</a:t>
            </a:r>
            <a:endParaRPr sz="3000">
              <a:latin typeface="Arial"/>
              <a:cs typeface="Arial"/>
            </a:endParaRPr>
          </a:p>
          <a:p>
            <a:pPr marL="355600" marR="5080" indent="-342900">
              <a:lnSpc>
                <a:spcPct val="100000"/>
              </a:lnSpc>
              <a:spcBef>
                <a:spcPts val="720"/>
              </a:spcBef>
              <a:buSzPct val="65000"/>
              <a:buFont typeface="Wingdings"/>
              <a:buChar char=""/>
              <a:tabLst>
                <a:tab pos="355600" algn="l"/>
              </a:tabLst>
            </a:pPr>
            <a:r>
              <a:rPr sz="3000" dirty="0">
                <a:solidFill>
                  <a:srgbClr val="3366CC"/>
                </a:solidFill>
                <a:latin typeface="Arial MT"/>
                <a:cs typeface="Arial MT"/>
                <a:hlinkClick r:id="rId2"/>
              </a:rPr>
              <a:t>See</a:t>
            </a:r>
            <a:r>
              <a:rPr sz="3000" spc="-15" dirty="0">
                <a:solidFill>
                  <a:srgbClr val="3366CC"/>
                </a:solidFill>
                <a:latin typeface="Arial MT"/>
                <a:cs typeface="Arial MT"/>
                <a:hlinkClick r:id="rId2"/>
              </a:rPr>
              <a:t> </a:t>
            </a:r>
            <a:r>
              <a:rPr sz="3000" u="sng" spc="-10" dirty="0">
                <a:solidFill>
                  <a:srgbClr val="808080"/>
                </a:solidFill>
                <a:uFill>
                  <a:solidFill>
                    <a:srgbClr val="808080"/>
                  </a:solidFill>
                </a:uFill>
                <a:latin typeface="Arial MT"/>
                <a:cs typeface="Arial MT"/>
                <a:hlinkClick r:id="rId2"/>
              </a:rPr>
              <a:t>www.alw.nih.gov/Security/FIRST/papers/</a:t>
            </a:r>
            <a:r>
              <a:rPr sz="3000" spc="-10" dirty="0">
                <a:solidFill>
                  <a:srgbClr val="808080"/>
                </a:solidFill>
                <a:latin typeface="Arial MT"/>
                <a:cs typeface="Arial MT"/>
                <a:hlinkClick r:id="rId2"/>
              </a:rPr>
              <a:t> </a:t>
            </a:r>
            <a:r>
              <a:rPr sz="3000" u="sng" dirty="0">
                <a:solidFill>
                  <a:srgbClr val="808080"/>
                </a:solidFill>
                <a:uFill>
                  <a:solidFill>
                    <a:srgbClr val="808080"/>
                  </a:solidFill>
                </a:uFill>
                <a:latin typeface="Arial MT"/>
                <a:cs typeface="Arial MT"/>
                <a:hlinkClick r:id="rId2"/>
              </a:rPr>
              <a:t>legal/statelaw.txt</a:t>
            </a:r>
            <a:r>
              <a:rPr sz="3000" u="sng" spc="-45" dirty="0">
                <a:solidFill>
                  <a:srgbClr val="808080"/>
                </a:solidFill>
                <a:uFill>
                  <a:solidFill>
                    <a:srgbClr val="808080"/>
                  </a:solidFill>
                </a:uFill>
                <a:latin typeface="Arial MT"/>
                <a:cs typeface="Arial MT"/>
                <a:hlinkClick r:id="rId2"/>
              </a:rPr>
              <a:t> </a:t>
            </a:r>
            <a:r>
              <a:rPr sz="3000" dirty="0">
                <a:solidFill>
                  <a:srgbClr val="3366CC"/>
                </a:solidFill>
                <a:latin typeface="Arial MT"/>
                <a:cs typeface="Arial MT"/>
                <a:hlinkClick r:id="rId2"/>
              </a:rPr>
              <a:t>for</a:t>
            </a:r>
            <a:r>
              <a:rPr sz="3000" spc="-40" dirty="0">
                <a:solidFill>
                  <a:srgbClr val="3366CC"/>
                </a:solidFill>
                <a:latin typeface="Arial MT"/>
                <a:cs typeface="Arial MT"/>
                <a:hlinkClick r:id="rId2"/>
              </a:rPr>
              <a:t> </a:t>
            </a:r>
            <a:r>
              <a:rPr sz="3000" dirty="0">
                <a:solidFill>
                  <a:srgbClr val="3366CC"/>
                </a:solidFill>
                <a:latin typeface="Arial MT"/>
                <a:cs typeface="Arial MT"/>
                <a:hlinkClick r:id="rId2"/>
              </a:rPr>
              <a:t>state</a:t>
            </a:r>
            <a:r>
              <a:rPr sz="3000" spc="-30" dirty="0">
                <a:solidFill>
                  <a:srgbClr val="3366CC"/>
                </a:solidFill>
                <a:latin typeface="Arial MT"/>
                <a:cs typeface="Arial MT"/>
                <a:hlinkClick r:id="rId2"/>
              </a:rPr>
              <a:t> </a:t>
            </a:r>
            <a:r>
              <a:rPr sz="3000" dirty="0">
                <a:solidFill>
                  <a:srgbClr val="3366CC"/>
                </a:solidFill>
                <a:latin typeface="Arial MT"/>
                <a:cs typeface="Arial MT"/>
                <a:hlinkClick r:id="rId2"/>
              </a:rPr>
              <a:t>computer</a:t>
            </a:r>
            <a:r>
              <a:rPr sz="3000" spc="-45" dirty="0">
                <a:solidFill>
                  <a:srgbClr val="3366CC"/>
                </a:solidFill>
                <a:latin typeface="Arial MT"/>
                <a:cs typeface="Arial MT"/>
                <a:hlinkClick r:id="rId2"/>
              </a:rPr>
              <a:t> </a:t>
            </a:r>
            <a:r>
              <a:rPr sz="3000" spc="-20" dirty="0">
                <a:solidFill>
                  <a:srgbClr val="3366CC"/>
                </a:solidFill>
                <a:latin typeface="Arial MT"/>
                <a:cs typeface="Arial MT"/>
                <a:hlinkClick r:id="rId2"/>
              </a:rPr>
              <a:t>laws</a:t>
            </a:r>
            <a:endParaRPr sz="3000">
              <a:latin typeface="Arial MT"/>
              <a:cs typeface="Arial MT"/>
            </a:endParaRPr>
          </a:p>
          <a:p>
            <a:pPr marL="355600" marR="1955800" indent="-342900">
              <a:lnSpc>
                <a:spcPct val="100000"/>
              </a:lnSpc>
              <a:spcBef>
                <a:spcPts val="720"/>
              </a:spcBef>
              <a:buSzPct val="65000"/>
              <a:buFont typeface="Wingdings"/>
              <a:buChar char=""/>
              <a:tabLst>
                <a:tab pos="355600" algn="l"/>
              </a:tabLst>
            </a:pPr>
            <a:r>
              <a:rPr sz="3000" dirty="0">
                <a:solidFill>
                  <a:srgbClr val="3366CC"/>
                </a:solidFill>
                <a:latin typeface="Arial MT"/>
                <a:cs typeface="Arial MT"/>
              </a:rPr>
              <a:t>Health</a:t>
            </a:r>
            <a:r>
              <a:rPr sz="3000" spc="-60" dirty="0">
                <a:solidFill>
                  <a:srgbClr val="3366CC"/>
                </a:solidFill>
                <a:latin typeface="Arial MT"/>
                <a:cs typeface="Arial MT"/>
              </a:rPr>
              <a:t> </a:t>
            </a:r>
            <a:r>
              <a:rPr sz="3000" dirty="0">
                <a:solidFill>
                  <a:srgbClr val="3366CC"/>
                </a:solidFill>
                <a:latin typeface="Arial MT"/>
                <a:cs typeface="Arial MT"/>
              </a:rPr>
              <a:t>Insurance</a:t>
            </a:r>
            <a:r>
              <a:rPr sz="3000" spc="-55" dirty="0">
                <a:solidFill>
                  <a:srgbClr val="3366CC"/>
                </a:solidFill>
                <a:latin typeface="Arial MT"/>
                <a:cs typeface="Arial MT"/>
              </a:rPr>
              <a:t> </a:t>
            </a:r>
            <a:r>
              <a:rPr sz="3000" dirty="0">
                <a:solidFill>
                  <a:srgbClr val="3366CC"/>
                </a:solidFill>
                <a:latin typeface="Arial MT"/>
                <a:cs typeface="Arial MT"/>
              </a:rPr>
              <a:t>Portability</a:t>
            </a:r>
            <a:r>
              <a:rPr sz="3000" spc="-55" dirty="0">
                <a:solidFill>
                  <a:srgbClr val="3366CC"/>
                </a:solidFill>
                <a:latin typeface="Arial MT"/>
                <a:cs typeface="Arial MT"/>
              </a:rPr>
              <a:t> </a:t>
            </a:r>
            <a:r>
              <a:rPr sz="3000" spc="-25" dirty="0">
                <a:solidFill>
                  <a:srgbClr val="3366CC"/>
                </a:solidFill>
                <a:latin typeface="Arial MT"/>
                <a:cs typeface="Arial MT"/>
              </a:rPr>
              <a:t>and </a:t>
            </a:r>
            <a:r>
              <a:rPr sz="3000" dirty="0">
                <a:solidFill>
                  <a:srgbClr val="3366CC"/>
                </a:solidFill>
                <a:latin typeface="Arial MT"/>
                <a:cs typeface="Arial MT"/>
              </a:rPr>
              <a:t>Accountability</a:t>
            </a:r>
            <a:r>
              <a:rPr sz="3000" spc="-60" dirty="0">
                <a:solidFill>
                  <a:srgbClr val="3366CC"/>
                </a:solidFill>
                <a:latin typeface="Arial MT"/>
                <a:cs typeface="Arial MT"/>
              </a:rPr>
              <a:t> </a:t>
            </a:r>
            <a:r>
              <a:rPr sz="3000" dirty="0">
                <a:solidFill>
                  <a:srgbClr val="3366CC"/>
                </a:solidFill>
                <a:latin typeface="Arial MT"/>
                <a:cs typeface="Arial MT"/>
              </a:rPr>
              <a:t>Act</a:t>
            </a:r>
            <a:r>
              <a:rPr sz="3000" spc="-15" dirty="0">
                <a:solidFill>
                  <a:srgbClr val="3366CC"/>
                </a:solidFill>
                <a:latin typeface="Arial MT"/>
                <a:cs typeface="Arial MT"/>
              </a:rPr>
              <a:t> </a:t>
            </a:r>
            <a:r>
              <a:rPr sz="3000" dirty="0">
                <a:solidFill>
                  <a:srgbClr val="3366CC"/>
                </a:solidFill>
                <a:latin typeface="Arial MT"/>
                <a:cs typeface="Arial MT"/>
              </a:rPr>
              <a:t>of</a:t>
            </a:r>
            <a:r>
              <a:rPr sz="3000" spc="-25" dirty="0">
                <a:solidFill>
                  <a:srgbClr val="3366CC"/>
                </a:solidFill>
                <a:latin typeface="Arial MT"/>
                <a:cs typeface="Arial MT"/>
              </a:rPr>
              <a:t> </a:t>
            </a:r>
            <a:r>
              <a:rPr sz="3000" dirty="0">
                <a:solidFill>
                  <a:srgbClr val="3366CC"/>
                </a:solidFill>
                <a:latin typeface="Arial MT"/>
                <a:cs typeface="Arial MT"/>
              </a:rPr>
              <a:t>1996,</a:t>
            </a:r>
            <a:r>
              <a:rPr sz="3000" spc="-40" dirty="0">
                <a:solidFill>
                  <a:srgbClr val="3366CC"/>
                </a:solidFill>
                <a:latin typeface="Arial MT"/>
                <a:cs typeface="Arial MT"/>
              </a:rPr>
              <a:t> </a:t>
            </a:r>
            <a:r>
              <a:rPr sz="3000" spc="-10" dirty="0">
                <a:solidFill>
                  <a:srgbClr val="3366CC"/>
                </a:solidFill>
                <a:latin typeface="Arial MT"/>
                <a:cs typeface="Arial MT"/>
              </a:rPr>
              <a:t>HIPAA</a:t>
            </a:r>
            <a:endParaRPr sz="3000">
              <a:latin typeface="Arial MT"/>
              <a:cs typeface="Arial M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295783"/>
            <a:ext cx="6342380" cy="665480"/>
          </a:xfrm>
          <a:prstGeom prst="rect">
            <a:avLst/>
          </a:prstGeom>
        </p:spPr>
        <p:txBody>
          <a:bodyPr vert="horz" wrap="square" lIns="0" tIns="12700" rIns="0" bIns="0" rtlCol="0">
            <a:spAutoFit/>
          </a:bodyPr>
          <a:lstStyle/>
          <a:p>
            <a:pPr marL="12700">
              <a:lnSpc>
                <a:spcPct val="100000"/>
              </a:lnSpc>
              <a:spcBef>
                <a:spcPts val="100"/>
              </a:spcBef>
              <a:tabLst>
                <a:tab pos="1703705" algn="l"/>
              </a:tabLst>
            </a:pPr>
            <a:r>
              <a:rPr sz="4200" spc="-10" dirty="0">
                <a:solidFill>
                  <a:srgbClr val="0A0405"/>
                </a:solidFill>
                <a:latin typeface="Arial MT"/>
                <a:cs typeface="Arial MT"/>
              </a:rPr>
              <a:t>Online</a:t>
            </a:r>
            <a:r>
              <a:rPr sz="4200" dirty="0">
                <a:solidFill>
                  <a:srgbClr val="0A0405"/>
                </a:solidFill>
                <a:latin typeface="Arial MT"/>
                <a:cs typeface="Arial MT"/>
              </a:rPr>
              <a:t>	Security</a:t>
            </a:r>
            <a:r>
              <a:rPr sz="4200" spc="-95" dirty="0">
                <a:solidFill>
                  <a:srgbClr val="0A0405"/>
                </a:solidFill>
                <a:latin typeface="Arial MT"/>
                <a:cs typeface="Arial MT"/>
              </a:rPr>
              <a:t> </a:t>
            </a:r>
            <a:r>
              <a:rPr sz="4200" spc="-10" dirty="0">
                <a:solidFill>
                  <a:srgbClr val="0A0405"/>
                </a:solidFill>
                <a:latin typeface="Arial MT"/>
                <a:cs typeface="Arial MT"/>
              </a:rPr>
              <a:t>Resources</a:t>
            </a:r>
            <a:endParaRPr sz="4200">
              <a:latin typeface="Arial MT"/>
              <a:cs typeface="Arial MT"/>
            </a:endParaRPr>
          </a:p>
        </p:txBody>
      </p:sp>
      <p:sp>
        <p:nvSpPr>
          <p:cNvPr id="4" name="object 4"/>
          <p:cNvSpPr txBox="1"/>
          <p:nvPr/>
        </p:nvSpPr>
        <p:spPr>
          <a:xfrm>
            <a:off x="11310493" y="6469814"/>
            <a:ext cx="232410" cy="196850"/>
          </a:xfrm>
          <a:prstGeom prst="rect">
            <a:avLst/>
          </a:prstGeom>
        </p:spPr>
        <p:txBody>
          <a:bodyPr vert="horz" wrap="square" lIns="0" tIns="0" rIns="0" bIns="0" rtlCol="0">
            <a:spAutoFit/>
          </a:bodyPr>
          <a:lstStyle/>
          <a:p>
            <a:pPr marL="38100">
              <a:lnSpc>
                <a:spcPts val="1375"/>
              </a:lnSpc>
            </a:pPr>
            <a:fld id="{81D60167-4931-47E6-BA6A-407CBD079E47}" type="slidenum">
              <a:rPr sz="1200" spc="-25" dirty="0">
                <a:solidFill>
                  <a:srgbClr val="3366CC"/>
                </a:solidFill>
                <a:latin typeface="Times New Roman"/>
                <a:cs typeface="Times New Roman"/>
              </a:rPr>
              <a:t>55</a:t>
            </a:fld>
            <a:endParaRPr sz="1200">
              <a:latin typeface="Times New Roman"/>
              <a:cs typeface="Times New Roman"/>
            </a:endParaRPr>
          </a:p>
        </p:txBody>
      </p:sp>
      <p:sp>
        <p:nvSpPr>
          <p:cNvPr id="3" name="object 3"/>
          <p:cNvSpPr txBox="1"/>
          <p:nvPr/>
        </p:nvSpPr>
        <p:spPr>
          <a:xfrm>
            <a:off x="2060194" y="1537861"/>
            <a:ext cx="6759575" cy="3978910"/>
          </a:xfrm>
          <a:prstGeom prst="rect">
            <a:avLst/>
          </a:prstGeom>
        </p:spPr>
        <p:txBody>
          <a:bodyPr vert="horz" wrap="square" lIns="0" tIns="98425" rIns="0" bIns="0" rtlCol="0">
            <a:spAutoFit/>
          </a:bodyPr>
          <a:lstStyle/>
          <a:p>
            <a:pPr marL="354965" indent="-342265">
              <a:lnSpc>
                <a:spcPct val="100000"/>
              </a:lnSpc>
              <a:spcBef>
                <a:spcPts val="775"/>
              </a:spcBef>
              <a:buSzPct val="64285"/>
              <a:buFont typeface="Wingdings"/>
              <a:buChar char=""/>
              <a:tabLst>
                <a:tab pos="354965" algn="l"/>
              </a:tabLst>
            </a:pPr>
            <a:r>
              <a:rPr sz="2800" spc="-20" dirty="0">
                <a:solidFill>
                  <a:srgbClr val="3366CC"/>
                </a:solidFill>
                <a:latin typeface="Arial MT"/>
                <a:cs typeface="Arial MT"/>
              </a:rPr>
              <a:t>CERT</a:t>
            </a:r>
            <a:endParaRPr sz="2800">
              <a:latin typeface="Arial MT"/>
              <a:cs typeface="Arial MT"/>
            </a:endParaRPr>
          </a:p>
          <a:p>
            <a:pPr marL="682625" lvl="1" indent="-325755">
              <a:lnSpc>
                <a:spcPct val="100000"/>
              </a:lnSpc>
              <a:spcBef>
                <a:spcPts val="635"/>
              </a:spcBef>
              <a:buClr>
                <a:srgbClr val="3333CC"/>
              </a:buClr>
              <a:buSzPct val="59615"/>
              <a:buFont typeface="Wingdings"/>
              <a:buChar char=""/>
              <a:tabLst>
                <a:tab pos="682625" algn="l"/>
              </a:tabLst>
            </a:pPr>
            <a:r>
              <a:rPr sz="2600" u="sng" spc="-10" dirty="0">
                <a:solidFill>
                  <a:srgbClr val="808080"/>
                </a:solidFill>
                <a:uFill>
                  <a:solidFill>
                    <a:srgbClr val="808080"/>
                  </a:solidFill>
                </a:uFill>
                <a:latin typeface="Arial MT"/>
                <a:cs typeface="Arial MT"/>
                <a:hlinkClick r:id="rId2"/>
              </a:rPr>
              <a:t>www.cert.org</a:t>
            </a:r>
            <a:endParaRPr sz="2600">
              <a:latin typeface="Arial MT"/>
              <a:cs typeface="Arial MT"/>
            </a:endParaRPr>
          </a:p>
          <a:p>
            <a:pPr marL="354965" indent="-342265">
              <a:lnSpc>
                <a:spcPct val="100000"/>
              </a:lnSpc>
              <a:spcBef>
                <a:spcPts val="665"/>
              </a:spcBef>
              <a:buSzPct val="64285"/>
              <a:buFont typeface="Wingdings"/>
              <a:buChar char=""/>
              <a:tabLst>
                <a:tab pos="354965" algn="l"/>
              </a:tabLst>
            </a:pPr>
            <a:r>
              <a:rPr sz="2800" dirty="0">
                <a:solidFill>
                  <a:srgbClr val="3366CC"/>
                </a:solidFill>
                <a:latin typeface="Arial MT"/>
                <a:cs typeface="Arial MT"/>
              </a:rPr>
              <a:t>Microsoft</a:t>
            </a:r>
            <a:r>
              <a:rPr sz="2800" spc="-120" dirty="0">
                <a:solidFill>
                  <a:srgbClr val="3366CC"/>
                </a:solidFill>
                <a:latin typeface="Arial MT"/>
                <a:cs typeface="Arial MT"/>
              </a:rPr>
              <a:t> </a:t>
            </a:r>
            <a:r>
              <a:rPr sz="2800" dirty="0">
                <a:solidFill>
                  <a:srgbClr val="3366CC"/>
                </a:solidFill>
                <a:latin typeface="Arial MT"/>
                <a:cs typeface="Arial MT"/>
              </a:rPr>
              <a:t>Security</a:t>
            </a:r>
            <a:r>
              <a:rPr sz="2800" spc="-95" dirty="0">
                <a:solidFill>
                  <a:srgbClr val="3366CC"/>
                </a:solidFill>
                <a:latin typeface="Arial MT"/>
                <a:cs typeface="Arial MT"/>
              </a:rPr>
              <a:t> </a:t>
            </a:r>
            <a:r>
              <a:rPr sz="2800" spc="-10" dirty="0">
                <a:solidFill>
                  <a:srgbClr val="3366CC"/>
                </a:solidFill>
                <a:latin typeface="Arial MT"/>
                <a:cs typeface="Arial MT"/>
              </a:rPr>
              <a:t>Advisor</a:t>
            </a:r>
            <a:endParaRPr sz="2800">
              <a:latin typeface="Arial MT"/>
              <a:cs typeface="Arial MT"/>
            </a:endParaRPr>
          </a:p>
          <a:p>
            <a:pPr marL="682625" lvl="1" indent="-325755">
              <a:lnSpc>
                <a:spcPct val="100000"/>
              </a:lnSpc>
              <a:spcBef>
                <a:spcPts val="630"/>
              </a:spcBef>
              <a:buClr>
                <a:srgbClr val="3333CC"/>
              </a:buClr>
              <a:buSzPct val="59615"/>
              <a:buFont typeface="Wingdings"/>
              <a:buChar char=""/>
              <a:tabLst>
                <a:tab pos="682625" algn="l"/>
              </a:tabLst>
            </a:pPr>
            <a:r>
              <a:rPr sz="2600" u="sng" spc="-10" dirty="0">
                <a:solidFill>
                  <a:srgbClr val="808080"/>
                </a:solidFill>
                <a:uFill>
                  <a:solidFill>
                    <a:srgbClr val="808080"/>
                  </a:solidFill>
                </a:uFill>
                <a:latin typeface="Arial MT"/>
                <a:cs typeface="Arial MT"/>
                <a:hlinkClick r:id="rId3"/>
              </a:rPr>
              <a:t>www.microsoft.com/security/default.mspx</a:t>
            </a:r>
            <a:endParaRPr sz="2600">
              <a:latin typeface="Arial MT"/>
              <a:cs typeface="Arial MT"/>
            </a:endParaRPr>
          </a:p>
          <a:p>
            <a:pPr marL="354965" indent="-342265">
              <a:lnSpc>
                <a:spcPct val="100000"/>
              </a:lnSpc>
              <a:spcBef>
                <a:spcPts val="665"/>
              </a:spcBef>
              <a:buSzPct val="64285"/>
              <a:buFont typeface="Wingdings"/>
              <a:buChar char=""/>
              <a:tabLst>
                <a:tab pos="354965" algn="l"/>
              </a:tabLst>
            </a:pPr>
            <a:r>
              <a:rPr sz="2800" spc="-25" dirty="0">
                <a:solidFill>
                  <a:srgbClr val="3366CC"/>
                </a:solidFill>
                <a:latin typeface="Arial MT"/>
                <a:cs typeface="Arial MT"/>
              </a:rPr>
              <a:t>F-</a:t>
            </a:r>
            <a:r>
              <a:rPr sz="2800" spc="-10" dirty="0">
                <a:solidFill>
                  <a:srgbClr val="3366CC"/>
                </a:solidFill>
                <a:latin typeface="Arial MT"/>
                <a:cs typeface="Arial MT"/>
              </a:rPr>
              <a:t>Secure</a:t>
            </a:r>
            <a:endParaRPr sz="2800">
              <a:latin typeface="Arial MT"/>
              <a:cs typeface="Arial MT"/>
            </a:endParaRPr>
          </a:p>
          <a:p>
            <a:pPr marL="682625" lvl="1" indent="-325755">
              <a:lnSpc>
                <a:spcPct val="100000"/>
              </a:lnSpc>
              <a:spcBef>
                <a:spcPts val="635"/>
              </a:spcBef>
              <a:buClr>
                <a:srgbClr val="3333CC"/>
              </a:buClr>
              <a:buSzPct val="59615"/>
              <a:buFont typeface="Wingdings"/>
              <a:buChar char=""/>
              <a:tabLst>
                <a:tab pos="682625" algn="l"/>
              </a:tabLst>
            </a:pPr>
            <a:r>
              <a:rPr sz="2600" u="sng" spc="-10" dirty="0">
                <a:solidFill>
                  <a:srgbClr val="808080"/>
                </a:solidFill>
                <a:uFill>
                  <a:solidFill>
                    <a:srgbClr val="808080"/>
                  </a:solidFill>
                </a:uFill>
                <a:latin typeface="Arial MT"/>
                <a:cs typeface="Arial MT"/>
                <a:hlinkClick r:id="rId4"/>
              </a:rPr>
              <a:t>www.f-secure.com</a:t>
            </a:r>
            <a:endParaRPr sz="2600">
              <a:latin typeface="Arial MT"/>
              <a:cs typeface="Arial MT"/>
            </a:endParaRPr>
          </a:p>
          <a:p>
            <a:pPr marL="354965" indent="-342265">
              <a:lnSpc>
                <a:spcPct val="100000"/>
              </a:lnSpc>
              <a:spcBef>
                <a:spcPts val="665"/>
              </a:spcBef>
              <a:buSzPct val="64285"/>
              <a:buFont typeface="Wingdings"/>
              <a:buChar char=""/>
              <a:tabLst>
                <a:tab pos="354965" algn="l"/>
              </a:tabLst>
            </a:pPr>
            <a:r>
              <a:rPr sz="2800" spc="-20" dirty="0">
                <a:solidFill>
                  <a:srgbClr val="3366CC"/>
                </a:solidFill>
                <a:latin typeface="Arial MT"/>
                <a:cs typeface="Arial MT"/>
              </a:rPr>
              <a:t>SANS</a:t>
            </a:r>
            <a:endParaRPr sz="2800">
              <a:latin typeface="Arial MT"/>
              <a:cs typeface="Arial MT"/>
            </a:endParaRPr>
          </a:p>
          <a:p>
            <a:pPr marL="682625" lvl="1" indent="-325755">
              <a:lnSpc>
                <a:spcPct val="100000"/>
              </a:lnSpc>
              <a:spcBef>
                <a:spcPts val="635"/>
              </a:spcBef>
              <a:buClr>
                <a:srgbClr val="3333CC"/>
              </a:buClr>
              <a:buSzPct val="59615"/>
              <a:buFont typeface="Wingdings"/>
              <a:buChar char=""/>
              <a:tabLst>
                <a:tab pos="682625" algn="l"/>
              </a:tabLst>
            </a:pPr>
            <a:r>
              <a:rPr sz="2600" u="sng" spc="-10" dirty="0">
                <a:solidFill>
                  <a:srgbClr val="808080"/>
                </a:solidFill>
                <a:uFill>
                  <a:solidFill>
                    <a:srgbClr val="808080"/>
                  </a:solidFill>
                </a:uFill>
                <a:latin typeface="Arial MT"/>
                <a:cs typeface="Arial MT"/>
                <a:hlinkClick r:id="rId5"/>
              </a:rPr>
              <a:t>www.sans.org</a:t>
            </a:r>
            <a:endParaRPr sz="2600">
              <a:latin typeface="Arial MT"/>
              <a:cs typeface="Arial M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251</TotalTime>
  <Words>1654</Words>
  <Application>Microsoft Office PowerPoint</Application>
  <PresentationFormat>Widescreen</PresentationFormat>
  <Paragraphs>297</Paragraphs>
  <Slides>55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55</vt:i4>
      </vt:variant>
    </vt:vector>
  </HeadingPairs>
  <TitlesOfParts>
    <vt:vector size="63" baseType="lpstr">
      <vt:lpstr>Arial</vt:lpstr>
      <vt:lpstr>Arial MT</vt:lpstr>
      <vt:lpstr>Calibri</vt:lpstr>
      <vt:lpstr>Segoe UI Symbol</vt:lpstr>
      <vt:lpstr>Tahoma</vt:lpstr>
      <vt:lpstr>Times New Roman</vt:lpstr>
      <vt:lpstr>Wingdings</vt:lpstr>
      <vt:lpstr>Office Theme</vt:lpstr>
      <vt:lpstr>   Information Security         Chapter 1&amp;2               BS-CS-VI            VVEEK-02 &amp; 03 Lectures </vt:lpstr>
      <vt:lpstr>🔐 Basic Security Terminology</vt:lpstr>
      <vt:lpstr>Vulnerability, Threat &amp; Risk</vt:lpstr>
      <vt:lpstr>C.I.A. triangle or Security Objectives</vt:lpstr>
      <vt:lpstr>Attacks on CIA</vt:lpstr>
      <vt:lpstr>CIA TRIAD (Video)</vt:lpstr>
      <vt:lpstr>Steps to Fix a Crime</vt:lpstr>
      <vt:lpstr>How Seriously Should You Take Threats to Network Security?</vt:lpstr>
      <vt:lpstr>Cyber Attacks</vt:lpstr>
      <vt:lpstr>Malware</vt:lpstr>
      <vt:lpstr>PowerPoint Presentation</vt:lpstr>
      <vt:lpstr>PowerPoint Presentation</vt:lpstr>
      <vt:lpstr>How Malware</vt:lpstr>
      <vt:lpstr>How to Stop?</vt:lpstr>
      <vt:lpstr>Phishing Attack</vt:lpstr>
      <vt:lpstr>What is Phishing used for?</vt:lpstr>
      <vt:lpstr>Phishing Awareness</vt:lpstr>
      <vt:lpstr>Password Attacks</vt:lpstr>
      <vt:lpstr>Types of Password Attacks</vt:lpstr>
      <vt:lpstr>PowerPoint Presentation</vt:lpstr>
      <vt:lpstr>Stop Password Attacks</vt:lpstr>
      <vt:lpstr>Class Activity </vt:lpstr>
      <vt:lpstr>Solution </vt:lpstr>
      <vt:lpstr>PowerPoint Presentation</vt:lpstr>
      <vt:lpstr>Distributed Denial of Services (DDoS)</vt:lpstr>
      <vt:lpstr>Denial of Service Attacks</vt:lpstr>
      <vt:lpstr>Prevention</vt:lpstr>
      <vt:lpstr>Man in the Middle</vt:lpstr>
      <vt:lpstr>Prevent MITM</vt:lpstr>
      <vt:lpstr>Drive-by Download</vt:lpstr>
      <vt:lpstr>How it work?</vt:lpstr>
      <vt:lpstr>Malvertising</vt:lpstr>
      <vt:lpstr>Prevention</vt:lpstr>
      <vt:lpstr>Rogue Software</vt:lpstr>
      <vt:lpstr>Propagation</vt:lpstr>
      <vt:lpstr>Prevention</vt:lpstr>
      <vt:lpstr>Web Attacks</vt:lpstr>
      <vt:lpstr>PowerPoint Presentation</vt:lpstr>
      <vt:lpstr>Session Hijacking</vt:lpstr>
      <vt:lpstr>DNS Poisoning</vt:lpstr>
      <vt:lpstr>Cyber Crime?</vt:lpstr>
      <vt:lpstr>Classification of Cyber Crimes</vt:lpstr>
      <vt:lpstr>Classification of Cyber Crimes (Cont.)</vt:lpstr>
      <vt:lpstr>Reasons for Commission of Cyber Crimes</vt:lpstr>
      <vt:lpstr>Kinds of Cyber Crimes</vt:lpstr>
      <vt:lpstr>Kinds of Cyber Crimes (Cont.)</vt:lpstr>
      <vt:lpstr>Kinds of Cyber Crimes (Cont.)</vt:lpstr>
      <vt:lpstr>Basic Security Terminology</vt:lpstr>
      <vt:lpstr>Network Security Paradigms</vt:lpstr>
      <vt:lpstr>Compromises to Intellectual Property </vt:lpstr>
      <vt:lpstr>Deviations in Quality of Service </vt:lpstr>
      <vt:lpstr>Espionage or Trespass </vt:lpstr>
      <vt:lpstr>Cyber Stalking </vt:lpstr>
      <vt:lpstr>How Do Legal Issues Impact Network Security?</vt:lpstr>
      <vt:lpstr>Online Security Resources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CSC-xxx Information Security Week 1</dc:title>
  <dc:creator>raza Syed asif</dc:creator>
  <cp:lastModifiedBy>PC</cp:lastModifiedBy>
  <cp:revision>36</cp:revision>
  <dcterms:created xsi:type="dcterms:W3CDTF">2025-01-27T07:03:54Z</dcterms:created>
  <dcterms:modified xsi:type="dcterms:W3CDTF">2026-01-21T13:19:47Z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2022-03-26T00:00:00Z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Producer">
    <vt:lpwstr>Microsoft® PowerPoint® 2016</vt:lpwstr>
  </property>
</Properties>
</file>